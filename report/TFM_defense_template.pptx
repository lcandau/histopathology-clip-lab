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opcional. Sólo levantar si el tribunal pregunta detalles de implementación o por qué la primera iteración del unfreezing fue significativamente peor.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457200" cy="3200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9A227"/>
                </a:solidFill>
                <a:latin typeface="Calibri"/>
              </a:rPr>
              <a:t>Trabajo de Fin de Máster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 Study on Foundational Visual-Language Models for Histopathology Image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Leandro Candau Sánchez de Ybargüen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177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AF7F2"/>
                </a:solidFill>
                <a:latin typeface="Calibri"/>
              </a:rPr>
              <a:t>Tutores:  Miguel Ángel Gutiérrez Naranjo   ·   Miguel Cárdenas Montes (co-director)
Máster en Lógica, Computación e Inteligencia Artificial
ETSI Informática · Universidad de Sevilla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Índice   ·   2/32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Índice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0934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Motivación y planteamiento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322576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Estado del arte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35808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Metodología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490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Resultados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62272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Discusión y conclusiones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C9A227"/>
                </a:solidFill>
                <a:latin typeface="Calibri"/>
              </a:rPr>
              <a:t>Q&amp;A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75504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Preguntas y backup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 i="0">
                <a:solidFill>
                  <a:srgbClr val="C9A227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AF7F2"/>
                </a:solidFill>
                <a:latin typeface="Calibri"/>
              </a:rPr>
              <a:t>§ 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Motivación y planteamiento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Motivación y planteamiento   ·   4/32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Motivación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Clasificación de imágenes histopatológicas: relevancia clínica.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Datos etiquetados limitados y etiquetas repetidas.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Modelos fundacionales: tareas múltiples con poca supervisión específica.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Pregunta central: ¿cómo transfiere CLIP a histopatología y dónde están sus límites?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188720"/>
            <a:ext cx="54864" cy="3474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37160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1F1F1F"/>
                </a:solidFill>
                <a:latin typeface="Calibri"/>
              </a:rPr>
              <a:t>“Learning directly from raw text about images is a promising alternative which leverages a much broader source of supervision.”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89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Radford et al., 2021 — CLIP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Motivación y planteamiento   ·   5/32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Planteamiento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CLIP como objeto de estudio, no como clasificador propuesto.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Línea base controlada + matriz de ablaciones (una variable cada una).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Testbed: LC25000 — 5 clases de tejido pulmón y colon, 25 000 patches.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Punto de referencia de dominio: PLIP (CLIP entrenado sobre patología).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Marco esperado: hallazgos que se transfieran a otros dominios científicos con etiquetas cortas.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Motivación y planteamiento   ·   6/32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Preguntas de investigación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188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Transferencia de CLIP general congelado: calidad y modos de fallo.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Contribución del preentrenamiento en patología (PLIP vs línea base).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Adaptación de características (unfreezing parcial de la ResNet).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089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Valor del paradigma CLIP vs un clasificador plano sobre las mismas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4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490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Normalización de tinción (Macenko / Reinhard / Vahadane) → shortcut probe.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Codificador de texto biomédico (BioBERT / PubMedBERT) bajo prompts cortos.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B0F1A"/>
                </a:solidFill>
                <a:latin typeface="Calibri"/>
              </a:rPr>
              <a:t>RQ7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2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Transferencia OOD a un dataset de colon externo.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 i="0">
                <a:solidFill>
                  <a:srgbClr val="C9A227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AF7F2"/>
                </a:solidFill>
                <a:latin typeface="Calibri"/>
              </a:rPr>
              <a:t>§ 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Estado del arte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8/32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Modelos fundacionales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Bommasani et al. (2021): definición de "foundation model".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CLIP (Radford 2021): aprendizaje contrastivo imagen-texto a escala web.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DINO / DINOv2 (2021, 2024): preentrenamiento auto-supervisado.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Vision Transformers (2020) como backbone alternativo a la familia ResNet.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[Placeholder] Línea temporal 2018 → 2024.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9/32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Modelos fundacionales en patología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441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Notas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TransPath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SSL (Transformer)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Primer FM dedicado a patología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Phikon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Masked Image Modelling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Backbone fuerte para clasificación de WSI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(vision-language)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Entrenado con pares de Twitter médico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CONCH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(vision-language)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Mayor escala que PLIP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BiomedCLIP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CLIP (biomédico amplio)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PMC-OA, no específico de patología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MUSK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Multimodal (WSI + texto)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Zero-shot fuerte sobre WSI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Este trabajo se compara con PLIP — el más tratable a escala master's, punto de referencia controlado para el preentrenamiento de dominio.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Estado del arte   ·   10/32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Estado del arte — Dónde encaja este trabajo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Estudio empírico a pequeña escala de backbones fundacionales generales.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Foco en deltas controlados, no en proponer un nuevo modelo.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Punto de contraste explícito: PLIP zero-shot.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Ámbito de transferencia: dominios científicos con etiquetas cortas o escasas.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 i="0">
                <a:solidFill>
                  <a:srgbClr val="C9A227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AF7F2"/>
                </a:solidFill>
                <a:latin typeface="Calibri"/>
              </a:rPr>
              <a:t>§ 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12/32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Línea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ResNet50 (ImageNet) congelada + BERT base congelado.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Proyecciones Dense → LayerNorm → 256-d compartido.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Loss InfoNCE simétrica, temperatura aprendible (τ = 0.07).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Prompt único: "A histopathology image of {class_name}."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Split estratificado 80/10/10 sobre LC25000, seed 42.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188720"/>
          <a:ext cx="5212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1e-3 (baseline) · 1e-4 (unfreeze30)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Grad clipnorm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Max epochs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30  (EarlyStopping patience 5)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Image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224 × 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float32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13/32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Protocolo de ablación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Cada experimento cambia exactamente una variable respecto a la línea base.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El Δ resultante es atribuible a ese único cambio.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Todos los runs comparten split / prompts / métricas.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43200"/>
          <a:ext cx="1109441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83325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Ablación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Eje testeado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Variable que cambia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PLIP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Preentrenamiento de dominio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Backbone CLIP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Plain image classifier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Valor del paradigma CLIP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Cabezal: CE softmax en vez de InfoNCE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Partial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Adaptación de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Últimas 30 capas de ResNet50 trainable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Stain normalization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Shortcut learning de tinción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Inputs (Macenko/Reinhard/Vahadane)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Biomedical text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Preentrenamiento de 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BERT base → BioBERT / PubMedBERT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OOD transfer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Generalización entre datasets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Test set (colon externo)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14/32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Dataset LC25000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Borkowski et al., 2019.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5 clases: benign lung, lung adenocarcinoma, lung SCC, benign colon, colon adenocarcinoma.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25 000 patches H&amp;E a 768 × 768 derivados de 1 250 originales (rotación + flip).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Limitaciones: institución única, sin agrupación por paciente, artefactos de tinción conocidos.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18872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16"/>
                <a:gridCol w="1042416"/>
                <a:gridCol w="1042416"/>
                <a:gridCol w="1042416"/>
                <a:gridCol w="1042416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lung tissue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 adenocarcinoma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 squamous cell 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colon tissue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colon adenocarcinoma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25 000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20 000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2 500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2 500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Metodología   ·   15/32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Metodología — Evaluación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Clasificación: argmax de cos(embedding imagen, embedding prompt).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Métricas globales: accuracy, balanced accuracy, macro-F1, weighted-F1.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Métricas por clase: precision / recall / F1.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Confusion matrices: raw + row-normalised.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Visualización de embeddings: UMAP compartido (imagen + prompts), heatmap centroide↔prompt.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Retrieval a nivel de clase (con caveat explícito vs CLIP-paper retrieval).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 i="0">
                <a:solidFill>
                  <a:srgbClr val="C9A227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AF7F2"/>
                </a:solidFill>
                <a:latin typeface="Calibri"/>
              </a:rPr>
              <a:t>§ 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17/32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Línea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0F1A"/>
                </a:solidFill>
                <a:latin typeface="Calibri"/>
              </a:rPr>
              <a:t>Métricas globales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B0F1A"/>
                </a:solidFill>
                <a:latin typeface="Calibri"/>
              </a:rPr>
              <a:t>F1 por clase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55448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Clase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lung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lung_aca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0.469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lung_scc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benign colon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0.661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colon_aca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▸ Transferencia frozen-general satura entre 0.63 y 0.70.   ▸ Clase peor: lung_aca.   ▸ Gap al techo de literatura (CE classifier): ~36 pts → motiva las ablaciones.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18/32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Línea base · embeddings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seline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23659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00425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Confusion matrices (raw + row-normalised).</a:t>
            </a:r>
          </a:p>
        </p:txBody>
      </p:sp>
      <p:pic>
        <p:nvPicPr>
          <p:cNvPr id="10" name="Picture 9" descr="baseline_u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2787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513239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UMAP compartido — imágenes + prompts de clase.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19/32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PLIP zero-shot ·  +7.6 macro-F1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PLIP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0.6980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+0.068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0.7004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+0.076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plip_zeroshot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2208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344269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PLIP confusion matrices (raw + normalizado).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Calibri"/>
              </a:rPr>
              <a:t>▸ Ganancia concentrada en tejidos benignos (lung F1 0.66→0.87, colon F1 0.66→0.80).   ▸ Subtipos de cáncer prácticamente empatados.   ▸ Retrieval text→image baja vs baseline → preentrenamiento gana clasificación, no ranking fino.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20/32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Ajuste fino parcial ·  +27.3 macro-F1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4206240" cy="237744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Headline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4206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Calibri"/>
              </a:rPr>
              <a:t>+27.3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AF7F2"/>
                </a:solidFill>
                <a:latin typeface="Calibri"/>
              </a:rPr>
              <a:t>macro-F1 vs línea base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0640" y="1188720"/>
          <a:ext cx="6492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Unfreeze30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Balanced accuracy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+0.268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Weighted F1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+0.273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93776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Mejora amplia: todas las clases con F1 ≥ 0.85.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lung_aca: F1 0.47 → 0.85 (sigue siendo la más difícil, ya no es modo de fallo).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≈ 3.5× la ganancia de PLIP zero-shot → la adaptación de features domina al preentrenamiento de dominio.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21/32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Ajuste fino parcial · embeddings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freeze30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86400" cy="37988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33251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UMAP — clusters más compactos, prompts dentro de cada cluster.</a:t>
            </a:r>
          </a:p>
        </p:txBody>
      </p:sp>
      <p:pic>
        <p:nvPicPr>
          <p:cNvPr id="10" name="Picture 9" descr="unfreeze30_umap_thumbn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37252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95965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Overlay de miniaturas (estilo CLIP_ROCO).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22/32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Ablaciones pendientes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441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Ablación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Eje testeado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Plain image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Paradigma CLIP vs CE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ejecutando hoy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Stain normalization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RQ5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Shortcut learning + Macenko/Reinhard/Vahadane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Biomedical text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RQ6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BioBERT / PubMedBERT bajo prompts cortos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OOD colon externo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RQ7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Generalización entre datasets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0624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1F1F1F"/>
                </a:solidFill>
                <a:latin typeface="Calibri"/>
              </a:rPr>
              <a:t>Todas las ablaciones están implementadas como notebooks; falta el tiempo de cómputo en Colab. El cierre cuantitativo de la tesis ocurre cuando estas filas estén medidas.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Resultados   ·   23/32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Resultados — Resumen de 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Experimento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Δ vs baseline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Baseline (ResNet50 + BERT frozen)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PLIP zero-shot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0.6980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0.7004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+0.076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Partial fine-tuning (30 capas)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+0.273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Plain image classifier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Stain normalization (best of M/R/V)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Biomedical text encoder (best)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OOD colon externo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▸ Dentro del régimen frozen-encoder, el preentrenamiento en patología aporta ~+7.6 macro-F1.   ▸ Liberar las 30 últimas capas de la imagen aporta ~+27.3 macro-F1 — ~3.5× más.   ▸ Gap residual frente al techo CE-classifier (≈ 0.99) ≈ 9 pts.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D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 i="0">
                <a:solidFill>
                  <a:srgbClr val="C9A227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FAF7F2"/>
                </a:solidFill>
                <a:latin typeface="Calibri"/>
              </a:rPr>
              <a:t>§  Sección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Discusión y conclusiones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Discusión y conclusiones   ·   25/32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Discusión — Descomposición del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284747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3387" y="1645920"/>
            <a:ext cx="5922305" cy="73152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5692" y="1645920"/>
            <a:ext cx="2765748" cy="731520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2847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+7.6
PLIP (dominio)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3387" y="2423160"/>
            <a:ext cx="592230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+19.7  marginal de unfreezing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5692" y="2423160"/>
            <a:ext cx="27657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1F1F1F"/>
                </a:solidFill>
                <a:latin typeface="Calibri"/>
              </a:rPr>
              <a:t>~9 pts residuales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280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Baseline 62.5 %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2801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Calibri"/>
              </a:rPr>
              <a:t>Techo CE ≈ 99 %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▸ Dentro del régimen frozen-encoder, el preentrenamiento en patología cierra ~7.6 pts del gap total.
▸ La adaptación de features (unfreezing parcial) cierra otros ~19.7 pts adicionales por encima de eso.
▸ El gap residual (~9 pts) es lo que las ablaciones restantes (stain norm, biomedical text, OOD) deberían responder.
▸ Lectura central: la adaptación a nivel de features domina al preentrenamiento de dominio en este dataset.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Discusión y conclusiones   ·   26/32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Limitaciones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Institución única; sin agrupación a nivel de paciente; sin validación clínica.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Falsos negativos en InfoNCE con batch pequeño + 5 clases (documentado, no mitigado).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Línea base con backbones congelados — testa transferencia, no fine-tuning completo.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Sin head-to-head contra CONCH / BiomedCLIP / MUSK (compute scope).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Sin evaluación por patólogos.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Discusión y conclusiones   ·   27/32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Conclusiones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01   ·   Qué es el trabajo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576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Un estudio controlado del paradigma CLIP transferido a histopatología, no un clasificador propuesto. Protocolo de ablación de una variable cada una sobre una línea base de codificadores congelados.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45720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02   ·   Qué se ha medido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36576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Dentro del régimen frozen-encoder, la adaptación a nivel de features (+27.3 macro-F1) domina al preentrenamiento de dominio (+7.6 macro-F1) por ~3.5×. Gap residual al techo de literatura ~9 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03   ·   Qué implica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6576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Los FMs generales congelados son una receta de transferencia útil sobre histopatología; la palanca dominante para cerrar el gap es desbloquear la cola de la imagen, no cambiar el texto.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Discusión y conclusiones   ·   28/32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Trabajo futuro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Comparación arquitectónica completa: CONCH / BiomedCLIP / MUSK.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Validación multi-institución y agrupación a nivel de paciente.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SupCon o muestreo balanceado para mitigar falsos negativos.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Volver a segmentación con backbones de patología.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CLIP con etiquetas cortas aplicado a otros dominios científicos (ej. agujeros negros gravitacionales — interés de los tutores).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FAF7F2"/>
                </a:solidFill>
                <a:latin typeface="Calibri"/>
              </a:rPr>
              <a:t>github.com/lcandau/histopathology-clip-lab  ·  report/tfmETSI.pdf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</a:rPr>
              <a:t>Backup slides disponibles bajo demanda.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30/32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Hiperparámetros completos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77440" y="1188720"/>
          <a:ext cx="7315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Hiperparámetro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6B0F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Image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ResNet50 (ImageNet preset)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Text encoder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BERT base uncased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Projection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Dense(256, no bias) → LayerNorm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Embedding dim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Image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224 × 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Text seq length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24 WordPiece tokens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Initial temperature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τ = 0.07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Symmetric InfoNCE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Baseline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Unfreeze30 LR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Gradient clipnorm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Max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EarlyStopping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patience 5, restore best weights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ReduceLROnPlateau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factor 0.5, patience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float32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Random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F1F1F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31/32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BN policy en partial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Footgun: pesos conv adaptan mientras BN.running_stats sigue congelado → train/eval mismatch.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Solución: encode_image(images, training=training and self.img_backbone.trainable).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 backbone trainable + training=True → BN actualiza running mean/var vía EMA.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Con backbone frozen, esto se colapsa a False (línea base inafectada).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Diferencia empírica medida: 13.3 macro-F1 entre las dos políticas en unfreeze30.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36576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Leandro Candau  ·  TFM — Foundational VLMs para histopatología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649224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§ Backup   ·   32/32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6B0F1A"/>
                </a:solidFill>
                <a:latin typeface="Calibri"/>
              </a:rPr>
              <a:t>[Backup] Class-level retrieval ≠ CLIP-paper 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09728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LC25000 no tiene captions por imagen — sólo 5 prompts compartidos por clase.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Retrieval por imagen contra prompts compartidos = retrieval a nivel de clase.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Positivos: cualquier muestra de la misma clase en el top-K.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Reportado como complemento a accuracy, no como sustituto del R@K de CLIP.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6B0F1A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PLIP gana en clasificación (+7.6 macro-F1) pero pierde en T→I ranking → su espacio no está afinado para in-distribution.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