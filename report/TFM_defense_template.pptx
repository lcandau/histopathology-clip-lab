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99" r:id="rId34"/>
    <p:sldId id="290" r:id="rId42"/>
    <p:sldId id="288" r:id="rId40"/>
    <p:sldId id="291" r:id="rId43"/>
    <p:sldId id="300" r:id="rId33"/>
    <p:sldId id="272" r:id="rId23"/>
    <p:sldId id="292" r:id="rId44"/>
    <p:sldId id="275" r:id="rId26"/>
    <p:sldId id="293" r:id="rId45"/>
    <p:sldId id="294" r:id="rId46"/>
    <p:sldId id="301" r:id="rId32"/>
    <p:sldId id="295" r:id="rId47"/>
    <p:sldId id="296" r:id="rId48"/>
    <p:sldId id="289" r:id="rId41"/>
    <p:sldId id="302" r:id="rId30"/>
    <p:sldId id="297" r:id="rId49"/>
    <p:sldId id="298" r:id="rId50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23" Type="http://schemas.openxmlformats.org/officeDocument/2006/relationships/slide" Target="slides/slide7.xml"/><Relationship Id="rId26" Type="http://schemas.openxmlformats.org/officeDocument/2006/relationships/slide" Target="slides/slide9.xml"/><Relationship Id="rId30" Type="http://schemas.openxmlformats.org/officeDocument/2006/relationships/slide" Target="slides/slide16.xml"/><Relationship Id="rId32" Type="http://schemas.openxmlformats.org/officeDocument/2006/relationships/slide" Target="slides/slide12.xml"/><Relationship Id="rId33" Type="http://schemas.openxmlformats.org/officeDocument/2006/relationships/slide" Target="slides/slide6.xml"/><Relationship Id="rId34" Type="http://schemas.openxmlformats.org/officeDocument/2006/relationships/slide" Target="slides/slide2.xml"/><Relationship Id="rId35" Type="http://schemas.openxmlformats.org/officeDocument/2006/relationships/slide" Target="slides/slide19.xml"/><Relationship Id="rId38" Type="http://schemas.openxmlformats.org/officeDocument/2006/relationships/notesMaster" Target="notesMasters/notesMaster1.xml"/><Relationship Id="rId40" Type="http://schemas.openxmlformats.org/officeDocument/2006/relationships/slide" Target="slides/slide4.xml"/><Relationship Id="rId41" Type="http://schemas.openxmlformats.org/officeDocument/2006/relationships/slide" Target="slides/slide15.xml"/><Relationship Id="rId42" Type="http://schemas.openxmlformats.org/officeDocument/2006/relationships/slide" Target="slides/slide3.xml"/><Relationship Id="rId43" Type="http://schemas.openxmlformats.org/officeDocument/2006/relationships/slide" Target="slides/slide5.xml"/><Relationship Id="rId44" Type="http://schemas.openxmlformats.org/officeDocument/2006/relationships/slide" Target="slides/slide8.xml"/><Relationship Id="rId45" Type="http://schemas.openxmlformats.org/officeDocument/2006/relationships/slide" Target="slides/slide10.xml"/><Relationship Id="rId46" Type="http://schemas.openxmlformats.org/officeDocument/2006/relationships/slide" Target="slides/slide11.xml"/><Relationship Id="rId47" Type="http://schemas.openxmlformats.org/officeDocument/2006/relationships/slide" Target="slides/slide13.xml"/><Relationship Id="rId48" Type="http://schemas.openxmlformats.org/officeDocument/2006/relationships/slide" Target="slides/slide14.xml"/><Relationship Id="rId49" Type="http://schemas.openxmlformats.org/officeDocument/2006/relationships/slide" Target="slides/slide17.xml"/><Relationship Id="rId50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8" name="Picture 7" descr="ai_patter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4D09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457200" cy="3200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C9A227"/>
                </a:solidFill>
                <a:latin typeface="Calibri"/>
              </a:rPr>
              <a:t>Trabajo de Fin de Máster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100584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A Study on Foundational Visual-Language Models for Histopathology Image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Leandro Candau Sánchez de Ybargüen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61772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FAF7F2"/>
                </a:solidFill>
                <a:latin typeface="Calibri"/>
              </a:rPr>
              <a:t>Tutores:  Miguel Ángel Gutiérrez Naranjo   ·   Miguel Cárdenas Montes (co-director)
Máster en Lógica, Computación e Inteligencia Artificial
ETSI Informática · Universidad de Sevilla · 2026</a:t>
            </a:r>
          </a:p>
        </p:txBody>
      </p:sp>
      <p:pic>
        <p:nvPicPr>
          <p:cNvPr id="9" name="Picture 8" descr="logo_us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274320"/>
            <a:ext cx="1463040" cy="12858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Motivación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Motivación   ·   3/19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Pregunta central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3200" b="1">
                <a:solidFill>
                  <a:srgbClr val="4D0912"/>
                </a:solidFill>
              </a:rPr>
              <a:t>¿Cómo transfiere CLIP a histopatología</a:t>
            </a:r>
          </a:p>
          <a:p>
            <a:pPr>
              <a:spcBef>
                <a:spcPts val="200"/>
              </a:spcBef>
            </a:pPr>
            <a:r>
              <a:rPr sz="3200" b="1">
                <a:solidFill>
                  <a:srgbClr val="4D0912"/>
                </a:solidFill>
              </a:rPr>
              <a:t>y dónde están sus límites?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1106424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Por qué importa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4D0912"/>
                </a:solidFill>
              </a:rPr>
              <a:t>▸ Histopatología: relevancia clínica, datos etiquetados escasos, etiquetas cortas y repetidas.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4D0912"/>
                </a:solidFill>
              </a:rPr>
              <a:t>▸ Modelos fundacionales (FMs): prometen múltiples tareas con poca supervisión específica.</a:t>
            </a:r>
          </a:p>
          <a:p>
            <a:pPr>
              <a:spcBef>
                <a:spcPts val="600"/>
              </a:spcBef>
            </a:pPr>
            <a:r>
              <a:rPr sz="1400" b="0">
                <a:solidFill>
                  <a:srgbClr val="4D0912"/>
                </a:solidFill>
              </a:rPr>
              <a:t>▸ CLIP como objeto de estudio — no propongo un clasificador nuevo, mido qué transfiere y qué no.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Pregunta operacional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4D0912"/>
                </a:solidFill>
              </a:rPr>
              <a:t>Identificar las palancas que cierran (o no) el gap entre transferencia frozen y rendimiento usable, dentro y en otro dataset.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Motivación   ·   4/19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El paradigma CLIP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lip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498079" cy="37490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128016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800" b="1">
                <a:solidFill>
                  <a:srgbClr val="4D0912"/>
                </a:solidFill>
              </a:rPr>
              <a:t>¿Por qué CLIP?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Aprendizaje contrastivo imagen↔texto, una sola loss simétrica.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Zero-shot por construcción: cambias los prompts, cambia el clasificador.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Recuperación image↔text bidireccional sin reentrenar la cabeza.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Permite intervenir el espacio compartido: prompt-tuning, ensemble de descripciones, vocabulario abierto.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4D0912"/>
                </a:solidFill>
              </a:rPr>
              <a:t>Por qué aquí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Histopatología: etiquetas cortas y datos escasos por clase.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El paradigma CLIP soporta vocabulario abierto — útil cuando aparecen subtipos nuevos.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La línea base usa esta configuración con backbones congelados; las ablaciones intervienen UNA componente cada vez.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Motivación   ·   5/19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Diseño experimental — una variable cada vez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Línea base controlada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ResNet50 (ImageNet, congelada) + BERT-base (congelado).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Proyección 256-d, InfoNCE simétrica, τ aprendible. Prompts cortos.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Split estratificado 5/19/10 sobre LC25000 (5 clases, 25 000 patches), seed 42.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Protocolo de ablación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Cada experimento cambia exactamente una variable respecto a la línea base.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El Δ resultante es atribuible a ese único cambio. Mismo split, prompts y métricas.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40233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Las 7 preguntas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C9A227"/>
                </a:solidFill>
              </a:rPr>
              <a:t>RQ1  </a:t>
            </a:r>
            <a:r>
              <a:rPr sz="1300">
                <a:solidFill>
                  <a:srgbClr val="4D0912"/>
                </a:solidFill>
              </a:rPr>
              <a:t>Frozen-CLIP — calidad de transferencia.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RQ2  </a:t>
            </a:r>
            <a:r>
              <a:rPr sz="1300">
                <a:solidFill>
                  <a:srgbClr val="4D0912"/>
                </a:solidFill>
              </a:rPr>
              <a:t>Preentrenamiento de dominio — PLIP.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RQ3  </a:t>
            </a:r>
            <a:r>
              <a:rPr sz="1300">
                <a:solidFill>
                  <a:srgbClr val="4D0912"/>
                </a:solidFill>
              </a:rPr>
              <a:t>Adaptación de features — partial unfreeze.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RQ4  </a:t>
            </a:r>
            <a:r>
              <a:rPr sz="1300">
                <a:solidFill>
                  <a:srgbClr val="4D0912"/>
                </a:solidFill>
              </a:rPr>
              <a:t>Paradigma CLIP vs CE classifier.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RQ5  </a:t>
            </a:r>
            <a:r>
              <a:rPr sz="1300">
                <a:solidFill>
                  <a:srgbClr val="4D0912"/>
                </a:solidFill>
              </a:rPr>
              <a:t>Normalización de tinción.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RQ6  </a:t>
            </a:r>
            <a:r>
              <a:rPr sz="1300">
                <a:solidFill>
                  <a:srgbClr val="4D0912"/>
                </a:solidFill>
              </a:rPr>
              <a:t>Codificador de texto biomédico.</a:t>
            </a:r>
          </a:p>
          <a:p>
            <a:pPr>
              <a:spcBef>
                <a:spcPts val="600"/>
              </a:spcBef>
            </a:pPr>
            <a:r>
              <a:rPr sz="1300" b="1">
                <a:solidFill>
                  <a:srgbClr val="C9A227"/>
                </a:solidFill>
              </a:rPr>
              <a:t>RQ7  </a:t>
            </a:r>
            <a:r>
              <a:rPr sz="1300">
                <a:solidFill>
                  <a:srgbClr val="4D0912"/>
                </a:solidFill>
              </a:rPr>
              <a:t>Transferencia generalización.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Resultados sobre LC25000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7/19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Resultados — Línea base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0F1A"/>
                </a:solidFill>
                <a:latin typeface="Calibri"/>
              </a:rPr>
              <a:t>Métricas globales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554480"/>
          <a:ext cx="4572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Valor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Weighted F1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6B0F1A"/>
                </a:solidFill>
                <a:latin typeface="Calibri"/>
              </a:rPr>
              <a:t>F1 por clase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17920" y="1554480"/>
          <a:ext cx="53949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Clase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benign 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lung_aca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0.479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lung_scc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0.766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benign colon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0.673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colon_aca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0.549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12064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1F1F1F"/>
                </a:solidFill>
                <a:latin typeface="Calibri"/>
              </a:rPr>
              <a:t>▸ Transferencia frozen-general en el rango 0.63–0.70.   ▸ Clase peor: lung_aca (F1 0.48).   ▸ Esta línea base ancla las ablaciones; cierre del gap se mide en los Δ siguientes.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8/19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Stain normalization — Macenko es la palanca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400" b="1">
                <a:solidFill>
                  <a:srgbClr val="4D0912"/>
                </a:solidFill>
              </a:rPr>
              <a:t>+0.117 macro-F1 sin tocar el modelo  ·  sólo cambian los inputs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38912">
                <a:tc>
                  <a:txBody>
                    <a:bodyPr/>
                    <a:lstStyle/>
                    <a:p>
                      <a:r>
                        <a:rPr b="1" sz="1300"/>
                        <a:t>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Δ vs baseline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Baseline (frozen)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—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Macenko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0.7384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0.7390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+0.117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Vahadane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0.6684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0.6644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+0.037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Reinhard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0.6526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+0.025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237744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Lectura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Macenko gana ~3× sobre Vahadane y ~4.7× sobre Reinhard.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Cuatro de cinco clases mejoran con Macenko (única pérdida: lung_scc).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El backbone no aprende nada nuevo — sólo deja de competir contra deriva de tinción.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Gain comparable a un cambio de checkpoint, sin entrenar.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9/19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Resultados — Ajuste fino parcial ·  +27.1 macro-F1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4206240" cy="237744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4206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Calibri"/>
              </a:rPr>
              <a:t>Headline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737360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400" b="1" i="0">
                <a:solidFill>
                  <a:srgbClr val="FFFFFF"/>
                </a:solidFill>
                <a:latin typeface="Calibri"/>
              </a:rPr>
              <a:t>+27.1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FAF7F2"/>
                </a:solidFill>
                <a:latin typeface="Calibri"/>
              </a:rPr>
              <a:t>macro-F1 vs línea base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120640" y="1188720"/>
          <a:ext cx="6492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3060"/>
                <a:gridCol w="1623060"/>
                <a:gridCol w="1623060"/>
                <a:gridCol w="16230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Métrica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Unfreeze30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6B0F1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Balanced accuracy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0.6356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0.8984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+0.263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Macro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Weighted F1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0.6273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F1F1F"/>
                          </a:solidFill>
                          <a:latin typeface="Calibri"/>
                        </a:rPr>
                        <a:t>0.8981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1F1F1F"/>
                          </a:solidFill>
                          <a:latin typeface="Calibri"/>
                        </a:rPr>
                        <a:t>+0.271</a:t>
                      </a:r>
                    </a:p>
                  </a:txBody>
                  <a:tcPr>
                    <a:solidFill>
                      <a:srgbClr val="FAF7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493776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6B0F1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Mejora amplia: todas las clases con F1 ≥ 0.85.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6B0F1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lung_aca: F1 0.47 → 0.85 (sigue siendo la más difícil, ya no es modo de fallo).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1" i="0">
                <a:solidFill>
                  <a:srgbClr val="6B0F1A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F1F1F"/>
                </a:solidFill>
                <a:latin typeface="Calibri"/>
              </a:rPr>
              <a:t>≈ 3.7× la ganancia de PLIP zero-shot → la adaptación de features domina al preentrenamiento de dominio.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10/19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Composición: Macenko + Unfreeze30 → 0.918 macro-F1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2200" b="1">
                <a:solidFill>
                  <a:srgbClr val="4D0912"/>
                </a:solidFill>
              </a:rPr>
              <a:t>0.918 macro-F1  ·  mejor variante in-distribution del estudio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438912">
                <a:tc>
                  <a:txBody>
                    <a:bodyPr/>
                    <a:lstStyle/>
                    <a:p>
                      <a:r>
                        <a:rPr b="1" sz="1300"/>
                        <a:t>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Macro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Δ vs baseline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0.6273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—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Macenko (frozen)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0.7390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+0.117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/>
                        <a:t>Unfreeze30 (raw)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0.8984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0.8981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+0.271</a:t>
                      </a:r>
                    </a:p>
                  </a:txBody>
                  <a:tcPr/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/>
                        <a:t>Macenko + Unfreeze30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0.9180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0.9180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+0.291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80960" y="2377440"/>
            <a:ext cx="4023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Retornos decrecientes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Macenko sola: +0.117 sobre baseline.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Unfreeze30 sola: +0.271 sobre baseline.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Compuesto: +0.291 — sólo +0.020 sobre Unfreeze30.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Las palancas no son ortogonales — la adaptación de features ya recupera parte del beneficio de Macenko.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Resultados sobre LC25000   ·   11/19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Embeddings — antes y después del unfreezing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486400" cy="4426343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486400" cy="3798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4D0912"/>
                </a:solidFill>
              </a:rPr>
              <a:t>Baseline (frozen): clases entremezcladas; prompts colapsados en un punto.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3035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300" b="0">
                <a:solidFill>
                  <a:srgbClr val="4D0912"/>
                </a:solidFill>
              </a:rPr>
              <a:t>Unfreeze30: 5 clusters bien separados; prompts dentro de cada cluster.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1400" b="1">
                <a:solidFill>
                  <a:srgbClr val="4D0912"/>
                </a:solidFill>
              </a:rPr>
              <a:t>El paradigma CLIP queda intacto. Lo que cambia es la geometría del espacio aprendido.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Transferencia a otra institución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Transferencia a otra institución   ·   13/19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Generalización — NCT-CRC-HE-7K — el escenario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58521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El dataset de generalización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NCT-CRC-HE-7K, Kather et al. 2018 (Mainz, Alemania).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1 974 parches H&amp;E de colon, clases NORM (benigno) y TUM (maligno).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Ya normalizado contra su propia referencia de color por sus autores.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Distinta institución, distinto escáner, distinta granularidad de etiqueta.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Lo que se evalúa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Cada checkpoint LC25000-entrenado se aplica zero-shot a NCT.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PLIP zero-shot incluido como referencia de preentrenamiento de dominio.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Mapeo de clases: NORM ↔ benign colon, TUM ↔ colon adenocarcinoma.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280160"/>
            <a:ext cx="49377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800" b="1">
                <a:solidFill>
                  <a:srgbClr val="6B0F1A"/>
                </a:solidFill>
              </a:rPr>
              <a:t>Qué es PLIP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Pathology Language-Image Pretraining — Huang et al., Nature Medicine 2023.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Misma arquitectura CLIP que la baseline, pero preentrenado sobre ~200K pares imagen-texto de patología (Twitter médico).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Aporta señal de dominio sin tocar la matriz de evaluación.</a:t>
            </a:r>
          </a:p>
          <a:p>
            <a:pPr>
              <a:spcBef>
                <a:spcPts val="1800"/>
              </a:spcBef>
            </a:pPr>
            <a:r>
              <a:rPr sz="1800" b="1">
                <a:solidFill>
                  <a:srgbClr val="6B0F1A"/>
                </a:solidFill>
              </a:rPr>
              <a:t>Por qué importa aquí</a:t>
            </a:r>
          </a:p>
          <a:p>
            <a:pPr>
              <a:spcBef>
                <a:spcPts val="1000"/>
              </a:spcBef>
            </a:pPr>
            <a:r>
              <a:rPr sz="1300" b="0">
                <a:solidFill>
                  <a:srgbClr val="4D0912"/>
                </a:solidFill>
              </a:rPr>
              <a:t>▸ Es la única referencia que conoce patología antes de ver LC25000.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Si las pistas de tejido fuesen institución-específicas, PLIP no debería ganar en generalización…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Transferencia a otra institución   ·   14/19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Inversión del ranking en generalización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106424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0"/>
              </a:spcBef>
            </a:pPr>
            <a:r>
              <a:rPr sz="2200" b="1">
                <a:solidFill>
                  <a:srgbClr val="4D0912"/>
                </a:solidFill>
              </a:rPr>
              <a:t>PLIP zero-shot 0.661 macro-F1  &gt;  toda variante LC25000-entrenada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377440"/>
          <a:ext cx="73152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487680">
                <a:tc>
                  <a:txBody>
                    <a:bodyPr/>
                    <a:lstStyle/>
                    <a:p>
                      <a:r>
                        <a:rPr b="1" sz="1200"/>
                        <a:t>Variante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Inputs en generalización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Macro F1 (generalización)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200"/>
                        <a:t>Macro F1 in-dist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Baseline CLIP (raw, frozen)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0.627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Unfreeze30 (raw)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0.331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0.898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Macenko + Unfreeze30 (best in-dist LC25000)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Macenko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0.918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/>
                        <a:t>Macenko + Unfreeze30, raw NCT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0.201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0.918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100" b="1"/>
                        <a:t>PLIP zero-shot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raw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0.661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 b="1"/>
                        <a:t>0.700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5778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500" b="1">
                <a:solidFill>
                  <a:srgbClr val="6B0F1A"/>
                </a:solidFill>
              </a:rPr>
              <a:t>Tres observaciones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El mejor checkpoint in-dist (0.918) cae a 0.000 cuando Macenko se aplica también al generalización — NCT ya estaba normalizado contra su propia referencia, la doble-normalización es fatal.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Sin Macenko en generalización, el mismo checkpoint llega a 0.201; Unfreeze30 raw es el mejor LC25000-entrenado a 0.331.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PLIP zero-shot, sin haber visto LC25000, supera a TODAS las variantes entrenadas.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Transferencia a otra institución   ·   15/19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Resultados — Generalización entre datasets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od_nct_crc_he_7k_cross_distribution_u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188720"/>
            <a:ext cx="7498079" cy="389296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0" y="128016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0"/>
              </a:spcBef>
            </a:pPr>
            <a:r>
              <a:rPr sz="1800" b="1">
                <a:solidFill>
                  <a:srgbClr val="4D0912"/>
                </a:solidFill>
              </a:rPr>
              <a:t>Dos niveles de transferencia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4D0912"/>
                </a:solidFill>
              </a:rPr>
              <a:t>▸ Organ-level: NCT colon patches caen en la región colon de LC25000, no en lung — la estructura por órgano SÍ transfiere.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4D0912"/>
                </a:solidFill>
              </a:rPr>
              <a:t>▸ Tissue-state: benigno vs maligno DENTRO de colon NO transfiere — depende de pistas celulares sensibles al lab/scanner.</a:t>
            </a:r>
          </a:p>
          <a:p>
            <a:pPr>
              <a:spcBef>
                <a:spcPts val="1400"/>
              </a:spcBef>
            </a:pPr>
            <a:r>
              <a:rPr sz="1800" b="1">
                <a:solidFill>
                  <a:srgbClr val="4D0912"/>
                </a:solidFill>
              </a:rPr>
              <a:t>Ranking generalización</a:t>
            </a:r>
          </a:p>
          <a:p>
            <a:pPr>
              <a:spcBef>
                <a:spcPts val="1000"/>
              </a:spcBef>
            </a:pPr>
            <a:r>
              <a:rPr sz="1100" b="0">
                <a:solidFill>
                  <a:srgbClr val="4D0912"/>
                </a:solidFill>
              </a:rPr>
              <a:t>▸ PLIP zero-shot: 0.661 macro-F1 — el mejor.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4D0912"/>
                </a:solidFill>
              </a:rPr>
              <a:t>▸ Unfreeze30 raw: 0.331 — el mejor LC25000-entrenado.</a:t>
            </a:r>
          </a:p>
          <a:p>
            <a:pPr>
              <a:spcBef>
                <a:spcPts val="600"/>
              </a:spcBef>
            </a:pPr>
            <a:r>
              <a:rPr sz="1100" b="0">
                <a:solidFill>
                  <a:srgbClr val="4D0912"/>
                </a:solidFill>
              </a:rPr>
              <a:t>▸ Macenko+Unfreeze30 (0.918 in-dist LC25000): cae a 0.000 con Macenko en generalización; 0.201 sin Macenko.</a:t>
            </a:r>
          </a:p>
          <a:p>
            <a:pPr>
              <a:spcBef>
                <a:spcPts val="1400"/>
              </a:spcBef>
            </a:pPr>
            <a:r>
              <a:rPr sz="1200" b="1">
                <a:solidFill>
                  <a:srgbClr val="4D0912"/>
                </a:solidFill>
              </a:rPr>
              <a:t>Sólo PLIP transfiere a ambos niveles — el preentrenamiento de dominio es la única receta cross-institución medida aquí.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i_pattern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114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0" b="1">
                <a:solidFill>
                  <a:srgbClr val="FAF7F2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C9A227"/>
                </a:solidFill>
              </a:rPr>
              <a:t>§  Sección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303520"/>
            <a:ext cx="100584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400" b="1">
                <a:solidFill>
                  <a:srgbClr val="FAF7F2"/>
                </a:solidFill>
              </a:rPr>
              <a:t>Discusión y conclusiones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Discusión y conclusiones   ·   17/19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Síntesis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700" b="1">
                <a:solidFill>
                  <a:srgbClr val="6B0F1A"/>
                </a:solidFill>
              </a:rPr>
              <a:t>Resultados sobre LC25000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Adaptación de features (Unfreeze30) domina al preentrenamiento de dominio por ~3.7×.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Macenko es la palanca más fuerte que no toca el modelo.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Composición da retornos decrecientes — 0.918 macro-F1 es el techo medido.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El paradigma CLIP gana +2.6 sobre CE plano al desbloquear features; bajo features congeladas, empate.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28016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700" b="1">
                <a:solidFill>
                  <a:srgbClr val="6B0F1A"/>
                </a:solidFill>
              </a:rPr>
              <a:t>Generalización a otro dataset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▸ El ranking se invierte: el mejor in-dist (0.918) cae por debajo de PLIP zero-shot (0.661).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Sólo PLIP transfiere a dos niveles: organ-level + tissue-state.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Lo que aprenden los modelos LC25000 son pistas institución-específicas que no generalizan.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▸ Preentrenamiento de dominio es la única receta cross-institución medida aquí.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280160"/>
            <a:ext cx="3749039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700" b="1">
                <a:solidFill>
                  <a:srgbClr val="6B0F1A"/>
                </a:solidFill>
              </a:rPr>
              <a:t>Estado de las preguntas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4D0912"/>
                </a:solidFill>
              </a:rPr>
              <a:t>✓  RQ1–RQ5, RQ7 — respondidas.</a:t>
            </a:r>
          </a:p>
          <a:p>
            <a:pPr>
              <a:spcBef>
                <a:spcPts val="600"/>
              </a:spcBef>
            </a:pPr>
            <a:r>
              <a:rPr sz="1200" b="0">
                <a:solidFill>
                  <a:srgbClr val="4D0912"/>
                </a:solidFill>
              </a:rPr>
              <a:t>⏳  RQ6 (BioBERT / PubMedBERT) — pendiente. Bajo Δ esperado en el régimen de prompts cortos.</a:t>
            </a:r>
          </a:p>
          <a:p>
            <a:pPr>
              <a:spcBef>
                <a:spcPts val="1400"/>
              </a:spcBef>
            </a:pPr>
            <a:r>
              <a:rPr sz="1500" b="1">
                <a:solidFill>
                  <a:srgbClr val="6B0F1A"/>
                </a:solidFill>
              </a:rPr>
              <a:t>Contribuciones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4D0912"/>
                </a:solidFill>
              </a:rPr>
              <a:t>▸ Decomposición controlada del gap de transferencia CLIP→patología.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Evidencia empírica de la asimetría in-dist ↔ generalización.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4D0912"/>
                </a:solidFill>
              </a:rPr>
              <a:t>▸ Plantilla de ablación reproducible para otros dominios científicos.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6B0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1695" cy="36576"/>
          </a:xfrm>
          <a:prstGeom prst="rect">
            <a:avLst/>
          </a:prstGeom>
          <a:solidFill>
            <a:srgbClr val="D9D4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666666"/>
                </a:solidFill>
                <a:latin typeface="Calibri"/>
              </a:rPr>
              <a:t>Leandro Candau  ·  TFM — Foundational VLMs para histopatología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4095" y="649224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666666"/>
                </a:solidFill>
                <a:latin typeface="Calibri"/>
              </a:rPr>
              <a:t>§ Discusión y conclusiones   ·   18/19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6B0F1A"/>
                </a:solidFill>
                <a:latin typeface="Calibri"/>
              </a:rPr>
              <a:t>Limitaciones y trabajo futuro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024128"/>
            <a:ext cx="109728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 b="1">
                <a:solidFill>
                  <a:srgbClr val="6B0F1A"/>
                </a:solidFill>
              </a:rPr>
              <a:t>Limitaciones</a:t>
            </a:r>
          </a:p>
          <a:p>
            <a:pPr>
              <a:spcBef>
                <a:spcPts val="1200"/>
              </a:spcBef>
            </a:pPr>
            <a:r>
              <a:rPr sz="1300" b="0">
                <a:solidFill>
                  <a:srgbClr val="4D0912"/>
                </a:solidFill>
              </a:rPr>
              <a:t>▸ Institución única; sin agrupación por paciente; sin validación clínica.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Línea base con backbones congelados — testa transferencia, no fine-tuning completo.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Falsos negativos en InfoNCE con batch pequeño + 5 clases (documentado, no mitigado).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Sin head-to-head contra CONCH / BiomedCLIP / MUSK (alcance computacional).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4D0912"/>
                </a:solidFill>
              </a:rPr>
              <a:t>▸ Sin evaluación por patólogos.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2000" b="1">
                <a:solidFill>
                  <a:srgbClr val="6B0F1A"/>
                </a:solidFill>
              </a:rPr>
              <a:t>Trabajo futuro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C9A227"/>
                </a:solidFill>
              </a:rPr>
              <a:t>Corto plazo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4D0912"/>
                </a:solidFill>
              </a:rPr>
              <a:t>▸ Cerrar RQ6 — codificador de texto biomédico.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Más datasets externos (más allá de NCT).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SupCon o muestreo balanceado contra falsos negativos.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C9A227"/>
                </a:solidFill>
              </a:rPr>
              <a:t>Medio plazo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4D0912"/>
                </a:solidFill>
              </a:rPr>
              <a:t>▸ Comparación arquitectónica controlada (CONCH / BiomedCLIP / MUSK).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Multi-institución, agrupación a nivel de paciente, prompt-tuning (CoOp / CoCoOp).</a:t>
            </a:r>
          </a:p>
          <a:p>
            <a:pPr>
              <a:spcBef>
                <a:spcPts val="1200"/>
              </a:spcBef>
            </a:pPr>
            <a:r>
              <a:rPr sz="1500" b="1">
                <a:solidFill>
                  <a:srgbClr val="C9A227"/>
                </a:solidFill>
              </a:rPr>
              <a:t>Largo plazo</a:t>
            </a:r>
          </a:p>
          <a:p>
            <a:pPr>
              <a:spcBef>
                <a:spcPts val="800"/>
              </a:spcBef>
            </a:pPr>
            <a:r>
              <a:rPr sz="1300" b="0">
                <a:solidFill>
                  <a:srgbClr val="4D0912"/>
                </a:solidFill>
              </a:rPr>
              <a:t>▸ Segmentación con backbones de patología.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4D0912"/>
                </a:solidFill>
              </a:rPr>
              <a:t>▸ CLIP con etiquetas cortas en otros dominios científicos (interés de los tutores: agujeros negros gravitacionales).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0F1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5" name="Picture 4" descr="ai_pattern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0" y="2377440"/>
            <a:ext cx="1219169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7200" b="1" i="0">
                <a:solidFill>
                  <a:srgbClr val="FFFFFF"/>
                </a:solidFill>
                <a:latin typeface="Calibri"/>
              </a:rP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FAF7F2"/>
                </a:solidFill>
                <a:latin typeface="Calibri"/>
              </a:rPr>
              <a:t>github.com/lcandau/histopathology-clip-lab  ·  report/tfmETSI.pdf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57200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C9A227"/>
                </a:solidFill>
                <a:latin typeface="Calibri"/>
              </a:rPr>
              <a:t>Backup slides disponibles bajo demanda.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