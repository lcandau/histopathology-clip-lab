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6"/>
    <p:sldId id="286" r:id="rId37"/>
    <p:sldId id="287" r:id="rId39"/>
    <p:sldId id="263" r:id="rId14"/>
    <p:sldId id="264" r:id="rId15"/>
    <p:sldId id="265" r:id="rId16"/>
    <p:sldId id="269" r:id="rId20"/>
    <p:sldId id="270" r:id="rId21"/>
    <p:sldId id="273" r:id="rId24"/>
    <p:sldId id="274" r:id="rId25"/>
    <p:sldId id="276" r:id="rId27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slide" Target="slides/slide23.xml"/><Relationship Id="rId15" Type="http://schemas.openxmlformats.org/officeDocument/2006/relationships/slide" Target="slides/slide24.xml"/><Relationship Id="rId16" Type="http://schemas.openxmlformats.org/officeDocument/2006/relationships/slide" Target="slides/slide25.xml"/><Relationship Id="rId20" Type="http://schemas.openxmlformats.org/officeDocument/2006/relationships/slide" Target="slides/slide26.xml"/><Relationship Id="rId21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9.xml"/><Relationship Id="rId27" Type="http://schemas.openxmlformats.org/officeDocument/2006/relationships/slide" Target="slides/slide30.xml"/><Relationship Id="rId31" Type="http://schemas.openxmlformats.org/officeDocument/2006/relationships/slide" Target="slides/slide31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notesMaster" Target="notesMasters/notesMaster1.xml"/><Relationship Id="rId3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opcional. Sólo levantar si el tribunal pregunta detalles de implementación o por qué la primera iteración del unfreezing fue significativamente peor.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Backup   ·   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[Backup] Hiperparámetros completos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77440" y="1188720"/>
          <a:ext cx="7315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Hiperparámetro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Image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ResNet50 (ImageNet preset)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Text encoder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BERT base uncased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Projection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Dense(256, no bias) → LayerNorm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Embedding dim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Image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224 × 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Text seq length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24 WordPiece tokens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Initial temperature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τ = 0.07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Symmetric InfoNCE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Baseline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Unfreeze30 LR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Weight 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Gradient clipnorm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Max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EarlyStopping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patience 5, restore best weights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ReduceLROnPlateau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factor 0.5, patience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float32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Random 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Backup   ·   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[Backup] BN policy en partial fine-tuning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Footgun: pesos conv adaptan mientras BN.running_stats sigue congelado → train/eval mismatch.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Solución: encode_image(images, training=training and self.img_backbone.trainable).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Con backbone trainable + training=True → BN actualiza running mean/var vía EMA.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Con backbone frozen, esto se colapsa a False (línea base inafectada).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Diferencia empírica medida: 13.3 macro-F1 entre las dos políticas en unfreeze30.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Backup   ·   3/12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[Backup] Class-level retrieval ≠ CLIP-paper retrieval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LC25000 no tiene captions por imagen — sólo 5 prompts compartidos por clase.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Retrieval por imagen contra prompts compartidos = retrieval a nivel de clase.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Positivos: cualquier muestra de la misma clase en el top-K.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Reportado como complemento a accuracy, no como sustituto del R@K de CLIP.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PLIP gana en clasificación (+7.6 macro-F1) pero pierde en T→I ranking → su espacio no está afinado para in-distribution.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Estado del arte   ·   4/12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Estado del arte — Modelos fundacionales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Bommasani et al. (2021): definición de "foundation model".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CLIP (Radford 2021): aprendizaje contrastivo imagen-texto a escala web.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DINO / DINOv2 (2021, 2024): preentrenamiento auto-supervisado.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Vision Transformers (2020) como backbone alternativo a la familia ResNet.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[Placeholder] Línea temporal 2018 → 2024.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Estado del arte   ·   5/12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Estado del arte — Modelos fundacionales en patología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Notas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TransPath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SSL (Transformer)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Primer FM dedicado a patología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Phikon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Masked Image Modelling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Backbone fuerte para clasificación de WSI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CLIP (vision-language)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Entrenado con pares de Twitter médico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CONCH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CLIP (vision-language)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Mayor escala que PLIP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BiomedCLIP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CLIP (biomédico amplio)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PMC-OA, no específico de patología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MUSK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Multimodal (WSI + texto)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Zero-shot fuerte sobre WSI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Este trabajo se compara con PLIP — el más tratable a escala master's, punto de referencia controlado para el preentrenamiento de dominio.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Estado del arte   ·   6/12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Estado del arte — Dónde encaja este trabajo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Estudio empírico a pequeña escala de backbones fundacionales generales.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Foco en deltas controlados, no en proponer un nuevo modelo.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Punto de contraste explícito: PLIP zero-shot.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Ámbito de transferencia: dominios científicos con etiquetas cortas o escasas.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Metodología   ·   7/12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Metodología — Dataset LC25000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Borkowski et al., 2019.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5 clases: benign lung, lung adenocarcinoma, lung SCC, benign colon, colon adenocarcinoma.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25 000 patches H&amp;E a 768 × 768 derivados de 1 250 originales (rotación + flip).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Limitaciones: institución única, sin agrupación por paciente, artefactos de tinción conocidos.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188720"/>
          <a:ext cx="5212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Clase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benign lung tissue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lung adenocarcinoma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lung squamous cell carcinoma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benign colon tissue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colon adenocarcinoma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25 000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20 000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2 500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2 500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Metodología   ·   8/12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Metodología — Evaluación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Clasificación: argmax de cos(embedding imagen, embedding prompt).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Métricas globales: accuracy, balanced accuracy, macro-F1, weighted-F1.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Métricas por clase: precision / recall / F1.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Confusion matrices: raw + row-normalised.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Visualización de embeddings: UMAP compartido (imagen + prompts), heatmap centroide↔prompt.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Retrieval a nivel de clase (con caveat explícito vs CLIP-paper retrieval).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9/12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Línea base · embeddings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00425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Confusion matrices (raw + row-normalised).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513239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UMAP compartido — imágenes + prompts de clase.</a:t>
            </a:r>
          </a:p>
        </p:txBody>
      </p:sp>
      <p:pic>
        <p:nvPicPr>
          <p:cNvPr id="12" name="Picture 11" descr="baseline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88720"/>
            <a:ext cx="5486400" cy="2365985"/>
          </a:xfrm>
          <a:prstGeom prst="rect">
            <a:avLst/>
          </a:prstGeom>
        </p:spPr>
      </p:pic>
      <p:pic>
        <p:nvPicPr>
          <p:cNvPr id="13" name="Picture 12" descr="baseline_u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88720"/>
            <a:ext cx="5303520" cy="427879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10/12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PLIP zero-shot ·  +7.3 macro-F1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PLIP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Balanced accuracy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0.6356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0.6980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+0.062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0.7004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Weighted F1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0.6273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0.7004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+0.073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plip_zeroshot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2208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3442693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PLIP confusion matrices (raw + normalizado).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Calibri"/>
              </a:rPr>
              <a:t>▸ Ganancia concentrada en tejidos benignos (lung F1 0.67→0.87, colon F1 0.67→0.80).   ▸ Subtipos de cáncer prácticamente empatados.   ▸ Retrieval text→image baja vs baseline → preentrenamiento gana clasificación, no ranking fino.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11/12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Ajuste fino parcial · embeddings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33251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UMAP — clusters más compactos, prompts dentro de cada cluster.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5965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Overlay de miniaturas (estilo CLIP_ROCO).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86400" cy="379881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37252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Discusión y conclusiones   ·   12/12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Discusión — Descomposición del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284747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3387" y="1645920"/>
            <a:ext cx="5922305" cy="73152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55692" y="1645920"/>
            <a:ext cx="2765748" cy="731520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2847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1F1F"/>
                </a:solidFill>
                <a:latin typeface="Calibri"/>
              </a:rPr>
              <a:t>+7.3
PLIP (dominio)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3387" y="2423160"/>
            <a:ext cx="592230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1F1F"/>
                </a:solidFill>
                <a:latin typeface="Calibri"/>
              </a:rPr>
              <a:t>+19.8 marginal Unfreeze30 sobre PLIP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5692" y="2423160"/>
            <a:ext cx="27657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1F1F"/>
                </a:solidFill>
                <a:latin typeface="Calibri"/>
              </a:rPr>
              <a:t>→ 91.8 % (Macenko + Unfreeze30)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280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Baseline 62.7 %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280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Mejor medido en este estudio · 91.8 %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10944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▸ Las dos palancas individuales más fuertes son Unfreeze30 (+27.1) y Macenko (+11.7).
▸ Componerlas (Macenko + Unfreeze30) llega a 91.8 % macro-F1 — el mejor resultado del estudio — pero solo +0.020 sobre Unfreeze30 sola: retornos decrecientes, no aditividad.
▸ Lectura central: la adaptación a nivel de features y la normalización de tinción atacan ejes parcialmente solapados; no se suman, se sub-aditivan.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