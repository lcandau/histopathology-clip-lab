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94" r:id="rId43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2" r:id="rId44"/>
    <p:sldId id="293" r:id="rId4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3" Type="http://schemas.openxmlformats.org/officeDocument/2006/relationships/slide" Target="slides/slide27.xml"/><Relationship Id="rId44" Type="http://schemas.openxmlformats.org/officeDocument/2006/relationships/slide" Target="slides/slide35.xml"/><Relationship Id="rId45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hape 90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1" name="Shape 91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Buenos días.</a:t>
            </a:r>
            <a:r>
              <a:rPr sz="1600"/>
              <a:t> Presento mi TFM.</a:t>
            </a:r>
          </a:p>
          <a:p>
            <a:pPr/>
            <a:r>
              <a:rPr sz="1600"/>
              <a:t>▸ Título: </a:t>
            </a:r>
            <a:r>
              <a:rPr sz="1600" b="1"/>
              <a:t>Foundational VLMs para histopatología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0" name="Shape 1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Motivación</a:t>
            </a:r>
            <a:r>
              <a:rPr sz="1600"/>
              <a:t>: por qué importa histopatología digital.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1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4" name="Shape 1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Análisis de tejidos</a:t>
            </a:r>
            <a:r>
              <a:rPr sz="1600"/>
              <a:t> teñidos con </a:t>
            </a:r>
            <a:r>
              <a:rPr sz="1600" b="1"/>
              <a:t>H&amp;E</a:t>
            </a:r>
            <a:r>
              <a:rPr sz="1600"/>
              <a:t>.</a:t>
            </a:r>
          </a:p>
          <a:p>
            <a:pPr/>
            <a:r>
              <a:rPr sz="1600"/>
              <a:t>▸ Prueba clínica de referencia para </a:t>
            </a:r>
            <a:r>
              <a:rPr sz="1600" b="1"/>
              <a:t>detectar cáncer</a:t>
            </a:r>
            <a:r>
              <a:rPr sz="1600"/>
              <a:t>.</a:t>
            </a:r>
          </a:p>
          <a:p>
            <a:pPr/>
            <a:r>
              <a:rPr sz="1600"/>
              <a:t>▸ WSI </a:t>
            </a:r>
            <a:r>
              <a:rPr sz="1600" b="1"/>
              <a:t>gigapíxel</a:t>
            </a:r>
            <a:r>
              <a:rPr sz="1600"/>
              <a:t> (~80k × 40k) → no se procesa entero.</a:t>
            </a:r>
          </a:p>
          <a:p>
            <a:pPr/>
            <a:r>
              <a:rPr sz="1600"/>
              <a:t>▸ Se </a:t>
            </a:r>
            <a:r>
              <a:rPr sz="1600" b="1"/>
              <a:t>parchea</a:t>
            </a:r>
            <a:r>
              <a:rPr sz="1600"/>
              <a:t> por regiones anotadas por patólogo.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7" name="Shape 13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Datos escasos</a:t>
            </a:r>
            <a:r>
              <a:rPr sz="1600"/>
              <a:t>: pacientes + tiempo de patólogo = caro.</a:t>
            </a:r>
          </a:p>
          <a:p>
            <a:pPr/>
            <a:r>
              <a:rPr sz="1600" b="1"/>
              <a:t>▸ Tinción variable</a:t>
            </a:r>
            <a:r>
              <a:rPr sz="1600"/>
              <a:t>: temperatura, técnico, escáner, día.</a:t>
            </a:r>
          </a:p>
          <a:p>
            <a:pPr/>
            <a:r>
              <a:rPr sz="1600" b="1"/>
              <a:t>▸ Sesgo institucional</a:t>
            </a:r>
            <a:r>
              <a:rPr sz="1600"/>
              <a:t> por escáner y artefactos.</a:t>
            </a:r>
          </a:p>
          <a:p>
            <a:pPr/>
            <a:r>
              <a:rPr sz="1600"/>
              <a:t>▸ Riesgo: aprender </a:t>
            </a:r>
            <a:r>
              <a:rPr sz="1600" b="1"/>
              <a:t>color, no morfología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75" name="Shape 17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Preentrenar una vez, reutilizar después</a:t>
            </a:r>
            <a:r>
              <a:rPr sz="1600"/>
              <a:t>.</a:t>
            </a:r>
          </a:p>
          <a:p>
            <a:pPr/>
            <a:r>
              <a:rPr sz="1600"/>
              <a:t>▸ Aprenden </a:t>
            </a:r>
            <a:r>
              <a:rPr sz="1600" b="1"/>
              <a:t>representaciones generales</a:t>
            </a:r>
            <a:r>
              <a:rPr sz="1600"/>
              <a:t> sin tarea final.</a:t>
            </a:r>
          </a:p>
          <a:p>
            <a:pPr/>
            <a:r>
              <a:rPr sz="1600"/>
              <a:t>▸ Ejemplos: </a:t>
            </a:r>
            <a:r>
              <a:rPr sz="1600" b="1"/>
              <a:t>BERT · DINOv2 · CLIP/PLIP</a:t>
            </a:r>
            <a:r>
              <a:rPr sz="1600"/>
              <a:t>.</a:t>
            </a:r>
          </a:p>
          <a:p>
            <a:pPr/>
            <a:r>
              <a:rPr sz="1600"/>
              <a:t>▸ Aquí: </a:t>
            </a:r>
            <a:r>
              <a:rPr sz="1600" b="1"/>
              <a:t>mitigan escasez</a:t>
            </a:r>
            <a:r>
              <a:rPr sz="1600"/>
              <a:t> de etiquetas histopatológicas.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Shape 1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VLM entrena con </a:t>
            </a:r>
            <a:r>
              <a:rPr sz="1600" b="1"/>
              <a:t>pares imagen-texto</a:t>
            </a:r>
            <a:r>
              <a:rPr sz="1600"/>
              <a:t>, no etiquetas cerradas.</a:t>
            </a:r>
          </a:p>
          <a:p>
            <a:pPr/>
            <a:r>
              <a:rPr sz="1600"/>
              <a:t>▸ Alinea ambas modalidades en un </a:t>
            </a:r>
            <a:r>
              <a:rPr sz="1600" b="1"/>
              <a:t>espacio latente compartido</a:t>
            </a:r>
            <a:r>
              <a:rPr sz="1600"/>
              <a:t>.</a:t>
            </a:r>
          </a:p>
          <a:p>
            <a:pPr/>
            <a:r>
              <a:rPr sz="1600"/>
              <a:t>▸ Familia que usamos: </a:t>
            </a:r>
            <a:r>
              <a:rPr sz="1600" b="1"/>
              <a:t>CLIP</a:t>
            </a:r>
            <a:r>
              <a:rPr sz="1600"/>
              <a:t> (distancia coseno).</a:t>
            </a:r>
          </a:p>
          <a:p>
            <a:pPr/>
            <a:r>
              <a:rPr sz="1600"/>
              <a:t>▸ Desde aquí, todo el trabajo se centra en </a:t>
            </a:r>
            <a:r>
              <a:rPr sz="1600" b="1"/>
              <a:t>VLMs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Shape 20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08" name="Shape 20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¿Un VLM generaliza entre fuentes histopatológicas?</a:t>
            </a:r>
          </a:p>
          <a:p>
            <a:pPr/>
            <a:r>
              <a:rPr sz="1600" b="1"/>
              <a:t>▸ ¿Qué componentes</a:t>
            </a:r>
            <a:r>
              <a:rPr sz="1600"/>
              <a:t> explican las diferencias?</a:t>
            </a:r>
          </a:p>
          <a:p>
            <a:pPr/>
            <a:r>
              <a:rPr sz="1600" b="1"/>
              <a:t>▸ 4 datasets externos</a:t>
            </a:r>
            <a:r>
              <a:rPr sz="1600"/>
              <a:t> + ablación una variable a la vez.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Shape 21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16" name="Shape 21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Metodología</a:t>
            </a:r>
            <a:r>
              <a:rPr sz="1600"/>
              <a:t>: cómo respondimos a la pregunta.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22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29" name="Shape 22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Dos encoders</a:t>
            </a:r>
            <a:r>
              <a:rPr sz="1600"/>
              <a:t> (imagen + texto) → espacio latente 256-d.</a:t>
            </a:r>
          </a:p>
          <a:p>
            <a:pPr/>
            <a:r>
              <a:rPr sz="1600"/>
              <a:t>▸ Entrenamiento </a:t>
            </a:r>
            <a:r>
              <a:rPr sz="1600" b="1"/>
              <a:t>contrastivo</a:t>
            </a:r>
            <a:r>
              <a:rPr sz="1600"/>
              <a:t>: tira pares correctos juntos.</a:t>
            </a:r>
          </a:p>
          <a:p>
            <a:pPr/>
            <a:r>
              <a:rPr sz="1600"/>
              <a:t>▸ Similitud = </a:t>
            </a:r>
            <a:r>
              <a:rPr sz="1600" b="1"/>
              <a:t>coseno</a:t>
            </a:r>
            <a:r>
              <a:rPr sz="1600"/>
              <a:t>; pérdida = </a:t>
            </a:r>
            <a:r>
              <a:rPr sz="1600" b="1"/>
              <a:t>InfoNCE</a:t>
            </a:r>
            <a:r>
              <a:rPr sz="1600"/>
              <a:t> con temperatura.</a:t>
            </a:r>
          </a:p>
          <a:p>
            <a:pPr/>
            <a:r>
              <a:rPr sz="1600"/>
              <a:t>▸ Pares incorrectos se alejan </a:t>
            </a:r>
            <a:r>
              <a:rPr sz="1600" b="1"/>
              <a:t>naturalmente</a:t>
            </a:r>
            <a:r>
              <a:rPr sz="1600"/>
              <a:t> por backprop.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2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43" name="Shape 2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PLIP = CLIP en histopatología</a:t>
            </a:r>
            <a:r>
              <a:rPr sz="1600"/>
              <a:t> (OpenPath, ~200K tweets).</a:t>
            </a:r>
          </a:p>
          <a:p>
            <a:pPr/>
            <a:r>
              <a:rPr sz="1600"/>
              <a:t>▸ Uso 1: </a:t>
            </a:r>
            <a:r>
              <a:rPr sz="1600" b="1"/>
              <a:t>encoder de texto</a:t>
            </a:r>
            <a:r>
              <a:rPr sz="1600"/>
              <a:t> dentro de nuestro framework.</a:t>
            </a:r>
          </a:p>
          <a:p>
            <a:pPr/>
            <a:r>
              <a:rPr sz="1600"/>
              <a:t>▸ Uso 2: </a:t>
            </a:r>
            <a:r>
              <a:rPr sz="1600" b="1"/>
              <a:t>zero-shot</a:t>
            </a:r>
            <a:r>
              <a:rPr sz="1600"/>
              <a:t> directo sobre los 4 datasets.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25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56" name="Shape 25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ResNet50 + BERT</a:t>
            </a:r>
            <a:r>
              <a:rPr sz="1600"/>
              <a:t>, ambos </a:t>
            </a:r>
            <a:r>
              <a:rPr sz="1600" b="1"/>
              <a:t>congelados</a:t>
            </a:r>
            <a:r>
              <a:rPr sz="1600"/>
              <a:t>.</a:t>
            </a:r>
          </a:p>
          <a:p>
            <a:pPr/>
            <a:r>
              <a:rPr sz="1600"/>
              <a:t>▸ Solo entrenamos las </a:t>
            </a:r>
            <a:r>
              <a:rPr sz="1600" b="1"/>
              <a:t>cabezas de proyección 256-d</a:t>
            </a:r>
            <a:r>
              <a:rPr sz="1600"/>
              <a:t>.</a:t>
            </a:r>
          </a:p>
          <a:p>
            <a:pPr/>
            <a:r>
              <a:rPr sz="1600"/>
              <a:t>▸ Pérdida </a:t>
            </a:r>
            <a:r>
              <a:rPr sz="1600" b="1"/>
              <a:t>InfoNCE</a:t>
            </a:r>
            <a:r>
              <a:rPr sz="1600"/>
              <a:t> con </a:t>
            </a:r>
            <a:r>
              <a:rPr sz="1600" b="1"/>
              <a:t>temperatura aprendida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26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0" name="Shape 27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6 experimentos</a:t>
            </a:r>
            <a:r>
              <a:rPr sz="1600"/>
              <a:t>, una variable a la vez.</a:t>
            </a:r>
          </a:p>
          <a:p>
            <a:pPr/>
            <a:r>
              <a:rPr sz="1600"/>
              <a:t>▸ Entrenamos en </a:t>
            </a:r>
            <a:r>
              <a:rPr sz="1600" b="1"/>
              <a:t>LC25000</a:t>
            </a:r>
            <a:r>
              <a:rPr sz="1600"/>
              <a:t> (excepto PLIP zero-shot).</a:t>
            </a:r>
          </a:p>
          <a:p>
            <a:pPr/>
            <a:r>
              <a:rPr sz="1600"/>
              <a:t>▸ Evaluamos externo: </a:t>
            </a:r>
            <a:r>
              <a:rPr sz="1600" b="1"/>
              <a:t>NCT · Chaoyang · LungHist700</a:t>
            </a:r>
            <a:r>
              <a:rPr sz="1600"/>
              <a:t>.</a:t>
            </a:r>
          </a:p>
          <a:p>
            <a:pPr/>
            <a:r>
              <a:rPr sz="1600"/>
              <a:t>▸ NO decir "los 6 aquí": se ven slide a slide en Resultados.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27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78" name="Shape 27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Resultados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Shape 29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95" name="Shape 29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LC25000 </a:t>
            </a:r>
            <a:r>
              <a:rPr sz="1600" b="1"/>
              <a:t>satura</a:t>
            </a:r>
            <a:r>
              <a:rPr sz="1600"/>
              <a:t> (0.996 macro-F1, no informa).</a:t>
            </a:r>
          </a:p>
          <a:p>
            <a:pPr/>
            <a:r>
              <a:rPr sz="1600"/>
              <a:t>▸ NCT (colon similar): </a:t>
            </a:r>
            <a:r>
              <a:rPr sz="1600" b="1"/>
              <a:t>0.87</a:t>
            </a:r>
            <a:r>
              <a:rPr sz="1600"/>
              <a:t>.</a:t>
            </a:r>
          </a:p>
          <a:p>
            <a:pPr/>
            <a:r>
              <a:rPr sz="1600"/>
              <a:t>▸ Chaoyang (shift): </a:t>
            </a:r>
            <a:r>
              <a:rPr sz="1600" b="1"/>
              <a:t>0.79</a:t>
            </a:r>
            <a:r>
              <a:rPr sz="1600"/>
              <a:t>.</a:t>
            </a:r>
          </a:p>
          <a:p>
            <a:pPr/>
            <a:r>
              <a:rPr sz="1600"/>
              <a:t>▸ LungHist700: </a:t>
            </a:r>
            <a:r>
              <a:rPr sz="1600" b="1"/>
              <a:t>colapsa a 0.30</a:t>
            </a:r>
            <a:r>
              <a:rPr sz="1600"/>
              <a:t> — todo "escamoso", casi azar 3-clases.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30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9" name="Shape 30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UMAP: </a:t>
            </a:r>
            <a:r>
              <a:rPr sz="1600" b="1"/>
              <a:t>clusters correctos</a:t>
            </a:r>
            <a:r>
              <a:rPr sz="1600"/>
              <a:t> en LC25000.</a:t>
            </a:r>
          </a:p>
          <a:p>
            <a:pPr/>
            <a:r>
              <a:rPr sz="1600"/>
              <a:t>▸ NCT </a:t>
            </a:r>
            <a:r>
              <a:rPr sz="1600" b="1"/>
              <a:t>se pega</a:t>
            </a:r>
            <a:r>
              <a:rPr sz="1600"/>
              <a:t> a clusters de LC25000 (transfiere OK).</a:t>
            </a:r>
          </a:p>
          <a:p>
            <a:pPr/>
            <a:r>
              <a:rPr sz="1600"/>
              <a:t>▸ Chaoyang empieza a </a:t>
            </a:r>
            <a:r>
              <a:rPr sz="1600" b="1"/>
              <a:t>derivar</a:t>
            </a:r>
            <a:r>
              <a:rPr sz="1600"/>
              <a:t> entre clases.</a:t>
            </a:r>
          </a:p>
          <a:p>
            <a:pPr/>
            <a:r>
              <a:rPr sz="1600"/>
              <a:t>▸ LungHist </a:t>
            </a:r>
            <a:r>
              <a:rPr sz="1600" b="1"/>
              <a:t>cae en zona equivocada</a:t>
            </a:r>
            <a:r>
              <a:rPr sz="1600"/>
              <a:t> (colon adenoc).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32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24" name="Shape 32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Sin texto (</a:t>
            </a:r>
            <a:r>
              <a:rPr sz="1600" b="1"/>
              <a:t>Dense-5</a:t>
            </a:r>
            <a:r>
              <a:rPr sz="1600"/>
              <a:t>) gana en NCT (shift fácil).</a:t>
            </a:r>
          </a:p>
          <a:p>
            <a:pPr/>
            <a:r>
              <a:rPr sz="1600"/>
              <a:t>▸ Con shift fuerte: </a:t>
            </a:r>
            <a:r>
              <a:rPr sz="1600" b="1"/>
              <a:t>plain colapsa</a:t>
            </a:r>
            <a:r>
              <a:rPr sz="1600"/>
              <a:t> en Chaoyang / LungHist.</a:t>
            </a:r>
          </a:p>
          <a:p>
            <a:pPr/>
            <a:r>
              <a:rPr sz="1600" b="1"/>
              <a:t>▸ CLIP resiste mejor</a:t>
            </a:r>
            <a:r>
              <a:rPr sz="1600"/>
              <a:t> bajo shift severo → nos quedamos con CLIP.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Shape 33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9" name="Shape 33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Tres métodos probados; </a:t>
            </a:r>
            <a:r>
              <a:rPr sz="1600" b="1"/>
              <a:t>Macenko</a:t>
            </a:r>
            <a:r>
              <a:rPr sz="1600"/>
              <a:t> (los otros dan artefactos).</a:t>
            </a:r>
          </a:p>
          <a:p>
            <a:pPr/>
            <a:r>
              <a:rPr sz="1600"/>
              <a:t>▸ Δ </a:t>
            </a:r>
            <a:r>
              <a:rPr sz="1600" b="1"/>
              <a:t>marginal</a:t>
            </a:r>
            <a:r>
              <a:rPr sz="1600"/>
              <a:t>: -0.022 / +0.030 / +0.020.</a:t>
            </a:r>
          </a:p>
          <a:p>
            <a:pPr/>
            <a:r>
              <a:rPr sz="1600"/>
              <a:t>▸ El </a:t>
            </a:r>
            <a:r>
              <a:rPr sz="1600" b="1"/>
              <a:t>color no explica</a:t>
            </a:r>
            <a:r>
              <a:rPr sz="1600"/>
              <a:t> el colapso pulmonar.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Shape 35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54" name="Shape 35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BERT → BioBERT / PubMedBERT</a:t>
            </a:r>
            <a:r>
              <a:rPr sz="1600"/>
              <a:t> (mismo arch, distinto pretraining).</a:t>
            </a:r>
          </a:p>
          <a:p>
            <a:pPr/>
            <a:r>
              <a:rPr sz="1600"/>
              <a:t>▸ PubMedBERT tokeniza "adenocarcinoma" como </a:t>
            </a:r>
            <a:r>
              <a:rPr sz="1600" b="1"/>
              <a:t>un solo token</a:t>
            </a:r>
            <a:r>
              <a:rPr sz="1600"/>
              <a:t>.</a:t>
            </a:r>
          </a:p>
          <a:p>
            <a:pPr/>
            <a:r>
              <a:rPr sz="1600"/>
              <a:t>▸ Experimentalmente </a:t>
            </a:r>
            <a:r>
              <a:rPr sz="1600" b="1"/>
              <a:t>no mejora</a:t>
            </a:r>
            <a:r>
              <a:rPr sz="1600"/>
              <a:t>; en NCT </a:t>
            </a:r>
            <a:r>
              <a:rPr sz="1600" b="1"/>
              <a:t>-0.011 a -0.058</a:t>
            </a:r>
            <a:r>
              <a:rPr sz="1600"/>
              <a:t>.</a:t>
            </a:r>
          </a:p>
          <a:p>
            <a:pPr/>
            <a:r>
              <a:rPr sz="1600"/>
              <a:t>▸ Encoders </a:t>
            </a:r>
            <a:r>
              <a:rPr sz="1600" b="1"/>
              <a:t>congelados</a:t>
            </a:r>
            <a:r>
              <a:rPr sz="1600"/>
              <a:t> → la palanca no está en el texto.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36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67" name="Shape 36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Preprocesado, texto, cabeza</a:t>
            </a:r>
            <a:r>
              <a:rPr sz="1600"/>
              <a:t>: nada rompe el colapso pulmonar.</a:t>
            </a:r>
          </a:p>
          <a:p>
            <a:pPr/>
            <a:r>
              <a:rPr sz="1600"/>
              <a:t>▸ Siguiente palanca: </a:t>
            </a:r>
            <a:r>
              <a:rPr sz="1600" b="1"/>
              <a:t>codificador visual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38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81" name="Shape 38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Probamos </a:t>
            </a:r>
            <a:r>
              <a:rPr sz="1600" b="1"/>
              <a:t>DINOv2 y PLIP</a:t>
            </a:r>
            <a:r>
              <a:rPr sz="1600"/>
              <a:t> como encoder de imagen.</a:t>
            </a:r>
          </a:p>
          <a:p>
            <a:pPr/>
            <a:r>
              <a:rPr sz="1600" b="1"/>
              <a:t>▸ PLIP: 0.30 → 0.64</a:t>
            </a:r>
            <a:r>
              <a:rPr sz="1600"/>
              <a:t> en LungHist700 (rompe la barrera del azar).</a:t>
            </a:r>
          </a:p>
          <a:p>
            <a:pPr/>
            <a:r>
              <a:rPr sz="1600"/>
              <a:t>▸ No aplicable clínicamente, pero </a:t>
            </a:r>
            <a:r>
              <a:rPr sz="1600" b="1"/>
              <a:t>rompe el colapso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393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94" name="Shape 394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ResNet50 → DINOv2</a:t>
            </a:r>
            <a:r>
              <a:rPr sz="1600"/>
              <a:t>: +0.152 (ViT + SSL general).</a:t>
            </a:r>
          </a:p>
          <a:p>
            <a:pPr/>
            <a:r>
              <a:rPr sz="1600" b="1"/>
              <a:t>▸ DINOv2 → PLIP zero-shot</a:t>
            </a:r>
            <a:r>
              <a:rPr sz="1600"/>
              <a:t>: +0.087 (dominio histopatológico).</a:t>
            </a:r>
          </a:p>
          <a:p>
            <a:pPr/>
            <a:r>
              <a:rPr sz="1600" b="1"/>
              <a:t>▸ PLIP → PLIP + LC25000</a:t>
            </a:r>
            <a:r>
              <a:rPr sz="1600"/>
              <a:t>: +0.096 (supervisión específica).</a:t>
            </a:r>
          </a:p>
          <a:p>
            <a:pPr/>
            <a:r>
              <a:rPr sz="1600"/>
              <a:t>▸ Cuidado: el +0.096 es </a:t>
            </a:r>
            <a:r>
              <a:rPr sz="1600" b="1"/>
              <a:t>supervisión LC25000 sobre PLIP</a:t>
            </a:r>
            <a:r>
              <a:rPr sz="1600"/>
              <a:t>, no "modelo más complejo".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hape 40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7" name="Shape 40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UMAP </a:t>
            </a:r>
            <a:r>
              <a:rPr sz="1600" b="1"/>
              <a:t>refleja</a:t>
            </a:r>
            <a:r>
              <a:rPr sz="1600"/>
              <a:t> la métrica: mejor encoder → mejores clusters.</a:t>
            </a:r>
          </a:p>
          <a:p>
            <a:pPr/>
            <a:r>
              <a:rPr sz="1600"/>
              <a:t>▸ PLIP zero-shot ya </a:t>
            </a:r>
            <a:r>
              <a:rPr sz="1600" b="1"/>
              <a:t>separa espacialmente</a:t>
            </a:r>
            <a:r>
              <a:rPr sz="1600"/>
              <a:t> las clases pulmonares.</a:t>
            </a:r>
          </a:p>
          <a:p>
            <a:pPr/>
            <a:r>
              <a:rPr sz="1600" b="1"/>
              <a:t>▸ PLIP + LC25000</a:t>
            </a:r>
            <a:r>
              <a:rPr sz="1600"/>
              <a:t> mejora la subestructura interna.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Shape 416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17" name="Shape 417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Discusión y conclusiones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Shape 44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48" name="Shape 44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Cuello de botella = representación visual</a:t>
            </a:r>
            <a:r>
              <a:rPr sz="1600"/>
              <a:t>.</a:t>
            </a:r>
          </a:p>
          <a:p>
            <a:pPr/>
            <a:r>
              <a:rPr sz="1600"/>
              <a:t>▸ Dominio histopatológico específico </a:t>
            </a:r>
            <a:r>
              <a:rPr sz="1600" b="1"/>
              <a:t>importa</a:t>
            </a:r>
            <a:r>
              <a:rPr sz="1600"/>
              <a:t> (PLIP &gt; DINOv2).</a:t>
            </a:r>
          </a:p>
          <a:p>
            <a:pPr/>
            <a:r>
              <a:rPr sz="1600" b="1"/>
              <a:t>▸ Reportar por órgano</a:t>
            </a:r>
            <a:r>
              <a:rPr sz="1600"/>
              <a:t>: promediar oculta el cambio de régimen.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Shape 45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60" name="Shape 46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/>
              <a:t>▸ Encoders </a:t>
            </a:r>
            <a:r>
              <a:rPr sz="1600" b="1"/>
              <a:t>congelados</a:t>
            </a:r>
            <a:r>
              <a:rPr sz="1600"/>
              <a:t>; fine-tuning podría cambiar la conclusión.</a:t>
            </a:r>
          </a:p>
          <a:p>
            <a:pPr/>
            <a:r>
              <a:rPr sz="1600" b="1"/>
              <a:t>▸ LC25000</a:t>
            </a:r>
            <a:r>
              <a:rPr sz="1600"/>
              <a:t>: fuga por data augmentation, split no limpio.</a:t>
            </a:r>
          </a:p>
          <a:p>
            <a:pPr/>
            <a:r>
              <a:rPr sz="1600" b="1"/>
              <a:t>▸ PLIP vs DINOv2</a:t>
            </a:r>
            <a:r>
              <a:rPr sz="1600"/>
              <a:t> no es factorial (patch size, objetivo).</a:t>
            </a:r>
          </a:p>
          <a:p>
            <a:pPr/>
            <a:r>
              <a:rPr sz="1600"/>
              <a:t>▸ Futuro: </a:t>
            </a:r>
            <a:r>
              <a:rPr sz="1600" b="1"/>
              <a:t>UNI · CONCH · BioMedCLIP · MUS</a:t>
            </a:r>
            <a:r>
              <a:rPr sz="1600"/>
              <a:t>; pretraining CGA; WSI-como-secuencia.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Shape 46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65" name="Shape 46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rPr sz="1600" b="1"/>
              <a:t>▸ Preguntas</a:t>
            </a:r>
            <a:r>
              <a:rPr sz="1600"/>
              <a:t>.</a:t>
            </a:r>
          </a:p>
          <a:p>
            <a:pPr/>
            <a:r>
              <a:rPr sz="1600"/>
              <a:t>▸ Si dudo: </a:t>
            </a:r>
            <a:r>
              <a:rPr sz="1600" b="1"/>
              <a:t>backup index en S27</a:t>
            </a:r>
            <a:r>
              <a:rPr sz="1600"/>
              <a:t>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Shape 49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96" name="Shape 49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/>
              <a:t>▸ Cada modelo </a:t>
            </a:r>
            <a:r>
              <a:rPr sz="1600" b="1"/>
              <a:t>aisla una variable</a:t>
            </a:r>
            <a:r>
              <a:rPr sz="1600"/>
              <a:t>.</a:t>
            </a:r>
          </a:p>
          <a:p>
            <a:pPr/>
            <a:r>
              <a:rPr sz="1600"/>
              <a:t>▸ ResNet50 = </a:t>
            </a:r>
            <a:r>
              <a:rPr sz="1600" b="1"/>
              <a:t>baseline visual</a:t>
            </a:r>
            <a:r>
              <a:rPr sz="1600"/>
              <a:t>; DINOv2 = </a:t>
            </a:r>
            <a:r>
              <a:rPr sz="1600" b="1"/>
              <a:t>ViT + SSL general</a:t>
            </a:r>
            <a:r>
              <a:rPr sz="1600"/>
              <a:t>.</a:t>
            </a:r>
          </a:p>
          <a:p>
            <a:pPr/>
            <a:r>
              <a:rPr sz="1600"/>
              <a:t>▸ PLIP = </a:t>
            </a:r>
            <a:r>
              <a:rPr sz="1600" b="1"/>
              <a:t>visión + dominio patológico</a:t>
            </a:r>
            <a:r>
              <a:rPr sz="1600"/>
              <a:t>; BERT/Bio/PubMed = </a:t>
            </a:r>
            <a:r>
              <a:rPr sz="1600" b="1"/>
              <a:t>texto</a:t>
            </a:r>
            <a:r>
              <a:rPr sz="1600"/>
              <a:t>.</a:t>
            </a:r>
          </a:p>
          <a:p>
            <a:pPr/>
            <a:r>
              <a:rPr sz="1600"/>
              <a:t>▸ NO es "modelo A vs B" genérico.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Shape 509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10" name="Shape 510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 b="1"/>
              <a:t>▸ Descomposición parcial</a:t>
            </a:r>
            <a:r>
              <a:rPr sz="1600"/>
              <a:t>, no causal.</a:t>
            </a:r>
          </a:p>
          <a:p>
            <a:pPr/>
            <a:r>
              <a:rPr sz="1600"/>
              <a:t>▸ Objetivo (contrastivo) y </a:t>
            </a:r>
            <a:r>
              <a:rPr sz="1600" b="1"/>
              <a:t>patch size</a:t>
            </a:r>
            <a:r>
              <a:rPr sz="1600"/>
              <a:t> (14 vs 32) confounded con dominio.</a:t>
            </a:r>
          </a:p>
          <a:p>
            <a:pPr/>
            <a:r>
              <a:rPr sz="1600"/>
              <a:t>▸ DINOv2 aporta </a:t>
            </a:r>
            <a:r>
              <a:rPr sz="1600" b="1"/>
              <a:t>ViT + SSL general</a:t>
            </a:r>
            <a:r>
              <a:rPr sz="1600"/>
              <a:t>, no domain.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52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23" name="Shape 52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 b="1"/>
              <a:t>▸ RGB → OD</a:t>
            </a:r>
            <a:r>
              <a:rPr sz="1600"/>
              <a:t> (densidad óptica).</a:t>
            </a:r>
          </a:p>
          <a:p>
            <a:pPr/>
            <a:r>
              <a:rPr sz="1600"/>
              <a:t>▸ Separa </a:t>
            </a:r>
            <a:r>
              <a:rPr sz="1600" b="1"/>
              <a:t>H y E</a:t>
            </a:r>
            <a:r>
              <a:rPr sz="1600"/>
              <a:t> por SVD.</a:t>
            </a:r>
          </a:p>
          <a:p>
            <a:pPr/>
            <a:r>
              <a:rPr sz="1600"/>
              <a:t>▸ Re-renderiza con </a:t>
            </a:r>
            <a:r>
              <a:rPr sz="1600" b="1"/>
              <a:t>paleta de referencia</a:t>
            </a:r>
            <a:r>
              <a:rPr sz="1600"/>
              <a:t>.</a:t>
            </a:r>
          </a:p>
          <a:p>
            <a:pPr/>
            <a:r>
              <a:rPr sz="1600"/>
              <a:t>▸ Δ marginal: -0.022 / +0.030 / +0.020.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hape 53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36" name="Shape 53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/>
              <a:t>▸ Preserva </a:t>
            </a:r>
            <a:r>
              <a:rPr sz="1600" b="1"/>
              <a:t>vecindarios locales</a:t>
            </a:r>
            <a:r>
              <a:rPr sz="1600"/>
              <a:t>; distancias globales NO.</a:t>
            </a:r>
          </a:p>
          <a:p>
            <a:pPr/>
            <a:r>
              <a:rPr sz="1600"/>
              <a:t>▸ Sobre proyecciones </a:t>
            </a:r>
            <a:r>
              <a:rPr sz="1600" b="1"/>
              <a:t>256-d L2-norm</a:t>
            </a:r>
            <a:r>
              <a:rPr sz="1600"/>
              <a:t>, cosine.</a:t>
            </a:r>
          </a:p>
          <a:p>
            <a:pPr/>
            <a:r>
              <a:rPr sz="1600" b="1"/>
              <a:t>▸ NO prueba causalidad</a:t>
            </a:r>
            <a:r>
              <a:rPr sz="1600"/>
              <a:t>: verifica consistencia con macro-F1.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49" name="Shape 549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/>
              <a:t>▸ Externos contienen </a:t>
            </a:r>
            <a:r>
              <a:rPr sz="1600" b="1"/>
              <a:t>subconjunto</a:t>
            </a:r>
            <a:r>
              <a:rPr sz="1600"/>
              <a:t> de las 5 clases LC25000.</a:t>
            </a:r>
          </a:p>
          <a:p>
            <a:pPr/>
            <a:r>
              <a:rPr sz="1600"/>
              <a:t>▸ Argmax sin restringir </a:t>
            </a:r>
            <a:r>
              <a:rPr sz="1600" b="1"/>
              <a:t>penalizaría por órganos ausentes</a:t>
            </a:r>
            <a:r>
              <a:rPr sz="1600"/>
              <a:t>.</a:t>
            </a:r>
          </a:p>
          <a:p>
            <a:pPr/>
            <a:r>
              <a:rPr sz="1600"/>
              <a:t>▸ Mide </a:t>
            </a:r>
            <a:r>
              <a:rPr sz="1600" b="1"/>
              <a:t>discriminación intra-órgano</a:t>
            </a:r>
            <a:r>
              <a:rPr sz="1600"/>
              <a:t>, no detección abierta.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Shape 56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61" name="Shape 56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/>
              <a:t>▸ BERT/BioBERT/PubMedBERT: </a:t>
            </a:r>
            <a:r>
              <a:rPr sz="1600" b="1"/>
              <a:t>misma arch, cambia el pretraining</a:t>
            </a:r>
            <a:r>
              <a:rPr sz="1600"/>
              <a:t>.</a:t>
            </a:r>
          </a:p>
          <a:p>
            <a:pPr/>
            <a:r>
              <a:rPr sz="1600"/>
              <a:t>▸ CLIP-text mezclaría </a:t>
            </a:r>
            <a:r>
              <a:rPr sz="1600" b="1"/>
              <a:t>arch + tokenizer + pooling + dominio</a:t>
            </a:r>
            <a:r>
              <a:rPr sz="1600"/>
              <a:t>.</a:t>
            </a:r>
          </a:p>
          <a:p>
            <a:pPr/>
            <a:r>
              <a:rPr sz="1600"/>
              <a:t>▸ PLIP zero-shot ya cubre el caso "CLIP entero".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Shape 57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73" name="Shape 57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/>
              <a:t>▸ Invalida lectura fuerte del </a:t>
            </a:r>
            <a:r>
              <a:rPr sz="1600" b="1"/>
              <a:t>0.996 in-dist</a:t>
            </a:r>
            <a:r>
              <a:rPr sz="1600"/>
              <a:t>.</a:t>
            </a:r>
          </a:p>
          <a:p>
            <a:pPr/>
            <a:r>
              <a:rPr sz="1600" b="1"/>
              <a:t>▸ NO</a:t>
            </a:r>
            <a:r>
              <a:rPr sz="1600"/>
              <a:t> invalida los </a:t>
            </a:r>
            <a:r>
              <a:rPr sz="1600" b="1"/>
              <a:t>+0.335 externos</a:t>
            </a:r>
            <a:r>
              <a:rPr sz="1600"/>
              <a:t> (sin fuga).</a:t>
            </a:r>
          </a:p>
          <a:p>
            <a:pPr/>
            <a:r>
              <a:rPr sz="1600"/>
              <a:t>▸ Deltas relativos comparables (todas las variantes heredan igual).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pPr/>
            <a:r>
              <a:rPr sz="1600"/>
              <a:t>▸ Índice de preguntas típicas.</a:t>
            </a:r>
          </a:p>
          <a:p>
            <a:pPr/>
            <a:r>
              <a:rPr sz="1600" b="1"/>
              <a:t>▸ Saltar aquí SOLO si te preguntan.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Shape 61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12" name="Shape 61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 b="1"/>
              <a:t>▸ SSL sin etiquetas</a:t>
            </a:r>
            <a:r>
              <a:rPr sz="1600"/>
              <a:t>, 142M imágenes naturales.</a:t>
            </a:r>
          </a:p>
          <a:p>
            <a:pPr/>
            <a:r>
              <a:rPr sz="1600"/>
              <a:t>▸ Distillation con </a:t>
            </a:r>
            <a:r>
              <a:rPr sz="1600" b="1"/>
              <a:t>teacher EMA + multi-crop</a:t>
            </a:r>
            <a:r>
              <a:rPr sz="1600"/>
              <a:t>.</a:t>
            </a:r>
          </a:p>
          <a:p>
            <a:pPr/>
            <a:r>
              <a:rPr sz="1600"/>
              <a:t>▸ Separa </a:t>
            </a:r>
            <a:r>
              <a:rPr sz="1600" b="1"/>
              <a:t>ViT + SSL general</a:t>
            </a:r>
            <a:r>
              <a:rPr sz="1600"/>
              <a:t> del dominio histopatológico.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Shape 62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25" name="Shape 62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1300"/>
            </a:lvl1pPr>
          </a:lstStyle>
          <a:p>
            <a:pPr/>
            <a:r>
              <a:rPr sz="1600" b="1"/>
              <a:t>▸ s_ij = (v_i · t_j) / τ</a:t>
            </a:r>
            <a:r>
              <a:rPr sz="1600"/>
              <a:t>, softmax fila por fila.</a:t>
            </a:r>
          </a:p>
          <a:p>
            <a:pPr/>
            <a:r>
              <a:rPr sz="1600"/>
              <a:t>▸ Diagonal = </a:t>
            </a:r>
            <a:r>
              <a:rPr sz="1600" b="1"/>
              <a:t>positivos</a:t>
            </a:r>
            <a:r>
              <a:rPr sz="1600"/>
              <a:t>; off-diag = </a:t>
            </a:r>
            <a:r>
              <a:rPr sz="1600" b="1"/>
              <a:t>negativos in-batch</a:t>
            </a:r>
            <a:r>
              <a:rPr sz="1600"/>
              <a:t>.</a:t>
            </a:r>
          </a:p>
          <a:p>
            <a:pPr/>
            <a:r>
              <a:rPr sz="1600"/>
              <a:t>▸ τ aprendida como </a:t>
            </a:r>
            <a:r>
              <a:rPr sz="1600" b="1"/>
              <a:t>log(1/τ)</a:t>
            </a:r>
            <a:r>
              <a:rPr sz="1600"/>
              <a:t>.</a:t>
            </a:r>
          </a:p>
          <a:p>
            <a:pPr/>
            <a:r>
              <a:rPr sz="1600"/>
              <a:t>▸ Caveat: prompts compartidos → </a:t>
            </a:r>
            <a:r>
              <a:rPr sz="1600" b="1"/>
              <a:t>falsos negativos</a:t>
            </a:r>
            <a:r>
              <a:rPr sz="1600"/>
              <a:t> de misma clase.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20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8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6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4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4" cy="80488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81" y="6414762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7" descr="Picture 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2540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Rectangle 1"/>
          <p:cNvSpPr/>
          <p:nvPr/>
        </p:nvSpPr>
        <p:spPr>
          <a:xfrm>
            <a:off x="-1" y="5852159"/>
            <a:ext cx="12191697" cy="1005840"/>
          </a:xfrm>
          <a:prstGeom prst="rect">
            <a:avLst/>
          </a:prstGeom>
          <a:solidFill>
            <a:srgbClr val="4D0912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0" y="2011675"/>
            <a:ext cx="457200" cy="3200425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TextBox 3"/>
          <p:cNvSpPr txBox="1"/>
          <p:nvPr/>
        </p:nvSpPr>
        <p:spPr>
          <a:xfrm>
            <a:off x="1143000" y="914399"/>
            <a:ext cx="996696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C9A227"/>
                </a:solidFill>
              </a:defRPr>
            </a:lvl1pPr>
          </a:lstStyle>
          <a:p>
            <a:pPr/>
            <a:r>
              <a:t>Trabajo de Fin de Máster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143000" y="1463038"/>
            <a:ext cx="9966961" cy="1294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4200">
                <a:solidFill>
                  <a:srgbClr val="FFFFFF"/>
                </a:solidFill>
              </a:defRPr>
            </a:lvl1pPr>
          </a:lstStyle>
          <a:p>
            <a:pPr/>
            <a:r>
              <a:t>A Study on Foundational Vision-Language Models for Histopathology Image Analysis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143000" y="4114800"/>
            <a:ext cx="9966961" cy="3853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">
                <a:solidFill>
                  <a:srgbClr val="FFFFFF"/>
                </a:solidFill>
              </a:defRPr>
            </a:lvl1pPr>
          </a:lstStyle>
          <a:p>
            <a:pPr/>
            <a:r>
              <a:t>Leandro Candau Sánchez de Ybargüen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143000" y="4617720"/>
            <a:ext cx="9966961" cy="8537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FAF7F2"/>
                </a:solidFill>
              </a:defRPr>
            </a:pPr>
            <a:r>
              <a:t>Tutores:  Miguel Ángel Gutiérrez Naranjo   ·   Miguel Cárdenas Montes</a:t>
            </a:r>
          </a:p>
          <a:p>
            <a:pPr/>
            <a:r>
              <a:t>Máster Universitario en Lógica, Computación e Inteligencia Artificial</a:t>
            </a:r>
          </a:p>
          <a:p>
            <a:pPr/>
            <a:r>
              <a:t>ETSI Informática · Universidad de Sevilla · 2026</a:t>
            </a:r>
          </a:p>
        </p:txBody>
      </p:sp>
      <p:pic>
        <p:nvPicPr>
          <p:cNvPr id="100" name="Picture 8" descr="Picture 8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362895" y="274320"/>
            <a:ext cx="1463062" cy="12858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05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4"/>
          <p:cNvSpPr txBox="1"/>
          <p:nvPr/>
        </p:nvSpPr>
        <p:spPr>
          <a:xfrm>
            <a:off x="1142986" y="1920236"/>
            <a:ext cx="402339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08" name="TextBox 6"/>
          <p:cNvSpPr txBox="1"/>
          <p:nvPr/>
        </p:nvSpPr>
        <p:spPr>
          <a:xfrm>
            <a:off x="1142999" y="5303520"/>
            <a:ext cx="272733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Motivación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15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Motivación   ·   3/26</a:t>
            </a:r>
          </a:p>
        </p:txBody>
      </p:sp>
      <p:sp>
        <p:nvSpPr>
          <p:cNvPr id="116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Histopatología Digital</a:t>
            </a:r>
          </a:p>
        </p:txBody>
      </p:sp>
      <p:sp>
        <p:nvSpPr>
          <p:cNvPr id="117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8" name="TextBox 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Herramienta de diagnóstico visual usada por patólogos sobre tejidos de distintos órganos</a:t>
            </a:r>
          </a:p>
        </p:txBody>
      </p:sp>
      <p:sp>
        <p:nvSpPr>
          <p:cNvPr id="119" name="TextBox 8"/>
          <p:cNvSpPr txBox="1"/>
          <p:nvPr/>
        </p:nvSpPr>
        <p:spPr>
          <a:xfrm>
            <a:off x="665273" y="1967842"/>
            <a:ext cx="5120641" cy="42248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</a:defRPr>
            </a:pPr>
            <a:r>
              <a:t>¿Qué es la histopatología?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</a:defRPr>
            </a:pPr>
            <a:r>
              <a:t>Histopatología</a:t>
            </a:r>
            <a:r>
              <a:rPr b="0"/>
              <a:t>: examen microscópico de tejido teñido con hematoxilina-eosina (H&amp;E).</a:t>
            </a:r>
          </a:p>
          <a:p>
            <a:pPr marL="140367" indent="-140367">
              <a:buSzPct val="100000"/>
              <a:buChar char="▸"/>
              <a:defRPr b="1" sz="1600">
                <a:solidFill>
                  <a:srgbClr val="4D0912"/>
                </a:solidFill>
              </a:defRPr>
            </a:pPr>
            <a:r>
              <a:t>Prueba de referencia clínica</a:t>
            </a:r>
            <a:r>
              <a:rPr b="0"/>
              <a:t> para el diagnóstico definitivo de la mayoría de los tipos de cáncer.</a:t>
            </a:r>
          </a:p>
          <a:p>
            <a:pPr>
              <a:defRPr b="1">
                <a:solidFill>
                  <a:srgbClr val="6B0F1A"/>
                </a:solidFill>
              </a:defRPr>
            </a:pPr>
          </a:p>
          <a:p>
            <a:pPr>
              <a:defRPr b="1">
                <a:solidFill>
                  <a:srgbClr val="6B0F1A"/>
                </a:solidFill>
              </a:defRPr>
            </a:pPr>
            <a:r>
              <a:t>¿Cómo se procesa digitalmente?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Las láminas se escanean a alta resolución (típicamente 20× o 40× de aumento óptico) en </a:t>
            </a:r>
            <a:r>
              <a:rPr b="1" i="1"/>
              <a:t>Whole Slide Images</a:t>
            </a:r>
            <a:r>
              <a:t> (WSIs): imágenes gigapíxel de ≈80.000 × 40.000 píxeles.</a:t>
            </a:r>
          </a:p>
          <a:p>
            <a:pPr marL="160420" indent="-160420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Los modelos de </a:t>
            </a:r>
            <a:r>
              <a:rPr b="1"/>
              <a:t>IA no procesan las láminas completas</a:t>
            </a:r>
            <a:r>
              <a:t>: se dividen en parches más pequeños que alimentan al encoder de imagen.</a:t>
            </a:r>
          </a:p>
          <a:p>
            <a:pPr>
              <a:defRPr b="1" sz="1600">
                <a:solidFill>
                  <a:srgbClr val="4D0912"/>
                </a:solidFill>
              </a:defRPr>
            </a:pPr>
          </a:p>
          <a:p>
            <a:pPr>
              <a:defRPr sz="1600">
                <a:solidFill>
                  <a:srgbClr val="4D0912"/>
                </a:solidFill>
              </a:defRPr>
            </a:pPr>
            <a:r>
              <a:t>→  Esto convierte el problema en clasificación visual de parches con etiquetas caras y contexto parcial.</a:t>
            </a:r>
          </a:p>
        </p:txBody>
      </p:sp>
      <p:pic>
        <p:nvPicPr>
          <p:cNvPr id="120" name="Picture 9" descr="Picture 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59" y="3398537"/>
            <a:ext cx="5394965" cy="2164065"/>
          </a:xfrm>
          <a:prstGeom prst="rect">
            <a:avLst/>
          </a:prstGeom>
          <a:ln w="12700">
            <a:miter lim="400000"/>
          </a:ln>
        </p:spPr>
      </p:pic>
      <p:pic>
        <p:nvPicPr>
          <p:cNvPr id="121" name="Picture 10" descr="Picture 1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150173" y="1988161"/>
            <a:ext cx="5713334" cy="3709959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Rectangle 117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xit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21" grpId="1"/>
      <p:bldP build="whole" bldLvl="1" animBg="1" rev="0" advAuto="0" spid="120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29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Motivación   ·   4/26</a:t>
            </a:r>
          </a:p>
        </p:txBody>
      </p:sp>
      <p:sp>
        <p:nvSpPr>
          <p:cNvPr id="130" name="TextBox 5"/>
          <p:cNvSpPr txBox="1"/>
          <p:nvPr/>
        </p:nvSpPr>
        <p:spPr>
          <a:xfrm>
            <a:off x="594359" y="384047"/>
            <a:ext cx="11000235" cy="4851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Dificultades del procesamiento digital de muestras histopatológicas</a:t>
            </a:r>
          </a:p>
        </p:txBody>
      </p:sp>
      <p:sp>
        <p:nvSpPr>
          <p:cNvPr id="131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2" name="TextBox 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Particularidades que cualquier pipeline de visión debe contemplar</a:t>
            </a:r>
          </a:p>
        </p:txBody>
      </p:sp>
      <p:sp>
        <p:nvSpPr>
          <p:cNvPr id="133" name="TextBox 8"/>
          <p:cNvSpPr txBox="1"/>
          <p:nvPr/>
        </p:nvSpPr>
        <p:spPr>
          <a:xfrm>
            <a:off x="540035" y="1870361"/>
            <a:ext cx="6068032" cy="41303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Escasez de datos etiquetados</a:t>
            </a:r>
            <a:r>
              <a:rPr b="0"/>
              <a:t>: los conjuntos abiertos son varios órdenes de magnitud menores que los corpus generales de imagen: el etiquetado requiere patólogo experto y es caro.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Confidencialidad</a:t>
            </a:r>
            <a:r>
              <a:rPr b="0"/>
              <a:t>: la privacidad del paciente reduce aún más los datasets accesibles multi-institución.</a:t>
            </a:r>
          </a:p>
          <a:p>
            <a:pPr marL="180472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Variabilidad institucional</a:t>
            </a:r>
            <a:r>
              <a:rPr b="0"/>
              <a:t>: la tinción H&amp;E depende del laboratorio, del técnico y del protocolo: cambia entre hospitales, escáneres y lotes.</a:t>
            </a:r>
          </a:p>
          <a:p>
            <a:pPr lvl="1" marL="561471" indent="-180472">
              <a:buSzPct val="100000"/>
              <a:buChar char="▸"/>
              <a:defRPr b="1">
                <a:solidFill>
                  <a:srgbClr val="4D0912"/>
                </a:solidFill>
              </a:defRPr>
            </a:pPr>
            <a:r>
              <a:t>Normalización de la tinción</a:t>
            </a:r>
            <a:r>
              <a:rPr b="0"/>
              <a:t> (stain normalization): mitigación habitual de preprocesado para atenuar esa variabilidad.</a:t>
            </a:r>
          </a:p>
          <a:p>
            <a:pPr marL="180472" indent="-180472">
              <a:buSzPct val="100000"/>
              <a:buChar char="▸"/>
              <a:defRPr>
                <a:solidFill>
                  <a:srgbClr val="4D0912"/>
                </a:solidFill>
              </a:defRPr>
            </a:pPr>
          </a:p>
          <a:p>
            <a:pPr marL="180472" indent="-180472">
              <a:buSzPct val="100000"/>
              <a:buChar char="▸"/>
              <a:defRPr>
                <a:solidFill>
                  <a:srgbClr val="4D0912"/>
                </a:solidFill>
              </a:defRPr>
            </a:pPr>
            <a:r>
              <a:t>El problema no es solo clasificar bien dentro del dataset de entrenamiento; es </a:t>
            </a:r>
            <a:r>
              <a:rPr b="1"/>
              <a:t>generalizar cuando cambia la fuente.</a:t>
            </a:r>
          </a:p>
        </p:txBody>
      </p:sp>
      <p:pic>
        <p:nvPicPr>
          <p:cNvPr id="134" name="Picture 127" descr="Picture 1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91361" y="1751855"/>
            <a:ext cx="3841883" cy="4182572"/>
          </a:xfrm>
          <a:prstGeom prst="rect">
            <a:avLst/>
          </a:prstGeom>
          <a:ln w="12700">
            <a:miter lim="400000"/>
          </a:ln>
        </p:spPr>
      </p:pic>
      <p:sp>
        <p:nvSpPr>
          <p:cNvPr id="135" name="Rectangle 129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0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42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Motivación   ·   5/26</a:t>
            </a:r>
          </a:p>
        </p:txBody>
      </p:sp>
      <p:sp>
        <p:nvSpPr>
          <p:cNvPr id="143" name="TextBox 136"/>
          <p:cNvSpPr txBox="1"/>
          <p:nvPr/>
        </p:nvSpPr>
        <p:spPr>
          <a:xfrm>
            <a:off x="594359" y="384047"/>
            <a:ext cx="11000235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Modelos fundacionales</a:t>
            </a:r>
          </a:p>
        </p:txBody>
      </p:sp>
      <p:sp>
        <p:nvSpPr>
          <p:cNvPr id="144" name="Rectangle 137"/>
          <p:cNvSpPr/>
          <p:nvPr/>
        </p:nvSpPr>
        <p:spPr>
          <a:xfrm>
            <a:off x="594360" y="978408"/>
            <a:ext cx="1188720" cy="45722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45" name="TextBox 138"/>
          <p:cNvSpPr txBox="1"/>
          <p:nvPr/>
        </p:nvSpPr>
        <p:spPr>
          <a:xfrm>
            <a:off x="594359" y="1188719"/>
            <a:ext cx="11000235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Preentrenar una vez, reutilizar después.</a:t>
            </a:r>
          </a:p>
        </p:txBody>
      </p:sp>
      <p:sp>
        <p:nvSpPr>
          <p:cNvPr id="146" name="Rounded Rectangle 139"/>
          <p:cNvSpPr/>
          <p:nvPr/>
        </p:nvSpPr>
        <p:spPr>
          <a:xfrm>
            <a:off x="649223" y="1874517"/>
            <a:ext cx="1920241" cy="141732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B0A08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47" name="TextBox 140"/>
          <p:cNvSpPr txBox="1"/>
          <p:nvPr/>
        </p:nvSpPr>
        <p:spPr>
          <a:xfrm>
            <a:off x="740662" y="1947671"/>
            <a:ext cx="1737363" cy="73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defRPr b="1" sz="13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Corpus masivo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texto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imágenes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pares imagen–texto</a:t>
            </a:r>
          </a:p>
        </p:txBody>
      </p:sp>
      <p:sp>
        <p:nvSpPr>
          <p:cNvPr id="148" name="Right Arrow 141"/>
          <p:cNvSpPr/>
          <p:nvPr/>
        </p:nvSpPr>
        <p:spPr>
          <a:xfrm>
            <a:off x="2569464" y="2423160"/>
            <a:ext cx="320042" cy="32004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49" name="Rounded Rectangle 142"/>
          <p:cNvSpPr/>
          <p:nvPr/>
        </p:nvSpPr>
        <p:spPr>
          <a:xfrm>
            <a:off x="2889504" y="1874517"/>
            <a:ext cx="1920241" cy="141732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B0A08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0" name="TextBox 143"/>
          <p:cNvSpPr txBox="1"/>
          <p:nvPr/>
        </p:nvSpPr>
        <p:spPr>
          <a:xfrm>
            <a:off x="2980943" y="1947671"/>
            <a:ext cx="1737363" cy="73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defRPr b="1" sz="13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Pretraining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aprende patrones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generales sin tarea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final fija</a:t>
            </a:r>
          </a:p>
        </p:txBody>
      </p:sp>
      <p:sp>
        <p:nvSpPr>
          <p:cNvPr id="151" name="Right Arrow 144"/>
          <p:cNvSpPr/>
          <p:nvPr/>
        </p:nvSpPr>
        <p:spPr>
          <a:xfrm>
            <a:off x="4809744" y="2423160"/>
            <a:ext cx="320042" cy="32004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2" name="Rounded Rectangle 145"/>
          <p:cNvSpPr/>
          <p:nvPr/>
        </p:nvSpPr>
        <p:spPr>
          <a:xfrm>
            <a:off x="5129784" y="1874517"/>
            <a:ext cx="1920242" cy="1417322"/>
          </a:xfrm>
          <a:prstGeom prst="roundRect">
            <a:avLst>
              <a:gd name="adj" fmla="val 10000"/>
            </a:avLst>
          </a:prstGeom>
          <a:solidFill>
            <a:srgbClr val="EBD9A8"/>
          </a:solidFill>
          <a:ln w="19050">
            <a:solidFill>
              <a:srgbClr val="C6A04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3" name="TextBox 146"/>
          <p:cNvSpPr txBox="1"/>
          <p:nvPr/>
        </p:nvSpPr>
        <p:spPr>
          <a:xfrm>
            <a:off x="5221223" y="1947671"/>
            <a:ext cx="1737362" cy="73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defRPr b="1" sz="13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FM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modelo fundacional con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embeddings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reutilizables</a:t>
            </a:r>
          </a:p>
        </p:txBody>
      </p:sp>
      <p:sp>
        <p:nvSpPr>
          <p:cNvPr id="154" name="Right Arrow 147"/>
          <p:cNvSpPr/>
          <p:nvPr/>
        </p:nvSpPr>
        <p:spPr>
          <a:xfrm>
            <a:off x="7050023" y="2423160"/>
            <a:ext cx="320042" cy="32004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5" name="Rounded Rectangle 148"/>
          <p:cNvSpPr/>
          <p:nvPr/>
        </p:nvSpPr>
        <p:spPr>
          <a:xfrm>
            <a:off x="7370064" y="1874517"/>
            <a:ext cx="1920242" cy="141732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B0A08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6" name="TextBox 149"/>
          <p:cNvSpPr txBox="1"/>
          <p:nvPr/>
        </p:nvSpPr>
        <p:spPr>
          <a:xfrm>
            <a:off x="7461504" y="1947671"/>
            <a:ext cx="1737362" cy="735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/>
          <a:p>
            <a:pPr>
              <a:defRPr b="1" sz="13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Adaptación ligera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prompt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cabeza pequeña</a:t>
            </a:r>
          </a:p>
          <a:p>
            <a:pPr>
              <a:defRPr sz="11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encoder congelado</a:t>
            </a:r>
          </a:p>
        </p:txBody>
      </p:sp>
      <p:sp>
        <p:nvSpPr>
          <p:cNvPr id="157" name="Right Arrow 150"/>
          <p:cNvSpPr/>
          <p:nvPr/>
        </p:nvSpPr>
        <p:spPr>
          <a:xfrm>
            <a:off x="9290304" y="2423160"/>
            <a:ext cx="320042" cy="32004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8" name="Rounded Rectangle 151"/>
          <p:cNvSpPr/>
          <p:nvPr/>
        </p:nvSpPr>
        <p:spPr>
          <a:xfrm>
            <a:off x="9610342" y="1874517"/>
            <a:ext cx="1920242" cy="141732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B0A08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59" name="TextBox 152"/>
          <p:cNvSpPr txBox="1"/>
          <p:nvPr/>
        </p:nvSpPr>
        <p:spPr>
          <a:xfrm>
            <a:off x="9701783" y="1920238"/>
            <a:ext cx="1737362" cy="2397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>
              <a:defRPr b="1" sz="13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Tarea final</a:t>
            </a:r>
          </a:p>
        </p:txBody>
      </p:sp>
      <p:pic>
        <p:nvPicPr>
          <p:cNvPr id="160" name="Picture 153" descr="Picture 15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053828" y="2203703"/>
            <a:ext cx="1033274" cy="1033274"/>
          </a:xfrm>
          <a:prstGeom prst="rect">
            <a:avLst/>
          </a:prstGeom>
          <a:ln w="12700">
            <a:miter lim="400000"/>
          </a:ln>
        </p:spPr>
      </p:pic>
      <p:sp>
        <p:nvSpPr>
          <p:cNvPr id="161" name="TextBox 154"/>
          <p:cNvSpPr txBox="1"/>
          <p:nvPr/>
        </p:nvSpPr>
        <p:spPr>
          <a:xfrm>
            <a:off x="9427464" y="3337559"/>
            <a:ext cx="2286002" cy="3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18288" tIns="18288" rIns="18288" bIns="18288">
            <a:spAutoFit/>
          </a:bodyPr>
          <a:lstStyle>
            <a:lvl1pPr algn="ctr">
              <a:defRPr sz="1100">
                <a:solidFill>
                  <a:srgbClr val="826540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parche H&amp;E → clase histopatológica</a:t>
            </a:r>
          </a:p>
        </p:txBody>
      </p:sp>
      <p:sp>
        <p:nvSpPr>
          <p:cNvPr id="162" name="TextBox 155"/>
          <p:cNvSpPr txBox="1"/>
          <p:nvPr/>
        </p:nvSpPr>
        <p:spPr>
          <a:xfrm>
            <a:off x="582770" y="4291041"/>
            <a:ext cx="5760723" cy="307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Ejemplos que aparecen en el TFM</a:t>
            </a:r>
          </a:p>
        </p:txBody>
      </p:sp>
      <p:sp>
        <p:nvSpPr>
          <p:cNvPr id="163" name="Rounded Rectangle 156"/>
          <p:cNvSpPr/>
          <p:nvPr/>
        </p:nvSpPr>
        <p:spPr>
          <a:xfrm>
            <a:off x="582770" y="4702520"/>
            <a:ext cx="1463042" cy="365761"/>
          </a:xfrm>
          <a:prstGeom prst="roundRect">
            <a:avLst>
              <a:gd name="adj" fmla="val 50000"/>
            </a:avLst>
          </a:prstGeom>
          <a:solidFill>
            <a:srgbClr val="EBD9A8"/>
          </a:solidFill>
          <a:ln>
            <a:solidFill>
              <a:srgbClr val="C6A04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64" name="TextBox 157"/>
          <p:cNvSpPr txBox="1"/>
          <p:nvPr/>
        </p:nvSpPr>
        <p:spPr>
          <a:xfrm>
            <a:off x="582770" y="4720809"/>
            <a:ext cx="1463043" cy="26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BERT · texto</a:t>
            </a:r>
          </a:p>
        </p:txBody>
      </p:sp>
      <p:sp>
        <p:nvSpPr>
          <p:cNvPr id="165" name="Rounded Rectangle 158"/>
          <p:cNvSpPr/>
          <p:nvPr/>
        </p:nvSpPr>
        <p:spPr>
          <a:xfrm>
            <a:off x="2182971" y="4702520"/>
            <a:ext cx="1645922" cy="365761"/>
          </a:xfrm>
          <a:prstGeom prst="roundRect">
            <a:avLst>
              <a:gd name="adj" fmla="val 50000"/>
            </a:avLst>
          </a:prstGeom>
          <a:solidFill>
            <a:srgbClr val="EBD9A8"/>
          </a:solidFill>
          <a:ln>
            <a:solidFill>
              <a:srgbClr val="C6A04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66" name="TextBox 159"/>
          <p:cNvSpPr txBox="1"/>
          <p:nvPr/>
        </p:nvSpPr>
        <p:spPr>
          <a:xfrm>
            <a:off x="2182970" y="4720809"/>
            <a:ext cx="1645923" cy="26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DINOv2 · imagen</a:t>
            </a:r>
          </a:p>
        </p:txBody>
      </p:sp>
      <p:sp>
        <p:nvSpPr>
          <p:cNvPr id="167" name="Rounded Rectangle 160"/>
          <p:cNvSpPr/>
          <p:nvPr/>
        </p:nvSpPr>
        <p:spPr>
          <a:xfrm>
            <a:off x="3966049" y="4702520"/>
            <a:ext cx="2377442" cy="365761"/>
          </a:xfrm>
          <a:prstGeom prst="roundRect">
            <a:avLst>
              <a:gd name="adj" fmla="val 50000"/>
            </a:avLst>
          </a:prstGeom>
          <a:solidFill>
            <a:srgbClr val="EBD9A8"/>
          </a:solidFill>
          <a:ln>
            <a:solidFill>
              <a:srgbClr val="C6A04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68" name="TextBox 161"/>
          <p:cNvSpPr txBox="1"/>
          <p:nvPr/>
        </p:nvSpPr>
        <p:spPr>
          <a:xfrm>
            <a:off x="3966050" y="4720809"/>
            <a:ext cx="2377441" cy="269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CLIP / PLIP · imagen + texto</a:t>
            </a:r>
          </a:p>
        </p:txBody>
      </p:sp>
      <p:sp>
        <p:nvSpPr>
          <p:cNvPr id="169" name="TextBox 162"/>
          <p:cNvSpPr txBox="1"/>
          <p:nvPr/>
        </p:nvSpPr>
        <p:spPr>
          <a:xfrm>
            <a:off x="6663530" y="4291041"/>
            <a:ext cx="4937762" cy="3073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Por qué importa aquí</a:t>
            </a:r>
          </a:p>
        </p:txBody>
      </p:sp>
      <p:sp>
        <p:nvSpPr>
          <p:cNvPr id="170" name="TextBox 163"/>
          <p:cNvSpPr txBox="1"/>
          <p:nvPr/>
        </p:nvSpPr>
        <p:spPr>
          <a:xfrm>
            <a:off x="6663530" y="4629367"/>
            <a:ext cx="4937762" cy="635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7432" tIns="27432" rIns="27432" bIns="27432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etiquetas histopatológicas caras</a:t>
            </a:r>
          </a:p>
          <a:p>
            <a:pPr>
              <a:defRPr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datos multi-institución limitados</a:t>
            </a:r>
          </a:p>
          <a:p>
            <a:pPr>
              <a:defRPr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el reto real es transferir bajo shift</a:t>
            </a:r>
          </a:p>
        </p:txBody>
      </p:sp>
      <p:sp>
        <p:nvSpPr>
          <p:cNvPr id="171" name="TextBox 164"/>
          <p:cNvSpPr txBox="1"/>
          <p:nvPr/>
        </p:nvSpPr>
        <p:spPr>
          <a:xfrm>
            <a:off x="589533" y="5597180"/>
            <a:ext cx="11000234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b="1"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En este TFM no entrenamos modelos fundacionales desde cero: medimos qué representaciones</a:t>
            </a:r>
          </a:p>
          <a:p>
            <a:pPr algn="ctr">
              <a:defRPr b="1"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preentrenadas transfieren mejor cuando cambia la fuente histopatológica.</a:t>
            </a:r>
          </a:p>
        </p:txBody>
      </p:sp>
      <p:sp>
        <p:nvSpPr>
          <p:cNvPr id="172" name="Rectangle 165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73" name="No se entrena un modelo desde cero para cada tarea: se reutiliza una representación preentrenada"/>
          <p:cNvSpPr txBox="1"/>
          <p:nvPr/>
        </p:nvSpPr>
        <p:spPr>
          <a:xfrm>
            <a:off x="558846" y="3476247"/>
            <a:ext cx="9073314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No se entrena un modelo desde cero para cada tarea: se reutiliza una representación preentrenada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8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80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Motivación   ·   6/26</a:t>
            </a:r>
          </a:p>
        </p:txBody>
      </p:sp>
      <p:sp>
        <p:nvSpPr>
          <p:cNvPr id="181" name="Rectangle 141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82" name="TextBox 185"/>
          <p:cNvSpPr txBox="1"/>
          <p:nvPr/>
        </p:nvSpPr>
        <p:spPr>
          <a:xfrm>
            <a:off x="594359" y="384047"/>
            <a:ext cx="11000234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600">
                <a:solidFill>
                  <a:srgbClr val="6B0F1A"/>
                </a:solidFill>
              </a:defRPr>
            </a:lvl1pPr>
          </a:lstStyle>
          <a:p>
            <a:pPr/>
            <a:r>
              <a:t>De modelos fundacionales a visión-lenguaje</a:t>
            </a:r>
          </a:p>
        </p:txBody>
      </p:sp>
      <p:sp>
        <p:nvSpPr>
          <p:cNvPr id="183" name="TextBox 186"/>
          <p:cNvSpPr txBox="1"/>
          <p:nvPr/>
        </p:nvSpPr>
        <p:spPr>
          <a:xfrm>
            <a:off x="594359" y="1188719"/>
            <a:ext cx="11000234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D0912"/>
                </a:solidFill>
              </a:defRPr>
            </a:lvl1pPr>
          </a:lstStyle>
          <a:p>
            <a:pPr/>
            <a:r>
              <a:t>La variante que nos interesa aprende una representación común para imágenes y texto.</a:t>
            </a:r>
          </a:p>
        </p:txBody>
      </p:sp>
      <p:sp>
        <p:nvSpPr>
          <p:cNvPr id="184" name="TextBox 187"/>
          <p:cNvSpPr txBox="1"/>
          <p:nvPr/>
        </p:nvSpPr>
        <p:spPr>
          <a:xfrm>
            <a:off x="594359" y="1965960"/>
            <a:ext cx="557784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6B0F1A"/>
                </a:solidFill>
              </a:defRPr>
            </a:lvl1pPr>
          </a:lstStyle>
          <a:p>
            <a:pPr/>
            <a:r>
              <a:t>Qué añade un VLM</a:t>
            </a:r>
          </a:p>
        </p:txBody>
      </p:sp>
      <p:sp>
        <p:nvSpPr>
          <p:cNvPr id="185" name="TextBox 188"/>
          <p:cNvSpPr txBox="1"/>
          <p:nvPr/>
        </p:nvSpPr>
        <p:spPr>
          <a:xfrm>
            <a:off x="594359" y="2377439"/>
            <a:ext cx="5577842" cy="1041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3C2814"/>
                </a:solidFill>
              </a:defRPr>
            </a:pPr>
            <a:r>
              <a:t>▸ Entrena con pares imagen–texto, no solo con etiquetas cerradas.</a:t>
            </a: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▸ Proyecta ambas modalidades a un espacio latente compartido.</a:t>
            </a: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▸ Permite expresar clases con texto: "a histopathology image of…"</a:t>
            </a:r>
          </a:p>
        </p:txBody>
      </p:sp>
      <p:sp>
        <p:nvSpPr>
          <p:cNvPr id="186" name="TextBox 189"/>
          <p:cNvSpPr txBox="1"/>
          <p:nvPr/>
        </p:nvSpPr>
        <p:spPr>
          <a:xfrm>
            <a:off x="6492240" y="1965960"/>
            <a:ext cx="512064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6B0F1A"/>
                </a:solidFill>
              </a:defRPr>
            </a:lvl1pPr>
          </a:lstStyle>
          <a:p>
            <a:pPr/>
            <a:r>
              <a:t>Por qué importa aquí</a:t>
            </a:r>
          </a:p>
        </p:txBody>
      </p:sp>
      <p:sp>
        <p:nvSpPr>
          <p:cNvPr id="187" name="TextBox 190"/>
          <p:cNvSpPr txBox="1"/>
          <p:nvPr/>
        </p:nvSpPr>
        <p:spPr>
          <a:xfrm>
            <a:off x="6492240" y="2377439"/>
            <a:ext cx="5120641" cy="12702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3C2814"/>
                </a:solidFill>
              </a:defRPr>
            </a:pPr>
            <a:r>
              <a:t>▸ En histopatología, las etiquetas son caras.</a:t>
            </a: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▸ El texto puede actuar como supervisión débil.</a:t>
            </a: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▸ La pregunta es si esa representación transfiere cuando cambia la fuente.</a:t>
            </a:r>
          </a:p>
        </p:txBody>
      </p:sp>
      <p:sp>
        <p:nvSpPr>
          <p:cNvPr id="188" name="TextBox 191"/>
          <p:cNvSpPr txBox="1"/>
          <p:nvPr/>
        </p:nvSpPr>
        <p:spPr>
          <a:xfrm>
            <a:off x="589533" y="5962953"/>
            <a:ext cx="11000234" cy="2779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500">
                <a:solidFill>
                  <a:srgbClr val="4D0912"/>
                </a:solidFill>
              </a:defRPr>
            </a:lvl1pPr>
          </a:lstStyle>
          <a:p>
            <a:pPr/>
            <a:r>
              <a:t>A partir de aquí, el trabajo se centra en sistemas de visión-lenguaje basados en alineamiento imagen–texto.</a:t>
            </a:r>
          </a:p>
        </p:txBody>
      </p:sp>
      <p:sp>
        <p:nvSpPr>
          <p:cNvPr id="189" name="Rectangle 192"/>
          <p:cNvSpPr/>
          <p:nvPr/>
        </p:nvSpPr>
        <p:spPr>
          <a:xfrm>
            <a:off x="594359" y="6355079"/>
            <a:ext cx="11000234" cy="18289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90" name="Picture 137" descr="Picture 13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489226" y="3702542"/>
            <a:ext cx="9200848" cy="214154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5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197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Motivación   ·   7/26</a:t>
            </a:r>
          </a:p>
        </p:txBody>
      </p:sp>
      <p:sp>
        <p:nvSpPr>
          <p:cNvPr id="198" name="Rectangle 152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199" name="TextBox 197"/>
          <p:cNvSpPr txBox="1"/>
          <p:nvPr/>
        </p:nvSpPr>
        <p:spPr>
          <a:xfrm>
            <a:off x="594359" y="384047"/>
            <a:ext cx="11000234" cy="4899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600">
                <a:solidFill>
                  <a:srgbClr val="6B0F1A"/>
                </a:solidFill>
              </a:defRPr>
            </a:lvl1pPr>
          </a:lstStyle>
          <a:p>
            <a:pPr/>
            <a:r>
              <a:t>Pregunta de investigación</a:t>
            </a:r>
          </a:p>
        </p:txBody>
      </p:sp>
      <p:sp>
        <p:nvSpPr>
          <p:cNvPr id="200" name="TextBox 198"/>
          <p:cNvSpPr txBox="1"/>
          <p:nvPr/>
        </p:nvSpPr>
        <p:spPr>
          <a:xfrm>
            <a:off x="594359" y="1188719"/>
            <a:ext cx="11000234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4D0912"/>
                </a:solidFill>
              </a:defRPr>
            </a:lvl1pPr>
          </a:lstStyle>
          <a:p>
            <a:pPr/>
            <a:r>
              <a:t>El eje que organiza toda la metodología experimental.</a:t>
            </a:r>
          </a:p>
        </p:txBody>
      </p:sp>
      <p:sp>
        <p:nvSpPr>
          <p:cNvPr id="201" name="Rounded Rectangle 199"/>
          <p:cNvSpPr/>
          <p:nvPr/>
        </p:nvSpPr>
        <p:spPr>
          <a:xfrm>
            <a:off x="594359" y="1874518"/>
            <a:ext cx="11000233" cy="919724"/>
          </a:xfrm>
          <a:prstGeom prst="roundRect">
            <a:avLst>
              <a:gd name="adj" fmla="val 9445"/>
            </a:avLst>
          </a:prstGeom>
          <a:solidFill>
            <a:srgbClr val="F5EED8"/>
          </a:solidFill>
          <a:ln w="19050">
            <a:solidFill>
              <a:srgbClr val="C6A046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2" name="TextBox 200"/>
          <p:cNvSpPr txBox="1"/>
          <p:nvPr/>
        </p:nvSpPr>
        <p:spPr>
          <a:xfrm>
            <a:off x="777240" y="2011679"/>
            <a:ext cx="10634472" cy="716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tIns="91439" bIns="91439">
            <a:spAutoFit/>
          </a:bodyPr>
          <a:lstStyle/>
          <a:p>
            <a:pPr algn="ctr">
              <a:defRPr b="1">
                <a:solidFill>
                  <a:srgbClr val="4D0912"/>
                </a:solidFill>
              </a:defRPr>
            </a:pPr>
            <a:r>
              <a:t>¿En qué medida generaliza un sistema de visión-lenguaje basado en alineamiento imagen–texto</a:t>
            </a:r>
          </a:p>
          <a:p>
            <a:pPr algn="ctr">
              <a:defRPr b="1">
                <a:solidFill>
                  <a:srgbClr val="4D0912"/>
                </a:solidFill>
              </a:defRPr>
            </a:pPr>
            <a:r>
              <a:t>entre fuentes histopatológicas, y qué componentes explican las diferencias de rendimiento?</a:t>
            </a:r>
          </a:p>
        </p:txBody>
      </p:sp>
      <p:sp>
        <p:nvSpPr>
          <p:cNvPr id="203" name="TextBox 201"/>
          <p:cNvSpPr txBox="1"/>
          <p:nvPr/>
        </p:nvSpPr>
        <p:spPr>
          <a:xfrm>
            <a:off x="594359" y="3794759"/>
            <a:ext cx="11000234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6B0F1A"/>
                </a:solidFill>
              </a:defRPr>
            </a:lvl1pPr>
          </a:lstStyle>
          <a:p>
            <a:pPr/>
            <a:r>
              <a:t>Por qué esta pregunta:</a:t>
            </a:r>
          </a:p>
        </p:txBody>
      </p:sp>
      <p:sp>
        <p:nvSpPr>
          <p:cNvPr id="204" name="TextBox 202"/>
          <p:cNvSpPr txBox="1"/>
          <p:nvPr/>
        </p:nvSpPr>
        <p:spPr>
          <a:xfrm>
            <a:off x="594359" y="4206240"/>
            <a:ext cx="11000234" cy="1041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1400">
                <a:solidFill>
                  <a:srgbClr val="6B0F1A"/>
                </a:solidFill>
              </a:defRPr>
            </a:pPr>
            <a:r>
              <a:t>▸ Contexto: </a:t>
            </a:r>
            <a:r>
              <a:rPr b="0">
                <a:solidFill>
                  <a:srgbClr val="3C2814"/>
                </a:solidFill>
              </a:rPr>
              <a:t>histopatología combina datos escasos, variabilidad visual y sesgo de fuente.</a:t>
            </a:r>
            <a:endParaRPr>
              <a:solidFill>
                <a:srgbClr val="3C2814"/>
              </a:solidFill>
            </a:endParaRP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b="1" sz="1400">
                <a:solidFill>
                  <a:srgbClr val="6B0F1A"/>
                </a:solidFill>
              </a:defRPr>
            </a:pPr>
            <a:r>
              <a:t>▸ Evaluación externa: </a:t>
            </a:r>
            <a:r>
              <a:rPr b="0">
                <a:solidFill>
                  <a:srgbClr val="3C2814"/>
                </a:solidFill>
              </a:rPr>
              <a:t>NCT-CRC, Chaoyang y LungHist700.</a:t>
            </a:r>
            <a:endParaRPr>
              <a:solidFill>
                <a:srgbClr val="3C2814"/>
              </a:solidFill>
            </a:endParaRPr>
          </a:p>
          <a:p>
            <a:pPr>
              <a:defRPr sz="600">
                <a:solidFill>
                  <a:srgbClr val="3C2814"/>
                </a:solidFill>
              </a:defRPr>
            </a:pPr>
          </a:p>
          <a:p>
            <a:pPr>
              <a:defRPr b="1" sz="1400">
                <a:solidFill>
                  <a:srgbClr val="6B0F1A"/>
                </a:solidFill>
              </a:defRPr>
            </a:pPr>
            <a:r>
              <a:t>▸ Ablación: </a:t>
            </a:r>
            <a:r>
              <a:rPr b="0">
                <a:solidFill>
                  <a:srgbClr val="3C2814"/>
                </a:solidFill>
              </a:rPr>
              <a:t>cambiamos una variable cada vez — codificador visual, codificador de texto, prompt, normalización y cabeza de clasificación.</a:t>
            </a:r>
          </a:p>
        </p:txBody>
      </p:sp>
      <p:sp>
        <p:nvSpPr>
          <p:cNvPr id="205" name="TextBox 203"/>
          <p:cNvSpPr txBox="1"/>
          <p:nvPr/>
        </p:nvSpPr>
        <p:spPr>
          <a:xfrm>
            <a:off x="594359" y="5806440"/>
            <a:ext cx="11000234" cy="280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1400">
                <a:solidFill>
                  <a:srgbClr val="4D0912"/>
                </a:solidFill>
              </a:defRPr>
            </a:lvl1pPr>
          </a:lstStyle>
          <a:p>
            <a:pPr/>
            <a:r>
              <a:t>La metodología se organiza alrededor de esta pregunta: cambiar una variable cada vez y medir qué resiste el desplazamiento de distribución.</a:t>
            </a:r>
          </a:p>
        </p:txBody>
      </p:sp>
      <p:sp>
        <p:nvSpPr>
          <p:cNvPr id="206" name="Rectangle 204"/>
          <p:cNvSpPr/>
          <p:nvPr/>
        </p:nvSpPr>
        <p:spPr>
          <a:xfrm>
            <a:off x="594359" y="6355079"/>
            <a:ext cx="11000234" cy="18289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11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2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3" name="TextBox 4"/>
          <p:cNvSpPr txBox="1"/>
          <p:nvPr/>
        </p:nvSpPr>
        <p:spPr>
          <a:xfrm>
            <a:off x="1142986" y="1920236"/>
            <a:ext cx="402339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214" name="TextBox 6"/>
          <p:cNvSpPr txBox="1"/>
          <p:nvPr/>
        </p:nvSpPr>
        <p:spPr>
          <a:xfrm>
            <a:off x="1142999" y="5303520"/>
            <a:ext cx="3074671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Metodología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9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21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Metodología   ·   9/26</a:t>
            </a:r>
          </a:p>
        </p:txBody>
      </p:sp>
      <p:sp>
        <p:nvSpPr>
          <p:cNvPr id="222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paradigma CLIP</a:t>
            </a:r>
          </a:p>
        </p:txBody>
      </p:sp>
      <p:sp>
        <p:nvSpPr>
          <p:cNvPr id="223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24" name="Picture 172" descr="Picture 17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528063" y="1769533"/>
            <a:ext cx="9308594" cy="4608577"/>
          </a:xfrm>
          <a:prstGeom prst="rect">
            <a:avLst/>
          </a:prstGeom>
          <a:ln w="12700">
            <a:miter lim="400000"/>
          </a:ln>
        </p:spPr>
      </p:pic>
      <p:sp>
        <p:nvSpPr>
          <p:cNvPr id="225" name="TextBox 7"/>
          <p:cNvSpPr txBox="1"/>
          <p:nvPr/>
        </p:nvSpPr>
        <p:spPr>
          <a:xfrm>
            <a:off x="594359" y="1188719"/>
            <a:ext cx="11000235" cy="701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Foundational Model (FM) de aprendizaje contrastivo imagen-texto en un espacio latente compartido</a:t>
            </a:r>
          </a:p>
        </p:txBody>
      </p:sp>
      <p:sp>
        <p:nvSpPr>
          <p:cNvPr id="226" name="TextBox 8"/>
          <p:cNvSpPr txBox="1"/>
          <p:nvPr/>
        </p:nvSpPr>
        <p:spPr>
          <a:xfrm>
            <a:off x="6830568" y="1764792"/>
            <a:ext cx="3904487" cy="45211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000">
                <a:solidFill>
                  <a:srgbClr val="4D0912"/>
                </a:solidFill>
              </a:defRPr>
            </a:pPr>
            <a:r>
              <a:t>¿Por qué CLIP?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Aprendizaje contrastivo imagen-texto sobre pares emparejados, con una función de pérdida simétrica.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Clasificación de vocabulario abierto: cambias los prompts, cambias el clasificador (sin re-entrenar).</a:t>
            </a:r>
          </a:p>
          <a:p>
            <a:pPr marL="100263" indent="-100263">
              <a:buSzPct val="100000"/>
              <a:buChar char="▸"/>
              <a:defRPr sz="1000">
                <a:solidFill>
                  <a:srgbClr val="4D0912"/>
                </a:solidFill>
              </a:defRPr>
            </a:pPr>
            <a:r>
              <a:t>Paradigma adoptado por la familia de FMs de patología (PLIP, CONCH, BiomedCLIP, MUSK).</a:t>
            </a: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</a:p>
          <a:p>
            <a:pPr>
              <a:defRPr b="1" sz="1000">
                <a:solidFill>
                  <a:srgbClr val="4D0912"/>
                </a:solidFill>
              </a:defRPr>
            </a:pPr>
            <a:r>
              <a:t>Pregunta transversal</a:t>
            </a:r>
          </a:p>
          <a:p>
            <a:pPr>
              <a:defRPr sz="1000">
                <a:solidFill>
                  <a:srgbClr val="4D0912"/>
                </a:solidFill>
              </a:defRPr>
            </a:pPr>
            <a:r>
              <a:t>¿Qué componente del pipeline CLIP aporta más, y dónde están sus límites bajo desplazamiento de distribución?</a:t>
            </a:r>
          </a:p>
        </p:txBody>
      </p:sp>
      <p:pic>
        <p:nvPicPr>
          <p:cNvPr id="227" name="Picture 173" descr="Picture 173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353311" y="1769533"/>
            <a:ext cx="5353683" cy="459506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27" grpId="2"/>
      <p:bldP build="whole" bldLvl="1" animBg="1" rev="0" advAuto="0" spid="224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2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34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Metodología   ·   10/26</a:t>
            </a:r>
          </a:p>
        </p:txBody>
      </p:sp>
      <p:sp>
        <p:nvSpPr>
          <p:cNvPr id="235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PLIP: modelo fundacional específico de patología</a:t>
            </a:r>
          </a:p>
        </p:txBody>
      </p:sp>
      <p:sp>
        <p:nvSpPr>
          <p:cNvPr id="236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TextBox 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CLIP-style entrenado en pares imagen–texto de patología (Huang 2023)</a:t>
            </a:r>
          </a:p>
        </p:txBody>
      </p:sp>
      <p:sp>
        <p:nvSpPr>
          <p:cNvPr id="238" name="TextBox 180"/>
          <p:cNvSpPr txBox="1"/>
          <p:nvPr/>
        </p:nvSpPr>
        <p:spPr>
          <a:xfrm>
            <a:off x="431094" y="1694744"/>
            <a:ext cx="8842676" cy="1672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Qué es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Modelo CLIP-style </a:t>
            </a:r>
            <a:r>
              <a:rPr b="1"/>
              <a:t>entrenado en ~208K pares imagen–texto de patología</a:t>
            </a:r>
            <a:r>
              <a:t> (OpenPath: tweets de patólogos con #GIPath, #PathTwitter, etc., + subset filtrado de LAION).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defRPr b="1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Arquitectura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Arquitectura original de CLIP: </a:t>
            </a:r>
            <a:r>
              <a:rPr b="1"/>
              <a:t>ViT-B/32 (encoder de imagen) + Transformer 12-layer con tokenizer BPE (texto)</a:t>
            </a:r>
            <a:r>
              <a:t>, entrenados contrastivamente desde la inicialización de CLIP en imágenes naturales.</a:t>
            </a:r>
          </a:p>
        </p:txBody>
      </p:sp>
      <p:pic>
        <p:nvPicPr>
          <p:cNvPr id="239" name="Picture 181" descr="Picture 18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759200" y="3594641"/>
            <a:ext cx="7700193" cy="2670233"/>
          </a:xfrm>
          <a:prstGeom prst="rect">
            <a:avLst/>
          </a:prstGeom>
          <a:ln w="12700">
            <a:miter lim="400000"/>
          </a:ln>
        </p:spPr>
      </p:pic>
      <p:sp>
        <p:nvSpPr>
          <p:cNvPr id="240" name="TextBox 180"/>
          <p:cNvSpPr txBox="1"/>
          <p:nvPr/>
        </p:nvSpPr>
        <p:spPr>
          <a:xfrm>
            <a:off x="431091" y="3519744"/>
            <a:ext cx="2916841" cy="1799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Rol en este trabajo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</a:t>
            </a:r>
            <a:r>
              <a:rPr b="1"/>
              <a:t>Referencia zero-shot</a:t>
            </a:r>
            <a:r>
              <a:t> en los 4 datasets: evaluamos PLIP tal cual, sin entrenar nada.</a:t>
            </a:r>
          </a:p>
          <a:p>
            <a:pPr marL="180472" indent="-180472">
              <a:defRPr sz="13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</a:t>
            </a:r>
            <a:r>
              <a:rPr b="1"/>
              <a:t>Codificador de imagen alternativo</a:t>
            </a:r>
            <a:r>
              <a:t> en la comparación RQ5: usamos solo su ViT-B/32 con nuestro BERT y proyecciones entrenadas.</a:t>
            </a:r>
          </a:p>
        </p:txBody>
      </p:sp>
      <p:sp>
        <p:nvSpPr>
          <p:cNvPr id="241" name="Rectangle 184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6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48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Metodología   ·   11/26</a:t>
            </a:r>
          </a:p>
        </p:txBody>
      </p:sp>
      <p:sp>
        <p:nvSpPr>
          <p:cNvPr id="249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Nuestra línea base experimental</a:t>
            </a:r>
          </a:p>
        </p:txBody>
      </p:sp>
      <p:sp>
        <p:nvSpPr>
          <p:cNvPr id="250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CLIP entrenado con ambos encoders congelados y cabezas de proyección 256-d entrenables</a:t>
            </a:r>
          </a:p>
        </p:txBody>
      </p:sp>
      <p:pic>
        <p:nvPicPr>
          <p:cNvPr id="252" name="Picture 999" descr="Picture 99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36319" y="1765522"/>
            <a:ext cx="5943604" cy="3632204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extBox 181"/>
          <p:cNvSpPr txBox="1"/>
          <p:nvPr/>
        </p:nvSpPr>
        <p:spPr>
          <a:xfrm>
            <a:off x="7299958" y="1765523"/>
            <a:ext cx="3590076" cy="4454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Datos de entrada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Imagen: </a:t>
            </a:r>
            <a:r>
              <a:t>224 × 224 px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Texto: </a:t>
            </a:r>
            <a:r>
              <a:t>prompt fijo, 24 tokens WordPiece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Prompt: </a:t>
            </a:r>
            <a:r>
              <a:rPr i="1"/>
              <a:t>"A histopathology image of {class}."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Batch: </a:t>
            </a:r>
            <a:r>
              <a:t>32 pares imagen-texto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Datos: </a:t>
            </a:r>
            <a:r>
              <a:t>LC25000, split estratificado 80/10/10</a:t>
            </a:r>
          </a:p>
          <a:p>
            <a:pPr>
              <a:defRPr sz="1400">
                <a:solidFill>
                  <a:srgbClr val="4D0912"/>
                </a:solidFill>
              </a:defRPr>
            </a:pPr>
          </a:p>
          <a:p>
            <a:pPr>
              <a:defRPr b="1" sz="1700">
                <a:solidFill>
                  <a:srgbClr val="4D0912"/>
                </a:solidFill>
              </a:defRPr>
            </a:pPr>
            <a:r>
              <a:t>Objetivo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Pérdida: </a:t>
            </a:r>
            <a:r>
              <a:t>InfoNCE simétrica sobre la matriz 5×5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</a:t>
            </a:r>
            <a:r>
              <a:rPr b="1"/>
              <a:t>Temperatura: </a:t>
            </a:r>
            <a:r>
              <a:t>τ = 0.07 (entrenable)</a:t>
            </a:r>
          </a:p>
          <a:p>
            <a:pPr>
              <a:defRPr sz="1400">
                <a:solidFill>
                  <a:srgbClr val="4D0912"/>
                </a:solidFill>
              </a:defRPr>
            </a:pPr>
          </a:p>
          <a:p>
            <a:pPr>
              <a:defRPr b="1" sz="1700">
                <a:solidFill>
                  <a:srgbClr val="4D0912"/>
                </a:solidFill>
              </a:defRPr>
            </a:pPr>
            <a:r>
              <a:t>Optimización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AdamW · LR 1×10⁻³ · weight decay 1×10⁻⁴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Gradient clipnorm 1.0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ReduceLROnPlateau (factor 0.5, patience 2)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EarlyStopping (patience 5, max 30 epochs)</a:t>
            </a:r>
          </a:p>
          <a:p>
            <a:pPr marL="180472" indent="-180472">
              <a:defRPr sz="1400">
                <a:solidFill>
                  <a:srgbClr val="4D0912"/>
                </a:solidFill>
              </a:defRPr>
            </a:pPr>
            <a:r>
              <a:t>▸ Precisión float32 · seed 42</a:t>
            </a:r>
          </a:p>
        </p:txBody>
      </p:sp>
      <p:sp>
        <p:nvSpPr>
          <p:cNvPr id="254" name="Rectangle 196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9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61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Metodología   ·   12/26</a:t>
            </a:r>
          </a:p>
        </p:txBody>
      </p:sp>
      <p:sp>
        <p:nvSpPr>
          <p:cNvPr id="262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Diseño experimental: una variable cada vez</a:t>
            </a:r>
          </a:p>
        </p:txBody>
      </p:sp>
      <p:sp>
        <p:nvSpPr>
          <p:cNvPr id="263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TextBox 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Seis experimentos, cada uno cambiando un componente del pipeline base</a:t>
            </a:r>
          </a:p>
        </p:txBody>
      </p:sp>
      <p:sp>
        <p:nvSpPr>
          <p:cNvPr id="265" name="TextBox 181"/>
          <p:cNvSpPr txBox="1"/>
          <p:nvPr/>
        </p:nvSpPr>
        <p:spPr>
          <a:xfrm>
            <a:off x="629054" y="4915449"/>
            <a:ext cx="4323941" cy="1059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Evaluación externa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NCT-CRC-HE-7K</a:t>
            </a:r>
            <a:r>
              <a:t>: colon, estilo similar a LC25000 (Kather 2019)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Chaoyang</a:t>
            </a:r>
            <a:r>
              <a:t>: colon, tinción y escáner distintos (Zhu 2021)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LungHist700</a:t>
            </a:r>
            <a:r>
              <a:t>: pulmón, 20× (Reyes 2024)</a:t>
            </a:r>
          </a:p>
        </p:txBody>
      </p:sp>
      <p:sp>
        <p:nvSpPr>
          <p:cNvPr id="266" name="TextBox 182"/>
          <p:cNvSpPr txBox="1"/>
          <p:nvPr/>
        </p:nvSpPr>
        <p:spPr>
          <a:xfrm>
            <a:off x="6435496" y="4915449"/>
            <a:ext cx="5114750" cy="1220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4D0912"/>
                </a:solidFill>
              </a:defRPr>
            </a:pPr>
            <a:r>
              <a:t>Protocolo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Argmax restringido</a:t>
            </a:r>
            <a:r>
              <a:t>: cada dataset compara solo contra sus clases (no las 5 completas): evita penalizar clases ausentes.</a:t>
            </a:r>
          </a:p>
          <a:p>
            <a:pPr marL="180472" indent="-180472">
              <a:defRPr sz="1300">
                <a:solidFill>
                  <a:srgbClr val="3C2814"/>
                </a:solidFill>
              </a:defRPr>
            </a:pPr>
            <a:r>
              <a:t>▸ </a:t>
            </a:r>
            <a:r>
              <a:rPr b="1"/>
              <a:t>Reporte por órgano</a:t>
            </a:r>
            <a:r>
              <a:t>: colon y pulmón separados, no promediados: evita ocultar cambios de régimen entre órganos.</a:t>
            </a:r>
          </a:p>
        </p:txBody>
      </p:sp>
      <p:pic>
        <p:nvPicPr>
          <p:cNvPr id="267" name="Picture 183" descr="Picture 18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8076" y="1737360"/>
            <a:ext cx="10972801" cy="2821579"/>
          </a:xfrm>
          <a:prstGeom prst="rect">
            <a:avLst/>
          </a:prstGeom>
          <a:ln w="12700">
            <a:miter lim="400000"/>
          </a:ln>
        </p:spPr>
      </p:pic>
      <p:sp>
        <p:nvSpPr>
          <p:cNvPr id="268" name="Rectangle 209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73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TextBox 4"/>
          <p:cNvSpPr txBox="1"/>
          <p:nvPr/>
        </p:nvSpPr>
        <p:spPr>
          <a:xfrm>
            <a:off x="1142986" y="1920236"/>
            <a:ext cx="402339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76" name="TextBox 6"/>
          <p:cNvSpPr txBox="1"/>
          <p:nvPr/>
        </p:nvSpPr>
        <p:spPr>
          <a:xfrm>
            <a:off x="1142999" y="5303520"/>
            <a:ext cx="2639200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Resultados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281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14/26</a:t>
            </a:r>
          </a:p>
        </p:txBody>
      </p:sp>
      <p:sp>
        <p:nvSpPr>
          <p:cNvPr id="282" name="Rectangle"/>
          <p:cNvSpPr/>
          <p:nvPr/>
        </p:nvSpPr>
        <p:spPr>
          <a:xfrm>
            <a:off x="792471" y="2177024"/>
            <a:ext cx="4451306" cy="3096284"/>
          </a:xfrm>
          <a:prstGeom prst="rect">
            <a:avLst/>
          </a:prstGeom>
          <a:solidFill>
            <a:srgbClr val="F5EED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3" name="Rectangle 219"/>
          <p:cNvSpPr/>
          <p:nvPr/>
        </p:nvSpPr>
        <p:spPr>
          <a:xfrm>
            <a:off x="548639" y="1024127"/>
            <a:ext cx="1097282" cy="36588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284" name="TextBox 220"/>
          <p:cNvSpPr txBox="1"/>
          <p:nvPr/>
        </p:nvSpPr>
        <p:spPr>
          <a:xfrm>
            <a:off x="594358" y="384047"/>
            <a:ext cx="6074564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Comportamiento de la línea base</a:t>
            </a:r>
          </a:p>
        </p:txBody>
      </p:sp>
      <p:sp>
        <p:nvSpPr>
          <p:cNvPr id="285" name="TextBox 221"/>
          <p:cNvSpPr txBox="1"/>
          <p:nvPr/>
        </p:nvSpPr>
        <p:spPr>
          <a:xfrm>
            <a:off x="594358" y="1188719"/>
            <a:ext cx="10567127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Satura in-distribution pero colapsa a una sola clase en generalización con dataset de pulmón</a:t>
            </a:r>
          </a:p>
        </p:txBody>
      </p:sp>
      <p:sp>
        <p:nvSpPr>
          <p:cNvPr id="286" name="TextBox 222"/>
          <p:cNvSpPr txBox="1"/>
          <p:nvPr/>
        </p:nvSpPr>
        <p:spPr>
          <a:xfrm>
            <a:off x="963565" y="2279292"/>
            <a:ext cx="1991950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LC25000 (in-dist)</a:t>
            </a:r>
          </a:p>
          <a:p>
            <a:pPr algn="ctr">
              <a:defRPr b="1" sz="48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0.996</a:t>
            </a:r>
          </a:p>
          <a:p>
            <a:pPr algn="ctr">
              <a:defRPr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macro-F1</a:t>
            </a:r>
          </a:p>
        </p:txBody>
      </p:sp>
      <p:pic>
        <p:nvPicPr>
          <p:cNvPr id="287" name="Picture 235" descr="Picture 23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099630" y="1898288"/>
            <a:ext cx="3313524" cy="3653753"/>
          </a:xfrm>
          <a:prstGeom prst="rect">
            <a:avLst/>
          </a:prstGeom>
          <a:ln w="12700">
            <a:miter lim="400000"/>
          </a:ln>
        </p:spPr>
      </p:pic>
      <p:sp>
        <p:nvSpPr>
          <p:cNvPr id="288" name="TextBox 225"/>
          <p:cNvSpPr txBox="1"/>
          <p:nvPr/>
        </p:nvSpPr>
        <p:spPr>
          <a:xfrm>
            <a:off x="6474095" y="5559547"/>
            <a:ext cx="4564590" cy="447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i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Matriz de confusión (normalizada) sobre LungHist700. </a:t>
            </a:r>
          </a:p>
          <a:p>
            <a:pPr algn="ctr">
              <a:defRPr i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La línea base asigna ~84% a la clase «squamous cell carcinoma»</a:t>
            </a:r>
          </a:p>
        </p:txBody>
      </p:sp>
      <p:sp>
        <p:nvSpPr>
          <p:cNvPr id="289" name="TextBox 226"/>
          <p:cNvSpPr txBox="1"/>
          <p:nvPr/>
        </p:nvSpPr>
        <p:spPr>
          <a:xfrm>
            <a:off x="507169" y="6085840"/>
            <a:ext cx="9793345" cy="332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b="1" sz="16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→  LC25000 saturado escondía el fallo: en pulmón la línea base es un clasificador de una sola clase.</a:t>
            </a:r>
          </a:p>
        </p:txBody>
      </p:sp>
      <p:sp>
        <p:nvSpPr>
          <p:cNvPr id="290" name="TextBox 222"/>
          <p:cNvSpPr txBox="1"/>
          <p:nvPr/>
        </p:nvSpPr>
        <p:spPr>
          <a:xfrm>
            <a:off x="3142475" y="2279292"/>
            <a:ext cx="1823399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NCT-CRC</a:t>
            </a:r>
          </a:p>
          <a:p>
            <a:pPr algn="ctr">
              <a:defRPr b="1" sz="48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0.866</a:t>
            </a:r>
          </a:p>
          <a:p>
            <a:pPr algn="ctr">
              <a:defRPr i="1"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colon, muestras similares</a:t>
            </a:r>
          </a:p>
        </p:txBody>
      </p:sp>
      <p:sp>
        <p:nvSpPr>
          <p:cNvPr id="291" name="TextBox 223"/>
          <p:cNvSpPr txBox="1"/>
          <p:nvPr/>
        </p:nvSpPr>
        <p:spPr>
          <a:xfrm>
            <a:off x="1068895" y="3894730"/>
            <a:ext cx="1781281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Chaoyang</a:t>
            </a:r>
          </a:p>
          <a:p>
            <a:pPr algn="ctr">
              <a:defRPr b="1" sz="48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0.786</a:t>
            </a:r>
          </a:p>
          <a:p>
            <a:pPr algn="ctr">
              <a:defRPr i="1"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colon, muestras distintas</a:t>
            </a:r>
          </a:p>
        </p:txBody>
      </p:sp>
      <p:sp>
        <p:nvSpPr>
          <p:cNvPr id="292" name="TextBox 224"/>
          <p:cNvSpPr txBox="1"/>
          <p:nvPr/>
        </p:nvSpPr>
        <p:spPr>
          <a:xfrm>
            <a:off x="3193706" y="3894730"/>
            <a:ext cx="1720931" cy="123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LungHist700</a:t>
            </a:r>
          </a:p>
          <a:p>
            <a:pPr algn="ctr">
              <a:defRPr b="1" sz="4800">
                <a:solidFill>
                  <a:srgbClr val="A50F15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0.305</a:t>
            </a:r>
          </a:p>
          <a:p>
            <a:pPr algn="ctr">
              <a:defRPr i="1" sz="12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pulmón, ≈ azar 3-clases</a:t>
            </a:r>
          </a:p>
        </p:txBody>
      </p:sp>
      <p:sp>
        <p:nvSpPr>
          <p:cNvPr id="29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8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00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15/26</a:t>
            </a:r>
          </a:p>
        </p:txBody>
      </p:sp>
      <p:sp>
        <p:nvSpPr>
          <p:cNvPr id="301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espacio latente de la línea base a través del shift</a:t>
            </a:r>
          </a:p>
        </p:txBody>
      </p:sp>
      <p:sp>
        <p:nvSpPr>
          <p:cNvPr id="302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3" name="TextBox 221"/>
          <p:cNvSpPr txBox="1"/>
          <p:nvPr/>
        </p:nvSpPr>
        <p:spPr>
          <a:xfrm>
            <a:off x="594358" y="1188719"/>
            <a:ext cx="10537733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In-distribution saturada; los clusters se degradan progresivamente conforme aumenta el shift</a:t>
            </a:r>
          </a:p>
        </p:txBody>
      </p:sp>
      <p:sp>
        <p:nvSpPr>
          <p:cNvPr id="304" name="TextBox 223"/>
          <p:cNvSpPr txBox="1"/>
          <p:nvPr/>
        </p:nvSpPr>
        <p:spPr>
          <a:xfrm>
            <a:off x="581658" y="5398348"/>
            <a:ext cx="10835724" cy="650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LC25000 y NCT se co-localizan. Chaoyang diverge en un espacio cercano. LungHist700 aterriza en zona separada de las clases originales.</a:t>
            </a:r>
          </a:p>
        </p:txBody>
      </p:sp>
      <p:pic>
        <p:nvPicPr>
          <p:cNvPr id="305" name="Picture 243" descr="Picture 24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1086" y="2261384"/>
            <a:ext cx="10835724" cy="2646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Picture 244" descr="Picture 24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91086" y="2261384"/>
            <a:ext cx="10835724" cy="2646144"/>
          </a:xfrm>
          <a:prstGeom prst="rect">
            <a:avLst/>
          </a:prstGeom>
          <a:ln w="12700">
            <a:miter lim="400000"/>
          </a:ln>
        </p:spPr>
      </p:pic>
      <p:sp>
        <p:nvSpPr>
          <p:cNvPr id="307" name="Rectangle 245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xit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305" grpId="2"/>
      <p:bldP build="whole" bldLvl="1" animBg="1" rev="0" advAuto="0" spid="306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2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14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16/26</a:t>
            </a:r>
          </a:p>
        </p:txBody>
      </p:sp>
      <p:sp>
        <p:nvSpPr>
          <p:cNvPr id="315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CLIP vs clasificador CE: misma ResNet50, distinta cabeza</a:t>
            </a:r>
          </a:p>
        </p:txBody>
      </p:sp>
      <p:sp>
        <p:nvSpPr>
          <p:cNvPr id="316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7" name="TextBox 7"/>
          <p:cNvSpPr txBox="1"/>
          <p:nvPr/>
        </p:nvSpPr>
        <p:spPr>
          <a:xfrm>
            <a:off x="594358" y="1188719"/>
            <a:ext cx="11564027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La ventaja de CLIP no aparece en el cambio fácil (NCT); aparece bajo un shift más fuerte (Chaoyang)</a:t>
            </a:r>
          </a:p>
        </p:txBody>
      </p:sp>
      <p:pic>
        <p:nvPicPr>
          <p:cNvPr id="318" name="Picture 256" descr="Picture 25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959" y="2098899"/>
            <a:ext cx="5486402" cy="3000378"/>
          </a:xfrm>
          <a:prstGeom prst="rect">
            <a:avLst/>
          </a:prstGeom>
          <a:ln w="12700">
            <a:miter lim="400000"/>
          </a:ln>
        </p:spPr>
      </p:pic>
      <p:pic>
        <p:nvPicPr>
          <p:cNvPr id="319" name="Picture 260" descr="Picture 26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311391" y="2098899"/>
            <a:ext cx="5257804" cy="2842312"/>
          </a:xfrm>
          <a:prstGeom prst="rect">
            <a:avLst/>
          </a:prstGeom>
          <a:ln w="12700">
            <a:miter lim="400000"/>
          </a:ln>
        </p:spPr>
      </p:pic>
      <p:sp>
        <p:nvSpPr>
          <p:cNvPr id="320" name="TextBox 258"/>
          <p:cNvSpPr txBox="1"/>
          <p:nvPr/>
        </p:nvSpPr>
        <p:spPr>
          <a:xfrm>
            <a:off x="6357108" y="5014107"/>
            <a:ext cx="5166367" cy="497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i="1" sz="1300">
                <a:solidFill>
                  <a:srgbClr val="826540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CE convierte Chaoyang casi en "todo adenocarcinoma"; CLIP mantiene más balance.</a:t>
            </a:r>
          </a:p>
        </p:txBody>
      </p:sp>
      <p:sp>
        <p:nvSpPr>
          <p:cNvPr id="321" name="TextBox 259"/>
          <p:cNvSpPr txBox="1"/>
          <p:nvPr/>
        </p:nvSpPr>
        <p:spPr>
          <a:xfrm>
            <a:off x="635253" y="5635738"/>
            <a:ext cx="10908794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La cabeza CLIP estabiliza bajo shift, pero es una palanca secundaria: el colapso pulmonar sigue cerca del azar.</a:t>
            </a:r>
          </a:p>
        </p:txBody>
      </p:sp>
      <p:sp>
        <p:nvSpPr>
          <p:cNvPr id="322" name="Rectangle 257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29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17/26</a:t>
            </a:r>
          </a:p>
        </p:txBody>
      </p:sp>
      <p:sp>
        <p:nvSpPr>
          <p:cNvPr id="330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extBox 253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Normalización de tinción (Macenko)</a:t>
            </a:r>
          </a:p>
        </p:txBody>
      </p:sp>
      <p:sp>
        <p:nvSpPr>
          <p:cNvPr id="332" name="TextBox 254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Alinear el color apenas mueve el resultado</a:t>
            </a:r>
          </a:p>
        </p:txBody>
      </p:sp>
      <p:sp>
        <p:nvSpPr>
          <p:cNvPr id="333" name="TextBox 256"/>
          <p:cNvSpPr txBox="1"/>
          <p:nvPr/>
        </p:nvSpPr>
        <p:spPr>
          <a:xfrm>
            <a:off x="640071" y="5872731"/>
            <a:ext cx="3840496" cy="269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2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Misma muestra bajo 4 métodos de normalización</a:t>
            </a:r>
          </a:p>
        </p:txBody>
      </p:sp>
      <p:pic>
        <p:nvPicPr>
          <p:cNvPr id="334" name="Picture 257" descr="Picture 25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78400" y="1748027"/>
            <a:ext cx="6675120" cy="2066546"/>
          </a:xfrm>
          <a:prstGeom prst="rect">
            <a:avLst/>
          </a:prstGeom>
          <a:ln w="12700">
            <a:miter lim="400000"/>
          </a:ln>
        </p:spPr>
      </p:pic>
      <p:sp>
        <p:nvSpPr>
          <p:cNvPr id="335" name="TextBox 258"/>
          <p:cNvSpPr txBox="1"/>
          <p:nvPr/>
        </p:nvSpPr>
        <p:spPr>
          <a:xfrm>
            <a:off x="4988557" y="3926437"/>
            <a:ext cx="6400812" cy="1449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Método</a:t>
            </a: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Macenko usa NCT-NORM como referencia. NCT ya llega normalizado; Chaoyang y LungHist700 se transforman en inferencia.</a:t>
            </a:r>
          </a:p>
          <a:p>
            <a:pPr>
              <a:defRPr sz="1300">
                <a:solidFill>
                  <a:srgbClr val="3C2814"/>
                </a:solidFill>
              </a:defRPr>
            </a:pPr>
          </a:p>
          <a:p>
            <a:pPr>
              <a:defRPr b="1" sz="1600">
                <a:solidFill>
                  <a:srgbClr val="4D0912"/>
                </a:solidFill>
              </a:defRPr>
            </a:pPr>
            <a:r>
              <a:t>Resultado</a:t>
            </a:r>
          </a:p>
          <a:p>
            <a:pPr>
              <a:defRPr sz="1400">
                <a:solidFill>
                  <a:srgbClr val="3C2814"/>
                </a:solidFill>
              </a:defRPr>
            </a:pPr>
            <a:r>
              <a:t>La tinción explica una parte menor del shift; no rompe el colapso en pulmón.</a:t>
            </a:r>
          </a:p>
        </p:txBody>
      </p:sp>
      <p:pic>
        <p:nvPicPr>
          <p:cNvPr id="336" name="Picture 260" descr="Picture 260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94359" y="1589033"/>
            <a:ext cx="3931924" cy="4320793"/>
          </a:xfrm>
          <a:prstGeom prst="rect">
            <a:avLst/>
          </a:prstGeom>
          <a:ln w="12700">
            <a:miter lim="400000"/>
          </a:ln>
        </p:spPr>
      </p:pic>
      <p:sp>
        <p:nvSpPr>
          <p:cNvPr id="337" name="Rectangle 269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2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44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18/26</a:t>
            </a:r>
          </a:p>
        </p:txBody>
      </p:sp>
      <p:sp>
        <p:nvSpPr>
          <p:cNvPr id="345" name="TextBox 5"/>
          <p:cNvSpPr txBox="1"/>
          <p:nvPr/>
        </p:nvSpPr>
        <p:spPr>
          <a:xfrm>
            <a:off x="594359" y="384047"/>
            <a:ext cx="11000235" cy="1005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Los codificadores de texto biomédico no mejoran la transferencia</a:t>
            </a:r>
          </a:p>
        </p:txBody>
      </p:sp>
      <p:sp>
        <p:nvSpPr>
          <p:cNvPr id="346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7" name="TextBox 281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i="1"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Por qué podía ayudar</a:t>
            </a:r>
          </a:p>
        </p:txBody>
      </p:sp>
      <p:sp>
        <p:nvSpPr>
          <p:cNvPr id="348" name="TextBox 282"/>
          <p:cNvSpPr txBox="1"/>
          <p:nvPr/>
        </p:nvSpPr>
        <p:spPr>
          <a:xfrm>
            <a:off x="5239506" y="1417319"/>
            <a:ext cx="6309371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i="1" sz="1400">
                <a:solidFill>
                  <a:srgbClr val="826540"/>
                </a:solidFill>
              </a:defRPr>
            </a:lvl1pPr>
          </a:lstStyle>
          <a:p>
            <a:pPr/>
            <a:r>
              <a:t>Qué pasó</a:t>
            </a:r>
          </a:p>
        </p:txBody>
      </p:sp>
      <p:pic>
        <p:nvPicPr>
          <p:cNvPr id="349" name="Picture 283" descr="Picture 28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94359" y="1737360"/>
            <a:ext cx="4114802" cy="365366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0" name="Picture 284" descr="Picture 28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193791" y="1737360"/>
            <a:ext cx="6400804" cy="3486152"/>
          </a:xfrm>
          <a:prstGeom prst="rect">
            <a:avLst/>
          </a:prstGeom>
          <a:ln w="12700">
            <a:miter lim="400000"/>
          </a:ln>
        </p:spPr>
      </p:pic>
      <p:sp>
        <p:nvSpPr>
          <p:cNvPr id="351" name="TextBox 285"/>
          <p:cNvSpPr txBox="1"/>
          <p:nvPr/>
        </p:nvSpPr>
        <p:spPr>
          <a:xfrm>
            <a:off x="640079" y="5528178"/>
            <a:ext cx="10908794" cy="506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</a:defRPr>
            </a:lvl1pPr>
          </a:lstStyle>
          <a:p>
            <a:pPr/>
            <a:r>
              <a:t>Mejor tokenización no implica mejor transferencia: todas las variantes quedan por debajo de la línea base en NCT; en Chaoyang empatan y en LungHist700 regresan.</a:t>
            </a:r>
          </a:p>
        </p:txBody>
      </p:sp>
      <p:sp>
        <p:nvSpPr>
          <p:cNvPr id="352" name="Rectangle 281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7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59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19/26</a:t>
            </a:r>
          </a:p>
        </p:txBody>
      </p:sp>
      <p:sp>
        <p:nvSpPr>
          <p:cNvPr id="360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cambio de régimen en pulmón</a:t>
            </a:r>
          </a:p>
        </p:txBody>
      </p:sp>
      <p:sp>
        <p:nvSpPr>
          <p:cNvPr id="361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2" name="TextBox 11"/>
          <p:cNvSpPr txBox="1"/>
          <p:nvPr/>
        </p:nvSpPr>
        <p:spPr>
          <a:xfrm>
            <a:off x="4167547" y="5989320"/>
            <a:ext cx="3826427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b="1" sz="1600">
                <a:solidFill>
                  <a:srgbClr val="4D0912"/>
                </a:solidFill>
              </a:defRPr>
            </a:lvl1pPr>
          </a:lstStyle>
          <a:p>
            <a:pPr/>
            <a:r>
              <a:t>La siguiente variable es el codificador visual.</a:t>
            </a:r>
          </a:p>
        </p:txBody>
      </p:sp>
      <p:sp>
        <p:nvSpPr>
          <p:cNvPr id="363" name="TextBox 278"/>
          <p:cNvSpPr txBox="1"/>
          <p:nvPr/>
        </p:nvSpPr>
        <p:spPr>
          <a:xfrm>
            <a:off x="594358" y="1188719"/>
            <a:ext cx="6598749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Preprocesado, texto y cabeza no rompen el azar 3-clases</a:t>
            </a:r>
          </a:p>
        </p:txBody>
      </p:sp>
      <p:pic>
        <p:nvPicPr>
          <p:cNvPr id="364" name="Picture 279" descr="Picture 27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5274" y="1920238"/>
            <a:ext cx="10058404" cy="3741990"/>
          </a:xfrm>
          <a:prstGeom prst="rect">
            <a:avLst/>
          </a:prstGeom>
          <a:ln w="12700">
            <a:miter lim="400000"/>
          </a:ln>
        </p:spPr>
      </p:pic>
      <p:sp>
        <p:nvSpPr>
          <p:cNvPr id="365" name="Rectangle 291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0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72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20/26</a:t>
            </a:r>
          </a:p>
        </p:txBody>
      </p:sp>
      <p:sp>
        <p:nvSpPr>
          <p:cNvPr id="373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codificador visual como palanca dominante</a:t>
            </a:r>
          </a:p>
        </p:txBody>
      </p:sp>
      <p:sp>
        <p:nvSpPr>
          <p:cNvPr id="374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75" name="Picture 287" descr="Picture 28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46248" y="3042304"/>
            <a:ext cx="8686804" cy="2686881"/>
          </a:xfrm>
          <a:prstGeom prst="rect">
            <a:avLst/>
          </a:prstGeom>
          <a:ln w="12700">
            <a:miter lim="400000"/>
          </a:ln>
        </p:spPr>
      </p:pic>
      <p:sp>
        <p:nvSpPr>
          <p:cNvPr id="376" name="TextBox 288"/>
          <p:cNvSpPr txBox="1"/>
          <p:nvPr/>
        </p:nvSpPr>
        <p:spPr>
          <a:xfrm>
            <a:off x="774448" y="5764769"/>
            <a:ext cx="10630405" cy="554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600">
                <a:solidFill>
                  <a:srgbClr val="4D0912"/>
                </a:solidFill>
              </a:defRPr>
            </a:lvl1pPr>
          </a:lstStyle>
          <a:p>
            <a:pPr/>
            <a:r>
              <a:t>El colapso en LungHist700 no se corrige con tinción, texto biomédico ni cabeza CE; cambia de régimen al sustituir el codificador visual.</a:t>
            </a:r>
          </a:p>
        </p:txBody>
      </p:sp>
      <p:sp>
        <p:nvSpPr>
          <p:cNvPr id="377" name="TextBox 221"/>
          <p:cNvSpPr txBox="1"/>
          <p:nvPr/>
        </p:nvSpPr>
        <p:spPr>
          <a:xfrm>
            <a:off x="594358" y="1188719"/>
            <a:ext cx="541308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cuello de botella era la representación visual</a:t>
            </a:r>
          </a:p>
        </p:txBody>
      </p:sp>
      <p:sp>
        <p:nvSpPr>
          <p:cNvPr id="378" name="TextBox 182"/>
          <p:cNvSpPr txBox="1"/>
          <p:nvPr/>
        </p:nvSpPr>
        <p:spPr>
          <a:xfrm>
            <a:off x="6195466" y="1690129"/>
            <a:ext cx="5413084" cy="1062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Resultado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3C2814"/>
                </a:solidFill>
              </a:defRPr>
            </a:pPr>
            <a:r>
              <a:t>El codificador visual de PLIP mejora los tres datasets externos.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3C2814"/>
                </a:solidFill>
              </a:defRPr>
            </a:pPr>
            <a:r>
              <a:t>El salto crítico aparece en LungHist700, donde la línea base colapsaba.</a:t>
            </a:r>
          </a:p>
        </p:txBody>
      </p:sp>
      <p:sp>
        <p:nvSpPr>
          <p:cNvPr id="379" name="TextBox 182"/>
          <p:cNvSpPr txBox="1"/>
          <p:nvPr/>
        </p:nvSpPr>
        <p:spPr>
          <a:xfrm>
            <a:off x="611442" y="1690129"/>
            <a:ext cx="5114751" cy="1062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600">
                <a:solidFill>
                  <a:srgbClr val="4D0912"/>
                </a:solidFill>
              </a:defRPr>
            </a:pPr>
            <a:r>
              <a:t>Cambio controlado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Manteniendo:</a:t>
            </a:r>
            <a:r>
              <a:rPr b="1"/>
              <a:t> </a:t>
            </a:r>
            <a:r>
              <a:t>mismo BERT, mismos prompts, cabezas de proyección CLIP y entrenamiento en LC25000.</a:t>
            </a:r>
          </a:p>
          <a:p>
            <a:pPr marL="130341" indent="-130341">
              <a:buSzPct val="100000"/>
              <a:buChar char="▸"/>
              <a:defRPr sz="1600">
                <a:solidFill>
                  <a:srgbClr val="4D0912"/>
                </a:solidFill>
              </a:defRPr>
            </a:pPr>
            <a:r>
              <a:t>Cambio: ResNet50 (ImageNet) → PLIP ViT-B/32 (OpenPath)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4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5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86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21/26</a:t>
            </a:r>
          </a:p>
        </p:txBody>
      </p:sp>
      <p:sp>
        <p:nvSpPr>
          <p:cNvPr id="387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Descomposición de la mejora: una escalera de 3 pasos</a:t>
            </a:r>
          </a:p>
        </p:txBody>
      </p:sp>
      <p:sp>
        <p:nvSpPr>
          <p:cNvPr id="388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7"/>
          <p:cNvSpPr txBox="1"/>
          <p:nvPr/>
        </p:nvSpPr>
        <p:spPr>
          <a:xfrm>
            <a:off x="594358" y="1188719"/>
            <a:ext cx="596362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La amplitud visual desbloquea; el dominio amplifica.</a:t>
            </a:r>
          </a:p>
        </p:txBody>
      </p:sp>
      <p:sp>
        <p:nvSpPr>
          <p:cNvPr id="390" name="TextBox 9"/>
          <p:cNvSpPr txBox="1"/>
          <p:nvPr/>
        </p:nvSpPr>
        <p:spPr>
          <a:xfrm>
            <a:off x="603248" y="5853927"/>
            <a:ext cx="10972804" cy="509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400">
                <a:solidFill>
                  <a:srgbClr val="4D0912"/>
                </a:solidFill>
              </a:defRPr>
            </a:lvl1pPr>
          </a:lstStyle>
          <a:p>
            <a:pPr/>
            <a:r>
              <a:t>DINOv2 separa parte del salto sin histopatología; PLIP añade el margen de dominio. La descomposición es parcial, no una descomposición factorial perfecta.</a:t>
            </a:r>
          </a:p>
        </p:txBody>
      </p:sp>
      <p:graphicFrame>
        <p:nvGraphicFramePr>
          <p:cNvPr id="391" name="Table 10"/>
          <p:cNvGraphicFramePr/>
          <p:nvPr/>
        </p:nvGraphicFramePr>
        <p:xfrm>
          <a:off x="535940" y="1820676"/>
          <a:ext cx="5921227" cy="29260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29792"/>
                <a:gridCol w="1028173"/>
                <a:gridCol w="1024165"/>
                <a:gridCol w="1023094"/>
                <a:gridCol w="1016000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Condición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LC25000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NCT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Chaoyang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LungHist700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6B0F1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ResNet50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(ImageNet, baseline)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0.996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0.866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0.786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0.305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DINOv2 ViT-B/14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(SSL general)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0.989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0.855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0.776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0.457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PLIP zero-shot </a:t>
                      </a:r>
                    </a:p>
                    <a:p>
                      <a:pPr algn="l">
                        <a:def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(sin entrenamiento en LC25000)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0.700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0.661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0.731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0.544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PLIP ViT-B/32 + (entrenamiento en LC25000)</a:t>
                      </a:r>
                    </a:p>
                  </a:txBody>
                  <a:tcPr marL="45720" marR="45720" marT="45720" marB="45720" anchor="t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0.996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0.933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0.813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400">
                          <a:solidFill>
                            <a:srgbClr val="333333"/>
                          </a:solidFill>
                          <a:latin typeface="+mn-lt"/>
                          <a:ea typeface="+mn-ea"/>
                          <a:cs typeface="+mn-cs"/>
                        </a:rPr>
                        <a:t>0.640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92" name="Picture 297" descr="Picture 29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466683" y="1820676"/>
            <a:ext cx="5303526" cy="372488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399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Resultados   ·   22/26</a:t>
            </a:r>
          </a:p>
        </p:txBody>
      </p:sp>
      <p:sp>
        <p:nvSpPr>
          <p:cNvPr id="400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Por qué importa el codificador visual</a:t>
            </a:r>
          </a:p>
        </p:txBody>
      </p:sp>
      <p:sp>
        <p:nvSpPr>
          <p:cNvPr id="401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02" name="TextBox 8"/>
          <p:cNvSpPr txBox="1"/>
          <p:nvPr/>
        </p:nvSpPr>
        <p:spPr>
          <a:xfrm>
            <a:off x="603504" y="5172788"/>
            <a:ext cx="10972801" cy="11725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1400">
                <a:solidFill>
                  <a:srgbClr val="4D0912"/>
                </a:solidFill>
              </a:defRPr>
            </a:pPr>
            <a:r>
              <a:t>ResNet50:  sin estructura por clase.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DINOv2:  separación parcial.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PLIP zero-shot:  región pulmonar propia.</a:t>
            </a:r>
          </a:p>
          <a:p>
            <a:pPr>
              <a:defRPr sz="1400">
                <a:solidFill>
                  <a:srgbClr val="4D0912"/>
                </a:solidFill>
              </a:defRPr>
            </a:pPr>
            <a:r>
              <a:t>PLIP + LC25000:  subestructura por clase.</a:t>
            </a:r>
          </a:p>
          <a:p>
            <a:pPr>
              <a:defRPr b="1" sz="1300">
                <a:solidFill>
                  <a:srgbClr val="4D0912"/>
                </a:solidFill>
              </a:defRPr>
            </a:pPr>
            <a:r>
              <a:t>El UMAP no prueba el mecanismo, pero sí muestra el patrón que la métrica resume: PLIP no solo sube F1; recupera estructura visual útil.</a:t>
            </a:r>
          </a:p>
        </p:txBody>
      </p:sp>
      <p:pic>
        <p:nvPicPr>
          <p:cNvPr id="403" name="Picture 327" descr="Picture 327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03504" y="1737360"/>
            <a:ext cx="10972801" cy="3014805"/>
          </a:xfrm>
          <a:prstGeom prst="rect">
            <a:avLst/>
          </a:prstGeom>
          <a:ln w="12700">
            <a:miter lim="400000"/>
          </a:ln>
        </p:spPr>
      </p:pic>
      <p:sp>
        <p:nvSpPr>
          <p:cNvPr id="404" name="TextBox 327"/>
          <p:cNvSpPr txBox="1"/>
          <p:nvPr/>
        </p:nvSpPr>
        <p:spPr>
          <a:xfrm>
            <a:off x="4286113" y="4843603"/>
            <a:ext cx="3589294" cy="280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i="1" sz="1400">
                <a:solidFill>
                  <a:srgbClr val="3C2814"/>
                </a:solidFill>
              </a:defRPr>
            </a:lvl1pPr>
          </a:lstStyle>
          <a:p>
            <a:pPr/>
            <a:r>
              <a:t>círculos = LC25000    ·    triángulos = LungHist700</a:t>
            </a:r>
          </a:p>
        </p:txBody>
      </p:sp>
      <p:sp>
        <p:nvSpPr>
          <p:cNvPr id="405" name="TextBox 327"/>
          <p:cNvSpPr txBox="1"/>
          <p:nvPr/>
        </p:nvSpPr>
        <p:spPr>
          <a:xfrm>
            <a:off x="594359" y="1188719"/>
            <a:ext cx="11000235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espacio latente refleja el resultado cuantitativo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410" name="Picture 2" descr="Picture 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1" name="Rectangle 3"/>
          <p:cNvSpPr/>
          <p:nvPr/>
        </p:nvSpPr>
        <p:spPr>
          <a:xfrm>
            <a:off x="-1" y="0"/>
            <a:ext cx="548642" cy="6858000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12" name="TextBox 4"/>
          <p:cNvSpPr txBox="1"/>
          <p:nvPr/>
        </p:nvSpPr>
        <p:spPr>
          <a:xfrm>
            <a:off x="1142986" y="1920236"/>
            <a:ext cx="4023391" cy="28910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2000">
                <a:solidFill>
                  <a:srgbClr val="FAF7F2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413" name="TextBox 5"/>
          <p:cNvSpPr txBox="1"/>
          <p:nvPr/>
        </p:nvSpPr>
        <p:spPr>
          <a:xfrm>
            <a:off x="1142999" y="4846320"/>
            <a:ext cx="731001" cy="300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600">
                <a:solidFill>
                  <a:srgbClr val="C9A227"/>
                </a:solidFill>
              </a:defRPr>
            </a:lvl1pPr>
          </a:lstStyle>
          <a:p>
            <a:pPr/>
            <a:r>
              <a:t>Sección</a:t>
            </a:r>
          </a:p>
        </p:txBody>
      </p:sp>
      <p:sp>
        <p:nvSpPr>
          <p:cNvPr id="414" name="TextBox 6"/>
          <p:cNvSpPr txBox="1"/>
          <p:nvPr/>
        </p:nvSpPr>
        <p:spPr>
          <a:xfrm>
            <a:off x="1142980" y="5303520"/>
            <a:ext cx="5795003" cy="6539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4400">
                <a:solidFill>
                  <a:srgbClr val="FAF7F2"/>
                </a:solidFill>
              </a:defRPr>
            </a:lvl1pPr>
          </a:lstStyle>
          <a:p>
            <a:pPr/>
            <a:r>
              <a:t>Discusión y conclusiones</a:t>
            </a:r>
          </a:p>
        </p:txBody>
      </p:sp>
      <p:sp>
        <p:nvSpPr>
          <p:cNvPr id="415" name="TextBox 334"/>
          <p:cNvSpPr txBox="1"/>
          <p:nvPr/>
        </p:nvSpPr>
        <p:spPr>
          <a:xfrm>
            <a:off x="1014712" y="5927340"/>
            <a:ext cx="1054388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No es solo un ranking de modelos: es un estudio sobre qué tipo de representación visual transfiere.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0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1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422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Discusión y conclusiones   ·   24/26</a:t>
            </a:r>
          </a:p>
        </p:txBody>
      </p:sp>
      <p:sp>
        <p:nvSpPr>
          <p:cNvPr id="423" name="TextBox 5"/>
          <p:cNvSpPr txBox="1"/>
          <p:nvPr/>
        </p:nvSpPr>
        <p:spPr>
          <a:xfrm>
            <a:off x="594358" y="384046"/>
            <a:ext cx="11002979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30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Qué explica realmente la generalización externa</a:t>
            </a:r>
          </a:p>
        </p:txBody>
      </p:sp>
      <p:sp>
        <p:nvSpPr>
          <p:cNvPr id="424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5" name="Rounded Rectangle 341"/>
          <p:cNvSpPr/>
          <p:nvPr/>
        </p:nvSpPr>
        <p:spPr>
          <a:xfrm>
            <a:off x="594359" y="1463038"/>
            <a:ext cx="3453387" cy="3977643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grpSp>
        <p:nvGrpSpPr>
          <p:cNvPr id="428" name="Oval 342"/>
          <p:cNvGrpSpPr/>
          <p:nvPr/>
        </p:nvGrpSpPr>
        <p:grpSpPr>
          <a:xfrm>
            <a:off x="1978150" y="1691638"/>
            <a:ext cx="685806" cy="685807"/>
            <a:chOff x="0" y="0"/>
            <a:chExt cx="685805" cy="685806"/>
          </a:xfrm>
        </p:grpSpPr>
        <p:sp>
          <p:nvSpPr>
            <p:cNvPr id="426" name="Circle"/>
            <p:cNvSpPr/>
            <p:nvPr/>
          </p:nvSpPr>
          <p:spPr>
            <a:xfrm>
              <a:off x="0" y="0"/>
              <a:ext cx="685806" cy="685807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</p:txBody>
        </p:sp>
        <p:sp>
          <p:nvSpPr>
            <p:cNvPr id="427" name="1"/>
            <p:cNvSpPr txBox="1"/>
            <p:nvPr/>
          </p:nvSpPr>
          <p:spPr>
            <a:xfrm>
              <a:off x="150915" y="81280"/>
              <a:ext cx="383974" cy="523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lvl1pPr>
            </a:lstStyle>
            <a:p>
              <a:pPr/>
              <a:r>
                <a:t>1</a:t>
              </a:r>
            </a:p>
          </p:txBody>
        </p:sp>
      </p:grpSp>
      <p:sp>
        <p:nvSpPr>
          <p:cNvPr id="429" name="TextBox 343"/>
          <p:cNvSpPr txBox="1"/>
          <p:nvPr/>
        </p:nvSpPr>
        <p:spPr>
          <a:xfrm>
            <a:off x="822957" y="2560321"/>
            <a:ext cx="2996191" cy="320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cuello de botella era visual</a:t>
            </a:r>
          </a:p>
        </p:txBody>
      </p:sp>
      <p:sp>
        <p:nvSpPr>
          <p:cNvPr id="430" name="Rectangle 344"/>
          <p:cNvSpPr/>
          <p:nvPr/>
        </p:nvSpPr>
        <p:spPr>
          <a:xfrm>
            <a:off x="1680971" y="3383279"/>
            <a:ext cx="1280165" cy="45724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31" name="TextBox 345"/>
          <p:cNvSpPr txBox="1"/>
          <p:nvPr/>
        </p:nvSpPr>
        <p:spPr>
          <a:xfrm>
            <a:off x="868680" y="3566159"/>
            <a:ext cx="2904746" cy="142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</a:defRPr>
            </a:lvl1pPr>
          </a:lstStyle>
          <a:p>
            <a:pPr/>
            <a:r>
              <a:t>Normalización de tinción, codificadores de texto biomédicos y sustituir CLIP por un clasificador CE no rompen el colapso pulmonar. El cambio de régimen aparece al cambiar el codificador visual.</a:t>
            </a:r>
          </a:p>
        </p:txBody>
      </p:sp>
      <p:sp>
        <p:nvSpPr>
          <p:cNvPr id="432" name="Rounded Rectangle 346"/>
          <p:cNvSpPr/>
          <p:nvPr/>
        </p:nvSpPr>
        <p:spPr>
          <a:xfrm>
            <a:off x="4367784" y="1463038"/>
            <a:ext cx="3453388" cy="3977643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grpSp>
        <p:nvGrpSpPr>
          <p:cNvPr id="435" name="Oval 347"/>
          <p:cNvGrpSpPr/>
          <p:nvPr/>
        </p:nvGrpSpPr>
        <p:grpSpPr>
          <a:xfrm>
            <a:off x="5751576" y="1691638"/>
            <a:ext cx="685807" cy="685807"/>
            <a:chOff x="0" y="0"/>
            <a:chExt cx="685806" cy="685806"/>
          </a:xfrm>
        </p:grpSpPr>
        <p:sp>
          <p:nvSpPr>
            <p:cNvPr id="433" name="Circle"/>
            <p:cNvSpPr/>
            <p:nvPr/>
          </p:nvSpPr>
          <p:spPr>
            <a:xfrm>
              <a:off x="0" y="0"/>
              <a:ext cx="685807" cy="685807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</p:txBody>
        </p:sp>
        <p:sp>
          <p:nvSpPr>
            <p:cNvPr id="434" name="2"/>
            <p:cNvSpPr txBox="1"/>
            <p:nvPr/>
          </p:nvSpPr>
          <p:spPr>
            <a:xfrm>
              <a:off x="150915" y="81280"/>
              <a:ext cx="383975" cy="523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lvl1pPr>
            </a:lstStyle>
            <a:p>
              <a:pPr/>
              <a:r>
                <a:t>2</a:t>
              </a:r>
            </a:p>
          </p:txBody>
        </p:sp>
      </p:grpSp>
      <p:sp>
        <p:nvSpPr>
          <p:cNvPr id="436" name="TextBox 348"/>
          <p:cNvSpPr txBox="1"/>
          <p:nvPr/>
        </p:nvSpPr>
        <p:spPr>
          <a:xfrm>
            <a:off x="4596384" y="2560321"/>
            <a:ext cx="2996188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La amplitud visual desbloquea; el dominio amplifica</a:t>
            </a:r>
          </a:p>
        </p:txBody>
      </p:sp>
      <p:sp>
        <p:nvSpPr>
          <p:cNvPr id="437" name="Rectangle 349"/>
          <p:cNvSpPr/>
          <p:nvPr/>
        </p:nvSpPr>
        <p:spPr>
          <a:xfrm>
            <a:off x="5454396" y="3383279"/>
            <a:ext cx="1280164" cy="45724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38" name="TextBox 350"/>
          <p:cNvSpPr txBox="1"/>
          <p:nvPr/>
        </p:nvSpPr>
        <p:spPr>
          <a:xfrm>
            <a:off x="4642103" y="3566159"/>
            <a:ext cx="2904748" cy="958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DINOv2 sube LungHist700 de 0.305 → 0.457 sin histopatología. PLIP zero-shot sube a 0.544. PLIP + LC25000 alcanza 0.640.</a:t>
            </a:r>
          </a:p>
        </p:txBody>
      </p:sp>
      <p:sp>
        <p:nvSpPr>
          <p:cNvPr id="439" name="Rounded Rectangle 351"/>
          <p:cNvSpPr/>
          <p:nvPr/>
        </p:nvSpPr>
        <p:spPr>
          <a:xfrm>
            <a:off x="8141206" y="1463038"/>
            <a:ext cx="3453388" cy="3977643"/>
          </a:xfrm>
          <a:prstGeom prst="roundRect">
            <a:avLst>
              <a:gd name="adj" fmla="val 16667"/>
            </a:avLst>
          </a:prstGeom>
          <a:solidFill>
            <a:srgbClr val="F5EED8"/>
          </a:solidFill>
          <a:ln w="19050">
            <a:solidFill>
              <a:srgbClr val="6B0F1A"/>
            </a:solidFill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grpSp>
        <p:nvGrpSpPr>
          <p:cNvPr id="442" name="Oval 352"/>
          <p:cNvGrpSpPr/>
          <p:nvPr/>
        </p:nvGrpSpPr>
        <p:grpSpPr>
          <a:xfrm>
            <a:off x="9525000" y="1691638"/>
            <a:ext cx="685800" cy="685807"/>
            <a:chOff x="0" y="0"/>
            <a:chExt cx="685800" cy="685806"/>
          </a:xfrm>
        </p:grpSpPr>
        <p:sp>
          <p:nvSpPr>
            <p:cNvPr id="440" name="Circle"/>
            <p:cNvSpPr/>
            <p:nvPr/>
          </p:nvSpPr>
          <p:spPr>
            <a:xfrm>
              <a:off x="0" y="0"/>
              <a:ext cx="685800" cy="685807"/>
            </a:xfrm>
            <a:prstGeom prst="ellipse">
              <a:avLst/>
            </a:prstGeom>
            <a:solidFill>
              <a:srgbClr val="6B0F1A"/>
            </a:solidFill>
            <a:ln w="9525" cap="flat">
              <a:solidFill>
                <a:srgbClr val="6B0F1A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pPr>
            </a:p>
          </p:txBody>
        </p:sp>
        <p:sp>
          <p:nvSpPr>
            <p:cNvPr id="441" name="3"/>
            <p:cNvSpPr txBox="1"/>
            <p:nvPr/>
          </p:nvSpPr>
          <p:spPr>
            <a:xfrm>
              <a:off x="150913" y="81280"/>
              <a:ext cx="383975" cy="5232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b="1" sz="2800">
                  <a:solidFill>
                    <a:srgbClr val="FFFFFF"/>
                  </a:solidFill>
                  <a:latin typeface="+mj-lt"/>
                  <a:ea typeface="+mj-ea"/>
                  <a:cs typeface="+mj-cs"/>
                  <a:sym typeface="Helvetica"/>
                </a:defRPr>
              </a:lvl1pPr>
            </a:lstStyle>
            <a:p>
              <a:pPr/>
              <a:r>
                <a:t>3</a:t>
              </a:r>
            </a:p>
          </p:txBody>
        </p:sp>
      </p:grpSp>
      <p:sp>
        <p:nvSpPr>
          <p:cNvPr id="443" name="TextBox 353"/>
          <p:cNvSpPr txBox="1"/>
          <p:nvPr/>
        </p:nvSpPr>
        <p:spPr>
          <a:xfrm>
            <a:off x="8369806" y="2560321"/>
            <a:ext cx="2996189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15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Reportar por órgano cambia la conclusión</a:t>
            </a:r>
          </a:p>
        </p:txBody>
      </p:sp>
      <p:sp>
        <p:nvSpPr>
          <p:cNvPr id="444" name="Rectangle 354"/>
          <p:cNvSpPr/>
          <p:nvPr/>
        </p:nvSpPr>
        <p:spPr>
          <a:xfrm>
            <a:off x="9227818" y="3383279"/>
            <a:ext cx="1280164" cy="45724"/>
          </a:xfrm>
          <a:prstGeom prst="rect">
            <a:avLst/>
          </a:prstGeom>
          <a:solidFill>
            <a:srgbClr val="C6A04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45" name="TextBox 355"/>
          <p:cNvSpPr txBox="1"/>
          <p:nvPr/>
        </p:nvSpPr>
        <p:spPr>
          <a:xfrm>
            <a:off x="8415525" y="3566159"/>
            <a:ext cx="2904748" cy="955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1400">
                <a:solidFill>
                  <a:srgbClr val="3C28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Colon transfiere parcialmente. Pulmón colapsa. Promediar los datasets externos ocultaría esa asimetría.</a:t>
            </a:r>
          </a:p>
        </p:txBody>
      </p:sp>
      <p:sp>
        <p:nvSpPr>
          <p:cNvPr id="446" name="TextBox 356"/>
          <p:cNvSpPr txBox="1"/>
          <p:nvPr/>
        </p:nvSpPr>
        <p:spPr>
          <a:xfrm>
            <a:off x="640079" y="5577840"/>
            <a:ext cx="10908794" cy="509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1400">
                <a:solidFill>
                  <a:srgbClr val="4D0912"/>
                </a:solidFill>
              </a:defRPr>
            </a:lvl1pPr>
          </a:lstStyle>
          <a:p>
            <a:pPr/>
            <a:r>
              <a:t>Conclusión: bajo shift externo, no domina el texto, el color ni la cabeza CE; domina la representación visual. La amplitud general desbloquea la transferencia y el pretraining histopatológico aporta el mejor margen final.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1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2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453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Discusión y conclusiones   ·   25/26</a:t>
            </a:r>
          </a:p>
        </p:txBody>
      </p:sp>
      <p:sp>
        <p:nvSpPr>
          <p:cNvPr id="454" name="TextBox 5"/>
          <p:cNvSpPr txBox="1"/>
          <p:nvPr/>
        </p:nvSpPr>
        <p:spPr>
          <a:xfrm>
            <a:off x="594359" y="384047"/>
            <a:ext cx="11000235" cy="548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Limitaciones y trabajo futuro</a:t>
            </a:r>
          </a:p>
        </p:txBody>
      </p:sp>
      <p:sp>
        <p:nvSpPr>
          <p:cNvPr id="455" name="Rectangle 6"/>
          <p:cNvSpPr/>
          <p:nvPr/>
        </p:nvSpPr>
        <p:spPr>
          <a:xfrm>
            <a:off x="548639" y="1024127"/>
            <a:ext cx="1097282" cy="36598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56" name="TextBox 7"/>
          <p:cNvSpPr txBox="1"/>
          <p:nvPr/>
        </p:nvSpPr>
        <p:spPr>
          <a:xfrm>
            <a:off x="594358" y="1338580"/>
            <a:ext cx="5395369" cy="418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Limitaciones</a:t>
            </a:r>
          </a:p>
          <a:p>
            <a:pPr>
              <a:defRPr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defRPr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Encoders congelados: con fine-tuning end-to-end, la palanca dominante podría cambiar.</a:t>
            </a:r>
          </a:p>
          <a:p>
            <a:pPr>
              <a:defRPr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LC25000 infla el resultado in-distribution (aumentos y duplicados); la evidencia fuerte viene de los datasets externos.</a:t>
            </a:r>
          </a:p>
          <a:p>
            <a:pPr>
              <a:defRPr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PLIP vs DINOv2 no separa completamente dominio, objetivo y patch size: el +0.087 se lee como evidencia de preentrenamiento histopatológico, no como aislamiento causal.</a:t>
            </a:r>
          </a:p>
          <a:p>
            <a:pPr>
              <a:defRPr sz="19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Una semilla por condición y N=359 en LungHist700: sin intervalos de confianza sobre el +0.335.</a:t>
            </a:r>
          </a:p>
        </p:txBody>
      </p:sp>
      <p:sp>
        <p:nvSpPr>
          <p:cNvPr id="457" name="TextBox 8"/>
          <p:cNvSpPr txBox="1"/>
          <p:nvPr/>
        </p:nvSpPr>
        <p:spPr>
          <a:xfrm>
            <a:off x="6446518" y="1330960"/>
            <a:ext cx="5212096" cy="316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Trabajo futuro</a:t>
            </a:r>
          </a:p>
          <a:p>
            <a: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  <a:p>
            <a: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Control factorial: mismo ViT y patch size, distinto dominio de preentrenamiento.</a:t>
            </a:r>
          </a:p>
          <a:p>
            <a: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Comparación head-to-head con UNI, CONCH, BiomedCLIP y MUSK.</a:t>
            </a:r>
          </a:p>
          <a:p>
            <a: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Preentrenamiento autosupervisado histopatológico controlado (por ejemplo, sobre TCGA).</a:t>
            </a:r>
          </a:p>
          <a:p>
            <a:pPr>
              <a:defRPr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t>▸ Pasar de parches aislados a WSI como secuencia de tiles.</a:t>
            </a:r>
          </a:p>
        </p:txBody>
      </p:sp>
      <p:sp>
        <p:nvSpPr>
          <p:cNvPr id="458" name="Rectangle 371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6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1219169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63" name="TextBox 1"/>
          <p:cNvSpPr txBox="1"/>
          <p:nvPr/>
        </p:nvSpPr>
        <p:spPr>
          <a:xfrm>
            <a:off x="39516" y="2925385"/>
            <a:ext cx="12100268" cy="1007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z="7200">
                <a:solidFill>
                  <a:srgbClr val="FFFFFF"/>
                </a:solidFill>
              </a:defRPr>
            </a:lvl1pPr>
          </a:lstStyle>
          <a:p>
            <a:pPr/>
            <a:r>
              <a:t>Preguntas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6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488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494" name="Rectangle 280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95" name="TextBox 494"/>
          <p:cNvSpPr txBox="1"/>
          <p:nvPr/>
        </p:nvSpPr>
        <p:spPr>
          <a:xfrm>
            <a:off x="594360" y="384048"/>
            <a:ext cx="11000232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Backup — preguntas previsibles</a:t>
            </a:r>
          </a:p>
        </p:txBody>
      </p:sp>
      <p:sp>
        <p:nvSpPr>
          <p:cNvPr id="496" name="TextBox 495"/>
          <p:cNvSpPr txBox="1"/>
          <p:nvPr/>
        </p:nvSpPr>
        <p:spPr>
          <a:xfrm>
            <a:off x="594360" y="1188720"/>
            <a:ext cx="11000232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Slides adicionales para responder objeciones metodológicas típicas.</a:t>
            </a:r>
          </a:p>
        </p:txBody>
      </p:sp>
      <p:sp>
        <p:nvSpPr>
          <p:cNvPr id="500" name="Rectangle 499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5D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TextBox 500"/>
          <p:cNvSpPr txBox="1"/>
          <p:nvPr/>
        </p:nvSpPr>
        <p:spPr>
          <a:xfrm>
            <a:off x="594360" y="1920240"/>
            <a:ext cx="3566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Modelos</a:t>
            </a:r>
          </a:p>
        </p:txBody>
      </p:sp>
      <p:sp>
        <p:nvSpPr>
          <p:cNvPr id="502" name="Rounded Rectangle 501"/>
          <p:cNvSpPr/>
          <p:nvPr/>
        </p:nvSpPr>
        <p:spPr>
          <a:xfrm>
            <a:off x="594360" y="242316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TextBox 502"/>
          <p:cNvSpPr txBox="1"/>
          <p:nvPr/>
        </p:nvSpPr>
        <p:spPr>
          <a:xfrm>
            <a:off x="685800" y="247802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S28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685800" y="275234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¿Qué rol cumple cada modelo?</a:t>
            </a:r>
          </a:p>
        </p:txBody>
      </p:sp>
      <p:sp>
        <p:nvSpPr>
          <p:cNvPr id="505" name="Rounded Rectangle 504"/>
          <p:cNvSpPr/>
          <p:nvPr/>
        </p:nvSpPr>
        <p:spPr>
          <a:xfrm>
            <a:off x="594360" y="338328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685800" y="343814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S29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685800" y="371246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¿Qué aísla realmente DINOv2?</a:t>
            </a:r>
          </a:p>
        </p:txBody>
      </p:sp>
      <p:sp>
        <p:nvSpPr>
          <p:cNvPr id="508" name="Rounded Rectangle 507"/>
          <p:cNvSpPr/>
          <p:nvPr/>
        </p:nvSpPr>
        <p:spPr>
          <a:xfrm>
            <a:off x="594360" y="43434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TextBox 508"/>
          <p:cNvSpPr txBox="1"/>
          <p:nvPr/>
        </p:nvSpPr>
        <p:spPr>
          <a:xfrm>
            <a:off x="685800" y="439826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S35</a:t>
            </a:r>
          </a:p>
        </p:txBody>
      </p:sp>
      <p:sp>
        <p:nvSpPr>
          <p:cNvPr id="510" name="TextBox 509"/>
          <p:cNvSpPr txBox="1"/>
          <p:nvPr/>
        </p:nvSpPr>
        <p:spPr>
          <a:xfrm>
            <a:off x="685800" y="467258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¿Qué aporta DINOv2 como control?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4297680" y="1920240"/>
            <a:ext cx="3566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Método</a:t>
            </a:r>
          </a:p>
        </p:txBody>
      </p:sp>
      <p:sp>
        <p:nvSpPr>
          <p:cNvPr id="512" name="Rounded Rectangle 511"/>
          <p:cNvSpPr/>
          <p:nvPr/>
        </p:nvSpPr>
        <p:spPr>
          <a:xfrm>
            <a:off x="4297680" y="242316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TextBox 512"/>
          <p:cNvSpPr txBox="1"/>
          <p:nvPr/>
        </p:nvSpPr>
        <p:spPr>
          <a:xfrm>
            <a:off x="4389120" y="247802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S30</a:t>
            </a:r>
          </a:p>
        </p:txBody>
      </p:sp>
      <p:sp>
        <p:nvSpPr>
          <p:cNvPr id="514" name="TextBox 513"/>
          <p:cNvSpPr txBox="1"/>
          <p:nvPr/>
        </p:nvSpPr>
        <p:spPr>
          <a:xfrm>
            <a:off x="4389120" y="275234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¿Cómo funciona Macenko?</a:t>
            </a:r>
          </a:p>
        </p:txBody>
      </p:sp>
      <p:sp>
        <p:nvSpPr>
          <p:cNvPr id="515" name="Rounded Rectangle 514"/>
          <p:cNvSpPr/>
          <p:nvPr/>
        </p:nvSpPr>
        <p:spPr>
          <a:xfrm>
            <a:off x="4297680" y="338328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TextBox 515"/>
          <p:cNvSpPr txBox="1"/>
          <p:nvPr/>
        </p:nvSpPr>
        <p:spPr>
          <a:xfrm>
            <a:off x="4389120" y="343814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S32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4389120" y="371246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¿Por qué argmax restringido?</a:t>
            </a:r>
          </a:p>
        </p:txBody>
      </p:sp>
      <p:sp>
        <p:nvSpPr>
          <p:cNvPr id="518" name="Rounded Rectangle 517"/>
          <p:cNvSpPr/>
          <p:nvPr/>
        </p:nvSpPr>
        <p:spPr>
          <a:xfrm>
            <a:off x="4297680" y="43434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4389120" y="439826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S36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4389120" y="467258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¿Qué optimiza InfoNCE?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01000" y="1920240"/>
            <a:ext cx="3566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Validez</a:t>
            </a:r>
          </a:p>
        </p:txBody>
      </p:sp>
      <p:sp>
        <p:nvSpPr>
          <p:cNvPr id="522" name="Rounded Rectangle 521"/>
          <p:cNvSpPr/>
          <p:nvPr/>
        </p:nvSpPr>
        <p:spPr>
          <a:xfrm>
            <a:off x="8001000" y="242316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TextBox 522"/>
          <p:cNvSpPr txBox="1"/>
          <p:nvPr/>
        </p:nvSpPr>
        <p:spPr>
          <a:xfrm>
            <a:off x="8092440" y="247802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S31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8092440" y="275234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¿Qué muestra UMAP y qué no?</a:t>
            </a:r>
          </a:p>
        </p:txBody>
      </p:sp>
      <p:sp>
        <p:nvSpPr>
          <p:cNvPr id="525" name="Rounded Rectangle 524"/>
          <p:cNvSpPr/>
          <p:nvPr/>
        </p:nvSpPr>
        <p:spPr>
          <a:xfrm>
            <a:off x="8001000" y="338328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TextBox 525"/>
          <p:cNvSpPr txBox="1"/>
          <p:nvPr/>
        </p:nvSpPr>
        <p:spPr>
          <a:xfrm>
            <a:off x="8092440" y="343814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S33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8092440" y="371246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¿Por qué BERT y no CLIP-text?</a:t>
            </a:r>
          </a:p>
        </p:txBody>
      </p:sp>
      <p:sp>
        <p:nvSpPr>
          <p:cNvPr id="528" name="Rounded Rectangle 527"/>
          <p:cNvSpPr/>
          <p:nvPr/>
        </p:nvSpPr>
        <p:spPr>
          <a:xfrm>
            <a:off x="8001000" y="4343400"/>
            <a:ext cx="3566160" cy="868680"/>
          </a:xfrm>
          <a:prstGeom prst="roundRect">
            <a:avLst>
              <a:gd name="adj" fmla="val 10000"/>
            </a:avLst>
          </a:prstGeom>
          <a:solidFill>
            <a:srgbClr val="F5EED8"/>
          </a:solidFill>
          <a:ln w="9525">
            <a:solidFill>
              <a:srgbClr val="C6A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TextBox 528"/>
          <p:cNvSpPr txBox="1"/>
          <p:nvPr/>
        </p:nvSpPr>
        <p:spPr>
          <a:xfrm>
            <a:off x="8092440" y="4398264"/>
            <a:ext cx="3383279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200">
                <a:solidFill>
                  <a:srgbClr val="C6A046"/>
                </a:solidFill>
                <a:latin typeface="+mn-lt"/>
                <a:ea typeface="+mn-ea"/>
                <a:cs typeface="+mn-cs"/>
              </a:defRPr>
            </a:pPr>
            <a:r>
              <a:t>S34</a:t>
            </a:r>
          </a:p>
        </p:txBody>
      </p:sp>
      <p:sp>
        <p:nvSpPr>
          <p:cNvPr id="530" name="TextBox 529"/>
          <p:cNvSpPr txBox="1"/>
          <p:nvPr/>
        </p:nvSpPr>
        <p:spPr>
          <a:xfrm>
            <a:off x="8092440" y="4672584"/>
            <a:ext cx="338327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¿La fuga de LC25000 invalida?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Estas slides no forman parte de la defensa cronometrada: solo se navegan si el tribunal las provoca.</a:t>
            </a:r>
          </a:p>
        </p:txBody>
      </p:sp>
      <p:sp>
        <p:nvSpPr>
          <p:cNvPr id="532" name="Rectangle 531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6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8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488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490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¿Qué rol cumple cada modelo en el experimento?</a:t>
            </a:r>
          </a:p>
        </p:txBody>
      </p:sp>
      <p:sp>
        <p:nvSpPr>
          <p:cNvPr id="491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Cada modelo entra para aislar UNA variable del pipeline base, no como comparación genérica.</a:t>
            </a:r>
          </a:p>
        </p:txBody>
      </p:sp>
      <p:sp>
        <p:nvSpPr>
          <p:cNvPr id="494" name="Rectangle 280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sp>
        <p:nvSpPr>
          <p:cNvPr id="495" name="TextBox 494"/>
          <p:cNvSpPr txBox="1"/>
          <p:nvPr/>
        </p:nvSpPr>
        <p:spPr>
          <a:xfrm>
            <a:off x="594360" y="1920240"/>
            <a:ext cx="201168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Imagen</a:t>
            </a:r>
          </a:p>
        </p:txBody>
      </p:sp>
      <p:sp>
        <p:nvSpPr>
          <p:cNvPr id="496" name="Rounded Rectangle 495"/>
          <p:cNvSpPr/>
          <p:nvPr/>
        </p:nvSpPr>
        <p:spPr>
          <a:xfrm>
            <a:off x="2788920" y="196596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TextBox 496"/>
          <p:cNvSpPr txBox="1"/>
          <p:nvPr/>
        </p:nvSpPr>
        <p:spPr>
          <a:xfrm>
            <a:off x="2834639" y="199339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ResNet50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2834639" y="230428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baseline</a:t>
            </a:r>
          </a:p>
        </p:txBody>
      </p:sp>
      <p:sp>
        <p:nvSpPr>
          <p:cNvPr id="499" name="Right Arrow 498"/>
          <p:cNvSpPr/>
          <p:nvPr/>
        </p:nvSpPr>
        <p:spPr>
          <a:xfrm>
            <a:off x="4727448" y="2304288"/>
            <a:ext cx="274320" cy="182880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ounded Rectangle 499"/>
          <p:cNvSpPr/>
          <p:nvPr/>
        </p:nvSpPr>
        <p:spPr>
          <a:xfrm>
            <a:off x="4983479" y="196596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TextBox 500"/>
          <p:cNvSpPr txBox="1"/>
          <p:nvPr/>
        </p:nvSpPr>
        <p:spPr>
          <a:xfrm>
            <a:off x="5029199" y="199339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DINOv2 ViT-B/14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5029199" y="230428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control parcial</a:t>
            </a:r>
          </a:p>
        </p:txBody>
      </p:sp>
      <p:sp>
        <p:nvSpPr>
          <p:cNvPr id="503" name="Right Arrow 502"/>
          <p:cNvSpPr/>
          <p:nvPr/>
        </p:nvSpPr>
        <p:spPr>
          <a:xfrm>
            <a:off x="6922007" y="2304288"/>
            <a:ext cx="274320" cy="182880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ounded Rectangle 503"/>
          <p:cNvSpPr/>
          <p:nvPr/>
        </p:nvSpPr>
        <p:spPr>
          <a:xfrm>
            <a:off x="7178040" y="196596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TextBox 504"/>
          <p:cNvSpPr txBox="1"/>
          <p:nvPr/>
        </p:nvSpPr>
        <p:spPr>
          <a:xfrm>
            <a:off x="7223759" y="199339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PLIP ViT-B/32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7223759" y="230428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principal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594360" y="2816352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CNN → ViT → dominio</a:t>
            </a:r>
          </a:p>
        </p:txBody>
      </p:sp>
      <p:sp>
        <p:nvSpPr>
          <p:cNvPr id="508" name="TextBox 507"/>
          <p:cNvSpPr txBox="1"/>
          <p:nvPr/>
        </p:nvSpPr>
        <p:spPr>
          <a:xfrm>
            <a:off x="594360" y="3246120"/>
            <a:ext cx="201168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Texto</a:t>
            </a:r>
          </a:p>
        </p:txBody>
      </p:sp>
      <p:sp>
        <p:nvSpPr>
          <p:cNvPr id="509" name="Rounded Rectangle 508"/>
          <p:cNvSpPr/>
          <p:nvPr/>
        </p:nvSpPr>
        <p:spPr>
          <a:xfrm>
            <a:off x="2788920" y="3291839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TextBox 509"/>
          <p:cNvSpPr txBox="1"/>
          <p:nvPr/>
        </p:nvSpPr>
        <p:spPr>
          <a:xfrm>
            <a:off x="2834639" y="331927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BERT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2834639" y="363016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general</a:t>
            </a:r>
          </a:p>
        </p:txBody>
      </p:sp>
      <p:sp>
        <p:nvSpPr>
          <p:cNvPr id="512" name="Right Arrow 511"/>
          <p:cNvSpPr/>
          <p:nvPr/>
        </p:nvSpPr>
        <p:spPr>
          <a:xfrm>
            <a:off x="4727448" y="3630168"/>
            <a:ext cx="274320" cy="182880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ounded Rectangle 512"/>
          <p:cNvSpPr/>
          <p:nvPr/>
        </p:nvSpPr>
        <p:spPr>
          <a:xfrm>
            <a:off x="4983479" y="3291839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5029199" y="331927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BioBERT</a:t>
            </a:r>
          </a:p>
        </p:txBody>
      </p:sp>
      <p:sp>
        <p:nvSpPr>
          <p:cNvPr id="515" name="TextBox 514"/>
          <p:cNvSpPr txBox="1"/>
          <p:nvPr/>
        </p:nvSpPr>
        <p:spPr>
          <a:xfrm>
            <a:off x="5029199" y="363016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biomédico continuo</a:t>
            </a:r>
          </a:p>
        </p:txBody>
      </p:sp>
      <p:sp>
        <p:nvSpPr>
          <p:cNvPr id="516" name="Right Arrow 515"/>
          <p:cNvSpPr/>
          <p:nvPr/>
        </p:nvSpPr>
        <p:spPr>
          <a:xfrm>
            <a:off x="6922007" y="3630168"/>
            <a:ext cx="274320" cy="182880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ounded Rectangle 516"/>
          <p:cNvSpPr/>
          <p:nvPr/>
        </p:nvSpPr>
        <p:spPr>
          <a:xfrm>
            <a:off x="7178040" y="3291839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TextBox 517"/>
          <p:cNvSpPr txBox="1"/>
          <p:nvPr/>
        </p:nvSpPr>
        <p:spPr>
          <a:xfrm>
            <a:off x="7223759" y="331927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PubMedBERT</a:t>
            </a:r>
          </a:p>
        </p:txBody>
      </p:sp>
      <p:sp>
        <p:nvSpPr>
          <p:cNvPr id="519" name="TextBox 518"/>
          <p:cNvSpPr txBox="1"/>
          <p:nvPr/>
        </p:nvSpPr>
        <p:spPr>
          <a:xfrm>
            <a:off x="7223759" y="363016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biomédico desde cero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594360" y="4142231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misma arch, distinto pretraining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594360" y="4572000"/>
            <a:ext cx="201168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7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Modelo completo</a:t>
            </a:r>
          </a:p>
        </p:txBody>
      </p:sp>
      <p:sp>
        <p:nvSpPr>
          <p:cNvPr id="522" name="Rounded Rectangle 521"/>
          <p:cNvSpPr/>
          <p:nvPr/>
        </p:nvSpPr>
        <p:spPr>
          <a:xfrm>
            <a:off x="2788920" y="4617720"/>
            <a:ext cx="1920240" cy="777240"/>
          </a:xfrm>
          <a:prstGeom prst="roundRect">
            <a:avLst>
              <a:gd name="adj" fmla="val 15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TextBox 522"/>
          <p:cNvSpPr txBox="1"/>
          <p:nvPr/>
        </p:nvSpPr>
        <p:spPr>
          <a:xfrm>
            <a:off x="2834639" y="4645152"/>
            <a:ext cx="18288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PLIP zero-shot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2834639" y="4956048"/>
            <a:ext cx="1828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sin entrenar sobre LC25000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594360" y="5468112"/>
            <a:ext cx="2011680" cy="27432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>
              <a:defRPr sz="10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referencia externa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Cada modelo entra para aislar UNA variable del pipeline base, no un ranking genérico.</a:t>
            </a:r>
          </a:p>
        </p:txBody>
      </p:sp>
      <p:sp>
        <p:nvSpPr>
          <p:cNvPr id="527" name="Rectangle 526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99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0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01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03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¿Qué aísla realmente DINOv2?</a:t>
            </a:r>
          </a:p>
        </p:txBody>
      </p:sp>
      <p:sp>
        <p:nvSpPr>
          <p:cNvPr id="504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DINOv2 permite una descomposición parcial, no causal perfecta.</a:t>
            </a:r>
          </a:p>
        </p:txBody>
      </p:sp>
      <p:sp>
        <p:nvSpPr>
          <p:cNvPr id="508" name="Rectangle 281"/>
          <p:cNvSpPr/>
          <p:nvPr/>
        </p:nvSpPr>
        <p:spPr>
          <a:xfrm>
            <a:off x="594359" y="6355079"/>
            <a:ext cx="11000235" cy="18290"/>
          </a:xfrm>
          <a:prstGeom prst="rect">
            <a:avLst/>
          </a:prstGeom>
          <a:solidFill>
            <a:srgbClr val="E5D0A0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j-lt"/>
                <a:ea typeface="+mj-ea"/>
                <a:cs typeface="+mj-cs"/>
                <a:sym typeface="Helvetica"/>
              </a:defRPr>
            </a:pPr>
          </a:p>
        </p:txBody>
      </p:sp>
      <p:graphicFrame>
        <p:nvGraphicFramePr>
          <p:cNvPr id="509" name="Table 508"/>
          <p:cNvGraphicFramePr>
            <a:graphicFrameLocks noGrp="1"/>
          </p:cNvGraphicFramePr>
          <p:nvPr/>
        </p:nvGraphicFramePr>
        <p:xfrm>
          <a:off x="594360" y="1920240"/>
          <a:ext cx="11000228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8537"/>
                <a:gridCol w="2018537"/>
                <a:gridCol w="2018537"/>
                <a:gridCol w="2018537"/>
              </a:tblGrid>
              <a:tr h="617220">
                <a:tc>
                  <a:txBody>
                    <a:bodyPr lIns="54864" rIns="54864" tIns="36576" bIns="36576" wrap="square"/>
                    <a:lstStyle/>
                    <a:p>
                      <a:pPr algn="l">
                        <a:defRPr b="1" sz="13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Comparación</a:t>
                      </a:r>
                    </a:p>
                  </a:txBody>
                  <a:tcPr>
                    <a:solidFill>
                      <a:srgbClr val="4D0912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Arquitectura</a:t>
                      </a:r>
                    </a:p>
                  </a:txBody>
                  <a:tcPr>
                    <a:solidFill>
                      <a:srgbClr val="4D0912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Objetivo</a:t>
                      </a:r>
                    </a:p>
                  </a:txBody>
                  <a:tcPr>
                    <a:solidFill>
                      <a:srgbClr val="4D0912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Dominio</a:t>
                      </a:r>
                    </a:p>
                  </a:txBody>
                  <a:tcPr>
                    <a:solidFill>
                      <a:srgbClr val="4D0912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Patch size</a:t>
                      </a:r>
                    </a:p>
                  </a:txBody>
                  <a:tcPr>
                    <a:solidFill>
                      <a:srgbClr val="4D0912"/>
                    </a:solidFill>
                  </a:tcPr>
                </a:tc>
              </a:tr>
              <a:tr h="617220">
                <a:tc>
                  <a:txBody>
                    <a:bodyPr lIns="54864" rIns="54864" tIns="36576" bIns="36576" wrap="square"/>
                    <a:lstStyle/>
                    <a:p>
                      <a:pPr algn="l">
                        <a:defRPr b="1" sz="1400">
                          <a:solidFill>
                            <a:srgbClr val="4D0912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ResNet50 → PLIP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</a:tr>
              <a:tr h="617220">
                <a:tc>
                  <a:txBody>
                    <a:bodyPr lIns="54864" rIns="54864" tIns="36576" bIns="36576" wrap="square"/>
                    <a:lstStyle/>
                    <a:p>
                      <a:pPr algn="l">
                        <a:defRPr b="1" sz="1400">
                          <a:solidFill>
                            <a:srgbClr val="4D0912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ResNet50 → DINOv2</a:t>
                      </a:r>
                    </a:p>
                  </a:txBody>
                  <a:tcPr>
                    <a:solidFill>
                      <a:srgbClr val="F5EED8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5EED8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5EED8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3C7A5E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✓ natural</a:t>
                      </a:r>
                    </a:p>
                  </a:txBody>
                  <a:tcPr>
                    <a:solidFill>
                      <a:srgbClr val="F5EED8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5EED8"/>
                    </a:solidFill>
                  </a:tcPr>
                </a:tc>
              </a:tr>
              <a:tr h="617220">
                <a:tc>
                  <a:txBody>
                    <a:bodyPr lIns="54864" rIns="54864" tIns="36576" bIns="36576" wrap="square"/>
                    <a:lstStyle/>
                    <a:p>
                      <a:pPr algn="l">
                        <a:defRPr b="1" sz="1400">
                          <a:solidFill>
                            <a:srgbClr val="4D0912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DINOv2 → PLIP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3C7A5E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✓ familia ViT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  <a:tc>
                  <a:txBody>
                    <a:bodyPr lIns="54864" rIns="54864" tIns="36576" bIns="36576" wrap="square"/>
                    <a:lstStyle/>
                    <a:p>
                      <a:pPr algn="ctr">
                        <a:defRPr b="1" sz="2000">
                          <a:solidFill>
                            <a:srgbClr val="B02020"/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r>
                        <a:t>✗ (14→32)</a:t>
                      </a:r>
                    </a:p>
                  </a:txBody>
                  <a:tcPr>
                    <a:solidFill>
                      <a:srgbClr val="FFFCF3"/>
                    </a:solidFill>
                  </a:tcPr>
                </a:tc>
              </a:tr>
            </a:tbl>
          </a:graphicData>
        </a:graphic>
      </p:graphicFrame>
      <p:sp>
        <p:nvSpPr>
          <p:cNvPr id="510" name="TextBox 509"/>
          <p:cNvSpPr txBox="1"/>
          <p:nvPr/>
        </p:nvSpPr>
        <p:spPr>
          <a:xfrm>
            <a:off x="594360" y="448056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✓  = constante (buena aislamiento)      ✗  = cambia (posible confound)</a:t>
            </a:r>
          </a:p>
        </p:txBody>
      </p:sp>
      <p:sp>
        <p:nvSpPr>
          <p:cNvPr id="511" name="TextBox 510"/>
          <p:cNvSpPr txBox="1"/>
          <p:nvPr/>
        </p:nvSpPr>
        <p:spPr>
          <a:xfrm>
            <a:off x="594360" y="498348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DINOv2 no aísla el dominio: separa el salto en dos comparaciones más interpretables.</a:t>
            </a:r>
          </a:p>
        </p:txBody>
      </p:sp>
      <p:sp>
        <p:nvSpPr>
          <p:cNvPr id="512" name="Rectangle 511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3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4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15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17" name="TextBox 276"/>
          <p:cNvSpPr txBox="1"/>
          <p:nvPr/>
        </p:nvSpPr>
        <p:spPr>
          <a:xfrm>
            <a:off x="640079" y="384047"/>
            <a:ext cx="1090879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¿Cómo funciona Macenko?</a:t>
            </a:r>
          </a:p>
        </p:txBody>
      </p:sp>
      <p:sp>
        <p:nvSpPr>
          <p:cNvPr id="518" name="TextBox 277"/>
          <p:cNvSpPr txBox="1"/>
          <p:nvPr/>
        </p:nvSpPr>
        <p:spPr>
          <a:xfrm>
            <a:off x="640079" y="1188719"/>
            <a:ext cx="10908794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Aprende vectores H&amp;E del input, conserva concentraciones, re-renderiza con paleta de referencia.</a:t>
            </a:r>
          </a:p>
        </p:txBody>
      </p:sp>
      <p:sp>
        <p:nvSpPr>
          <p:cNvPr id="519" name="Rounded Rectangle 518"/>
          <p:cNvSpPr/>
          <p:nvPr/>
        </p:nvSpPr>
        <p:spPr>
          <a:xfrm>
            <a:off x="790956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36676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RGB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36676" y="2240279"/>
            <a:ext cx="1463039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9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imagen original</a:t>
            </a:r>
          </a:p>
        </p:txBody>
      </p:sp>
      <p:sp>
        <p:nvSpPr>
          <p:cNvPr id="522" name="Right Arrow 521"/>
          <p:cNvSpPr/>
          <p:nvPr/>
        </p:nvSpPr>
        <p:spPr>
          <a:xfrm>
            <a:off x="2363724" y="2148839"/>
            <a:ext cx="256032" cy="16459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ounded Rectangle 522"/>
          <p:cNvSpPr/>
          <p:nvPr/>
        </p:nvSpPr>
        <p:spPr>
          <a:xfrm>
            <a:off x="2601468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2647188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OD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2647188" y="2240279"/>
            <a:ext cx="1463039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9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log₁₀ inverso</a:t>
            </a:r>
          </a:p>
        </p:txBody>
      </p:sp>
      <p:sp>
        <p:nvSpPr>
          <p:cNvPr id="526" name="Right Arrow 525"/>
          <p:cNvSpPr/>
          <p:nvPr/>
        </p:nvSpPr>
        <p:spPr>
          <a:xfrm>
            <a:off x="4174235" y="2148839"/>
            <a:ext cx="256032" cy="16459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ounded Rectangle 526"/>
          <p:cNvSpPr/>
          <p:nvPr/>
        </p:nvSpPr>
        <p:spPr>
          <a:xfrm>
            <a:off x="4411980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TextBox 527"/>
          <p:cNvSpPr txBox="1"/>
          <p:nvPr/>
        </p:nvSpPr>
        <p:spPr>
          <a:xfrm>
            <a:off x="4457700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H · E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4457700" y="2240279"/>
            <a:ext cx="1463039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9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SVD stain vectors</a:t>
            </a:r>
          </a:p>
        </p:txBody>
      </p:sp>
      <p:sp>
        <p:nvSpPr>
          <p:cNvPr id="530" name="Right Arrow 529"/>
          <p:cNvSpPr/>
          <p:nvPr/>
        </p:nvSpPr>
        <p:spPr>
          <a:xfrm>
            <a:off x="5984748" y="2148839"/>
            <a:ext cx="256032" cy="16459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ounded Rectangle 530"/>
          <p:cNvSpPr/>
          <p:nvPr/>
        </p:nvSpPr>
        <p:spPr>
          <a:xfrm>
            <a:off x="6222492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TextBox 531"/>
          <p:cNvSpPr txBox="1"/>
          <p:nvPr/>
        </p:nvSpPr>
        <p:spPr>
          <a:xfrm>
            <a:off x="6268212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C fija</a:t>
            </a:r>
          </a:p>
        </p:txBody>
      </p:sp>
      <p:sp>
        <p:nvSpPr>
          <p:cNvPr id="533" name="TextBox 532"/>
          <p:cNvSpPr txBox="1"/>
          <p:nvPr/>
        </p:nvSpPr>
        <p:spPr>
          <a:xfrm>
            <a:off x="6268212" y="2240279"/>
            <a:ext cx="1463039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9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concentraciones</a:t>
            </a:r>
          </a:p>
        </p:txBody>
      </p:sp>
      <p:sp>
        <p:nvSpPr>
          <p:cNvPr id="534" name="Right Arrow 533"/>
          <p:cNvSpPr/>
          <p:nvPr/>
        </p:nvSpPr>
        <p:spPr>
          <a:xfrm>
            <a:off x="7795259" y="2148839"/>
            <a:ext cx="256032" cy="16459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ounded Rectangle 534"/>
          <p:cNvSpPr/>
          <p:nvPr/>
        </p:nvSpPr>
        <p:spPr>
          <a:xfrm>
            <a:off x="8033004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5EED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TextBox 535"/>
          <p:cNvSpPr txBox="1"/>
          <p:nvPr/>
        </p:nvSpPr>
        <p:spPr>
          <a:xfrm>
            <a:off x="8078724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paleta ref.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8078724" y="2240279"/>
            <a:ext cx="1463039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9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NCT-NORM</a:t>
            </a:r>
          </a:p>
        </p:txBody>
      </p:sp>
      <p:sp>
        <p:nvSpPr>
          <p:cNvPr id="538" name="Right Arrow 537"/>
          <p:cNvSpPr/>
          <p:nvPr/>
        </p:nvSpPr>
        <p:spPr>
          <a:xfrm>
            <a:off x="9605772" y="2148839"/>
            <a:ext cx="256032" cy="164592"/>
          </a:xfrm>
          <a:prstGeom prst="rightArrow">
            <a:avLst>
              <a:gd name="adj1" fmla="val 35000"/>
              <a:gd name="adj2" fmla="val 40000"/>
            </a:avLst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ounded Rectangle 538"/>
          <p:cNvSpPr/>
          <p:nvPr/>
        </p:nvSpPr>
        <p:spPr>
          <a:xfrm>
            <a:off x="9843516" y="1874519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EBD9A8"/>
          </a:solidFill>
          <a:ln w="1524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TextBox 539"/>
          <p:cNvSpPr txBox="1"/>
          <p:nvPr/>
        </p:nvSpPr>
        <p:spPr>
          <a:xfrm>
            <a:off x="9889236" y="1947672"/>
            <a:ext cx="1463039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RGB norm.</a:t>
            </a:r>
          </a:p>
        </p:txBody>
      </p:sp>
      <p:pic>
        <p:nvPicPr>
          <p:cNvPr id="541" name="Picture 5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745943" cy="3017520"/>
          </a:xfrm>
          <a:prstGeom prst="rect">
            <a:avLst/>
          </a:prstGeom>
        </p:spPr>
      </p:pic>
      <p:sp>
        <p:nvSpPr>
          <p:cNvPr id="542" name="TextBox 541"/>
          <p:cNvSpPr txBox="1"/>
          <p:nvPr/>
        </p:nvSpPr>
        <p:spPr>
          <a:xfrm>
            <a:off x="594360" y="5989320"/>
            <a:ext cx="3203143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sz="11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Raw · Macenko · Reinhard · Vahadane</a:t>
            </a:r>
          </a:p>
        </p:txBody>
      </p:sp>
      <p:sp>
        <p:nvSpPr>
          <p:cNvPr id="543" name="TextBox 542"/>
          <p:cNvSpPr txBox="1"/>
          <p:nvPr/>
        </p:nvSpPr>
        <p:spPr>
          <a:xfrm>
            <a:off x="4572000" y="2926080"/>
            <a:ext cx="70408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Fórmulas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4572000" y="3200400"/>
            <a:ext cx="70408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  OD = − log₁₀ ( (I + 1) / I₀ ),   I₀ = 255</a:t>
            </a:r>
          </a:p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  OD = S · C</a:t>
            </a:r>
          </a:p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  C = S⁺ · OD</a:t>
            </a:r>
          </a:p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  OD′ = S_ref · C</a:t>
            </a:r>
          </a:p>
          <a:p>
            <a:pPr>
              <a:defRPr sz="12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  I′  = I₀ · 10^(−OD′)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4572000" y="5074920"/>
            <a:ext cx="70408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Resultado en este TFM</a:t>
            </a:r>
          </a:p>
        </p:txBody>
      </p:sp>
      <p:sp>
        <p:nvSpPr>
          <p:cNvPr id="546" name="TextBox 545"/>
          <p:cNvSpPr txBox="1"/>
          <p:nvPr/>
        </p:nvSpPr>
        <p:spPr>
          <a:xfrm>
            <a:off x="4572000" y="5349240"/>
            <a:ext cx="704088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NCT −0.022   ·   Chaoyang +0.030   ·   LungHist700 +0.020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Macenko cambia la paleta, no el contenido; en este TFM mueve poco el resultado.</a:t>
            </a:r>
          </a:p>
        </p:txBody>
      </p:sp>
      <p:sp>
        <p:nvSpPr>
          <p:cNvPr id="548" name="Rectangle 547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6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27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28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30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¿Qué muestra UMAP y qué no muestra?</a:t>
            </a:r>
          </a:p>
        </p:txBody>
      </p:sp>
      <p:sp>
        <p:nvSpPr>
          <p:cNvPr id="531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Proyección a 2D que preserva vecindarios locales; NO reemplaza a macro-F1.</a:t>
            </a:r>
          </a:p>
        </p:txBody>
      </p:sp>
      <p:pic>
        <p:nvPicPr>
          <p:cNvPr id="532" name="Picture 531" descr="backup_umap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" y="1737360"/>
            <a:ext cx="9601200" cy="3887125"/>
          </a:xfrm>
          <a:prstGeom prst="rect">
            <a:avLst/>
          </a:prstGeom>
        </p:spPr>
      </p:pic>
      <p:sp>
        <p:nvSpPr>
          <p:cNvPr id="533" name="TextBox 532"/>
          <p:cNvSpPr txBox="1"/>
          <p:nvPr/>
        </p:nvSpPr>
        <p:spPr>
          <a:xfrm>
            <a:off x="594360" y="5670205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3C7A5E"/>
                </a:solidFill>
                <a:latin typeface="+mn-lt"/>
                <a:ea typeface="+mn-ea"/>
                <a:cs typeface="+mn-cs"/>
              </a:defRPr>
            </a:pPr>
            <a:r>
              <a:t>Sí muestra</a:t>
            </a:r>
          </a:p>
          <a:p>
            <a:pPr algn="ctr">
              <a:defRPr sz="11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vecindarios locales · solapamiento relativo</a:t>
            </a:r>
          </a:p>
        </p:txBody>
      </p:sp>
      <p:sp>
        <p:nvSpPr>
          <p:cNvPr id="534" name="TextBox 533"/>
          <p:cNvSpPr txBox="1"/>
          <p:nvPr/>
        </p:nvSpPr>
        <p:spPr>
          <a:xfrm>
            <a:off x="4343400" y="5670205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B02020"/>
                </a:solidFill>
                <a:latin typeface="+mn-lt"/>
                <a:ea typeface="+mn-ea"/>
                <a:cs typeface="+mn-cs"/>
              </a:defRPr>
            </a:pPr>
            <a:r>
              <a:t>NO muestra</a:t>
            </a:r>
          </a:p>
          <a:p>
            <a:pPr algn="ctr">
              <a:defRPr sz="11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distancias globales · causalidad</a:t>
            </a:r>
          </a:p>
        </p:txBody>
      </p:sp>
      <p:sp>
        <p:nvSpPr>
          <p:cNvPr id="535" name="TextBox 534"/>
          <p:cNvSpPr txBox="1"/>
          <p:nvPr/>
        </p:nvSpPr>
        <p:spPr>
          <a:xfrm>
            <a:off x="8092440" y="5670205"/>
            <a:ext cx="3657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3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Uso aquí</a:t>
            </a:r>
          </a:p>
          <a:p>
            <a:pPr algn="ctr">
              <a:defRPr sz="11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consistencia con macro-F1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UMAP no prueba el mecanismo: comprueba si la geometría es consistente con la métrica.</a:t>
            </a:r>
          </a:p>
        </p:txBody>
      </p:sp>
      <p:sp>
        <p:nvSpPr>
          <p:cNvPr id="537" name="Rectangle 536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39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40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41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43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¿Por qué restringir el argmax por órgano?</a:t>
            </a:r>
          </a:p>
        </p:txBody>
      </p:sp>
      <p:sp>
        <p:nvSpPr>
          <p:cNvPr id="544" name="TextBox 277"/>
          <p:cNvSpPr txBox="1"/>
          <p:nvPr/>
        </p:nvSpPr>
        <p:spPr>
          <a:xfrm>
            <a:off x="640079" y="1188719"/>
            <a:ext cx="10908794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Los datasets externos contienen solo un subconjunto de las 5 clases LC25000.</a:t>
            </a:r>
          </a:p>
        </p:txBody>
      </p:sp>
      <p:sp>
        <p:nvSpPr>
          <p:cNvPr id="545" name="TextBox 544"/>
          <p:cNvSpPr txBox="1"/>
          <p:nvPr/>
        </p:nvSpPr>
        <p:spPr>
          <a:xfrm>
            <a:off x="274320" y="2121408"/>
            <a:ext cx="14630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NCT · Chaoyang</a:t>
            </a:r>
          </a:p>
        </p:txBody>
      </p:sp>
      <p:sp>
        <p:nvSpPr>
          <p:cNvPr id="546" name="Rounded Rectangle 545"/>
          <p:cNvSpPr/>
          <p:nvPr/>
        </p:nvSpPr>
        <p:spPr>
          <a:xfrm>
            <a:off x="1979676" y="192024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EBD9A8"/>
          </a:solidFill>
          <a:ln w="1905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TextBox 546"/>
          <p:cNvSpPr txBox="1"/>
          <p:nvPr/>
        </p:nvSpPr>
        <p:spPr>
          <a:xfrm>
            <a:off x="2025395" y="201168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b="1" sz="11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colon
benigno</a:t>
            </a:r>
          </a:p>
        </p:txBody>
      </p:sp>
      <p:sp>
        <p:nvSpPr>
          <p:cNvPr id="548" name="Rounded Rectangle 547"/>
          <p:cNvSpPr/>
          <p:nvPr/>
        </p:nvSpPr>
        <p:spPr>
          <a:xfrm>
            <a:off x="4082796" y="192024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EBD9A8"/>
          </a:solidFill>
          <a:ln w="1905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TextBox 548"/>
          <p:cNvSpPr txBox="1"/>
          <p:nvPr/>
        </p:nvSpPr>
        <p:spPr>
          <a:xfrm>
            <a:off x="4128515" y="201168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b="1" sz="11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colon
adenoc.</a:t>
            </a:r>
          </a:p>
        </p:txBody>
      </p:sp>
      <p:sp>
        <p:nvSpPr>
          <p:cNvPr id="550" name="Rounded Rectangle 549"/>
          <p:cNvSpPr/>
          <p:nvPr/>
        </p:nvSpPr>
        <p:spPr>
          <a:xfrm>
            <a:off x="6185916" y="192024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DDD0B8"/>
          </a:solidFill>
          <a:ln w="6350">
            <a:solidFill>
              <a:srgbClr val="AA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6231636" y="201168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>
                <a:solidFill>
                  <a:srgbClr val="AAAAAA"/>
                </a:solidFill>
                <a:latin typeface="+mn-lt"/>
                <a:ea typeface="+mn-ea"/>
                <a:cs typeface="+mn-cs"/>
              </a:defRPr>
            </a:pPr>
            <a:r>
              <a:t>pulmón
benigno</a:t>
            </a:r>
          </a:p>
        </p:txBody>
      </p:sp>
      <p:sp>
        <p:nvSpPr>
          <p:cNvPr id="552" name="Rounded Rectangle 551"/>
          <p:cNvSpPr/>
          <p:nvPr/>
        </p:nvSpPr>
        <p:spPr>
          <a:xfrm>
            <a:off x="8289036" y="192024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DDD0B8"/>
          </a:solidFill>
          <a:ln w="6350">
            <a:solidFill>
              <a:srgbClr val="AA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TextBox 552"/>
          <p:cNvSpPr txBox="1"/>
          <p:nvPr/>
        </p:nvSpPr>
        <p:spPr>
          <a:xfrm>
            <a:off x="8334756" y="201168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>
                <a:solidFill>
                  <a:srgbClr val="AAAAAA"/>
                </a:solidFill>
                <a:latin typeface="+mn-lt"/>
                <a:ea typeface="+mn-ea"/>
                <a:cs typeface="+mn-cs"/>
              </a:defRPr>
            </a:pPr>
            <a:r>
              <a:t>pulmón
adenoc.</a:t>
            </a:r>
          </a:p>
        </p:txBody>
      </p:sp>
      <p:sp>
        <p:nvSpPr>
          <p:cNvPr id="554" name="Rounded Rectangle 553"/>
          <p:cNvSpPr/>
          <p:nvPr/>
        </p:nvSpPr>
        <p:spPr>
          <a:xfrm>
            <a:off x="10392156" y="192024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DDD0B8"/>
          </a:solidFill>
          <a:ln w="6350">
            <a:solidFill>
              <a:srgbClr val="AA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0437876" y="201168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>
                <a:solidFill>
                  <a:srgbClr val="AAAAAA"/>
                </a:solidFill>
                <a:latin typeface="+mn-lt"/>
                <a:ea typeface="+mn-ea"/>
                <a:cs typeface="+mn-cs"/>
              </a:defRPr>
            </a:pPr>
            <a:r>
              <a:t>pulmón
escamoso</a:t>
            </a:r>
          </a:p>
        </p:txBody>
      </p:sp>
      <p:sp>
        <p:nvSpPr>
          <p:cNvPr id="556" name="TextBox 555"/>
          <p:cNvSpPr txBox="1"/>
          <p:nvPr/>
        </p:nvSpPr>
        <p:spPr>
          <a:xfrm>
            <a:off x="274320" y="3218688"/>
            <a:ext cx="14630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LungHist700</a:t>
            </a:r>
          </a:p>
        </p:txBody>
      </p:sp>
      <p:sp>
        <p:nvSpPr>
          <p:cNvPr id="557" name="Rounded Rectangle 556"/>
          <p:cNvSpPr/>
          <p:nvPr/>
        </p:nvSpPr>
        <p:spPr>
          <a:xfrm>
            <a:off x="1979676" y="301752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DDD0B8"/>
          </a:solidFill>
          <a:ln w="6350">
            <a:solidFill>
              <a:srgbClr val="AA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2025395" y="31089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>
                <a:solidFill>
                  <a:srgbClr val="AAAAAA"/>
                </a:solidFill>
                <a:latin typeface="+mn-lt"/>
                <a:ea typeface="+mn-ea"/>
                <a:cs typeface="+mn-cs"/>
              </a:defRPr>
            </a:pPr>
            <a:r>
              <a:t>colon
benigno</a:t>
            </a:r>
          </a:p>
        </p:txBody>
      </p:sp>
      <p:sp>
        <p:nvSpPr>
          <p:cNvPr id="559" name="Rounded Rectangle 558"/>
          <p:cNvSpPr/>
          <p:nvPr/>
        </p:nvSpPr>
        <p:spPr>
          <a:xfrm>
            <a:off x="4082796" y="301752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DDD0B8"/>
          </a:solidFill>
          <a:ln w="6350">
            <a:solidFill>
              <a:srgbClr val="AA99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4128515" y="31089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sz="1100">
                <a:solidFill>
                  <a:srgbClr val="AAAAAA"/>
                </a:solidFill>
                <a:latin typeface="+mn-lt"/>
                <a:ea typeface="+mn-ea"/>
                <a:cs typeface="+mn-cs"/>
              </a:defRPr>
            </a:pPr>
            <a:r>
              <a:t>colon
adenoc.</a:t>
            </a:r>
          </a:p>
        </p:txBody>
      </p:sp>
      <p:sp>
        <p:nvSpPr>
          <p:cNvPr id="561" name="Rounded Rectangle 560"/>
          <p:cNvSpPr/>
          <p:nvPr/>
        </p:nvSpPr>
        <p:spPr>
          <a:xfrm>
            <a:off x="6185916" y="301752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EBD9A8"/>
          </a:solidFill>
          <a:ln w="1905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TextBox 561"/>
          <p:cNvSpPr txBox="1"/>
          <p:nvPr/>
        </p:nvSpPr>
        <p:spPr>
          <a:xfrm>
            <a:off x="6231636" y="31089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b="1" sz="11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pulmón
benigno</a:t>
            </a:r>
          </a:p>
        </p:txBody>
      </p:sp>
      <p:sp>
        <p:nvSpPr>
          <p:cNvPr id="563" name="Rounded Rectangle 562"/>
          <p:cNvSpPr/>
          <p:nvPr/>
        </p:nvSpPr>
        <p:spPr>
          <a:xfrm>
            <a:off x="8289036" y="301752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EBD9A8"/>
          </a:solidFill>
          <a:ln w="1905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TextBox 563"/>
          <p:cNvSpPr txBox="1"/>
          <p:nvPr/>
        </p:nvSpPr>
        <p:spPr>
          <a:xfrm>
            <a:off x="8334756" y="31089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b="1" sz="11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pulmón
adenoc.</a:t>
            </a:r>
          </a:p>
        </p:txBody>
      </p:sp>
      <p:sp>
        <p:nvSpPr>
          <p:cNvPr id="565" name="Rounded Rectangle 564"/>
          <p:cNvSpPr/>
          <p:nvPr/>
        </p:nvSpPr>
        <p:spPr>
          <a:xfrm>
            <a:off x="10392156" y="3017520"/>
            <a:ext cx="2011680" cy="731520"/>
          </a:xfrm>
          <a:prstGeom prst="roundRect">
            <a:avLst>
              <a:gd name="adj" fmla="val 20000"/>
            </a:avLst>
          </a:prstGeom>
          <a:solidFill>
            <a:srgbClr val="EBD9A8"/>
          </a:solidFill>
          <a:ln w="19050">
            <a:solidFill>
              <a:srgbClr val="4D09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TextBox 565"/>
          <p:cNvSpPr txBox="1"/>
          <p:nvPr/>
        </p:nvSpPr>
        <p:spPr>
          <a:xfrm>
            <a:off x="10437876" y="3108960"/>
            <a:ext cx="1920240" cy="54864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defRPr b="1" sz="11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pulmón
escamoso</a:t>
            </a:r>
          </a:p>
        </p:txBody>
      </p:sp>
      <p:sp>
        <p:nvSpPr>
          <p:cNvPr id="567" name="TextBox 566"/>
          <p:cNvSpPr txBox="1"/>
          <p:nvPr/>
        </p:nvSpPr>
        <p:spPr>
          <a:xfrm>
            <a:off x="594360" y="4297680"/>
            <a:ext cx="11000232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Cómo se implementa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Calcular cosine(embedding_imagen, embedding_prompt) sobre las 5 clases.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Recortar el vector a las clases del órgano del dataset ANTES del argmax.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El modelo sigue entrenado sobre las 5; sólo se restringe la evaluación.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No es detección abierta multi-órgano: es discriminación DENTRO del órgano evaluado.</a:t>
            </a:r>
          </a:p>
        </p:txBody>
      </p:sp>
      <p:sp>
        <p:nvSpPr>
          <p:cNvPr id="569" name="Rectangle 568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2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5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54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56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¿Por qué BERT y no el text encoder de CLIP?</a:t>
            </a:r>
          </a:p>
        </p:txBody>
      </p:sp>
      <p:sp>
        <p:nvSpPr>
          <p:cNvPr id="557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Aislamos vocabulario y dominio del texto, no la arquitectura completa.</a:t>
            </a:r>
          </a:p>
        </p:txBody>
      </p:sp>
      <p:sp>
        <p:nvSpPr>
          <p:cNvPr id="558" name="Rounded Rectangle 557"/>
          <p:cNvSpPr/>
          <p:nvPr/>
        </p:nvSpPr>
        <p:spPr>
          <a:xfrm>
            <a:off x="594360" y="1874519"/>
            <a:ext cx="5303520" cy="3566160"/>
          </a:xfrm>
          <a:prstGeom prst="roundRect">
            <a:avLst>
              <a:gd name="adj" fmla="val 5000"/>
            </a:avLst>
          </a:prstGeom>
          <a:solidFill>
            <a:srgbClr val="F5EED8"/>
          </a:solidFill>
          <a:ln w="25400">
            <a:solidFill>
              <a:srgbClr val="3C7A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TextBox 558"/>
          <p:cNvSpPr txBox="1"/>
          <p:nvPr/>
        </p:nvSpPr>
        <p:spPr>
          <a:xfrm>
            <a:off x="777240" y="2011679"/>
            <a:ext cx="493775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800">
                <a:solidFill>
                  <a:srgbClr val="3C7A5E"/>
                </a:solidFill>
                <a:latin typeface="+mn-lt"/>
                <a:ea typeface="+mn-ea"/>
                <a:cs typeface="+mn-cs"/>
              </a:defRPr>
            </a:pPr>
            <a:r>
              <a:t>Comparación LIMPIA</a:t>
            </a:r>
          </a:p>
        </p:txBody>
      </p:sp>
      <p:sp>
        <p:nvSpPr>
          <p:cNvPr id="560" name="TextBox 559"/>
          <p:cNvSpPr txBox="1"/>
          <p:nvPr/>
        </p:nvSpPr>
        <p:spPr>
          <a:xfrm>
            <a:off x="777240" y="2560320"/>
            <a:ext cx="49377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BERT → BioBERT → PubMedBERT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868680" y="3154679"/>
            <a:ext cx="475488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3C7A5E"/>
                </a:solidFill>
                <a:latin typeface="+mn-lt"/>
                <a:ea typeface="+mn-ea"/>
                <a:cs typeface="+mn-cs"/>
              </a:defRPr>
            </a:pPr>
            <a:r>
              <a:t>Cambia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dominio del pretraining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vocabulario / tokenización</a:t>
            </a:r>
          </a:p>
          <a:p>
            <a:pPr>
              <a:defRPr sz="6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</a:p>
          <a:p>
            <a:pPr>
              <a:defRPr b="1" sz="1400">
                <a:solidFill>
                  <a:srgbClr val="3C7A5E"/>
                </a:solidFill>
                <a:latin typeface="+mn-lt"/>
                <a:ea typeface="+mn-ea"/>
                <a:cs typeface="+mn-cs"/>
              </a:defRPr>
            </a:pPr>
            <a:r>
              <a:t>Constante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arquitectura (12 layers, 768-d)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pooling ([CLS])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familia BERT</a:t>
            </a:r>
          </a:p>
        </p:txBody>
      </p:sp>
      <p:sp>
        <p:nvSpPr>
          <p:cNvPr id="562" name="Rounded Rectangle 561"/>
          <p:cNvSpPr/>
          <p:nvPr/>
        </p:nvSpPr>
        <p:spPr>
          <a:xfrm>
            <a:off x="6217920" y="1874519"/>
            <a:ext cx="5303520" cy="3566160"/>
          </a:xfrm>
          <a:prstGeom prst="roundRect">
            <a:avLst>
              <a:gd name="adj" fmla="val 5000"/>
            </a:avLst>
          </a:prstGeom>
          <a:solidFill>
            <a:srgbClr val="FAE8E8"/>
          </a:solidFill>
          <a:ln w="25400">
            <a:solidFill>
              <a:srgbClr val="B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TextBox 562"/>
          <p:cNvSpPr txBox="1"/>
          <p:nvPr/>
        </p:nvSpPr>
        <p:spPr>
          <a:xfrm>
            <a:off x="6400800" y="2011679"/>
            <a:ext cx="4937759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800">
                <a:solidFill>
                  <a:srgbClr val="B02020"/>
                </a:solidFill>
                <a:latin typeface="+mn-lt"/>
                <a:ea typeface="+mn-ea"/>
                <a:cs typeface="+mn-cs"/>
              </a:defRPr>
            </a:pPr>
            <a:r>
              <a:t>Comparación SUCIA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6400800" y="2560320"/>
            <a:ext cx="49377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BERT → CLIP-text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6492240" y="3154679"/>
            <a:ext cx="475488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400">
                <a:solidFill>
                  <a:srgbClr val="B02020"/>
                </a:solidFill>
                <a:latin typeface="+mn-lt"/>
                <a:ea typeface="+mn-ea"/>
                <a:cs typeface="+mn-cs"/>
              </a:defRPr>
            </a:pPr>
            <a:r>
              <a:t>Cambia TODO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arquitectura (Transformer distinto)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tokenizer BPE (no WordPiece)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pooling ([EOS] no [CLS])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dominio + objetivo pretraining</a:t>
            </a:r>
          </a:p>
          <a:p>
            <a:pPr>
              <a:defRPr sz="6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</a:p>
          <a:p>
            <a:pPr>
              <a:defRPr b="1" sz="1400">
                <a:solidFill>
                  <a:srgbClr val="B02020"/>
                </a:solidFill>
                <a:latin typeface="+mn-lt"/>
                <a:ea typeface="+mn-ea"/>
                <a:cs typeface="+mn-cs"/>
              </a:defRPr>
            </a:pPr>
            <a:r>
              <a:t>⚠ demasiadas variables a la vez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CLIP-text habría respondido otra pregunta. PLIP zero-shot ya cubre el caso "CLIP entero".</a:t>
            </a:r>
          </a:p>
        </p:txBody>
      </p:sp>
      <p:sp>
        <p:nvSpPr>
          <p:cNvPr id="567" name="Rectangle 566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4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65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566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568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¿La fuga de LC25000 invalida las conclusiones?</a:t>
            </a:r>
          </a:p>
        </p:txBody>
      </p:sp>
      <p:sp>
        <p:nvSpPr>
          <p:cNvPr id="569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sz="14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Invalida una lectura fuerte del 0.996; no invalida los resultados externos.</a:t>
            </a:r>
          </a:p>
        </p:txBody>
      </p:sp>
      <p:pic>
        <p:nvPicPr>
          <p:cNvPr id="570" name="Picture 569" descr="backup_lc25000_le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5315" y="1828800"/>
            <a:ext cx="9418320" cy="4506373"/>
          </a:xfrm>
          <a:prstGeom prst="rect">
            <a:avLst/>
          </a:prstGeom>
        </p:spPr>
      </p:pic>
      <p:sp>
        <p:nvSpPr>
          <p:cNvPr id="571" name="TextBox 570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Los +0.335 externos NO dependen de LC25000; el 0.996 in-dist sí queda acotado.</a:t>
            </a:r>
          </a:p>
        </p:txBody>
      </p:sp>
      <p:sp>
        <p:nvSpPr>
          <p:cNvPr id="572" name="Rectangle 571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2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03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604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606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¿Qué aporta DINOv2 como control?</a:t>
            </a:r>
          </a:p>
        </p:txBody>
      </p:sp>
      <p:sp>
        <p:nvSpPr>
          <p:cNvPr id="607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Self-supervised distillation sobre 142M imágenes curadas, sin etiquetas (Oquab 2024).</a:t>
            </a:r>
          </a:p>
        </p:txBody>
      </p:sp>
      <p:pic>
        <p:nvPicPr>
          <p:cNvPr id="608" name="Picture 607" descr="backup_dinov2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1076" y="1783080"/>
            <a:ext cx="8686800" cy="4826000"/>
          </a:xfrm>
          <a:prstGeom prst="rect">
            <a:avLst/>
          </a:prstGeom>
        </p:spPr>
      </p:pic>
      <p:sp>
        <p:nvSpPr>
          <p:cNvPr id="609" name="TextBox 608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Representación visual fuerte SIN dominio médico → control parcial para separar amplitud visual de dominio.</a:t>
            </a:r>
          </a:p>
        </p:txBody>
      </p:sp>
      <p:sp>
        <p:nvSpPr>
          <p:cNvPr id="610" name="Rectangle 609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Rectangle 1"/>
          <p:cNvSpPr/>
          <p:nvPr/>
        </p:nvSpPr>
        <p:spPr>
          <a:xfrm>
            <a:off x="-1" y="-1"/>
            <a:ext cx="12191697" cy="164594"/>
          </a:xfrm>
          <a:prstGeom prst="rect">
            <a:avLst/>
          </a:prstGeom>
          <a:solidFill>
            <a:srgbClr val="6B0F1A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5" name="Rectangle 2"/>
          <p:cNvSpPr/>
          <p:nvPr/>
        </p:nvSpPr>
        <p:spPr>
          <a:xfrm>
            <a:off x="-1" y="6812280"/>
            <a:ext cx="12191697" cy="36598"/>
          </a:xfrm>
          <a:prstGeom prst="rect">
            <a:avLst/>
          </a:prstGeom>
          <a:solidFill>
            <a:srgbClr val="D9D4CB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16" name="TextBox 3"/>
          <p:cNvSpPr txBox="1"/>
          <p:nvPr/>
        </p:nvSpPr>
        <p:spPr>
          <a:xfrm>
            <a:off x="594360" y="6492240"/>
            <a:ext cx="7223760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Leandro Candau  ·  TFM: Foundational VLMs para histopatología</a:t>
            </a:r>
          </a:p>
        </p:txBody>
      </p:sp>
      <p:sp>
        <p:nvSpPr>
          <p:cNvPr id="617" name="TextBox 4"/>
          <p:cNvSpPr txBox="1"/>
          <p:nvPr/>
        </p:nvSpPr>
        <p:spPr>
          <a:xfrm>
            <a:off x="8579814" y="6492240"/>
            <a:ext cx="3017543" cy="205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BACKUP</a:t>
            </a:r>
          </a:p>
        </p:txBody>
      </p:sp>
      <p:sp>
        <p:nvSpPr>
          <p:cNvPr id="619" name="TextBox 276"/>
          <p:cNvSpPr txBox="1"/>
          <p:nvPr/>
        </p:nvSpPr>
        <p:spPr>
          <a:xfrm>
            <a:off x="640079" y="384048"/>
            <a:ext cx="10908794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600">
                <a:solidFill>
                  <a:srgbClr val="6B0F1A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 b="1" sz="26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¿Qué optimiza exactamente InfoNCE?</a:t>
            </a:r>
          </a:p>
        </p:txBody>
      </p:sp>
      <p:sp>
        <p:nvSpPr>
          <p:cNvPr id="620" name="TextBox 277"/>
          <p:cNvSpPr txBox="1"/>
          <p:nvPr/>
        </p:nvSpPr>
        <p:spPr>
          <a:xfrm>
            <a:off x="640079" y="1188720"/>
            <a:ext cx="10908794" cy="396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400">
                <a:solidFill>
                  <a:srgbClr val="4D0912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El objetivo contrastivo que optimizamos entre imagen y texto en cada batch (Oord 2018).</a:t>
            </a:r>
          </a:p>
        </p:txBody>
      </p:sp>
      <p:pic>
        <p:nvPicPr>
          <p:cNvPr id="621" name="Picture 620" descr="backup_infonce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5029200" cy="4335517"/>
          </a:xfrm>
          <a:prstGeom prst="rect">
            <a:avLst/>
          </a:prstGeom>
        </p:spPr>
      </p:pic>
      <p:sp>
        <p:nvSpPr>
          <p:cNvPr id="622" name="TextBox 621"/>
          <p:cNvSpPr txBox="1"/>
          <p:nvPr/>
        </p:nvSpPr>
        <p:spPr>
          <a:xfrm>
            <a:off x="6035040" y="1828800"/>
            <a:ext cx="56692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5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Fórmula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6035040" y="2148840"/>
            <a:ext cx="56692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sᵢⱼ = (vᵢ · tⱼ) / τ</a:t>
            </a:r>
          </a:p>
          <a:p>
            <a:pPr>
              <a:defRPr sz="11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L_{I→T} = −(1/N) Σᵢ log[ exp(sᵢᵢ) / Σⱼ exp(sᵢⱼ) ]</a:t>
            </a:r>
          </a:p>
          <a:p>
            <a:pPr>
              <a:defRPr sz="11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L_{T→I} = versión traspuesta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L_InfoNCE = ½ (L_{I→T} + L_{T→I})</a:t>
            </a:r>
          </a:p>
          <a:p>
            <a:pPr>
              <a:defRPr i="1" sz="1100">
                <a:solidFill>
                  <a:srgbClr val="826540"/>
                </a:solidFill>
                <a:latin typeface="+mn-lt"/>
                <a:ea typeface="+mn-ea"/>
                <a:cs typeface="+mn-cs"/>
              </a:defRPr>
            </a:pPr>
            <a:r>
              <a:t>τ aprendida como log(1/τ)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6035040" y="3749039"/>
            <a:ext cx="56692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b="1" sz="1500">
                <a:solidFill>
                  <a:srgbClr val="6B0F1A"/>
                </a:solidFill>
                <a:latin typeface="+mn-lt"/>
                <a:ea typeface="+mn-ea"/>
                <a:cs typeface="+mn-cs"/>
              </a:defRPr>
            </a:pPr>
            <a:r>
              <a:t>Interpretación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6035040" y="4069080"/>
            <a:ext cx="56692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Rows = imágenes, columns = prompts / textos.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Softmax por fila empuja la diagonal.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Diagonal = positivos reales (aciertos).</a:t>
            </a:r>
          </a:p>
          <a:p>
            <a:pPr>
              <a:defRPr sz="1300">
                <a:solidFill>
                  <a:srgbClr val="3C2814"/>
                </a:solidFill>
                <a:latin typeface="+mn-lt"/>
                <a:ea typeface="+mn-ea"/>
                <a:cs typeface="+mn-cs"/>
              </a:defRPr>
            </a:pPr>
            <a:r>
              <a:t>▸ Off-diagonal = negativos in-batch (imperfectos).</a:t>
            </a:r>
          </a:p>
          <a:p>
            <a:pPr>
              <a:defRPr b="1" sz="1300">
                <a:solidFill>
                  <a:srgbClr val="B02020"/>
                </a:solidFill>
                <a:latin typeface="+mn-lt"/>
                <a:ea typeface="+mn-ea"/>
                <a:cs typeface="+mn-cs"/>
              </a:defRPr>
            </a:pPr>
            <a:r>
              <a:t>▸ ⚠ Falsos negativos: prompts compartidos por clase.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594360" y="5989320"/>
            <a:ext cx="11000232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 b="1" sz="1500">
                <a:solidFill>
                  <a:srgbClr val="4D0912"/>
                </a:solidFill>
                <a:latin typeface="+mn-lt"/>
                <a:ea typeface="+mn-ea"/>
                <a:cs typeface="+mn-cs"/>
              </a:defRPr>
            </a:pPr>
            <a:r>
              <a:t>InfoNCE empuja la diagonal por encima de las off-diagonales; caveat: prompts compartidos crean falsos negativos.</a:t>
            </a:r>
          </a:p>
        </p:txBody>
      </p:sp>
      <p:sp>
        <p:nvSpPr>
          <p:cNvPr id="627" name="Rectangle 626"/>
          <p:cNvSpPr/>
          <p:nvPr/>
        </p:nvSpPr>
        <p:spPr>
          <a:xfrm>
            <a:off x="594360" y="6355080"/>
            <a:ext cx="11000232" cy="18288"/>
          </a:xfrm>
          <a:prstGeom prst="rect">
            <a:avLst/>
          </a:prstGeom>
          <a:solidFill>
            <a:srgbClr val="EBD9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