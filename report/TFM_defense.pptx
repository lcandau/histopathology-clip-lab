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0" name="Shape 90"/>
          <p:cNvSpPr/>
          <p:nvPr>
            <p:ph type="sldImg"/>
          </p:nvPr>
        </p:nvSpPr>
        <p:spPr>
          <a:xfrm>
            <a:off x="1143000" y="685800"/>
            <a:ext cx="4572000" cy="3429000"/>
          </a:xfrm>
          <a:prstGeom prst="rect">
            <a:avLst/>
          </a:prstGeom>
        </p:spPr>
        <p:txBody>
          <a:bodyPr/>
          <a:lstStyle/>
          <a:p>
            <a:pPr/>
          </a:p>
        </p:txBody>
      </p:sp>
      <p:sp>
        <p:nvSpPr>
          <p:cNvPr id="91" name="Shape 91"/>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1200">
        <a:latin typeface="+mn-lt"/>
        <a:ea typeface="+mn-ea"/>
        <a:cs typeface="+mn-cs"/>
        <a:sym typeface="Calibri"/>
      </a:defRPr>
    </a:lvl1pPr>
    <a:lvl2pPr indent="228600" defTabSz="457200" latinLnBrk="0">
      <a:defRPr sz="1200">
        <a:latin typeface="+mn-lt"/>
        <a:ea typeface="+mn-ea"/>
        <a:cs typeface="+mn-cs"/>
        <a:sym typeface="Calibri"/>
      </a:defRPr>
    </a:lvl2pPr>
    <a:lvl3pPr indent="457200" defTabSz="457200" latinLnBrk="0">
      <a:defRPr sz="1200">
        <a:latin typeface="+mn-lt"/>
        <a:ea typeface="+mn-ea"/>
        <a:cs typeface="+mn-cs"/>
        <a:sym typeface="Calibri"/>
      </a:defRPr>
    </a:lvl3pPr>
    <a:lvl4pPr indent="685800" defTabSz="457200" latinLnBrk="0">
      <a:defRPr sz="1200">
        <a:latin typeface="+mn-lt"/>
        <a:ea typeface="+mn-ea"/>
        <a:cs typeface="+mn-cs"/>
        <a:sym typeface="Calibri"/>
      </a:defRPr>
    </a:lvl4pPr>
    <a:lvl5pPr indent="914400" defTabSz="457200" latinLnBrk="0">
      <a:defRPr sz="1200">
        <a:latin typeface="+mn-lt"/>
        <a:ea typeface="+mn-ea"/>
        <a:cs typeface="+mn-cs"/>
        <a:sym typeface="Calibri"/>
      </a:defRPr>
    </a:lvl5pPr>
    <a:lvl6pPr indent="1143000" defTabSz="457200" latinLnBrk="0">
      <a:defRPr sz="1200">
        <a:latin typeface="+mn-lt"/>
        <a:ea typeface="+mn-ea"/>
        <a:cs typeface="+mn-cs"/>
        <a:sym typeface="Calibri"/>
      </a:defRPr>
    </a:lvl6pPr>
    <a:lvl7pPr indent="1371600" defTabSz="457200" latinLnBrk="0">
      <a:defRPr sz="1200">
        <a:latin typeface="+mn-lt"/>
        <a:ea typeface="+mn-ea"/>
        <a:cs typeface="+mn-cs"/>
        <a:sym typeface="Calibri"/>
      </a:defRPr>
    </a:lvl7pPr>
    <a:lvl8pPr indent="1600200" defTabSz="457200" latinLnBrk="0">
      <a:defRPr sz="1200">
        <a:latin typeface="+mn-lt"/>
        <a:ea typeface="+mn-ea"/>
        <a:cs typeface="+mn-cs"/>
        <a:sym typeface="Calibri"/>
      </a:defRPr>
    </a:lvl8pPr>
    <a:lvl9pPr indent="1828800" defTabSz="4572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1" name="Shape 101"/>
          <p:cNvSpPr/>
          <p:nvPr>
            <p:ph type="sldImg"/>
          </p:nvPr>
        </p:nvSpPr>
        <p:spPr>
          <a:prstGeom prst="rect">
            <a:avLst/>
          </a:prstGeom>
        </p:spPr>
        <p:txBody>
          <a:bodyPr/>
          <a:lstStyle/>
          <a:p>
            <a:pPr/>
          </a:p>
        </p:txBody>
      </p:sp>
      <p:sp>
        <p:nvSpPr>
          <p:cNvPr id="102" name="Shape 102"/>
          <p:cNvSpPr/>
          <p:nvPr>
            <p:ph type="body" sz="quarter" idx="1"/>
          </p:nvPr>
        </p:nvSpPr>
        <p:spPr>
          <a:prstGeom prst="rect">
            <a:avLst/>
          </a:prstGeom>
        </p:spPr>
        <p:txBody>
          <a:bodyPr/>
          <a:lstStyle/>
          <a:p>
            <a:pPr>
              <a:defRPr sz="1500"/>
            </a:pPr>
            <a:r>
              <a:t>Buenos días.</a:t>
            </a:r>
          </a:p>
          <a:p>
            <a:pPr>
              <a:defRPr sz="1500"/>
            </a:pPr>
            <a:r>
              <a:t>Presento mi TFM: </a:t>
            </a:r>
            <a:r>
              <a:rPr b="1"/>
              <a:t>Foundational VLMs para histopatología</a:t>
            </a:r>
            <a:r>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9" name="Shape 109"/>
          <p:cNvSpPr/>
          <p:nvPr>
            <p:ph type="sldImg"/>
          </p:nvPr>
        </p:nvSpPr>
        <p:spPr>
          <a:prstGeom prst="rect">
            <a:avLst/>
          </a:prstGeom>
        </p:spPr>
        <p:txBody>
          <a:bodyPr/>
          <a:lstStyle/>
          <a:p>
            <a:pPr/>
          </a:p>
        </p:txBody>
      </p:sp>
      <p:sp>
        <p:nvSpPr>
          <p:cNvPr id="110" name="Shape 110"/>
          <p:cNvSpPr/>
          <p:nvPr>
            <p:ph type="body" sz="quarter" idx="1"/>
          </p:nvPr>
        </p:nvSpPr>
        <p:spPr>
          <a:prstGeom prst="rect">
            <a:avLst/>
          </a:prstGeom>
        </p:spPr>
        <p:txBody>
          <a:bodyPr/>
          <a:lstStyle/>
          <a:p>
            <a:pPr>
              <a:defRPr sz="1500"/>
            </a:pPr>
            <a:r>
              <a:t>Sección 1: </a:t>
            </a:r>
            <a:r>
              <a:rPr b="1"/>
              <a:t>Motivación</a:t>
            </a:r>
            <a:r>
              <a:t> — por qué histopatología digital importa.</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 name="Shape 123"/>
          <p:cNvSpPr/>
          <p:nvPr>
            <p:ph type="sldImg"/>
          </p:nvPr>
        </p:nvSpPr>
        <p:spPr>
          <a:prstGeom prst="rect">
            <a:avLst/>
          </a:prstGeom>
        </p:spPr>
        <p:txBody>
          <a:bodyPr/>
          <a:lstStyle/>
          <a:p>
            <a:pPr/>
          </a:p>
        </p:txBody>
      </p:sp>
      <p:sp>
        <p:nvSpPr>
          <p:cNvPr id="124" name="Shape 124"/>
          <p:cNvSpPr/>
          <p:nvPr>
            <p:ph type="body" sz="quarter" idx="1"/>
          </p:nvPr>
        </p:nvSpPr>
        <p:spPr>
          <a:prstGeom prst="rect">
            <a:avLst/>
          </a:prstGeom>
        </p:spPr>
        <p:txBody>
          <a:bodyPr/>
          <a:lstStyle/>
          <a:p>
            <a:pPr>
              <a:defRPr sz="1500"/>
            </a:pPr>
            <a:r>
              <a:t>La histopatología es una disciplina de la medicina que consiste en el análisis de una muestra de tejido de un órgano, extraída del paciente y examinada por un patólogo. </a:t>
            </a:r>
            <a:r>
              <a:rPr b="1"/>
              <a:t>Tradicionalmente</a:t>
            </a:r>
            <a:r>
              <a:t>, la muestra se coloca sobre una lámina de vidrio, </a:t>
            </a:r>
            <a:r>
              <a:rPr b="1"/>
              <a:t>se tiñe con hematoxilina-eosina (H&amp;E)</a:t>
            </a:r>
            <a:r>
              <a:t> y se observa bajo microscopio. Avances en el campo permiten la digitalización de estas láminas mediante escáner, </a:t>
            </a:r>
            <a:r>
              <a:rPr b="1"/>
              <a:t>formando "Whole Slide Images" (WSI)</a:t>
            </a:r>
            <a:r>
              <a:t>: imágenes de gran tamaño, del orden de gigapixeles (80.000x40.000), que no pueden procesarse directamente por modelos de visión convencionales. Por ello se utiliza un parcheado del tejido en imágenes de menor tamaño, como se muestra en la imagen.</a:t>
            </a:r>
          </a:p>
          <a:p>
            <a:pPr>
              <a:defRPr sz="1500"/>
            </a:pPr>
          </a:p>
          <a:p>
            <a:pPr>
              <a:defRPr sz="1500"/>
            </a:pPr>
            <a:r>
              <a:t>▸ </a:t>
            </a:r>
            <a:r>
              <a:rPr b="1"/>
              <a:t>Análisis de tejidos</a:t>
            </a:r>
            <a:r>
              <a:t> de biopsia teñidos con </a:t>
            </a:r>
            <a:r>
              <a:rPr b="1"/>
              <a:t>H&amp;E</a:t>
            </a:r>
            <a:r>
              <a:t> (hematoxilina-eosina).</a:t>
            </a:r>
          </a:p>
          <a:p>
            <a:pPr>
              <a:defRPr sz="1500"/>
            </a:pPr>
            <a:r>
              <a:t>▸ Prueba clínica de referencia para </a:t>
            </a:r>
            <a:r>
              <a:rPr b="1"/>
              <a:t>detectar cáncer</a:t>
            </a:r>
            <a:r>
              <a:t>.</a:t>
            </a:r>
          </a:p>
          <a:p>
            <a:pPr>
              <a:defRPr sz="1500"/>
            </a:pPr>
            <a:r>
              <a:t>▸ Antes: microscopio manual. Hoy: escáner ultraresolución → </a:t>
            </a:r>
            <a:r>
              <a:rPr b="1"/>
              <a:t>WSI gigapíxel</a:t>
            </a:r>
            <a:r>
              <a:t> (~80k × 40k).</a:t>
            </a:r>
          </a:p>
          <a:p>
            <a:pPr>
              <a:defRPr sz="1500"/>
            </a:pPr>
            <a:r>
              <a:t>▸ La IA no procesa la lámina entera: se hace </a:t>
            </a:r>
            <a:r>
              <a:rPr b="1"/>
              <a:t>parcheo</a:t>
            </a:r>
            <a:r>
              <a:t> por regiones anotadas por patólogo.</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 name="Shape 136"/>
          <p:cNvSpPr/>
          <p:nvPr>
            <p:ph type="sldImg"/>
          </p:nvPr>
        </p:nvSpPr>
        <p:spPr>
          <a:prstGeom prst="rect">
            <a:avLst/>
          </a:prstGeom>
        </p:spPr>
        <p:txBody>
          <a:bodyPr/>
          <a:lstStyle/>
          <a:p>
            <a:pPr/>
          </a:p>
        </p:txBody>
      </p:sp>
      <p:sp>
        <p:nvSpPr>
          <p:cNvPr id="137" name="Shape 137"/>
          <p:cNvSpPr/>
          <p:nvPr>
            <p:ph type="body" sz="quarter" idx="1"/>
          </p:nvPr>
        </p:nvSpPr>
        <p:spPr>
          <a:prstGeom prst="rect">
            <a:avLst/>
          </a:prstGeom>
        </p:spPr>
        <p:txBody>
          <a:bodyPr/>
          <a:lstStyle/>
          <a:p>
            <a:pPr>
              <a:defRPr sz="1500"/>
            </a:pPr>
            <a:r>
              <a:t>Cuatro problemas que cualquier pipeline de visión debe contemplar:</a:t>
            </a:r>
          </a:p>
          <a:p>
            <a:pPr>
              <a:defRPr sz="1500"/>
            </a:pPr>
            <a:r>
              <a:t>▸ </a:t>
            </a:r>
            <a:r>
              <a:rPr b="1"/>
              <a:t>Datos escasos</a:t>
            </a:r>
            <a:r>
              <a:t>: pacientes confidenciales + tiempo de patólogo (caro).</a:t>
            </a:r>
          </a:p>
          <a:p>
            <a:pPr>
              <a:defRPr sz="1500"/>
            </a:pPr>
            <a:r>
              <a:t>▸ </a:t>
            </a:r>
            <a:r>
              <a:rPr b="1"/>
              <a:t>Tinción variable</a:t>
            </a:r>
            <a:r>
              <a:t>: química H&amp;E cambia por temperatura, técnico, día, humedad.</a:t>
            </a:r>
          </a:p>
          <a:p>
            <a:pPr>
              <a:defRPr sz="1500"/>
            </a:pPr>
            <a:r>
              <a:t>▸ </a:t>
            </a:r>
            <a:r>
              <a:rPr b="1"/>
              <a:t>Escáneres distintos</a:t>
            </a:r>
            <a:r>
              <a:t>: sombras, anotaciones, artefactos → </a:t>
            </a:r>
            <a:r>
              <a:rPr b="1"/>
              <a:t>sesgo institucional</a:t>
            </a:r>
            <a:r>
              <a:t>.</a:t>
            </a:r>
          </a:p>
          <a:p>
            <a:pPr>
              <a:defRPr sz="1500"/>
            </a:pPr>
            <a:r>
              <a:t>▸ Riesgo real: el modelo aprende </a:t>
            </a:r>
            <a:r>
              <a:rPr b="1"/>
              <a:t>color, no morfología</a:t>
            </a:r>
            <a:r>
              <a:t> del tejido.</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4" name="Shape 174"/>
          <p:cNvSpPr/>
          <p:nvPr>
            <p:ph type="sldImg"/>
          </p:nvPr>
        </p:nvSpPr>
        <p:spPr>
          <a:prstGeom prst="rect">
            <a:avLst/>
          </a:prstGeom>
        </p:spPr>
        <p:txBody>
          <a:bodyPr/>
          <a:lstStyle/>
          <a:p>
            <a:pPr/>
          </a:p>
        </p:txBody>
      </p:sp>
      <p:sp>
        <p:nvSpPr>
          <p:cNvPr id="175" name="Shape 175"/>
          <p:cNvSpPr/>
          <p:nvPr>
            <p:ph type="body" sz="quarter" idx="1"/>
          </p:nvPr>
        </p:nvSpPr>
        <p:spPr>
          <a:prstGeom prst="rect">
            <a:avLst/>
          </a:prstGeom>
        </p:spPr>
        <p:txBody>
          <a:bodyPr/>
          <a:lstStyle/>
          <a:p>
            <a:pPr>
              <a:defRPr sz="1500"/>
            </a:pPr>
            <a:r>
              <a:t>Idea central: </a:t>
            </a:r>
            <a:r>
              <a:rPr b="1"/>
              <a:t>preentrenar una vez, reutilizar después</a:t>
            </a:r>
            <a:r>
              <a:t>.</a:t>
            </a:r>
          </a:p>
          <a:p>
            <a:pPr>
              <a:defRPr sz="1500"/>
            </a:pPr>
            <a:r>
              <a:t>▸ Se entrenan sobre </a:t>
            </a:r>
            <a:r>
              <a:rPr b="1"/>
              <a:t>corpus masivos</a:t>
            </a:r>
            <a:r>
              <a:t> sin tarea final fija.</a:t>
            </a:r>
          </a:p>
          <a:p>
            <a:pPr>
              <a:defRPr sz="1500"/>
            </a:pPr>
            <a:r>
              <a:t>▸ Aprenden </a:t>
            </a:r>
            <a:r>
              <a:rPr b="1"/>
              <a:t>representaciones generales</a:t>
            </a:r>
            <a:r>
              <a:t> transferibles con poca supervisión.</a:t>
            </a:r>
          </a:p>
          <a:p>
            <a:pPr>
              <a:defRPr sz="1500"/>
            </a:pPr>
            <a:r>
              <a:t>▸ Ejemplos: </a:t>
            </a:r>
            <a:r>
              <a:rPr b="1"/>
              <a:t>BERT · DINOv2 · CLIP · PLIP</a:t>
            </a:r>
            <a:r>
              <a:t>.</a:t>
            </a:r>
          </a:p>
          <a:p>
            <a:pPr>
              <a:defRPr sz="1500"/>
            </a:pPr>
            <a:r>
              <a:t>▸ En histopatología: </a:t>
            </a:r>
            <a:r>
              <a:rPr b="1"/>
              <a:t>mitigan la escasez de etiquetas</a:t>
            </a:r>
            <a:r>
              <a:t> y traen conocimiento previo.</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Shape 192"/>
          <p:cNvSpPr/>
          <p:nvPr>
            <p:ph type="sldImg"/>
          </p:nvPr>
        </p:nvSpPr>
        <p:spPr>
          <a:prstGeom prst="rect">
            <a:avLst/>
          </a:prstGeom>
        </p:spPr>
        <p:txBody>
          <a:bodyPr/>
          <a:lstStyle/>
          <a:p>
            <a:pPr/>
          </a:p>
        </p:txBody>
      </p:sp>
      <p:sp>
        <p:nvSpPr>
          <p:cNvPr id="193" name="Shape 193"/>
          <p:cNvSpPr/>
          <p:nvPr>
            <p:ph type="body" sz="quarter" idx="1"/>
          </p:nvPr>
        </p:nvSpPr>
        <p:spPr>
          <a:prstGeom prst="rect">
            <a:avLst/>
          </a:prstGeom>
        </p:spPr>
        <p:txBody>
          <a:bodyPr/>
          <a:lstStyle/>
          <a:p>
            <a:pPr>
              <a:defRPr sz="1500"/>
            </a:pPr>
            <a:r>
              <a:t>La variante que nos interesa dentro de los FMs:</a:t>
            </a:r>
          </a:p>
          <a:p>
            <a:pPr>
              <a:defRPr sz="1500"/>
            </a:pPr>
            <a:r>
              <a:t>▸ Los </a:t>
            </a:r>
            <a:r>
              <a:rPr b="1"/>
              <a:t>VLMs</a:t>
            </a:r>
            <a:r>
              <a:t> entrenan con </a:t>
            </a:r>
            <a:r>
              <a:rPr b="1"/>
              <a:t>pares imagen–texto</a:t>
            </a:r>
            <a:r>
              <a:t>, no etiquetas cerradas.</a:t>
            </a:r>
          </a:p>
          <a:p>
            <a:pPr>
              <a:defRPr sz="1500"/>
            </a:pPr>
            <a:r>
              <a:t>▸ Proyectan ambas modalidades a un </a:t>
            </a:r>
            <a:r>
              <a:rPr b="1"/>
              <a:t>espacio latente compartido</a:t>
            </a:r>
            <a:r>
              <a:t>.</a:t>
            </a:r>
          </a:p>
          <a:p>
            <a:pPr>
              <a:defRPr sz="1500"/>
            </a:pPr>
            <a:r>
              <a:t>▸ Permiten expresar clases con texto: "a histopathology image of…".</a:t>
            </a:r>
          </a:p>
          <a:p>
            <a:pPr>
              <a:defRPr sz="1500"/>
            </a:pPr>
            <a:r>
              <a:t>▸ Por qué aquí: </a:t>
            </a:r>
            <a:r>
              <a:rPr b="1"/>
              <a:t>texto como supervisión débil</a:t>
            </a:r>
            <a:r>
              <a:t> cuando etiquetar es caro.</a:t>
            </a:r>
          </a:p>
          <a:p>
            <a:pPr>
              <a:defRPr sz="1500"/>
            </a:pPr>
            <a:r>
              <a:t>Desde este punto, todo el TFM se centra en </a:t>
            </a:r>
            <a:r>
              <a:rPr b="1"/>
              <a:t>VLMs con alineamiento imagen-texto</a:t>
            </a:r>
            <a:r>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 name="Shape 209"/>
          <p:cNvSpPr/>
          <p:nvPr>
            <p:ph type="sldImg"/>
          </p:nvPr>
        </p:nvSpPr>
        <p:spPr>
          <a:prstGeom prst="rect">
            <a:avLst/>
          </a:prstGeom>
        </p:spPr>
        <p:txBody>
          <a:bodyPr/>
          <a:lstStyle/>
          <a:p>
            <a:pPr/>
          </a:p>
        </p:txBody>
      </p:sp>
      <p:sp>
        <p:nvSpPr>
          <p:cNvPr id="210" name="Shape 210"/>
          <p:cNvSpPr/>
          <p:nvPr>
            <p:ph type="body" sz="quarter" idx="1"/>
          </p:nvPr>
        </p:nvSpPr>
        <p:spPr>
          <a:prstGeom prst="rect">
            <a:avLst/>
          </a:prstGeom>
        </p:spPr>
        <p:txBody>
          <a:bodyPr/>
          <a:lstStyle/>
          <a:p>
            <a:pPr>
              <a:defRPr sz="1500"/>
            </a:pPr>
            <a:r>
              <a:t>El eje que ordena todo el trabajo:</a:t>
            </a:r>
          </a:p>
          <a:p>
            <a:pPr>
              <a:defRPr sz="1500"/>
            </a:pPr>
            <a:r>
              <a:t>▸ </a:t>
            </a:r>
            <a:r>
              <a:rPr b="1"/>
              <a:t>¿Un VLM generaliza entre fuentes histopatológicas?</a:t>
            </a:r>
            <a:endParaRPr b="1"/>
          </a:p>
          <a:p>
            <a:pPr>
              <a:defRPr sz="1500"/>
            </a:pPr>
            <a:r>
              <a:t>▸ </a:t>
            </a:r>
            <a:r>
              <a:rPr b="1"/>
              <a:t>¿Qué componentes del sistema explican las diferencias de rendimiento?</a:t>
            </a:r>
            <a:endParaRPr b="1"/>
          </a:p>
          <a:p>
            <a:pPr>
              <a:defRPr sz="1500"/>
            </a:pPr>
            <a:r>
              <a:t>▸ Evaluación externa: </a:t>
            </a:r>
            <a:r>
              <a:rPr b="1"/>
              <a:t>NCT-CRC · Chaoyang · LungHist700</a:t>
            </a:r>
            <a:r>
              <a:t>.</a:t>
            </a:r>
          </a:p>
          <a:p>
            <a:pPr>
              <a:defRPr sz="1500"/>
            </a:pPr>
            <a:r>
              <a:t>▸ Diseño: </a:t>
            </a:r>
            <a:r>
              <a:rPr b="1"/>
              <a:t>ablación de una variable a la vez</a:t>
            </a:r>
            <a:r>
              <a:t> (encoder visual, texto, prompt, tinción, cabeza).</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7" name="Shape 217"/>
          <p:cNvSpPr/>
          <p:nvPr>
            <p:ph type="sldImg"/>
          </p:nvPr>
        </p:nvSpPr>
        <p:spPr>
          <a:prstGeom prst="rect">
            <a:avLst/>
          </a:prstGeom>
        </p:spPr>
        <p:txBody>
          <a:bodyPr/>
          <a:lstStyle/>
          <a:p>
            <a:pPr/>
          </a:p>
        </p:txBody>
      </p:sp>
      <p:sp>
        <p:nvSpPr>
          <p:cNvPr id="218" name="Shape 218"/>
          <p:cNvSpPr/>
          <p:nvPr>
            <p:ph type="body" sz="quarter" idx="1"/>
          </p:nvPr>
        </p:nvSpPr>
        <p:spPr>
          <a:prstGeom prst="rect">
            <a:avLst/>
          </a:prstGeom>
        </p:spPr>
        <p:txBody>
          <a:bodyPr/>
          <a:lstStyle/>
          <a:p>
            <a:pPr>
              <a:defRPr sz="1500"/>
            </a:pPr>
            <a:r>
              <a:t>Sección 2: </a:t>
            </a:r>
            <a:r>
              <a:rPr b="1"/>
              <a:t>Metodología</a:t>
            </a:r>
            <a:r>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0" name="Shape 230"/>
          <p:cNvSpPr/>
          <p:nvPr>
            <p:ph type="sldImg"/>
          </p:nvPr>
        </p:nvSpPr>
        <p:spPr>
          <a:prstGeom prst="rect">
            <a:avLst/>
          </a:prstGeom>
        </p:spPr>
        <p:txBody>
          <a:bodyPr/>
          <a:lstStyle/>
          <a:p>
            <a:pPr/>
          </a:p>
        </p:txBody>
      </p:sp>
      <p:sp>
        <p:nvSpPr>
          <p:cNvPr id="231" name="Shape 231"/>
          <p:cNvSpPr/>
          <p:nvPr>
            <p:ph type="body" sz="quarter" idx="1"/>
          </p:nvPr>
        </p:nvSpPr>
        <p:spPr>
          <a:prstGeom prst="rect">
            <a:avLst/>
          </a:prstGeom>
        </p:spPr>
        <p:txBody>
          <a:bodyPr/>
          <a:lstStyle/>
          <a:p>
            <a:pPr>
              <a:defRPr sz="1500"/>
            </a:pPr>
            <a:r>
              <a:t>En este trabajo abordamos estos retos centrándonoslas en el paradigma CLIP (Contrastive Language-Image Pre-training), uno de los VLM más conocidos y bien establecido en el uso para el estudio de patología digital automátizada.</a:t>
            </a:r>
          </a:p>
          <a:p>
            <a:pPr>
              <a:defRPr sz="1500"/>
            </a:pPr>
          </a:p>
          <a:p>
            <a:pPr>
              <a:defRPr sz="1500"/>
            </a:pPr>
            <a:r>
              <a:t>Su clave está en su aprendizaje contrastivo de imagen y texto en un espacio latente compartido. Disponemos en paralelo de un codificador de imagen y un codificador de texto, a priori a nuestra elección. El objetivo del entrenamiento es maximizar la similitud de los pares imagen texto emparejados, calculada mediante la Similitud de coseno (la fórmula expresada). </a:t>
            </a:r>
          </a:p>
          <a:p>
            <a:pPr>
              <a:defRPr sz="1500"/>
            </a:pPr>
          </a:p>
          <a:p>
            <a:pPr>
              <a:defRPr sz="1500"/>
            </a:pPr>
            <a:r>
              <a:t>Al mismo tiempo, la función de pérdida simétrica, InfoNCE (Information Noise-Contrastive Estimation) se encarga de minimizar la similitud de los pares negativos de imagen-texto.</a:t>
            </a:r>
          </a:p>
          <a:p>
            <a:pPr>
              <a:defRPr sz="1500"/>
            </a:pPr>
          </a:p>
          <a:p>
            <a:pPr>
              <a:defRPr sz="1500"/>
            </a:pPr>
            <a:r>
              <a:t>Esto plantea nuestra pregunta transversal de investigación: bajo un escenario real de desplazamiento de datos (data shift), ¿qué componente del pipeline de CLIP aporta realmente más valor y dónde se encuentran exactamente sus límites? Esto es lo que tratamos de evaluar directamente en este trabajo.</a:t>
            </a:r>
          </a:p>
          <a:p>
            <a:pPr>
              <a:defRPr sz="1500"/>
            </a:pPr>
          </a:p>
          <a:p>
            <a:pPr>
              <a:defRPr sz="1500"/>
            </a:pPr>
          </a:p>
          <a:p>
            <a:pPr>
              <a:defRPr sz="1500"/>
            </a:pPr>
            <a:r>
              <a:t>El modelo VLM que estudiamos:</a:t>
            </a:r>
          </a:p>
          <a:p>
            <a:pPr>
              <a:defRPr sz="1500"/>
            </a:pPr>
            <a:r>
              <a:t>▸ </a:t>
            </a:r>
            <a:r>
              <a:rPr b="1"/>
              <a:t>Dos encoders</a:t>
            </a:r>
            <a:r>
              <a:t> (imagen + texto) → </a:t>
            </a:r>
            <a:r>
              <a:rPr b="1"/>
              <a:t>espacio latente 256-d compartido</a:t>
            </a:r>
            <a:r>
              <a:t>.</a:t>
            </a:r>
          </a:p>
          <a:p>
            <a:pPr>
              <a:defRPr sz="1500"/>
            </a:pPr>
            <a:r>
              <a:t>▸ Entrenamiento </a:t>
            </a:r>
            <a:r>
              <a:rPr b="1"/>
              <a:t>contrastivo</a:t>
            </a:r>
            <a:r>
              <a:t>: los pares correctos deben caer juntos por </a:t>
            </a:r>
            <a:r>
              <a:rPr b="1"/>
              <a:t>distancia coseno</a:t>
            </a:r>
            <a:r>
              <a:t>.</a:t>
            </a:r>
          </a:p>
          <a:p>
            <a:pPr>
              <a:defRPr sz="1500"/>
            </a:pPr>
            <a:r>
              <a:t>▸ Los pares incorrectos se alejan </a:t>
            </a:r>
            <a:r>
              <a:rPr b="1"/>
              <a:t>naturalmente</a:t>
            </a:r>
            <a:r>
              <a:t> por back-propagation (no hay término explícito).</a:t>
            </a:r>
          </a:p>
          <a:p>
            <a:pPr>
              <a:defRPr sz="1500"/>
            </a:pPr>
            <a:r>
              <a:t>Con embeddings L2-normalizados, la similitud es simplemente el producto escalar:</a:t>
            </a:r>
          </a:p>
          <a:p>
            <a:pPr>
              <a:defRPr sz="1500"/>
            </a:pPr>
            <a:r>
              <a:t>  </a:t>
            </a:r>
            <a:r>
              <a:rPr b="1"/>
              <a:t>cos(v, t) = v · t</a:t>
            </a:r>
            <a:endParaRPr b="1"/>
          </a:p>
          <a:p>
            <a:pPr>
              <a:defRPr sz="1500"/>
            </a:pPr>
            <a:r>
              <a:t>InfoNCE (softmax sobre similitudes escaladas por τ):</a:t>
            </a:r>
          </a:p>
          <a:p>
            <a:pPr>
              <a:defRPr sz="1500"/>
            </a:pPr>
            <a:r>
              <a:t>  </a:t>
            </a:r>
            <a:r>
              <a:rPr b="1"/>
              <a:t>sᵢⱼ = (vᵢ · tⱼ) / τ</a:t>
            </a:r>
            <a:endParaRPr b="1"/>
          </a:p>
          <a:p>
            <a:pPr>
              <a:defRPr sz="1500"/>
            </a:pPr>
            <a:r>
              <a:t>  </a:t>
            </a:r>
            <a:r>
              <a:rPr b="1"/>
              <a:t>L_{I→T} = − log[ exp(sᵢᵢ) / Σⱼ exp(sᵢⱼ) ]</a:t>
            </a:r>
            <a:endParaRPr b="1"/>
          </a:p>
          <a:p>
            <a:pPr>
              <a:defRPr sz="1500"/>
            </a:pPr>
            <a:r>
              <a:t>Interpretación en 1 frase: por cada imagen, empujamos la diagonal (par real) por encima de todas las off-diagonales del batch.</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4" name="Shape 244"/>
          <p:cNvSpPr/>
          <p:nvPr>
            <p:ph type="sldImg"/>
          </p:nvPr>
        </p:nvSpPr>
        <p:spPr>
          <a:prstGeom prst="rect">
            <a:avLst/>
          </a:prstGeom>
        </p:spPr>
        <p:txBody>
          <a:bodyPr/>
          <a:lstStyle/>
          <a:p>
            <a:pPr/>
          </a:p>
        </p:txBody>
      </p:sp>
      <p:sp>
        <p:nvSpPr>
          <p:cNvPr id="245" name="Shape 245"/>
          <p:cNvSpPr/>
          <p:nvPr>
            <p:ph type="body" sz="quarter" idx="1"/>
          </p:nvPr>
        </p:nvSpPr>
        <p:spPr>
          <a:prstGeom prst="rect">
            <a:avLst/>
          </a:prstGeom>
        </p:spPr>
        <p:txBody>
          <a:bodyPr/>
          <a:lstStyle/>
          <a:p>
            <a:pPr>
              <a:defRPr sz="1500"/>
            </a:pPr>
            <a:r>
              <a:t>El primer FM del dominio patológico:</a:t>
            </a:r>
          </a:p>
          <a:p>
            <a:pPr>
              <a:defRPr sz="1500"/>
            </a:pPr>
            <a:r>
              <a:t>▸ </a:t>
            </a:r>
            <a:r>
              <a:rPr b="1"/>
              <a:t>PLIP = CLIP entrenado sobre OpenPath</a:t>
            </a:r>
            <a:r>
              <a:t> (~208K pares imagen-texto de tweets de patólogos).</a:t>
            </a:r>
          </a:p>
          <a:p>
            <a:pPr>
              <a:defRPr sz="1500"/>
            </a:pPr>
            <a:r>
              <a:t>▸ MISMA arquitectura CLIP; solo cambia el </a:t>
            </a:r>
            <a:r>
              <a:rPr b="1"/>
              <a:t>corpus de pretraining</a:t>
            </a:r>
            <a:r>
              <a:t>.</a:t>
            </a:r>
          </a:p>
          <a:p>
            <a:pPr>
              <a:defRPr sz="1500"/>
            </a:pPr>
            <a:r>
              <a:t>▸ Uso 1: aislar su </a:t>
            </a:r>
            <a:r>
              <a:rPr b="1"/>
              <a:t>encoder de texto</a:t>
            </a:r>
            <a:r>
              <a:t> dentro de nuestro sistema base.</a:t>
            </a:r>
          </a:p>
          <a:p>
            <a:pPr>
              <a:defRPr sz="1500"/>
            </a:pPr>
            <a:r>
              <a:t>▸ Uso 2: </a:t>
            </a:r>
            <a:r>
              <a:rPr b="1"/>
              <a:t>zero-shot completo</a:t>
            </a:r>
            <a:r>
              <a:t> sobre los 4 datasets (sin entrenar).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7" name="Shape 257"/>
          <p:cNvSpPr/>
          <p:nvPr>
            <p:ph type="sldImg"/>
          </p:nvPr>
        </p:nvSpPr>
        <p:spPr>
          <a:prstGeom prst="rect">
            <a:avLst/>
          </a:prstGeom>
        </p:spPr>
        <p:txBody>
          <a:bodyPr/>
          <a:lstStyle/>
          <a:p>
            <a:pPr/>
          </a:p>
        </p:txBody>
      </p:sp>
      <p:sp>
        <p:nvSpPr>
          <p:cNvPr id="258" name="Shape 258"/>
          <p:cNvSpPr/>
          <p:nvPr>
            <p:ph type="body" sz="quarter" idx="1"/>
          </p:nvPr>
        </p:nvSpPr>
        <p:spPr>
          <a:prstGeom prst="rect">
            <a:avLst/>
          </a:prstGeom>
        </p:spPr>
        <p:txBody>
          <a:bodyPr/>
          <a:lstStyle/>
          <a:p>
            <a:pPr>
              <a:defRPr sz="1500"/>
            </a:pPr>
            <a:r>
              <a:t>Sistema base sobre el que ablacionamos:</a:t>
            </a:r>
          </a:p>
          <a:p>
            <a:pPr>
              <a:defRPr sz="1500"/>
            </a:pPr>
            <a:r>
              <a:t>▸ </a:t>
            </a:r>
            <a:r>
              <a:rPr b="1"/>
              <a:t>ResNet50</a:t>
            </a:r>
            <a:r>
              <a:t> (ImageNet) + </a:t>
            </a:r>
            <a:r>
              <a:rPr b="1"/>
              <a:t>BERT</a:t>
            </a:r>
            <a:r>
              <a:t> (Wikipedia + BookCorpus), ambos </a:t>
            </a:r>
            <a:r>
              <a:rPr b="1"/>
              <a:t>congelados</a:t>
            </a:r>
            <a:r>
              <a:t>.</a:t>
            </a:r>
          </a:p>
          <a:p>
            <a:pPr>
              <a:defRPr sz="1500"/>
            </a:pPr>
            <a:r>
              <a:t>▸ Solo entrenamos las </a:t>
            </a:r>
            <a:r>
              <a:rPr b="1"/>
              <a:t>cabezas de proyección 256-d</a:t>
            </a:r>
            <a:r>
              <a:t> (L2-normalizadas).</a:t>
            </a:r>
          </a:p>
          <a:p>
            <a:pPr>
              <a:defRPr sz="1500"/>
            </a:pPr>
            <a:r>
              <a:t>▸ Pérdida </a:t>
            </a:r>
            <a:r>
              <a:rPr b="1"/>
              <a:t>InfoNCE simétrica</a:t>
            </a:r>
            <a:r>
              <a:t>: </a:t>
            </a:r>
            <a:r>
              <a:rPr b="1"/>
              <a:t>L = ½ (L_{I→T} + L_{T→I})</a:t>
            </a:r>
            <a:r>
              <a:t>.</a:t>
            </a:r>
          </a:p>
          <a:p>
            <a:pPr>
              <a:defRPr sz="1500"/>
            </a:pPr>
            <a:r>
              <a:t>▸ Temperatura τ se aprende como </a:t>
            </a:r>
            <a:r>
              <a:rPr b="1"/>
              <a:t>logit_scale = log(1/τ)</a:t>
            </a:r>
            <a:r>
              <a:t> (acotada para estabilidad numérica).</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1" name="Shape 271"/>
          <p:cNvSpPr/>
          <p:nvPr>
            <p:ph type="sldImg"/>
          </p:nvPr>
        </p:nvSpPr>
        <p:spPr>
          <a:prstGeom prst="rect">
            <a:avLst/>
          </a:prstGeom>
        </p:spPr>
        <p:txBody>
          <a:bodyPr/>
          <a:lstStyle/>
          <a:p>
            <a:pPr/>
          </a:p>
        </p:txBody>
      </p:sp>
      <p:sp>
        <p:nvSpPr>
          <p:cNvPr id="272" name="Shape 272"/>
          <p:cNvSpPr/>
          <p:nvPr>
            <p:ph type="body" sz="quarter" idx="1"/>
          </p:nvPr>
        </p:nvSpPr>
        <p:spPr>
          <a:prstGeom prst="rect">
            <a:avLst/>
          </a:prstGeom>
        </p:spPr>
        <p:txBody>
          <a:bodyPr/>
          <a:lstStyle/>
          <a:p>
            <a:pPr>
              <a:defRPr sz="1500"/>
            </a:pPr>
            <a:r>
              <a:t>Seis experimentos, uno cambia UNA cosa cada vez:</a:t>
            </a:r>
          </a:p>
          <a:p>
            <a:pPr>
              <a:defRPr sz="1500"/>
            </a:pPr>
            <a:r>
              <a:t>▸ Timeline: </a:t>
            </a:r>
            <a:r>
              <a:rPr b="1"/>
              <a:t>CLIP-vs-plain · PLIP zero-shot · Macenko · texto×prompt · DINOv2 · PLIP</a:t>
            </a:r>
            <a:r>
              <a:t>.</a:t>
            </a:r>
          </a:p>
          <a:p>
            <a:pPr>
              <a:defRPr sz="1500"/>
            </a:pPr>
            <a:r>
              <a:t>▸ Todos entrenan sobre </a:t>
            </a:r>
            <a:r>
              <a:rPr b="1"/>
              <a:t>LC25000</a:t>
            </a:r>
            <a:r>
              <a:t> (excepto PLIP zero-shot).</a:t>
            </a:r>
          </a:p>
          <a:p>
            <a:pPr>
              <a:defRPr sz="1500"/>
            </a:pPr>
            <a:r>
              <a:t>▸ Evaluación externa: </a:t>
            </a:r>
            <a:r>
              <a:rPr b="1"/>
              <a:t>NCT-CRC · Chaoyang · LungHist700</a:t>
            </a:r>
            <a:r>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9" name="Shape 279"/>
          <p:cNvSpPr/>
          <p:nvPr>
            <p:ph type="sldImg"/>
          </p:nvPr>
        </p:nvSpPr>
        <p:spPr>
          <a:prstGeom prst="rect">
            <a:avLst/>
          </a:prstGeom>
        </p:spPr>
        <p:txBody>
          <a:bodyPr/>
          <a:lstStyle/>
          <a:p>
            <a:pPr/>
          </a:p>
        </p:txBody>
      </p:sp>
      <p:sp>
        <p:nvSpPr>
          <p:cNvPr id="280" name="Shape 280"/>
          <p:cNvSpPr/>
          <p:nvPr>
            <p:ph type="body" sz="quarter" idx="1"/>
          </p:nvPr>
        </p:nvSpPr>
        <p:spPr>
          <a:prstGeom prst="rect">
            <a:avLst/>
          </a:prstGeom>
        </p:spPr>
        <p:txBody>
          <a:bodyPr/>
          <a:lstStyle/>
          <a:p>
            <a:pPr>
              <a:defRPr sz="1500"/>
            </a:pPr>
            <a:r>
              <a:t>Sección 3: </a:t>
            </a:r>
            <a:r>
              <a:rPr b="1"/>
              <a:t>Resultados</a:t>
            </a:r>
            <a:r>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6" name="Shape 296"/>
          <p:cNvSpPr/>
          <p:nvPr>
            <p:ph type="sldImg"/>
          </p:nvPr>
        </p:nvSpPr>
        <p:spPr>
          <a:prstGeom prst="rect">
            <a:avLst/>
          </a:prstGeom>
        </p:spPr>
        <p:txBody>
          <a:bodyPr/>
          <a:lstStyle/>
          <a:p>
            <a:pPr/>
          </a:p>
        </p:txBody>
      </p:sp>
      <p:sp>
        <p:nvSpPr>
          <p:cNvPr id="297" name="Shape 297"/>
          <p:cNvSpPr/>
          <p:nvPr>
            <p:ph type="body" sz="quarter" idx="1"/>
          </p:nvPr>
        </p:nvSpPr>
        <p:spPr>
          <a:prstGeom prst="rect">
            <a:avLst/>
          </a:prstGeom>
        </p:spPr>
        <p:txBody>
          <a:bodyPr/>
          <a:lstStyle/>
          <a:p>
            <a:pPr>
              <a:defRPr sz="1500"/>
            </a:pPr>
            <a:r>
              <a:t>▸ </a:t>
            </a:r>
            <a:r>
              <a:rPr b="1"/>
              <a:t>LC25000 in-dist: 0.996 macro-F1</a:t>
            </a:r>
            <a:r>
              <a:t> — saturado, no informa.</a:t>
            </a:r>
          </a:p>
          <a:p>
            <a:pPr>
              <a:defRPr sz="1500"/>
            </a:pPr>
            <a:r>
              <a:t>▸ </a:t>
            </a:r>
            <a:r>
              <a:rPr b="1"/>
              <a:t>NCT (colon similar)</a:t>
            </a:r>
            <a:r>
              <a:t>: 0.87 — transfiere bien.</a:t>
            </a:r>
          </a:p>
          <a:p>
            <a:pPr>
              <a:defRPr sz="1500"/>
            </a:pPr>
            <a:r>
              <a:t>▸ </a:t>
            </a:r>
            <a:r>
              <a:rPr b="1"/>
              <a:t>Chaoyang (shift moderado)</a:t>
            </a:r>
            <a:r>
              <a:t>: 0.79 — algo peor.</a:t>
            </a:r>
          </a:p>
          <a:p>
            <a:pPr>
              <a:defRPr sz="1500"/>
            </a:pPr>
            <a:r>
              <a:t>▸ </a:t>
            </a:r>
            <a:r>
              <a:rPr b="1"/>
              <a:t>LungHist700</a:t>
            </a:r>
            <a:r>
              <a:t>: </a:t>
            </a:r>
            <a:r>
              <a:rPr b="1"/>
              <a:t>colapsa a 0.30</a:t>
            </a:r>
            <a:r>
              <a:t> — casi azar 3-clases.</a:t>
            </a:r>
          </a:p>
          <a:p>
            <a:pPr>
              <a:defRPr sz="1500"/>
            </a:pPr>
            <a:r>
              <a:t>Métrica: </a:t>
            </a:r>
            <a:r>
              <a:rPr b="1"/>
              <a:t>macro-F1</a:t>
            </a:r>
            <a:r>
              <a:t> = media aritmética de F1 por clase.</a:t>
            </a:r>
          </a:p>
          <a:p>
            <a:pPr>
              <a:defRPr sz="1500"/>
            </a:pPr>
            <a:r>
              <a:t>  </a:t>
            </a:r>
            <a:r>
              <a:rPr b="1"/>
              <a:t>F1 = 2 · precision · recall / (precision + recall)</a:t>
            </a:r>
            <a:endParaRPr b="1"/>
          </a:p>
          <a:p>
            <a:pPr>
              <a:defRPr sz="1500"/>
            </a:pPr>
            <a:r>
              <a:t>Elegida porque </a:t>
            </a:r>
            <a:r>
              <a:rPr b="1"/>
              <a:t>penaliza el colapso a una clase</a:t>
            </a:r>
            <a:r>
              <a:t> mejor que accuracy: si el modelo predice todo "escamoso", su F1 en las otras clases se hunde y la media cae.</a:t>
            </a:r>
          </a:p>
          <a:p>
            <a:pPr>
              <a:defRPr sz="1500"/>
            </a:pPr>
            <a:r>
              <a:t>Modo de fallo aquí: el modelo predice </a:t>
            </a:r>
            <a:r>
              <a:rPr b="1"/>
              <a:t>todo como carcinoma escamoso</a:t>
            </a:r>
            <a:r>
              <a:t>. Ese colapso es el hilo del resto de resultados.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0" name="Shape 310"/>
          <p:cNvSpPr/>
          <p:nvPr>
            <p:ph type="sldImg"/>
          </p:nvPr>
        </p:nvSpPr>
        <p:spPr>
          <a:prstGeom prst="rect">
            <a:avLst/>
          </a:prstGeom>
        </p:spPr>
        <p:txBody>
          <a:bodyPr/>
          <a:lstStyle/>
          <a:p>
            <a:pPr/>
          </a:p>
        </p:txBody>
      </p:sp>
      <p:sp>
        <p:nvSpPr>
          <p:cNvPr id="311" name="Shape 311"/>
          <p:cNvSpPr/>
          <p:nvPr>
            <p:ph type="body" sz="quarter" idx="1"/>
          </p:nvPr>
        </p:nvSpPr>
        <p:spPr>
          <a:prstGeom prst="rect">
            <a:avLst/>
          </a:prstGeom>
        </p:spPr>
        <p:txBody>
          <a:bodyPr/>
          <a:lstStyle/>
          <a:p>
            <a:pPr>
              <a:defRPr sz="1500"/>
            </a:pPr>
            <a:r>
              <a:t>El fallo también se ve en la geometría del espacio latente:</a:t>
            </a:r>
          </a:p>
          <a:p>
            <a:pPr>
              <a:defRPr sz="1500"/>
            </a:pPr>
            <a:r>
              <a:t>▸ LC25000 forma </a:t>
            </a:r>
            <a:r>
              <a:rPr b="1"/>
              <a:t>clusters correctos</a:t>
            </a:r>
            <a:r>
              <a:t> en el espacio latente.</a:t>
            </a:r>
          </a:p>
          <a:p>
            <a:pPr>
              <a:defRPr sz="1500"/>
            </a:pPr>
            <a:r>
              <a:t>▸ NCT </a:t>
            </a:r>
            <a:r>
              <a:rPr b="1"/>
              <a:t>se pega</a:t>
            </a:r>
            <a:r>
              <a:t> a los clusters de LC25000 → transferencia OK.</a:t>
            </a:r>
          </a:p>
          <a:p>
            <a:pPr>
              <a:defRPr sz="1500"/>
            </a:pPr>
            <a:r>
              <a:t>▸ Chaoyang empieza a </a:t>
            </a:r>
            <a:r>
              <a:rPr b="1"/>
              <a:t>derivar</a:t>
            </a:r>
            <a:r>
              <a:t> entre clases → shift moderado.</a:t>
            </a:r>
          </a:p>
          <a:p>
            <a:pPr>
              <a:defRPr sz="1500"/>
            </a:pPr>
            <a:r>
              <a:t>▸ LungHist </a:t>
            </a:r>
            <a:r>
              <a:rPr b="1"/>
              <a:t>aterriza en zona equivocada</a:t>
            </a:r>
            <a:r>
              <a:t> (cerca de adenocarcinoma de colon).</a:t>
            </a:r>
          </a:p>
          <a:p>
            <a:pPr>
              <a:defRPr sz="1500"/>
            </a:pPr>
            <a:r>
              <a:t>UMAP no es prueba, pero es </a:t>
            </a:r>
            <a:r>
              <a:rPr b="1"/>
              <a:t>consistente</a:t>
            </a:r>
            <a:r>
              <a:t> con lo que dice macro-F1.</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5" name="Shape 325"/>
          <p:cNvSpPr/>
          <p:nvPr>
            <p:ph type="sldImg"/>
          </p:nvPr>
        </p:nvSpPr>
        <p:spPr>
          <a:prstGeom prst="rect">
            <a:avLst/>
          </a:prstGeom>
        </p:spPr>
        <p:txBody>
          <a:bodyPr/>
          <a:lstStyle/>
          <a:p>
            <a:pPr/>
          </a:p>
        </p:txBody>
      </p:sp>
      <p:sp>
        <p:nvSpPr>
          <p:cNvPr id="326" name="Shape 326"/>
          <p:cNvSpPr/>
          <p:nvPr>
            <p:ph type="body" sz="quarter" idx="1"/>
          </p:nvPr>
        </p:nvSpPr>
        <p:spPr>
          <a:prstGeom prst="rect">
            <a:avLst/>
          </a:prstGeom>
        </p:spPr>
        <p:txBody>
          <a:bodyPr/>
          <a:lstStyle/>
          <a:p>
            <a:pPr>
              <a:defRPr sz="1500"/>
            </a:pPr>
            <a:r>
              <a:t>Primera palanca: ¿el texto aporta algo real?</a:t>
            </a:r>
          </a:p>
          <a:p>
            <a:pPr>
              <a:defRPr sz="1500"/>
            </a:pPr>
            <a:r>
              <a:t>▸ Bajo shift </a:t>
            </a:r>
            <a:r>
              <a:rPr b="1"/>
              <a:t>fácil</a:t>
            </a:r>
            <a:r>
              <a:t> (NCT), un </a:t>
            </a:r>
            <a:r>
              <a:rPr b="1"/>
              <a:t>plain classifier (Dense-5)</a:t>
            </a:r>
            <a:r>
              <a:t> gana ligeramente.</a:t>
            </a:r>
          </a:p>
          <a:p>
            <a:pPr>
              <a:defRPr sz="1500"/>
            </a:pPr>
            <a:r>
              <a:t>▸ Bajo shift </a:t>
            </a:r>
            <a:r>
              <a:rPr b="1"/>
              <a:t>fuerte</a:t>
            </a:r>
            <a:r>
              <a:t> (Chaoyang, LungHist), </a:t>
            </a:r>
            <a:r>
              <a:rPr b="1"/>
              <a:t>plain colapsa</a:t>
            </a:r>
            <a:r>
              <a:t>.</a:t>
            </a:r>
          </a:p>
          <a:p>
            <a:pPr>
              <a:defRPr sz="1500"/>
            </a:pPr>
            <a:r>
              <a:t>▸ </a:t>
            </a:r>
            <a:r>
              <a:rPr b="1"/>
              <a:t>CLIP resiste mejor</a:t>
            </a:r>
            <a:r>
              <a:t> cuando el desplazamiento es severo — confirma la promesa foundational.</a:t>
            </a:r>
          </a:p>
          <a:p>
            <a:pPr>
              <a:defRPr sz="1500"/>
            </a:pPr>
            <a:r>
              <a:t>Conclusión operativa: </a:t>
            </a:r>
            <a:r>
              <a:rPr b="1"/>
              <a:t>nos quedamos con CLIP</a:t>
            </a:r>
            <a:r>
              <a:t> como sistema base.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0" name="Shape 340"/>
          <p:cNvSpPr/>
          <p:nvPr>
            <p:ph type="sldImg"/>
          </p:nvPr>
        </p:nvSpPr>
        <p:spPr>
          <a:prstGeom prst="rect">
            <a:avLst/>
          </a:prstGeom>
        </p:spPr>
        <p:txBody>
          <a:bodyPr/>
          <a:lstStyle/>
          <a:p>
            <a:pPr/>
          </a:p>
        </p:txBody>
      </p:sp>
      <p:sp>
        <p:nvSpPr>
          <p:cNvPr id="341" name="Shape 341"/>
          <p:cNvSpPr/>
          <p:nvPr>
            <p:ph type="body" sz="quarter" idx="1"/>
          </p:nvPr>
        </p:nvSpPr>
        <p:spPr>
          <a:prstGeom prst="rect">
            <a:avLst/>
          </a:prstGeom>
        </p:spPr>
        <p:txBody>
          <a:bodyPr/>
          <a:lstStyle/>
          <a:p>
            <a:pPr>
              <a:defRPr sz="1500"/>
            </a:pPr>
            <a:r>
              <a:t>Palanca 2: ¿el color explica el colapso?</a:t>
            </a:r>
          </a:p>
          <a:p>
            <a:pPr>
              <a:defRPr sz="1500"/>
            </a:pPr>
            <a:r>
              <a:t>▸ Probamos Macenko, Reinhard, Vahadane. </a:t>
            </a:r>
            <a:r>
              <a:rPr b="1"/>
              <a:t>Macenko</a:t>
            </a:r>
            <a:r>
              <a:t> (los otros dan artefactos en pulmón).</a:t>
            </a:r>
          </a:p>
          <a:p>
            <a:pPr>
              <a:defRPr sz="1500"/>
            </a:pPr>
            <a:r>
              <a:t>▸ Δ marginal en los 3 datasets externos: </a:t>
            </a:r>
            <a:r>
              <a:rPr b="1"/>
              <a:t>-0.022 / +0.030 / +0.020</a:t>
            </a:r>
            <a:r>
              <a:t>.</a:t>
            </a:r>
          </a:p>
          <a:p>
            <a:pPr>
              <a:defRPr sz="1500"/>
            </a:pPr>
            <a:r>
              <a:t>▸ Con o sin normalización, LungHist </a:t>
            </a:r>
            <a:r>
              <a:rPr b="1"/>
              <a:t>sigue colapsando</a:t>
            </a:r>
            <a:r>
              <a:t>.</a:t>
            </a:r>
          </a:p>
          <a:p>
            <a:pPr>
              <a:defRPr sz="1500"/>
            </a:pPr>
            <a:r>
              <a:t>Macenko en 4 pasos:</a:t>
            </a:r>
          </a:p>
          <a:p>
            <a:pPr>
              <a:defRPr sz="1500"/>
            </a:pPr>
            <a:r>
              <a:t>  </a:t>
            </a:r>
            <a:r>
              <a:rPr b="1"/>
              <a:t>OD = − log₁₀( (I + 1) / I₀ )</a:t>
            </a:r>
            <a:r>
              <a:t>  con I₀ = 255</a:t>
            </a:r>
          </a:p>
          <a:p>
            <a:pPr>
              <a:defRPr sz="1500"/>
            </a:pPr>
            <a:r>
              <a:t>  </a:t>
            </a:r>
            <a:r>
              <a:rPr b="1"/>
              <a:t>OD = S · C</a:t>
            </a:r>
            <a:r>
              <a:t>  (S = vectores H,E; C = concentraciones)</a:t>
            </a:r>
          </a:p>
          <a:p>
            <a:pPr>
              <a:defRPr sz="1500"/>
            </a:pPr>
            <a:r>
              <a:t>  </a:t>
            </a:r>
            <a:r>
              <a:rPr b="1"/>
              <a:t>C = S⁺ · OD</a:t>
            </a:r>
            <a:r>
              <a:t>  → luego re-render: </a:t>
            </a:r>
            <a:r>
              <a:rPr b="1"/>
              <a:t>I′ = I₀ · 10^(−S_ref · C)</a:t>
            </a:r>
            <a:endParaRPr b="1"/>
          </a:p>
          <a:p>
            <a:pPr>
              <a:defRPr sz="1500"/>
            </a:pPr>
            <a:r>
              <a:t>Conclusión: </a:t>
            </a:r>
            <a:r>
              <a:rPr b="1"/>
              <a:t>el color NO explica el colapso pulmonar</a:t>
            </a:r>
            <a:r>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5" name="Shape 355"/>
          <p:cNvSpPr/>
          <p:nvPr>
            <p:ph type="sldImg"/>
          </p:nvPr>
        </p:nvSpPr>
        <p:spPr>
          <a:prstGeom prst="rect">
            <a:avLst/>
          </a:prstGeom>
        </p:spPr>
        <p:txBody>
          <a:bodyPr/>
          <a:lstStyle/>
          <a:p>
            <a:pPr/>
          </a:p>
        </p:txBody>
      </p:sp>
      <p:sp>
        <p:nvSpPr>
          <p:cNvPr id="356" name="Shape 356"/>
          <p:cNvSpPr/>
          <p:nvPr>
            <p:ph type="body" sz="quarter" idx="1"/>
          </p:nvPr>
        </p:nvSpPr>
        <p:spPr>
          <a:prstGeom prst="rect">
            <a:avLst/>
          </a:prstGeom>
        </p:spPr>
        <p:txBody>
          <a:bodyPr/>
          <a:lstStyle/>
          <a:p>
            <a:pPr>
              <a:defRPr sz="1500"/>
            </a:pPr>
            <a:r>
              <a:t>Palanca 3: ¿un texto biomédico ayuda?</a:t>
            </a:r>
          </a:p>
          <a:p>
            <a:pPr>
              <a:defRPr sz="1500"/>
            </a:pPr>
            <a:r>
              <a:t>▸ BERT → </a:t>
            </a:r>
            <a:r>
              <a:rPr b="1"/>
              <a:t>BioBERT</a:t>
            </a:r>
            <a:r>
              <a:t> (continúa BERT sobre PubMed) → </a:t>
            </a:r>
            <a:r>
              <a:rPr b="1"/>
              <a:t>PubMedBERT</a:t>
            </a:r>
            <a:r>
              <a:t> (desde cero sobre PubMed).</a:t>
            </a:r>
          </a:p>
          <a:p>
            <a:pPr>
              <a:defRPr sz="1500"/>
            </a:pPr>
            <a:r>
              <a:t>▸ PubMedBERT tokeniza </a:t>
            </a:r>
            <a:r>
              <a:rPr b="1"/>
              <a:t>"adenocarcinoma" como un solo token</a:t>
            </a:r>
            <a:r>
              <a:t> (BERT lo fragmenta).</a:t>
            </a:r>
          </a:p>
          <a:p>
            <a:pPr>
              <a:defRPr sz="1500"/>
            </a:pPr>
            <a:r>
              <a:t>▸ Experimentalmente </a:t>
            </a:r>
            <a:r>
              <a:rPr b="1"/>
              <a:t>no mejora</a:t>
            </a:r>
            <a:r>
              <a:t>; en NCT empeora </a:t>
            </a:r>
            <a:r>
              <a:rPr b="1"/>
              <a:t>-0.011 a -0.058</a:t>
            </a:r>
            <a:r>
              <a:t>.</a:t>
            </a:r>
          </a:p>
          <a:p>
            <a:pPr>
              <a:defRPr sz="1500"/>
            </a:pPr>
            <a:r>
              <a:t>▸ Motivo: los encoders están </a:t>
            </a:r>
            <a:r>
              <a:rPr b="1"/>
              <a:t>congelados</a:t>
            </a:r>
            <a:r>
              <a:t>; solo alineamos las cabezas de proyección.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8" name="Shape 368"/>
          <p:cNvSpPr/>
          <p:nvPr>
            <p:ph type="sldImg"/>
          </p:nvPr>
        </p:nvSpPr>
        <p:spPr>
          <a:prstGeom prst="rect">
            <a:avLst/>
          </a:prstGeom>
        </p:spPr>
        <p:txBody>
          <a:bodyPr/>
          <a:lstStyle/>
          <a:p>
            <a:pPr/>
          </a:p>
        </p:txBody>
      </p:sp>
      <p:sp>
        <p:nvSpPr>
          <p:cNvPr id="369" name="Shape 369"/>
          <p:cNvSpPr/>
          <p:nvPr>
            <p:ph type="body" sz="quarter" idx="1"/>
          </p:nvPr>
        </p:nvSpPr>
        <p:spPr>
          <a:prstGeom prst="rect">
            <a:avLst/>
          </a:prstGeom>
        </p:spPr>
        <p:txBody>
          <a:bodyPr/>
          <a:lstStyle/>
          <a:p>
            <a:pPr>
              <a:defRPr sz="1500"/>
            </a:pPr>
            <a:r>
              <a:t>Bridge/síntesis:</a:t>
            </a:r>
          </a:p>
          <a:p>
            <a:pPr>
              <a:defRPr sz="1500"/>
            </a:pPr>
            <a:r>
              <a:t>▸ </a:t>
            </a:r>
            <a:r>
              <a:rPr b="1"/>
              <a:t>Preprocesado, texto biomédico y cabeza de clasificación</a:t>
            </a:r>
            <a:r>
              <a:t> — nada rompe el colapso pulmonar.</a:t>
            </a:r>
          </a:p>
          <a:p>
            <a:pPr>
              <a:defRPr sz="1500"/>
            </a:pPr>
            <a:r>
              <a:t>▸ La palanca dominante debe estar en el </a:t>
            </a:r>
            <a:r>
              <a:rPr b="1"/>
              <a:t>codificador visual</a:t>
            </a:r>
            <a:r>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2" name="Shape 382"/>
          <p:cNvSpPr/>
          <p:nvPr>
            <p:ph type="sldImg"/>
          </p:nvPr>
        </p:nvSpPr>
        <p:spPr>
          <a:prstGeom prst="rect">
            <a:avLst/>
          </a:prstGeom>
        </p:spPr>
        <p:txBody>
          <a:bodyPr/>
          <a:lstStyle/>
          <a:p>
            <a:pPr/>
          </a:p>
        </p:txBody>
      </p:sp>
      <p:sp>
        <p:nvSpPr>
          <p:cNvPr id="383" name="Shape 383"/>
          <p:cNvSpPr/>
          <p:nvPr>
            <p:ph type="body" sz="quarter" idx="1"/>
          </p:nvPr>
        </p:nvSpPr>
        <p:spPr>
          <a:prstGeom prst="rect">
            <a:avLst/>
          </a:prstGeom>
        </p:spPr>
        <p:txBody>
          <a:bodyPr/>
          <a:lstStyle/>
          <a:p>
            <a:pPr>
              <a:defRPr sz="1500"/>
            </a:pPr>
            <a:r>
              <a:t>Palanca 4: cambiamos el encoder de imagen.</a:t>
            </a:r>
          </a:p>
          <a:p>
            <a:pPr>
              <a:defRPr sz="1500"/>
            </a:pPr>
            <a:r>
              <a:t>▸ Probamos </a:t>
            </a:r>
            <a:r>
              <a:rPr b="1"/>
              <a:t>DINOv2 (ViT-B/14, SSL general)</a:t>
            </a:r>
            <a:r>
              <a:t> y </a:t>
            </a:r>
            <a:r>
              <a:rPr b="1"/>
              <a:t>PLIP (ViT-B/32, dominio patológico)</a:t>
            </a:r>
            <a:r>
              <a:t>.</a:t>
            </a:r>
          </a:p>
          <a:p>
            <a:pPr>
              <a:defRPr sz="1500"/>
            </a:pPr>
            <a:r>
              <a:t>▸ </a:t>
            </a:r>
            <a:r>
              <a:rPr b="1"/>
              <a:t>PLIP: 0.30 → 0.64</a:t>
            </a:r>
            <a:r>
              <a:t> en LungHist700 → rompe la barrera del azar.</a:t>
            </a:r>
          </a:p>
          <a:p>
            <a:pPr>
              <a:defRPr sz="1500"/>
            </a:pPr>
            <a:r>
              <a:t>▸ 0.64 no es clínicamente utilizable, pero </a:t>
            </a:r>
            <a:r>
              <a:rPr b="1"/>
              <a:t>rompe el colapso</a:t>
            </a:r>
            <a:r>
              <a:t> categórico.</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5" name="Shape 395"/>
          <p:cNvSpPr/>
          <p:nvPr>
            <p:ph type="sldImg"/>
          </p:nvPr>
        </p:nvSpPr>
        <p:spPr>
          <a:prstGeom prst="rect">
            <a:avLst/>
          </a:prstGeom>
        </p:spPr>
        <p:txBody>
          <a:bodyPr/>
          <a:lstStyle/>
          <a:p>
            <a:pPr/>
          </a:p>
        </p:txBody>
      </p:sp>
      <p:sp>
        <p:nvSpPr>
          <p:cNvPr id="396" name="Shape 396"/>
          <p:cNvSpPr/>
          <p:nvPr>
            <p:ph type="body" sz="quarter" idx="1"/>
          </p:nvPr>
        </p:nvSpPr>
        <p:spPr>
          <a:prstGeom prst="rect">
            <a:avLst/>
          </a:prstGeom>
        </p:spPr>
        <p:txBody>
          <a:bodyPr/>
          <a:lstStyle/>
          <a:p>
            <a:pPr>
              <a:defRPr sz="1500"/>
            </a:pPr>
            <a:r>
              <a:t>Descomponemos el +0.335 en LungHist700 en 3 pasos:</a:t>
            </a:r>
          </a:p>
          <a:p>
            <a:pPr>
              <a:defRPr sz="1500"/>
            </a:pPr>
            <a:r>
              <a:t>▸ </a:t>
            </a:r>
            <a:r>
              <a:rPr b="1"/>
              <a:t>ResNet50 → DINOv2</a:t>
            </a:r>
            <a:r>
              <a:t>: +0.152 (ViT + SSL general, sin dominio médico).</a:t>
            </a:r>
          </a:p>
          <a:p>
            <a:pPr>
              <a:defRPr sz="1500"/>
            </a:pPr>
            <a:r>
              <a:t>▸ </a:t>
            </a:r>
            <a:r>
              <a:rPr b="1"/>
              <a:t>DINOv2 → PLIP zero-shot</a:t>
            </a:r>
            <a:r>
              <a:t>: +0.087 (añade dominio histopatológico).</a:t>
            </a:r>
          </a:p>
          <a:p>
            <a:pPr>
              <a:defRPr sz="1500"/>
            </a:pPr>
            <a:r>
              <a:t>▸ </a:t>
            </a:r>
            <a:r>
              <a:rPr b="1"/>
              <a:t>PLIP zero-shot → PLIP + LC25000</a:t>
            </a:r>
            <a:r>
              <a:t>: +0.096 (supervisión LC25000 sobre PLIP).</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8" name="Shape 408"/>
          <p:cNvSpPr/>
          <p:nvPr>
            <p:ph type="sldImg"/>
          </p:nvPr>
        </p:nvSpPr>
        <p:spPr>
          <a:prstGeom prst="rect">
            <a:avLst/>
          </a:prstGeom>
        </p:spPr>
        <p:txBody>
          <a:bodyPr/>
          <a:lstStyle/>
          <a:p>
            <a:pPr/>
          </a:p>
        </p:txBody>
      </p:sp>
      <p:sp>
        <p:nvSpPr>
          <p:cNvPr id="409" name="Shape 409"/>
          <p:cNvSpPr/>
          <p:nvPr>
            <p:ph type="body" sz="quarter" idx="1"/>
          </p:nvPr>
        </p:nvSpPr>
        <p:spPr>
          <a:prstGeom prst="rect">
            <a:avLst/>
          </a:prstGeom>
        </p:spPr>
        <p:txBody>
          <a:bodyPr/>
          <a:lstStyle/>
          <a:p>
            <a:pPr>
              <a:defRPr sz="1500"/>
            </a:pPr>
            <a:r>
              <a:t>El espacio latente refleja la métrica:</a:t>
            </a:r>
          </a:p>
          <a:p>
            <a:pPr>
              <a:defRPr sz="1500"/>
            </a:pPr>
            <a:r>
              <a:t>▸ </a:t>
            </a:r>
            <a:r>
              <a:rPr b="1"/>
              <a:t>Baseline</a:t>
            </a:r>
            <a:r>
              <a:t>: cluster único → colapso.</a:t>
            </a:r>
          </a:p>
          <a:p>
            <a:pPr>
              <a:defRPr sz="1500"/>
            </a:pPr>
            <a:r>
              <a:t>▸ </a:t>
            </a:r>
            <a:r>
              <a:rPr b="1"/>
              <a:t>DINOv2</a:t>
            </a:r>
            <a:r>
              <a:t>: algo mejor, pero aún colapsa parcialmente.</a:t>
            </a:r>
          </a:p>
          <a:p>
            <a:pPr>
              <a:defRPr sz="1500"/>
            </a:pPr>
            <a:r>
              <a:t>▸ </a:t>
            </a:r>
            <a:r>
              <a:rPr b="1"/>
              <a:t>PLIP zero-shot</a:t>
            </a:r>
            <a:r>
              <a:t>: separación espacial de clases pulmonares.</a:t>
            </a:r>
          </a:p>
          <a:p>
            <a:pPr>
              <a:defRPr sz="1500"/>
            </a:pPr>
            <a:r>
              <a:t>▸ </a:t>
            </a:r>
            <a:r>
              <a:rPr b="1"/>
              <a:t>PLIP + LC25000</a:t>
            </a:r>
            <a:r>
              <a:t>: subestructura interna aún más limpia.</a:t>
            </a:r>
          </a:p>
          <a:p>
            <a:pPr>
              <a:defRPr sz="1500"/>
            </a:pPr>
            <a:r>
              <a:t>UMAP confirma </a:t>
            </a:r>
            <a:r>
              <a:rPr b="1"/>
              <a:t>cualitativamente</a:t>
            </a:r>
            <a:r>
              <a:t> el patrón de macro-F1.</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8" name="Shape 418"/>
          <p:cNvSpPr/>
          <p:nvPr>
            <p:ph type="sldImg"/>
          </p:nvPr>
        </p:nvSpPr>
        <p:spPr>
          <a:prstGeom prst="rect">
            <a:avLst/>
          </a:prstGeom>
        </p:spPr>
        <p:txBody>
          <a:bodyPr/>
          <a:lstStyle/>
          <a:p>
            <a:pPr/>
          </a:p>
        </p:txBody>
      </p:sp>
      <p:sp>
        <p:nvSpPr>
          <p:cNvPr id="419" name="Shape 419"/>
          <p:cNvSpPr/>
          <p:nvPr>
            <p:ph type="body" sz="quarter" idx="1"/>
          </p:nvPr>
        </p:nvSpPr>
        <p:spPr>
          <a:prstGeom prst="rect">
            <a:avLst/>
          </a:prstGeom>
        </p:spPr>
        <p:txBody>
          <a:bodyPr/>
          <a:lstStyle/>
          <a:p>
            <a:pPr>
              <a:defRPr sz="1500"/>
            </a:pPr>
            <a:r>
              <a:t>Sección 4: </a:t>
            </a:r>
            <a:r>
              <a:rPr b="1"/>
              <a:t>Discusión y conclusiones</a:t>
            </a:r>
            <a:r>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9" name="Shape 449"/>
          <p:cNvSpPr/>
          <p:nvPr>
            <p:ph type="sldImg"/>
          </p:nvPr>
        </p:nvSpPr>
        <p:spPr>
          <a:prstGeom prst="rect">
            <a:avLst/>
          </a:prstGeom>
        </p:spPr>
        <p:txBody>
          <a:bodyPr/>
          <a:lstStyle/>
          <a:p>
            <a:pPr/>
          </a:p>
        </p:txBody>
      </p:sp>
      <p:sp>
        <p:nvSpPr>
          <p:cNvPr id="450" name="Shape 450"/>
          <p:cNvSpPr/>
          <p:nvPr>
            <p:ph type="body" sz="quarter" idx="1"/>
          </p:nvPr>
        </p:nvSpPr>
        <p:spPr>
          <a:prstGeom prst="rect">
            <a:avLst/>
          </a:prstGeom>
        </p:spPr>
        <p:txBody>
          <a:bodyPr/>
          <a:lstStyle/>
          <a:p>
            <a:pPr>
              <a:defRPr sz="1500"/>
            </a:pPr>
            <a:r>
              <a:t>Tres conclusiones cruzadas:</a:t>
            </a:r>
          </a:p>
          <a:p>
            <a:pPr>
              <a:defRPr sz="1500"/>
            </a:pPr>
            <a:r>
              <a:t>▸ </a:t>
            </a:r>
            <a:r>
              <a:rPr b="1"/>
              <a:t>Cuello de botella = representación visual</a:t>
            </a:r>
            <a:r>
              <a:t> — no la tinción, no el texto biomédico, no la cabeza.</a:t>
            </a:r>
          </a:p>
          <a:p>
            <a:pPr>
              <a:defRPr sz="1500"/>
            </a:pPr>
            <a:r>
              <a:t>▸ El </a:t>
            </a:r>
            <a:r>
              <a:rPr b="1"/>
              <a:t>dominio histopatológico específico importa</a:t>
            </a:r>
            <a:r>
              <a:t> (PLIP &gt; DINOv2), aunque de forma parcial.</a:t>
            </a:r>
          </a:p>
          <a:p>
            <a:pPr>
              <a:defRPr sz="1500"/>
            </a:pPr>
            <a:r>
              <a:t>▸ </a:t>
            </a:r>
            <a:r>
              <a:rPr b="1"/>
              <a:t>Reportar por órgano</a:t>
            </a:r>
            <a:r>
              <a:t>: en LC25000 hay 66% pulmón / 33% colon. Promediar oculta que colon transfiere OK y pulmón colapsa.</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1" name="Shape 461"/>
          <p:cNvSpPr/>
          <p:nvPr>
            <p:ph type="sldImg"/>
          </p:nvPr>
        </p:nvSpPr>
        <p:spPr>
          <a:prstGeom prst="rect">
            <a:avLst/>
          </a:prstGeom>
        </p:spPr>
        <p:txBody>
          <a:bodyPr/>
          <a:lstStyle/>
          <a:p>
            <a:pPr/>
          </a:p>
        </p:txBody>
      </p:sp>
      <p:sp>
        <p:nvSpPr>
          <p:cNvPr id="462" name="Shape 462"/>
          <p:cNvSpPr/>
          <p:nvPr>
            <p:ph type="body" sz="quarter" idx="1"/>
          </p:nvPr>
        </p:nvSpPr>
        <p:spPr>
          <a:prstGeom prst="rect">
            <a:avLst/>
          </a:prstGeom>
        </p:spPr>
        <p:txBody>
          <a:bodyPr/>
          <a:lstStyle/>
          <a:p>
            <a:pPr>
              <a:defRPr sz="1500"/>
            </a:pPr>
            <a:r>
              <a:t>Cuatro limitaciones honestas:</a:t>
            </a:r>
          </a:p>
          <a:p>
            <a:pPr>
              <a:defRPr sz="1500"/>
            </a:pPr>
            <a:r>
              <a:t>▸ Encoders </a:t>
            </a:r>
            <a:r>
              <a:rPr b="1"/>
              <a:t>congelados</a:t>
            </a:r>
            <a:r>
              <a:t>; fine-tuning end-to-end podría cambiar la palanca dominante.</a:t>
            </a:r>
          </a:p>
          <a:p>
            <a:pPr>
              <a:defRPr sz="1500"/>
            </a:pPr>
            <a:r>
              <a:t>▸ </a:t>
            </a:r>
            <a:r>
              <a:rPr b="1"/>
              <a:t>LC25000</a:t>
            </a:r>
            <a:r>
              <a:t> tiene fuga por data augmentation — no se pueden separar limpiamente train/test.</a:t>
            </a:r>
          </a:p>
          <a:p>
            <a:pPr>
              <a:defRPr sz="1500"/>
            </a:pPr>
            <a:r>
              <a:t>▸ </a:t>
            </a:r>
            <a:r>
              <a:rPr b="1"/>
              <a:t>PLIP vs DINOv2 no es factorial limpio</a:t>
            </a:r>
            <a:r>
              <a:t>: mezcla objetivo (contrastivo vs SSL) + patch size (14 vs 32) + dominio.</a:t>
            </a:r>
          </a:p>
          <a:p>
            <a:pPr>
              <a:defRPr sz="1500"/>
            </a:pPr>
            <a:r>
              <a:t>▸ Un solo seed, N=359 en LungHist → cierto ruido de entrenamiento.</a:t>
            </a:r>
          </a:p>
          <a:p>
            <a:pPr>
              <a:defRPr sz="1500"/>
            </a:pPr>
            <a:r>
              <a:t>Trabajo futuro: </a:t>
            </a:r>
            <a:r>
              <a:rPr b="1"/>
              <a:t>UNI · CONCH · BioMedCLIP · MUS</a:t>
            </a:r>
            <a:r>
              <a:t>; pretraining sobre Cancer Genome Atlas; WSI-como-secuencia.</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6" name="Shape 466"/>
          <p:cNvSpPr/>
          <p:nvPr>
            <p:ph type="sldImg"/>
          </p:nvPr>
        </p:nvSpPr>
        <p:spPr>
          <a:prstGeom prst="rect">
            <a:avLst/>
          </a:prstGeom>
        </p:spPr>
        <p:txBody>
          <a:bodyPr/>
          <a:lstStyle/>
          <a:p>
            <a:pPr/>
          </a:p>
        </p:txBody>
      </p:sp>
      <p:sp>
        <p:nvSpPr>
          <p:cNvPr id="467" name="Shape 467"/>
          <p:cNvSpPr/>
          <p:nvPr>
            <p:ph type="body" sz="quarter" idx="1"/>
          </p:nvPr>
        </p:nvSpPr>
        <p:spPr>
          <a:prstGeom prst="rect">
            <a:avLst/>
          </a:prstGeom>
        </p:spPr>
        <p:txBody>
          <a:bodyPr/>
          <a:lstStyle/>
          <a:p>
            <a:pPr>
              <a:defRPr sz="1500"/>
            </a:pPr>
            <a:r>
              <a:t>Preguntas.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0" name="Shape 510"/>
          <p:cNvSpPr/>
          <p:nvPr>
            <p:ph type="sldImg"/>
          </p:nvPr>
        </p:nvSpPr>
        <p:spPr>
          <a:prstGeom prst="rect">
            <a:avLst/>
          </a:prstGeom>
        </p:spPr>
        <p:txBody>
          <a:bodyPr/>
          <a:lstStyle/>
          <a:p>
            <a:pPr/>
          </a:p>
        </p:txBody>
      </p:sp>
      <p:sp>
        <p:nvSpPr>
          <p:cNvPr id="511" name="Shape 511"/>
          <p:cNvSpPr/>
          <p:nvPr>
            <p:ph type="body" sz="quarter" idx="1"/>
          </p:nvPr>
        </p:nvSpPr>
        <p:spPr>
          <a:prstGeom prst="rect">
            <a:avLst/>
          </a:prstGeom>
        </p:spPr>
        <p:txBody>
          <a:bodyPr/>
          <a:lstStyle/>
          <a:p>
            <a:pPr>
              <a:defRPr sz="1500"/>
            </a:pPr>
            <a:r>
              <a:t>Índice de preguntas típicas, agrupado por categoría:</a:t>
            </a:r>
          </a:p>
          <a:p>
            <a:pPr>
              <a:defRPr sz="1500"/>
            </a:pPr>
            <a:r>
              <a:t>▸ </a:t>
            </a:r>
            <a:r>
              <a:rPr b="1"/>
              <a:t>Modelos</a:t>
            </a:r>
            <a:r>
              <a:t>: S28 (roles) · S29 (DINOv2) · S35 (DINOv2 control).</a:t>
            </a:r>
          </a:p>
          <a:p>
            <a:pPr>
              <a:defRPr sz="1500"/>
            </a:pPr>
            <a:r>
              <a:t>▸ </a:t>
            </a:r>
            <a:r>
              <a:rPr b="1"/>
              <a:t>Método</a:t>
            </a:r>
            <a:r>
              <a:t>: S30 (Macenko) · S32 (argmax) · S36 (InfoNCE).</a:t>
            </a:r>
          </a:p>
          <a:p>
            <a:pPr>
              <a:defRPr sz="1500"/>
            </a:pPr>
            <a:r>
              <a:t>▸ </a:t>
            </a:r>
            <a:r>
              <a:rPr b="1"/>
              <a:t>Validez</a:t>
            </a:r>
            <a:r>
              <a:t>: S31 (UMAP) · S33 (BERT vs CLIP-text) · S34 (LC25000).</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4" name="Shape 554"/>
          <p:cNvSpPr/>
          <p:nvPr>
            <p:ph type="sldImg"/>
          </p:nvPr>
        </p:nvSpPr>
        <p:spPr>
          <a:prstGeom prst="rect">
            <a:avLst/>
          </a:prstGeom>
        </p:spPr>
        <p:txBody>
          <a:bodyPr/>
          <a:lstStyle/>
          <a:p>
            <a:pPr/>
          </a:p>
        </p:txBody>
      </p:sp>
      <p:sp>
        <p:nvSpPr>
          <p:cNvPr id="555" name="Shape 555"/>
          <p:cNvSpPr/>
          <p:nvPr>
            <p:ph type="body" sz="quarter" idx="1"/>
          </p:nvPr>
        </p:nvSpPr>
        <p:spPr>
          <a:prstGeom prst="rect">
            <a:avLst/>
          </a:prstGeom>
        </p:spPr>
        <p:txBody>
          <a:bodyPr/>
          <a:lstStyle/>
          <a:p>
            <a:pPr>
              <a:defRPr sz="1500"/>
            </a:pPr>
            <a:r>
              <a:t>Cada modelo </a:t>
            </a:r>
            <a:r>
              <a:rPr b="1"/>
              <a:t>aísla una variable</a:t>
            </a:r>
            <a:r>
              <a:t> del sistema base — no es "modelo A vs B" genérico.</a:t>
            </a:r>
          </a:p>
          <a:p>
            <a:pPr>
              <a:defRPr sz="1500"/>
            </a:pPr>
            <a:r>
              <a:t>▸ </a:t>
            </a:r>
            <a:r>
              <a:rPr b="1"/>
              <a:t>Imagen</a:t>
            </a:r>
            <a:r>
              <a:t>: ResNet50 (baseline CNN) → DINOv2 (control ViT SSL general) → PLIP (dominio patológico).</a:t>
            </a:r>
          </a:p>
          <a:p>
            <a:pPr>
              <a:defRPr sz="1500"/>
            </a:pPr>
            <a:r>
              <a:t>▸ </a:t>
            </a:r>
            <a:r>
              <a:rPr b="1"/>
              <a:t>Texto</a:t>
            </a:r>
            <a:r>
              <a:t>: BERT (general) → BioBERT (continúa) → PubMedBERT (desde cero, vocab propio).</a:t>
            </a:r>
          </a:p>
          <a:p>
            <a:pPr>
              <a:defRPr sz="1500"/>
            </a:pPr>
            <a:r>
              <a:t>▸ </a:t>
            </a:r>
            <a:r>
              <a:rPr b="1"/>
              <a:t>Modelo completo</a:t>
            </a:r>
            <a:r>
              <a:t>: PLIP zero-shot como referencia sin entrenamiento LC25000.</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9" name="Shape 569"/>
          <p:cNvSpPr/>
          <p:nvPr>
            <p:ph type="sldImg"/>
          </p:nvPr>
        </p:nvSpPr>
        <p:spPr>
          <a:prstGeom prst="rect">
            <a:avLst/>
          </a:prstGeom>
        </p:spPr>
        <p:txBody>
          <a:bodyPr/>
          <a:lstStyle/>
          <a:p>
            <a:pPr/>
          </a:p>
        </p:txBody>
      </p:sp>
      <p:sp>
        <p:nvSpPr>
          <p:cNvPr id="570" name="Shape 570"/>
          <p:cNvSpPr/>
          <p:nvPr>
            <p:ph type="body" sz="quarter" idx="1"/>
          </p:nvPr>
        </p:nvSpPr>
        <p:spPr>
          <a:prstGeom prst="rect">
            <a:avLst/>
          </a:prstGeom>
        </p:spPr>
        <p:txBody>
          <a:bodyPr/>
          <a:lstStyle/>
          <a:p>
            <a:pPr>
              <a:defRPr sz="1500"/>
            </a:pPr>
            <a:r>
              <a:t>Respuesta corta: </a:t>
            </a:r>
            <a:r>
              <a:rPr b="1"/>
              <a:t>descomposición parcial, no causal perfecta</a:t>
            </a:r>
            <a:r>
              <a:t>.</a:t>
            </a:r>
          </a:p>
          <a:p>
            <a:pPr>
              <a:defRPr sz="1500"/>
            </a:pPr>
            <a:r>
              <a:t>▸ ResNet50 → PLIP cambia </a:t>
            </a:r>
            <a:r>
              <a:rPr b="1"/>
              <a:t>cuatro cosas a la vez</a:t>
            </a:r>
            <a:r>
              <a:t> (arch, obj, dominio, patch).</a:t>
            </a:r>
          </a:p>
          <a:p>
            <a:pPr>
              <a:defRPr sz="1500"/>
            </a:pPr>
            <a:r>
              <a:t>▸ ResNet50 → DINOv2 aísla </a:t>
            </a:r>
            <a:r>
              <a:rPr b="1"/>
              <a:t>el efecto de "ViT + SSL general"</a:t>
            </a:r>
            <a:r>
              <a:t> (sin dominio médico).</a:t>
            </a:r>
          </a:p>
          <a:p>
            <a:pPr>
              <a:defRPr sz="1500"/>
            </a:pPr>
            <a:r>
              <a:t>▸ DINOv2 → PLIP mantiene la </a:t>
            </a:r>
            <a:r>
              <a:rPr b="1"/>
              <a:t>familia ViT</a:t>
            </a:r>
            <a:r>
              <a:t>, pero cambian objetivo y patch size (14 vs 32).</a:t>
            </a:r>
          </a:p>
          <a:p>
            <a:pPr>
              <a:defRPr sz="1500"/>
            </a:pPr>
            <a:r>
              <a:t>Conclusión: atribuimos parte del salto a arquitectura+SSL, pero </a:t>
            </a:r>
            <a:r>
              <a:rPr b="1"/>
              <a:t>dominio y patch size siguen confundidos</a:t>
            </a:r>
            <a:r>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5" name="Shape 605"/>
          <p:cNvSpPr/>
          <p:nvPr>
            <p:ph type="sldImg"/>
          </p:nvPr>
        </p:nvSpPr>
        <p:spPr>
          <a:prstGeom prst="rect">
            <a:avLst/>
          </a:prstGeom>
        </p:spPr>
        <p:txBody>
          <a:bodyPr/>
          <a:lstStyle/>
          <a:p>
            <a:pPr/>
          </a:p>
        </p:txBody>
      </p:sp>
      <p:sp>
        <p:nvSpPr>
          <p:cNvPr id="606" name="Shape 606"/>
          <p:cNvSpPr/>
          <p:nvPr>
            <p:ph type="body" sz="quarter" idx="1"/>
          </p:nvPr>
        </p:nvSpPr>
        <p:spPr>
          <a:prstGeom prst="rect">
            <a:avLst/>
          </a:prstGeom>
        </p:spPr>
        <p:txBody>
          <a:bodyPr/>
          <a:lstStyle/>
          <a:p>
            <a:pPr>
              <a:defRPr sz="1500"/>
            </a:pPr>
            <a:r>
              <a:t>Descomposición de tinción en espacio de densidad óptica.</a:t>
            </a:r>
          </a:p>
          <a:p>
            <a:pPr>
              <a:defRPr sz="1500"/>
            </a:pPr>
            <a:r>
              <a:t>  </a:t>
            </a:r>
            <a:r>
              <a:rPr b="1"/>
              <a:t>OD = − log₁₀( (I + 1) / I₀ )</a:t>
            </a:r>
            <a:r>
              <a:t>  con I₀ = 255</a:t>
            </a:r>
          </a:p>
          <a:p>
            <a:pPr>
              <a:defRPr sz="1500"/>
            </a:pPr>
            <a:r>
              <a:t>  </a:t>
            </a:r>
            <a:r>
              <a:rPr b="1"/>
              <a:t>OD = S · C</a:t>
            </a:r>
            <a:r>
              <a:t> ; luego </a:t>
            </a:r>
            <a:r>
              <a:rPr b="1"/>
              <a:t>C = S⁺ · OD</a:t>
            </a:r>
            <a:r>
              <a:t> ; re-render: </a:t>
            </a:r>
            <a:r>
              <a:rPr b="1"/>
              <a:t>I′ = I₀ · 10^(−S_ref · C)</a:t>
            </a:r>
            <a:endParaRPr b="1"/>
          </a:p>
          <a:p>
            <a:pPr>
              <a:defRPr sz="1500"/>
            </a:pPr>
            <a:r>
              <a:t>▸ </a:t>
            </a:r>
            <a:r>
              <a:rPr b="1"/>
              <a:t>SVD sobre OD</a:t>
            </a:r>
            <a:r>
              <a:t> para descubrir los vectores H (hematoxilina) y E (eosina).</a:t>
            </a:r>
          </a:p>
          <a:p>
            <a:pPr>
              <a:defRPr sz="1500"/>
            </a:pPr>
            <a:r>
              <a:t>▸ </a:t>
            </a:r>
            <a:r>
              <a:rPr b="1"/>
              <a:t>Preserva concentraciones</a:t>
            </a:r>
            <a:r>
              <a:t> del input y re-renderiza con la </a:t>
            </a:r>
            <a:r>
              <a:rPr b="1"/>
              <a:t>paleta de referencia</a:t>
            </a:r>
            <a:r>
              <a:t> (NCT-NORM).</a:t>
            </a:r>
          </a:p>
          <a:p>
            <a:pPr>
              <a:defRPr sz="1500"/>
            </a:pPr>
            <a:r>
              <a:t>▸ NO es color-transfer estilo LAB: es descomposición de tinción.</a:t>
            </a:r>
          </a:p>
          <a:p>
            <a:pPr>
              <a:defRPr sz="1500"/>
            </a:pPr>
            <a:r>
              <a:t>Resultado en este TFM: mueve poco → </a:t>
            </a:r>
            <a:r>
              <a:rPr b="1"/>
              <a:t>-0.022 / +0.030 / +0.020</a:t>
            </a:r>
            <a:r>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1" name="Shape 621"/>
          <p:cNvSpPr/>
          <p:nvPr>
            <p:ph type="sldImg"/>
          </p:nvPr>
        </p:nvSpPr>
        <p:spPr>
          <a:prstGeom prst="rect">
            <a:avLst/>
          </a:prstGeom>
        </p:spPr>
        <p:txBody>
          <a:bodyPr/>
          <a:lstStyle/>
          <a:p>
            <a:pPr/>
          </a:p>
        </p:txBody>
      </p:sp>
      <p:sp>
        <p:nvSpPr>
          <p:cNvPr id="622" name="Shape 622"/>
          <p:cNvSpPr/>
          <p:nvPr>
            <p:ph type="body" sz="quarter" idx="1"/>
          </p:nvPr>
        </p:nvSpPr>
        <p:spPr>
          <a:prstGeom prst="rect">
            <a:avLst/>
          </a:prstGeom>
        </p:spPr>
        <p:txBody>
          <a:bodyPr/>
          <a:lstStyle/>
          <a:p>
            <a:pPr>
              <a:defRPr sz="1500"/>
            </a:pPr>
            <a:r>
              <a:t>UMAP es visualización, NO métrica:</a:t>
            </a:r>
          </a:p>
          <a:p>
            <a:pPr>
              <a:defRPr sz="1500"/>
            </a:pPr>
            <a:r>
              <a:t>▸ Preserva </a:t>
            </a:r>
            <a:r>
              <a:rPr b="1"/>
              <a:t>vecindarios locales</a:t>
            </a:r>
            <a:r>
              <a:t> (cercanos siguen cerca).</a:t>
            </a:r>
          </a:p>
          <a:p>
            <a:pPr>
              <a:defRPr sz="1500"/>
            </a:pPr>
            <a:r>
              <a:t>▸ Sobre embeddings </a:t>
            </a:r>
            <a:r>
              <a:rPr b="1"/>
              <a:t>256-d L2-normalizados</a:t>
            </a:r>
            <a:r>
              <a:t>, con cosine.</a:t>
            </a:r>
          </a:p>
          <a:p>
            <a:pPr>
              <a:defRPr sz="1500"/>
            </a:pPr>
            <a:r>
              <a:t>▸ </a:t>
            </a:r>
            <a:r>
              <a:rPr b="1"/>
              <a:t>NO preserva distancias globales</a:t>
            </a:r>
            <a:r>
              <a:t> ni prueba causalidad.</a:t>
            </a:r>
          </a:p>
          <a:p>
            <a:pPr>
              <a:defRPr sz="1500"/>
            </a:pPr>
            <a:r>
              <a:t>▸ Uso aquí: confirmar que </a:t>
            </a:r>
            <a:r>
              <a:rPr b="1"/>
              <a:t>la geometría es consistente con macro-F1</a:t>
            </a:r>
            <a:r>
              <a:t>.</a:t>
            </a:r>
          </a:p>
          <a:p>
            <a:pPr>
              <a:defRPr sz="1500"/>
            </a:pPr>
            <a:r>
              <a:t>Parámetros: n_neighbors=15, min_dist=0.1, metric=cosine.</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6" name="Shape 656"/>
          <p:cNvSpPr/>
          <p:nvPr>
            <p:ph type="sldImg"/>
          </p:nvPr>
        </p:nvSpPr>
        <p:spPr>
          <a:prstGeom prst="rect">
            <a:avLst/>
          </a:prstGeom>
        </p:spPr>
        <p:txBody>
          <a:bodyPr/>
          <a:lstStyle/>
          <a:p>
            <a:pPr/>
          </a:p>
        </p:txBody>
      </p:sp>
      <p:sp>
        <p:nvSpPr>
          <p:cNvPr id="657" name="Shape 657"/>
          <p:cNvSpPr/>
          <p:nvPr>
            <p:ph type="body" sz="quarter" idx="1"/>
          </p:nvPr>
        </p:nvSpPr>
        <p:spPr>
          <a:prstGeom prst="rect">
            <a:avLst/>
          </a:prstGeom>
        </p:spPr>
        <p:txBody>
          <a:bodyPr/>
          <a:lstStyle/>
          <a:p>
            <a:pPr>
              <a:defRPr sz="1500"/>
            </a:pPr>
            <a:r>
              <a:t>Por qué no es trampa:</a:t>
            </a:r>
          </a:p>
          <a:p>
            <a:pPr>
              <a:defRPr sz="1500"/>
            </a:pPr>
            <a:r>
              <a:t>▸ NCT y Chaoyang tienen </a:t>
            </a:r>
            <a:r>
              <a:rPr b="1"/>
              <a:t>solo clases de colon</a:t>
            </a:r>
            <a:r>
              <a:t>; LungHist tiene </a:t>
            </a:r>
            <a:r>
              <a:rPr b="1"/>
              <a:t>solo clases de pulmón</a:t>
            </a:r>
            <a:r>
              <a:t>.</a:t>
            </a:r>
          </a:p>
          <a:p>
            <a:pPr>
              <a:defRPr sz="1500"/>
            </a:pPr>
            <a:r>
              <a:t>▸ Sin restringir, el argmax podría </a:t>
            </a:r>
            <a:r>
              <a:rPr b="1"/>
              <a:t>predecir un órgano ausente</a:t>
            </a:r>
            <a:r>
              <a:t> del dataset (falso error).</a:t>
            </a:r>
          </a:p>
          <a:p>
            <a:pPr>
              <a:defRPr sz="1500"/>
            </a:pPr>
            <a:r>
              <a:t>▸ La restricción se aplica al </a:t>
            </a:r>
            <a:r>
              <a:rPr b="1"/>
              <a:t>vector de similitudes ANTES del argmax</a:t>
            </a:r>
            <a:r>
              <a:t> — no durante entrenamiento.</a:t>
            </a:r>
          </a:p>
          <a:p>
            <a:pPr>
              <a:defRPr sz="1500"/>
            </a:pPr>
            <a:r>
              <a:t>▸ Mide </a:t>
            </a:r>
            <a:r>
              <a:rPr b="1"/>
              <a:t>discriminación intra-órgano</a:t>
            </a:r>
            <a:r>
              <a:t>, no detección abierta multi-órgano.</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6" name="Shape 676"/>
          <p:cNvSpPr/>
          <p:nvPr>
            <p:ph type="sldImg"/>
          </p:nvPr>
        </p:nvSpPr>
        <p:spPr>
          <a:prstGeom prst="rect">
            <a:avLst/>
          </a:prstGeom>
        </p:spPr>
        <p:txBody>
          <a:bodyPr/>
          <a:lstStyle/>
          <a:p>
            <a:pPr/>
          </a:p>
        </p:txBody>
      </p:sp>
      <p:sp>
        <p:nvSpPr>
          <p:cNvPr id="677" name="Shape 677"/>
          <p:cNvSpPr/>
          <p:nvPr>
            <p:ph type="body" sz="quarter" idx="1"/>
          </p:nvPr>
        </p:nvSpPr>
        <p:spPr>
          <a:prstGeom prst="rect">
            <a:avLst/>
          </a:prstGeom>
        </p:spPr>
        <p:txBody>
          <a:bodyPr/>
          <a:lstStyle/>
          <a:p>
            <a:pPr>
              <a:defRPr sz="1500"/>
            </a:pPr>
            <a:r>
              <a:t>Aislamiento vs demasiadas variables a la vez:</a:t>
            </a:r>
          </a:p>
          <a:p>
            <a:pPr>
              <a:defRPr sz="1500"/>
            </a:pPr>
            <a:r>
              <a:t>▸ </a:t>
            </a:r>
            <a:r>
              <a:rPr b="1"/>
              <a:t>BERT → BioBERT/PubMedBERT</a:t>
            </a:r>
            <a:r>
              <a:t>: cambia solo dominio y vocabulario. Arquitectura, pooling y familia idénticos.</a:t>
            </a:r>
          </a:p>
          <a:p>
            <a:pPr>
              <a:defRPr sz="1500"/>
            </a:pPr>
            <a:r>
              <a:t>▸ </a:t>
            </a:r>
            <a:r>
              <a:rPr b="1"/>
              <a:t>BERT → CLIP-text</a:t>
            </a:r>
            <a:r>
              <a:t>: cambiaría también arquitectura + tokenizer BPE + pooling [EOS]. Demasiadas variables.</a:t>
            </a:r>
          </a:p>
          <a:p>
            <a:pPr>
              <a:defRPr sz="1500"/>
            </a:pPr>
            <a:r>
              <a:t>▸ PLIP zero-shot ya cubre el caso "CLIP completo con sus dos encoders".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9" name="Shape 689"/>
          <p:cNvSpPr/>
          <p:nvPr>
            <p:ph type="sldImg"/>
          </p:nvPr>
        </p:nvSpPr>
        <p:spPr>
          <a:prstGeom prst="rect">
            <a:avLst/>
          </a:prstGeom>
        </p:spPr>
        <p:txBody>
          <a:bodyPr/>
          <a:lstStyle/>
          <a:p>
            <a:pPr/>
          </a:p>
        </p:txBody>
      </p:sp>
      <p:sp>
        <p:nvSpPr>
          <p:cNvPr id="690" name="Shape 690"/>
          <p:cNvSpPr/>
          <p:nvPr>
            <p:ph type="body" sz="quarter" idx="1"/>
          </p:nvPr>
        </p:nvSpPr>
        <p:spPr>
          <a:prstGeom prst="rect">
            <a:avLst/>
          </a:prstGeom>
        </p:spPr>
        <p:txBody>
          <a:bodyPr/>
          <a:lstStyle/>
          <a:p>
            <a:pPr>
              <a:defRPr sz="1500"/>
            </a:pPr>
            <a:r>
              <a:t>Respuesta directa: </a:t>
            </a:r>
            <a:r>
              <a:rPr b="1"/>
              <a:t>invalida lectura fuerte del 0.996, no invalida los externos</a:t>
            </a:r>
            <a:r>
              <a:t>.</a:t>
            </a:r>
          </a:p>
          <a:p>
            <a:pPr>
              <a:defRPr sz="1500"/>
            </a:pPr>
            <a:r>
              <a:t>▸ LC25000 se construyó con </a:t>
            </a:r>
            <a:r>
              <a:rPr b="1"/>
              <a:t>aumentación</a:t>
            </a:r>
            <a:r>
              <a:t> (rotate/flip) sobre imágenes fuente sin marca.</a:t>
            </a:r>
          </a:p>
          <a:p>
            <a:pPr>
              <a:defRPr sz="1500"/>
            </a:pPr>
            <a:r>
              <a:t>▸ Dedup por byte-hash no lo arregla del todo → </a:t>
            </a:r>
            <a:r>
              <a:rPr b="1"/>
              <a:t>train y test comparten fuentes</a:t>
            </a:r>
            <a:r>
              <a:t> → 0.996 inflado.</a:t>
            </a:r>
          </a:p>
          <a:p>
            <a:pPr>
              <a:defRPr sz="1500"/>
            </a:pPr>
            <a:r>
              <a:t>▸ Los tres datasets externos </a:t>
            </a:r>
            <a:r>
              <a:rPr b="1"/>
              <a:t>no comparten imágenes</a:t>
            </a:r>
            <a:r>
              <a:t> con LC25000 → </a:t>
            </a:r>
            <a:r>
              <a:rPr b="1"/>
              <a:t>+0.335 externo intacto</a:t>
            </a:r>
            <a:r>
              <a:t>.</a:t>
            </a:r>
          </a:p>
          <a:p>
            <a:pPr>
              <a:defRPr sz="1500"/>
            </a:pPr>
            <a:r>
              <a:t>▸ Además, deltas entre variantes siguen siendo comparables (todas heredan la misma fuga).</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02" name="Shape 702"/>
          <p:cNvSpPr/>
          <p:nvPr>
            <p:ph type="sldImg"/>
          </p:nvPr>
        </p:nvSpPr>
        <p:spPr>
          <a:prstGeom prst="rect">
            <a:avLst/>
          </a:prstGeom>
        </p:spPr>
        <p:txBody>
          <a:bodyPr/>
          <a:lstStyle/>
          <a:p>
            <a:pPr/>
          </a:p>
        </p:txBody>
      </p:sp>
      <p:sp>
        <p:nvSpPr>
          <p:cNvPr id="703" name="Shape 703"/>
          <p:cNvSpPr/>
          <p:nvPr>
            <p:ph type="body" sz="quarter" idx="1"/>
          </p:nvPr>
        </p:nvSpPr>
        <p:spPr>
          <a:prstGeom prst="rect">
            <a:avLst/>
          </a:prstGeom>
        </p:spPr>
        <p:txBody>
          <a:bodyPr/>
          <a:lstStyle/>
          <a:p>
            <a:pPr>
              <a:defRPr sz="1500"/>
            </a:pPr>
            <a:r>
              <a:t>Es un ViT autosupervisado SIN dominio médico:</a:t>
            </a:r>
          </a:p>
          <a:p>
            <a:pPr>
              <a:defRPr sz="1500"/>
            </a:pPr>
            <a:r>
              <a:t>▸ </a:t>
            </a:r>
            <a:r>
              <a:rPr b="1"/>
              <a:t>142M imágenes naturales</a:t>
            </a:r>
            <a:r>
              <a:t> (LVD-142M), sin etiquetas ni captions.</a:t>
            </a:r>
          </a:p>
          <a:p>
            <a:pPr>
              <a:defRPr sz="1500"/>
            </a:pPr>
            <a:r>
              <a:t>▸ Método: </a:t>
            </a:r>
            <a:r>
              <a:rPr b="1"/>
              <a:t>student aprende del teacher EMA</a:t>
            </a:r>
            <a:r>
              <a:t> con multi-crop (local + global).</a:t>
            </a:r>
          </a:p>
          <a:p>
            <a:pPr>
              <a:defRPr sz="1500"/>
            </a:pPr>
            <a:r>
              <a:t>▸ Permite separar el salto en dos comparaciones más limpias.</a:t>
            </a:r>
          </a:p>
          <a:p>
            <a:pPr>
              <a:defRPr sz="1500"/>
            </a:pPr>
            <a:r>
              <a:t>▸ </a:t>
            </a:r>
            <a:r>
              <a:rPr b="1"/>
              <a:t>NO prueba el efecto de dominio</a:t>
            </a:r>
            <a:r>
              <a:t>; permite atribuir parte a "ViT + SSL general".</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9" name="Shape 719"/>
          <p:cNvSpPr/>
          <p:nvPr>
            <p:ph type="sldImg"/>
          </p:nvPr>
        </p:nvSpPr>
        <p:spPr>
          <a:prstGeom prst="rect">
            <a:avLst/>
          </a:prstGeom>
        </p:spPr>
        <p:txBody>
          <a:bodyPr/>
          <a:lstStyle/>
          <a:p>
            <a:pPr/>
          </a:p>
        </p:txBody>
      </p:sp>
      <p:sp>
        <p:nvSpPr>
          <p:cNvPr id="720" name="Shape 720"/>
          <p:cNvSpPr/>
          <p:nvPr>
            <p:ph type="body" sz="quarter" idx="1"/>
          </p:nvPr>
        </p:nvSpPr>
        <p:spPr>
          <a:prstGeom prst="rect">
            <a:avLst/>
          </a:prstGeom>
        </p:spPr>
        <p:txBody>
          <a:bodyPr/>
          <a:lstStyle/>
          <a:p>
            <a:pPr>
              <a:defRPr sz="1500"/>
            </a:pPr>
            <a:r>
              <a:t>El objetivo contrastivo que optimizamos.</a:t>
            </a:r>
          </a:p>
          <a:p>
            <a:pPr>
              <a:defRPr sz="1500"/>
            </a:pPr>
            <a:r>
              <a:t>  </a:t>
            </a:r>
            <a:r>
              <a:rPr b="1"/>
              <a:t>sᵢⱼ = (vᵢ · tⱼ) / τ</a:t>
            </a:r>
            <a:r>
              <a:t>  (similitud coseno escalada; vectores L2-norm)</a:t>
            </a:r>
          </a:p>
          <a:p>
            <a:pPr>
              <a:defRPr sz="1500"/>
            </a:pPr>
            <a:r>
              <a:t>  </a:t>
            </a:r>
            <a:r>
              <a:rPr b="1"/>
              <a:t>L_{I→T} = − (1/N) Σᵢ log[ exp(sᵢᵢ) / Σⱼ exp(sᵢⱼ) ]</a:t>
            </a:r>
            <a:endParaRPr b="1"/>
          </a:p>
          <a:p>
            <a:pPr>
              <a:defRPr sz="1500"/>
            </a:pPr>
            <a:r>
              <a:t>  </a:t>
            </a:r>
            <a:r>
              <a:rPr b="1"/>
              <a:t>L = ½ (L_{I→T} + L_{T→I})</a:t>
            </a:r>
            <a:r>
              <a:t>  (simétrica)</a:t>
            </a:r>
          </a:p>
          <a:p>
            <a:pPr>
              <a:defRPr sz="1500"/>
            </a:pPr>
            <a:r>
              <a:t>▸ Softmax </a:t>
            </a:r>
            <a:r>
              <a:rPr b="1"/>
              <a:t>por fila</a:t>
            </a:r>
            <a:r>
              <a:t> empuja la diagonal por encima de las off-diagonales del batch.</a:t>
            </a:r>
          </a:p>
          <a:p>
            <a:pPr>
              <a:defRPr sz="1500"/>
            </a:pPr>
            <a:r>
              <a:t>▸ Temperatura τ </a:t>
            </a:r>
            <a:r>
              <a:rPr b="1"/>
              <a:t>aprendida</a:t>
            </a:r>
            <a:r>
              <a:t> (como log(1/τ)).</a:t>
            </a:r>
          </a:p>
          <a:p>
            <a:pPr>
              <a:defRPr sz="1500"/>
            </a:pPr>
            <a:r>
              <a:t>Caveat: con prompts compartidos por clase → </a:t>
            </a:r>
            <a:r>
              <a:rPr b="1"/>
              <a:t>falsos negativos</a:t>
            </a:r>
            <a:r>
              <a:t> entre imágenes de misma clase.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2130425"/>
            <a:ext cx="7772400" cy="1470025"/>
          </a:xfrm>
          <a:prstGeom prst="rect">
            <a:avLst/>
          </a:prstGeom>
        </p:spPr>
        <p:txBody>
          <a:bodyPr/>
          <a:lstStyle/>
          <a:p>
            <a:pPr/>
            <a:r>
              <a:t>Title Text</a:t>
            </a:r>
          </a:p>
        </p:txBody>
      </p:sp>
      <p:sp>
        <p:nvSpPr>
          <p:cNvPr id="12" name="Body Level One…"/>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0" algn="ctr">
              <a:buSzTx/>
              <a:buFontTx/>
              <a:buNone/>
              <a:defRPr>
                <a:solidFill>
                  <a:srgbClr val="888888"/>
                </a:solidFill>
              </a:defRPr>
            </a:lvl2pPr>
            <a:lvl3pPr marL="0" indent="0" algn="ctr">
              <a:buSzTx/>
              <a:buFontTx/>
              <a:buNone/>
              <a:defRPr>
                <a:solidFill>
                  <a:srgbClr val="888888"/>
                </a:solidFill>
              </a:defRPr>
            </a:lvl3pPr>
            <a:lvl4pPr marL="0" indent="0" algn="ctr">
              <a:buSzTx/>
              <a:buFontTx/>
              <a:buNone/>
              <a:defRPr>
                <a:solidFill>
                  <a:srgbClr val="888888"/>
                </a:solidFill>
              </a:defRPr>
            </a:lvl4pPr>
            <a:lvl5pPr marL="0" indent="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722312" y="4406900"/>
            <a:ext cx="7772401" cy="1362075"/>
          </a:xfrm>
          <a:prstGeom prst="rect">
            <a:avLst/>
          </a:prstGeom>
        </p:spPr>
        <p:txBody>
          <a:bodyPr anchor="t"/>
          <a:lstStyle>
            <a:lvl1pPr algn="l">
              <a:defRPr b="1" cap="all" sz="4000"/>
            </a:lvl1pPr>
          </a:lstStyle>
          <a:p>
            <a:pPr/>
            <a:r>
              <a:t>Title Text</a:t>
            </a:r>
          </a:p>
        </p:txBody>
      </p:sp>
      <p:sp>
        <p:nvSpPr>
          <p:cNvPr id="30" name="Body Level One…"/>
          <p:cNvSpPr txBox="1"/>
          <p:nvPr>
            <p:ph type="body" sz="quarter" idx="1"/>
          </p:nvPr>
        </p:nvSpPr>
        <p:spPr>
          <a:xfrm>
            <a:off x="722312" y="2906713"/>
            <a:ext cx="7772401" cy="1500211"/>
          </a:xfrm>
          <a:prstGeom prst="rect">
            <a:avLst/>
          </a:prstGeom>
        </p:spPr>
        <p:txBody>
          <a:bodyPr anchor="b"/>
          <a:lstStyle>
            <a:lvl1pPr marL="0" indent="0">
              <a:spcBef>
                <a:spcPts val="400"/>
              </a:spcBef>
              <a:buSzTx/>
              <a:buFontTx/>
              <a:buNone/>
              <a:defRPr sz="2000">
                <a:solidFill>
                  <a:srgbClr val="888888"/>
                </a:solidFill>
              </a:defRPr>
            </a:lvl1pPr>
            <a:lvl2pPr marL="0" indent="0">
              <a:spcBef>
                <a:spcPts val="400"/>
              </a:spcBef>
              <a:buSzTx/>
              <a:buFontTx/>
              <a:buNone/>
              <a:defRPr sz="2000">
                <a:solidFill>
                  <a:srgbClr val="888888"/>
                </a:solidFill>
              </a:defRPr>
            </a:lvl2pPr>
            <a:lvl3pPr marL="0" indent="0">
              <a:spcBef>
                <a:spcPts val="400"/>
              </a:spcBef>
              <a:buSzTx/>
              <a:buFontTx/>
              <a:buNone/>
              <a:defRPr sz="2000">
                <a:solidFill>
                  <a:srgbClr val="888888"/>
                </a:solidFill>
              </a:defRPr>
            </a:lvl3pPr>
            <a:lvl4pPr marL="0" indent="0">
              <a:spcBef>
                <a:spcPts val="400"/>
              </a:spcBef>
              <a:buSzTx/>
              <a:buFontTx/>
              <a:buNone/>
              <a:defRPr sz="2000">
                <a:solidFill>
                  <a:srgbClr val="888888"/>
                </a:solidFill>
              </a:defRPr>
            </a:lvl4pPr>
            <a:lvl5pPr marL="0" indent="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8" indent="-320038">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prstGeom prst="rect">
            <a:avLst/>
          </a:prstGeom>
        </p:spPr>
        <p:txBody>
          <a:bodyPr/>
          <a:lstStyle/>
          <a:p>
            <a:pPr/>
            <a:r>
              <a:t>Title Text</a:t>
            </a:r>
          </a:p>
        </p:txBody>
      </p:sp>
      <p:sp>
        <p:nvSpPr>
          <p:cNvPr id="48" name="Body Level One…"/>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0">
              <a:spcBef>
                <a:spcPts val="500"/>
              </a:spcBef>
              <a:buSzTx/>
              <a:buFontTx/>
              <a:buNone/>
              <a:defRPr b="1" sz="2400"/>
            </a:lvl2pPr>
            <a:lvl3pPr marL="0" indent="0">
              <a:spcBef>
                <a:spcPts val="500"/>
              </a:spcBef>
              <a:buSzTx/>
              <a:buFontTx/>
              <a:buNone/>
              <a:defRPr b="1" sz="2400"/>
            </a:lvl3pPr>
            <a:lvl4pPr marL="0" indent="0">
              <a:spcBef>
                <a:spcPts val="500"/>
              </a:spcBef>
              <a:buSzTx/>
              <a:buFontTx/>
              <a:buNone/>
              <a:defRPr b="1" sz="2400"/>
            </a:lvl4pPr>
            <a:lvl5pPr marL="0" indent="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45025" y="1535111"/>
            <a:ext cx="4041775" cy="639787"/>
          </a:xfrm>
          <a:prstGeom prst="rect">
            <a:avLst/>
          </a:prstGeom>
        </p:spPr>
        <p:txBody>
          <a:bodyPr anchor="b"/>
          <a:lstStyle/>
          <a:p>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457200" y="273050"/>
            <a:ext cx="3008316" cy="1162050"/>
          </a:xfrm>
          <a:prstGeom prst="rect">
            <a:avLst/>
          </a:prstGeom>
        </p:spPr>
        <p:txBody>
          <a:bodyPr anchor="b"/>
          <a:lstStyle>
            <a:lvl1pPr algn="l">
              <a:defRPr b="1" sz="2000"/>
            </a:lvl1pPr>
          </a:lstStyle>
          <a:p>
            <a:pPr/>
            <a:r>
              <a:t>Title Text</a:t>
            </a:r>
          </a:p>
        </p:txBody>
      </p:sp>
      <p:sp>
        <p:nvSpPr>
          <p:cNvPr id="73" name="Body Level One…"/>
          <p:cNvSpPr txBox="1"/>
          <p:nvPr>
            <p:ph type="body" sz="half"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457198" y="1435100"/>
            <a:ext cx="3008317" cy="4691063"/>
          </a:xfrm>
          <a:prstGeom prst="rect">
            <a:avLst/>
          </a:prstGeom>
        </p:spPr>
        <p:txBody>
          <a:bodyPr/>
          <a:lstStyle/>
          <a:p>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92288" y="4800600"/>
            <a:ext cx="5486404" cy="566738"/>
          </a:xfrm>
          <a:prstGeom prst="rect">
            <a:avLst/>
          </a:prstGeom>
        </p:spPr>
        <p:txBody>
          <a:bodyPr anchor="b"/>
          <a:lstStyle>
            <a:lvl1pPr algn="l">
              <a:defRPr b="1" sz="2000"/>
            </a:lvl1pPr>
          </a:lstStyle>
          <a:p>
            <a:pPr/>
            <a:r>
              <a:t>Title Text</a:t>
            </a:r>
          </a:p>
        </p:txBody>
      </p:sp>
      <p:sp>
        <p:nvSpPr>
          <p:cNvPr id="83" name="Body Level One…"/>
          <p:cNvSpPr txBox="1"/>
          <p:nvPr>
            <p:ph type="body" sz="quarter" idx="1"/>
          </p:nvPr>
        </p:nvSpPr>
        <p:spPr>
          <a:xfrm>
            <a:off x="1792288" y="5367337"/>
            <a:ext cx="5486404" cy="804886"/>
          </a:xfrm>
          <a:prstGeom prst="rect">
            <a:avLst/>
          </a:prstGeom>
        </p:spPr>
        <p:txBody>
          <a:bodyPr/>
          <a:lstStyle>
            <a:lvl1pPr marL="0" indent="0">
              <a:spcBef>
                <a:spcPts val="300"/>
              </a:spcBef>
              <a:buSzTx/>
              <a:buFontTx/>
              <a:buNone/>
              <a:defRPr sz="1400"/>
            </a:lvl1pPr>
            <a:lvl2pPr marL="0" indent="0">
              <a:spcBef>
                <a:spcPts val="300"/>
              </a:spcBef>
              <a:buSzTx/>
              <a:buFontTx/>
              <a:buNone/>
              <a:defRPr sz="1400"/>
            </a:lvl2pPr>
            <a:lvl3pPr marL="0" indent="0">
              <a:spcBef>
                <a:spcPts val="300"/>
              </a:spcBef>
              <a:buSzTx/>
              <a:buFontTx/>
              <a:buNone/>
              <a:defRPr sz="1400"/>
            </a:lvl3pPr>
            <a:lvl4pPr marL="0" indent="0">
              <a:spcBef>
                <a:spcPts val="300"/>
              </a:spcBef>
              <a:buSzTx/>
              <a:buFontTx/>
              <a:buNone/>
              <a:defRPr sz="1400"/>
            </a:lvl4pPr>
            <a:lvl5pPr marL="0" indent="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274638"/>
            <a:ext cx="8229600" cy="11430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normAutofit fontScale="100000" lnSpcReduction="0"/>
          </a:bodyPr>
          <a:lstStyle/>
          <a:p>
            <a:pPr/>
            <a:r>
              <a:t>Title Text</a:t>
            </a:r>
          </a:p>
        </p:txBody>
      </p:sp>
      <p:sp>
        <p:nvSpPr>
          <p:cNvPr id="3" name="Body Level One…"/>
          <p:cNvSpPr txBox="1"/>
          <p:nvPr>
            <p:ph type="body" idx="1"/>
          </p:nvPr>
        </p:nvSpPr>
        <p:spPr>
          <a:xfrm>
            <a:off x="457200" y="1600200"/>
            <a:ext cx="8229600" cy="452596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28181" y="6414762"/>
            <a:ext cx="258620" cy="248302"/>
          </a:xfrm>
          <a:prstGeom prst="rect">
            <a:avLst/>
          </a:prstGeom>
          <a:ln w="12700">
            <a:miter lim="400000"/>
          </a:ln>
        </p:spPr>
        <p:txBody>
          <a:bodyPr wrap="none" lIns="45718" tIns="45718" rIns="45718" bIns="45718"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1pPr>
      <a:lvl2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2pPr>
      <a:lvl3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3pPr>
      <a:lvl4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4pPr>
      <a:lvl5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5pPr>
      <a:lvl6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6pPr>
      <a:lvl7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7pPr>
      <a:lvl8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8pPr>
      <a:lvl9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9pPr>
    </p:titleStyle>
    <p:bodyStyle>
      <a:lvl1pPr marL="342900" marR="0" indent="-3429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6B0F1A"/>
        </a:solidFill>
      </p:bgPr>
    </p:bg>
    <p:spTree>
      <p:nvGrpSpPr>
        <p:cNvPr id="1" name=""/>
        <p:cNvGrpSpPr/>
        <p:nvPr/>
      </p:nvGrpSpPr>
      <p:grpSpPr>
        <a:xfrm>
          <a:off x="0" y="0"/>
          <a:ext cx="0" cy="0"/>
          <a:chOff x="0" y="0"/>
          <a:chExt cx="0" cy="0"/>
        </a:xfrm>
      </p:grpSpPr>
      <p:pic>
        <p:nvPicPr>
          <p:cNvPr id="93" name="Picture 7" descr="Picture 7"/>
          <p:cNvPicPr>
            <a:picLocks noChangeAspect="1"/>
          </p:cNvPicPr>
          <p:nvPr/>
        </p:nvPicPr>
        <p:blipFill>
          <a:blip r:embed="rId3">
            <a:extLst/>
          </a:blip>
          <a:stretch>
            <a:fillRect/>
          </a:stretch>
        </p:blipFill>
        <p:spPr>
          <a:xfrm>
            <a:off x="0" y="25400"/>
            <a:ext cx="12191697" cy="6858000"/>
          </a:xfrm>
          <a:prstGeom prst="rect">
            <a:avLst/>
          </a:prstGeom>
          <a:ln w="12700">
            <a:miter lim="400000"/>
          </a:ln>
        </p:spPr>
      </p:pic>
      <p:sp>
        <p:nvSpPr>
          <p:cNvPr id="94" name="Rectangle 1"/>
          <p:cNvSpPr/>
          <p:nvPr/>
        </p:nvSpPr>
        <p:spPr>
          <a:xfrm>
            <a:off x="-1" y="5852159"/>
            <a:ext cx="12191697" cy="1005840"/>
          </a:xfrm>
          <a:prstGeom prst="rect">
            <a:avLst/>
          </a:prstGeom>
          <a:solidFill>
            <a:srgbClr val="4D0912"/>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95" name="Rectangle 2"/>
          <p:cNvSpPr/>
          <p:nvPr/>
        </p:nvSpPr>
        <p:spPr>
          <a:xfrm>
            <a:off x="0" y="2011675"/>
            <a:ext cx="457200" cy="3200427"/>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96" name="TextBox 3"/>
          <p:cNvSpPr txBox="1"/>
          <p:nvPr/>
        </p:nvSpPr>
        <p:spPr>
          <a:xfrm>
            <a:off x="1143000" y="914399"/>
            <a:ext cx="9966961" cy="33308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a:solidFill>
                  <a:srgbClr val="C9A227"/>
                </a:solidFill>
              </a:defRPr>
            </a:lvl1pPr>
          </a:lstStyle>
          <a:p>
            <a:pPr/>
            <a:r>
              <a:t>Trabajo de Fin de Máster</a:t>
            </a:r>
          </a:p>
        </p:txBody>
      </p:sp>
      <p:sp>
        <p:nvSpPr>
          <p:cNvPr id="97" name="TextBox 4"/>
          <p:cNvSpPr txBox="1"/>
          <p:nvPr/>
        </p:nvSpPr>
        <p:spPr>
          <a:xfrm>
            <a:off x="1143000" y="1463038"/>
            <a:ext cx="9966961" cy="129451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4200">
                <a:solidFill>
                  <a:srgbClr val="FFFFFF"/>
                </a:solidFill>
              </a:defRPr>
            </a:lvl1pPr>
          </a:lstStyle>
          <a:p>
            <a:pPr/>
            <a:r>
              <a:t>A Study on Foundational Vision-Language Models for Histopathology Image Analysis</a:t>
            </a:r>
          </a:p>
        </p:txBody>
      </p:sp>
      <p:sp>
        <p:nvSpPr>
          <p:cNvPr id="98" name="TextBox 5"/>
          <p:cNvSpPr txBox="1"/>
          <p:nvPr/>
        </p:nvSpPr>
        <p:spPr>
          <a:xfrm>
            <a:off x="1143000" y="4114800"/>
            <a:ext cx="9966961" cy="38537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200">
                <a:solidFill>
                  <a:srgbClr val="FFFFFF"/>
                </a:solidFill>
              </a:defRPr>
            </a:lvl1pPr>
          </a:lstStyle>
          <a:p>
            <a:pPr/>
            <a:r>
              <a:t>Leandro Candau Sánchez de Ybargüen</a:t>
            </a:r>
          </a:p>
        </p:txBody>
      </p:sp>
      <p:sp>
        <p:nvSpPr>
          <p:cNvPr id="99" name="TextBox 6"/>
          <p:cNvSpPr txBox="1"/>
          <p:nvPr/>
        </p:nvSpPr>
        <p:spPr>
          <a:xfrm>
            <a:off x="1143000" y="4617720"/>
            <a:ext cx="9966961" cy="85378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1400">
                <a:solidFill>
                  <a:srgbClr val="FAF7F2"/>
                </a:solidFill>
              </a:defRPr>
            </a:pPr>
            <a:r>
              <a:t>Tutores:  Miguel Ángel Gutiérrez Naranjo   ·   Miguel Cárdenas Montes</a:t>
            </a:r>
          </a:p>
          <a:p>
            <a:pPr/>
            <a:r>
              <a:t>Máster Universitario en Lógica, Computación e Inteligencia Artificial</a:t>
            </a:r>
          </a:p>
          <a:p>
            <a:pPr/>
            <a:r>
              <a:t>ETSI Informática · Universidad de Sevilla · 2026</a:t>
            </a:r>
          </a:p>
        </p:txBody>
      </p:sp>
      <p:pic>
        <p:nvPicPr>
          <p:cNvPr id="100" name="Picture 8" descr="Picture 8"/>
          <p:cNvPicPr>
            <a:picLocks noChangeAspect="1"/>
          </p:cNvPicPr>
          <p:nvPr/>
        </p:nvPicPr>
        <p:blipFill>
          <a:blip r:embed="rId4">
            <a:extLst/>
          </a:blip>
          <a:stretch>
            <a:fillRect/>
          </a:stretch>
        </p:blipFill>
        <p:spPr>
          <a:xfrm>
            <a:off x="10362895" y="274320"/>
            <a:ext cx="1463064" cy="1285882"/>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4" name="Rectangle 1"/>
          <p:cNvSpPr/>
          <p:nvPr/>
        </p:nvSpPr>
        <p:spPr>
          <a:xfrm>
            <a:off x="-1" y="0"/>
            <a:ext cx="12191697" cy="6858000"/>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pic>
        <p:nvPicPr>
          <p:cNvPr id="105" name="Picture 2" descr="Picture 2"/>
          <p:cNvPicPr>
            <a:picLocks noChangeAspect="1"/>
          </p:cNvPicPr>
          <p:nvPr/>
        </p:nvPicPr>
        <p:blipFill>
          <a:blip r:embed="rId3">
            <a:extLst/>
          </a:blip>
          <a:stretch>
            <a:fillRect/>
          </a:stretch>
        </p:blipFill>
        <p:spPr>
          <a:xfrm>
            <a:off x="0" y="0"/>
            <a:ext cx="12191697" cy="6858000"/>
          </a:xfrm>
          <a:prstGeom prst="rect">
            <a:avLst/>
          </a:prstGeom>
          <a:ln w="12700">
            <a:miter lim="400000"/>
          </a:ln>
        </p:spPr>
      </p:pic>
      <p:sp>
        <p:nvSpPr>
          <p:cNvPr id="106" name="Rectangle 3"/>
          <p:cNvSpPr/>
          <p:nvPr/>
        </p:nvSpPr>
        <p:spPr>
          <a:xfrm>
            <a:off x="-1" y="0"/>
            <a:ext cx="548642" cy="68580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07" name="TextBox 4"/>
          <p:cNvSpPr txBox="1"/>
          <p:nvPr/>
        </p:nvSpPr>
        <p:spPr>
          <a:xfrm>
            <a:off x="1142986" y="1920236"/>
            <a:ext cx="4023391" cy="289109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2000">
                <a:solidFill>
                  <a:srgbClr val="FAF7F2"/>
                </a:solidFill>
              </a:defRPr>
            </a:lvl1pPr>
          </a:lstStyle>
          <a:p>
            <a:pPr/>
            <a:r>
              <a:t>01</a:t>
            </a:r>
          </a:p>
        </p:txBody>
      </p:sp>
      <p:sp>
        <p:nvSpPr>
          <p:cNvPr id="108" name="TextBox 6"/>
          <p:cNvSpPr txBox="1"/>
          <p:nvPr/>
        </p:nvSpPr>
        <p:spPr>
          <a:xfrm>
            <a:off x="1142999" y="5303520"/>
            <a:ext cx="2727331" cy="653908"/>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b="1" sz="4400">
                <a:solidFill>
                  <a:srgbClr val="FAF7F2"/>
                </a:solidFill>
              </a:defRPr>
            </a:lvl1pPr>
          </a:lstStyle>
          <a:p>
            <a:pPr/>
            <a:r>
              <a:t>Motivación</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2"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13"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14"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115"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Motivación   ·   3/26</a:t>
            </a:r>
          </a:p>
        </p:txBody>
      </p:sp>
      <p:sp>
        <p:nvSpPr>
          <p:cNvPr id="116" name="TextBox 5"/>
          <p:cNvSpPr txBox="1"/>
          <p:nvPr/>
        </p:nvSpPr>
        <p:spPr>
          <a:xfrm>
            <a:off x="594357" y="384047"/>
            <a:ext cx="11000239" cy="4851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latin typeface="+mj-lt"/>
                <a:ea typeface="+mj-ea"/>
                <a:cs typeface="+mj-cs"/>
                <a:sym typeface="Helvetica"/>
              </a:defRPr>
            </a:lvl1pPr>
          </a:lstStyle>
          <a:p>
            <a:pPr/>
            <a:r>
              <a:t>Histopatología Digital</a:t>
            </a:r>
          </a:p>
        </p:txBody>
      </p:sp>
      <p:sp>
        <p:nvSpPr>
          <p:cNvPr id="117" name="Rectangle 6"/>
          <p:cNvSpPr/>
          <p:nvPr/>
        </p:nvSpPr>
        <p:spPr>
          <a:xfrm>
            <a:off x="548639" y="1024127"/>
            <a:ext cx="1097282"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18" name="TextBox 7"/>
          <p:cNvSpPr txBox="1"/>
          <p:nvPr/>
        </p:nvSpPr>
        <p:spPr>
          <a:xfrm>
            <a:off x="594357" y="1188719"/>
            <a:ext cx="11000239" cy="307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400">
                <a:solidFill>
                  <a:srgbClr val="4D0912"/>
                </a:solidFill>
                <a:latin typeface="+mj-lt"/>
                <a:ea typeface="+mj-ea"/>
                <a:cs typeface="+mj-cs"/>
                <a:sym typeface="Helvetica"/>
              </a:defRPr>
            </a:lvl1pPr>
          </a:lstStyle>
          <a:p>
            <a:pPr/>
            <a:r>
              <a:t>Herramienta de diagnóstico visual usada por patólogos sobre tejidos de distintos órganos</a:t>
            </a:r>
          </a:p>
        </p:txBody>
      </p:sp>
      <p:sp>
        <p:nvSpPr>
          <p:cNvPr id="119" name="TextBox 8"/>
          <p:cNvSpPr txBox="1"/>
          <p:nvPr/>
        </p:nvSpPr>
        <p:spPr>
          <a:xfrm>
            <a:off x="665273" y="1967842"/>
            <a:ext cx="5120641" cy="422489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a:solidFill>
                  <a:srgbClr val="4D0912"/>
                </a:solidFill>
              </a:defRPr>
            </a:pPr>
            <a:r>
              <a:t>¿Qué es la histopatología?</a:t>
            </a:r>
          </a:p>
          <a:p>
            <a:pPr marL="140367" indent="-140367">
              <a:buSzPct val="100000"/>
              <a:buChar char="▸"/>
              <a:defRPr b="1" sz="1600">
                <a:solidFill>
                  <a:srgbClr val="4D0912"/>
                </a:solidFill>
              </a:defRPr>
            </a:pPr>
            <a:r>
              <a:t>Histopatología</a:t>
            </a:r>
            <a:r>
              <a:rPr b="0"/>
              <a:t>: examen microscópico de tejido teñido con hematoxilina-eosina (H&amp;E).</a:t>
            </a:r>
          </a:p>
          <a:p>
            <a:pPr marL="140367" indent="-140367">
              <a:buSzPct val="100000"/>
              <a:buChar char="▸"/>
              <a:defRPr b="1" sz="1600">
                <a:solidFill>
                  <a:srgbClr val="4D0912"/>
                </a:solidFill>
              </a:defRPr>
            </a:pPr>
            <a:r>
              <a:t>Prueba de referencia clínica</a:t>
            </a:r>
            <a:r>
              <a:rPr b="0"/>
              <a:t> para el diagnóstico definitivo de la mayoría de los tipos de cáncer.</a:t>
            </a:r>
          </a:p>
          <a:p>
            <a:pPr>
              <a:defRPr b="1">
                <a:solidFill>
                  <a:srgbClr val="6B0F1A"/>
                </a:solidFill>
              </a:defRPr>
            </a:pPr>
          </a:p>
          <a:p>
            <a:pPr>
              <a:defRPr b="1">
                <a:solidFill>
                  <a:srgbClr val="6B0F1A"/>
                </a:solidFill>
              </a:defRPr>
            </a:pPr>
            <a:r>
              <a:t>¿Cómo se procesa digitalmente?</a:t>
            </a:r>
          </a:p>
          <a:p>
            <a:pPr marL="160420" indent="-160420">
              <a:buSzPct val="100000"/>
              <a:buChar char="▸"/>
              <a:defRPr sz="1600">
                <a:solidFill>
                  <a:srgbClr val="4D0912"/>
                </a:solidFill>
              </a:defRPr>
            </a:pPr>
            <a:r>
              <a:t>Las láminas se escanean a alta resolución (típicamente 20× o 40× de aumento óptico) en </a:t>
            </a:r>
            <a:r>
              <a:rPr b="1" i="1"/>
              <a:t>Whole Slide Images</a:t>
            </a:r>
            <a:r>
              <a:t> (WSIs): imágenes gigapíxel de ≈80.000 × 40.000 píxeles.</a:t>
            </a:r>
          </a:p>
          <a:p>
            <a:pPr marL="160420" indent="-160420">
              <a:buSzPct val="100000"/>
              <a:buChar char="▸"/>
              <a:defRPr sz="1600">
                <a:solidFill>
                  <a:srgbClr val="4D0912"/>
                </a:solidFill>
              </a:defRPr>
            </a:pPr>
            <a:r>
              <a:t>Los modelos de </a:t>
            </a:r>
            <a:r>
              <a:rPr b="1"/>
              <a:t>IA no procesan las láminas completas</a:t>
            </a:r>
            <a:r>
              <a:t>: se dividen en parches más pequeños que alimentan al encoder de imagen.</a:t>
            </a:r>
          </a:p>
          <a:p>
            <a:pPr>
              <a:defRPr b="1" sz="1600">
                <a:solidFill>
                  <a:srgbClr val="4D0912"/>
                </a:solidFill>
              </a:defRPr>
            </a:pPr>
          </a:p>
          <a:p>
            <a:pPr>
              <a:defRPr sz="1600">
                <a:solidFill>
                  <a:srgbClr val="4D0912"/>
                </a:solidFill>
              </a:defRPr>
            </a:pPr>
            <a:r>
              <a:t>→  Esto convierte el problema en clasificación visual de parches con etiquetas caras y contexto parcial.</a:t>
            </a:r>
          </a:p>
        </p:txBody>
      </p:sp>
      <p:pic>
        <p:nvPicPr>
          <p:cNvPr id="120" name="Picture 9" descr="Picture 9"/>
          <p:cNvPicPr>
            <a:picLocks noChangeAspect="1"/>
          </p:cNvPicPr>
          <p:nvPr/>
        </p:nvPicPr>
        <p:blipFill>
          <a:blip r:embed="rId3">
            <a:extLst/>
          </a:blip>
          <a:stretch>
            <a:fillRect/>
          </a:stretch>
        </p:blipFill>
        <p:spPr>
          <a:xfrm>
            <a:off x="6309359" y="3398537"/>
            <a:ext cx="5394965" cy="2164067"/>
          </a:xfrm>
          <a:prstGeom prst="rect">
            <a:avLst/>
          </a:prstGeom>
          <a:ln w="12700">
            <a:miter lim="400000"/>
          </a:ln>
        </p:spPr>
      </p:pic>
      <p:pic>
        <p:nvPicPr>
          <p:cNvPr id="121" name="Picture 10" descr="Picture 10"/>
          <p:cNvPicPr>
            <a:picLocks noChangeAspect="1"/>
          </p:cNvPicPr>
          <p:nvPr/>
        </p:nvPicPr>
        <p:blipFill>
          <a:blip r:embed="rId4">
            <a:extLst/>
          </a:blip>
          <a:stretch>
            <a:fillRect/>
          </a:stretch>
        </p:blipFill>
        <p:spPr>
          <a:xfrm>
            <a:off x="6150173" y="1988161"/>
            <a:ext cx="5713334" cy="3709959"/>
          </a:xfrm>
          <a:prstGeom prst="rect">
            <a:avLst/>
          </a:prstGeom>
          <a:ln w="12700">
            <a:miter lim="400000"/>
          </a:ln>
        </p:spPr>
      </p:pic>
      <p:sp>
        <p:nvSpPr>
          <p:cNvPr id="122" name="Rectangle 117"/>
          <p:cNvSpPr/>
          <p:nvPr/>
        </p:nvSpPr>
        <p:spPr>
          <a:xfrm>
            <a:off x="594357" y="6355079"/>
            <a:ext cx="11000239" cy="18292"/>
          </a:xfrm>
          <a:prstGeom prst="rect">
            <a:avLst/>
          </a:prstGeom>
          <a:solidFill>
            <a:srgbClr val="E5D0A0"/>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xit" nodeType="clickEffect" presetSubtype="0" presetID="1" grpId="1" fill="hold">
                                  <p:stCondLst>
                                    <p:cond delay="0"/>
                                  </p:stCondLst>
                                  <p:iterate type="el" backwards="0">
                                    <p:tmAbs val="0"/>
                                  </p:iterate>
                                  <p:childTnLst>
                                    <p:set>
                                      <p:cBhvr>
                                        <p:cTn id="6" fill="hold">
                                          <p:stCondLst>
                                            <p:cond delay="0"/>
                                          </p:stCondLst>
                                        </p:cTn>
                                        <p:tgtEl>
                                          <p:spTgt spid="121"/>
                                        </p:tgtEl>
                                        <p:attrNameLst>
                                          <p:attrName>style.visibility</p:attrName>
                                        </p:attrNameLst>
                                      </p:cBhvr>
                                      <p:to>
                                        <p:strVal val="hidden"/>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1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21" grpId="1"/>
      <p:bldP build="whole" bldLvl="1" animBg="1" rev="0" advAuto="0" spid="120" grpId="2"/>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6"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27"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28"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129"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Motivación   ·   4/26</a:t>
            </a:r>
          </a:p>
        </p:txBody>
      </p:sp>
      <p:sp>
        <p:nvSpPr>
          <p:cNvPr id="130" name="TextBox 5"/>
          <p:cNvSpPr txBox="1"/>
          <p:nvPr/>
        </p:nvSpPr>
        <p:spPr>
          <a:xfrm>
            <a:off x="594357" y="384047"/>
            <a:ext cx="11000239" cy="4851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latin typeface="+mj-lt"/>
                <a:ea typeface="+mj-ea"/>
                <a:cs typeface="+mj-cs"/>
                <a:sym typeface="Helvetica"/>
              </a:defRPr>
            </a:lvl1pPr>
          </a:lstStyle>
          <a:p>
            <a:pPr/>
            <a:r>
              <a:t>Dificultades del procesamiento digital de muestras histopatológicas</a:t>
            </a:r>
          </a:p>
        </p:txBody>
      </p:sp>
      <p:sp>
        <p:nvSpPr>
          <p:cNvPr id="131" name="Rectangle 6"/>
          <p:cNvSpPr/>
          <p:nvPr/>
        </p:nvSpPr>
        <p:spPr>
          <a:xfrm>
            <a:off x="535939" y="1024127"/>
            <a:ext cx="1097282"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32" name="TextBox 7"/>
          <p:cNvSpPr txBox="1"/>
          <p:nvPr/>
        </p:nvSpPr>
        <p:spPr>
          <a:xfrm>
            <a:off x="594357" y="1188719"/>
            <a:ext cx="11000239" cy="307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400">
                <a:solidFill>
                  <a:srgbClr val="4D0912"/>
                </a:solidFill>
                <a:latin typeface="+mj-lt"/>
                <a:ea typeface="+mj-ea"/>
                <a:cs typeface="+mj-cs"/>
                <a:sym typeface="Helvetica"/>
              </a:defRPr>
            </a:lvl1pPr>
          </a:lstStyle>
          <a:p>
            <a:pPr/>
            <a:r>
              <a:t>Particularidades que cualquier pipeline de visión debe contemplar</a:t>
            </a:r>
          </a:p>
        </p:txBody>
      </p:sp>
      <p:sp>
        <p:nvSpPr>
          <p:cNvPr id="133" name="TextBox 8"/>
          <p:cNvSpPr txBox="1"/>
          <p:nvPr/>
        </p:nvSpPr>
        <p:spPr>
          <a:xfrm>
            <a:off x="540035" y="1870361"/>
            <a:ext cx="6068032" cy="413038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marL="180472" indent="-180472">
              <a:buSzPct val="100000"/>
              <a:buChar char="▸"/>
              <a:defRPr b="1">
                <a:solidFill>
                  <a:srgbClr val="4D0912"/>
                </a:solidFill>
              </a:defRPr>
            </a:pPr>
            <a:r>
              <a:t>Escasez de datos etiquetados</a:t>
            </a:r>
            <a:r>
              <a:rPr b="0"/>
              <a:t>: los conjuntos abiertos son varios órdenes de magnitud menores que los corpus generales de imagen: el etiquetado requiere patólogo experto y es caro.</a:t>
            </a:r>
          </a:p>
          <a:p>
            <a:pPr lvl="1" marL="561471" indent="-180472">
              <a:buSzPct val="100000"/>
              <a:buChar char="▸"/>
              <a:defRPr b="1">
                <a:solidFill>
                  <a:srgbClr val="4D0912"/>
                </a:solidFill>
              </a:defRPr>
            </a:pPr>
            <a:r>
              <a:t>Confidencialidad</a:t>
            </a:r>
            <a:r>
              <a:rPr b="0"/>
              <a:t>: la privacidad del paciente reduce aún más los datasets accesibles multi-institución.</a:t>
            </a:r>
          </a:p>
          <a:p>
            <a:pPr marL="180472" indent="-180472">
              <a:buSzPct val="100000"/>
              <a:buChar char="▸"/>
              <a:defRPr b="1">
                <a:solidFill>
                  <a:srgbClr val="4D0912"/>
                </a:solidFill>
              </a:defRPr>
            </a:pPr>
            <a:r>
              <a:t>Variabilidad institucional</a:t>
            </a:r>
            <a:r>
              <a:rPr b="0"/>
              <a:t>: la tinción H&amp;E depende del laboratorio, del técnico y del protocolo: cambia entre hospitales, escáneres y lotes.</a:t>
            </a:r>
          </a:p>
          <a:p>
            <a:pPr lvl="1" marL="561471" indent="-180472">
              <a:buSzPct val="100000"/>
              <a:buChar char="▸"/>
              <a:defRPr b="1">
                <a:solidFill>
                  <a:srgbClr val="4D0912"/>
                </a:solidFill>
              </a:defRPr>
            </a:pPr>
            <a:r>
              <a:t>Normalización de la tinción</a:t>
            </a:r>
            <a:r>
              <a:rPr b="0"/>
              <a:t> (stain normalization): mitigación habitual de preprocesado para atenuar esa variabilidad.</a:t>
            </a:r>
          </a:p>
          <a:p>
            <a:pPr marL="180472" indent="-180472">
              <a:buSzPct val="100000"/>
              <a:buChar char="▸"/>
              <a:defRPr>
                <a:solidFill>
                  <a:srgbClr val="4D0912"/>
                </a:solidFill>
              </a:defRPr>
            </a:pPr>
          </a:p>
          <a:p>
            <a:pPr marL="180472" indent="-180472">
              <a:buSzPct val="100000"/>
              <a:buChar char="▸"/>
              <a:defRPr>
                <a:solidFill>
                  <a:srgbClr val="4D0912"/>
                </a:solidFill>
              </a:defRPr>
            </a:pPr>
            <a:r>
              <a:t>El problema no es solo clasificar bien dentro del dataset de entrenamiento; es </a:t>
            </a:r>
            <a:r>
              <a:rPr b="1"/>
              <a:t>generalizar cuando cambia la fuente.</a:t>
            </a:r>
          </a:p>
        </p:txBody>
      </p:sp>
      <p:pic>
        <p:nvPicPr>
          <p:cNvPr id="134" name="Picture 127" descr="Picture 127"/>
          <p:cNvPicPr>
            <a:picLocks noChangeAspect="1"/>
          </p:cNvPicPr>
          <p:nvPr/>
        </p:nvPicPr>
        <p:blipFill>
          <a:blip r:embed="rId3">
            <a:extLst/>
          </a:blip>
          <a:stretch>
            <a:fillRect/>
          </a:stretch>
        </p:blipFill>
        <p:spPr>
          <a:xfrm>
            <a:off x="7191361" y="1751855"/>
            <a:ext cx="3841883" cy="4182572"/>
          </a:xfrm>
          <a:prstGeom prst="rect">
            <a:avLst/>
          </a:prstGeom>
          <a:ln w="12700">
            <a:miter lim="400000"/>
          </a:ln>
        </p:spPr>
      </p:pic>
      <p:sp>
        <p:nvSpPr>
          <p:cNvPr id="135" name="Rectangle 129"/>
          <p:cNvSpPr/>
          <p:nvPr/>
        </p:nvSpPr>
        <p:spPr>
          <a:xfrm>
            <a:off x="594357" y="6355079"/>
            <a:ext cx="11000239" cy="18292"/>
          </a:xfrm>
          <a:prstGeom prst="rect">
            <a:avLst/>
          </a:prstGeom>
          <a:solidFill>
            <a:srgbClr val="E5D0A0"/>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9"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40"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41"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142"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Motivación   ·   5/26</a:t>
            </a:r>
          </a:p>
        </p:txBody>
      </p:sp>
      <p:sp>
        <p:nvSpPr>
          <p:cNvPr id="143" name="TextBox 136"/>
          <p:cNvSpPr txBox="1"/>
          <p:nvPr/>
        </p:nvSpPr>
        <p:spPr>
          <a:xfrm>
            <a:off x="594357" y="384047"/>
            <a:ext cx="11000239" cy="4851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latin typeface="+mj-lt"/>
                <a:ea typeface="+mj-ea"/>
                <a:cs typeface="+mj-cs"/>
                <a:sym typeface="Helvetica"/>
              </a:defRPr>
            </a:lvl1pPr>
          </a:lstStyle>
          <a:p>
            <a:pPr/>
            <a:r>
              <a:t>Modelos fundacionales</a:t>
            </a:r>
          </a:p>
        </p:txBody>
      </p:sp>
      <p:sp>
        <p:nvSpPr>
          <p:cNvPr id="144" name="TextBox 138"/>
          <p:cNvSpPr txBox="1"/>
          <p:nvPr/>
        </p:nvSpPr>
        <p:spPr>
          <a:xfrm>
            <a:off x="594357" y="1188719"/>
            <a:ext cx="11000239" cy="307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400">
                <a:solidFill>
                  <a:srgbClr val="4D0912"/>
                </a:solidFill>
                <a:latin typeface="+mj-lt"/>
                <a:ea typeface="+mj-ea"/>
                <a:cs typeface="+mj-cs"/>
                <a:sym typeface="Helvetica"/>
              </a:defRPr>
            </a:lvl1pPr>
          </a:lstStyle>
          <a:p>
            <a:pPr/>
            <a:r>
              <a:t>Preentrenar una vez, reutilizar después.</a:t>
            </a:r>
          </a:p>
        </p:txBody>
      </p:sp>
      <p:sp>
        <p:nvSpPr>
          <p:cNvPr id="145" name="Rounded Rectangle 139"/>
          <p:cNvSpPr/>
          <p:nvPr/>
        </p:nvSpPr>
        <p:spPr>
          <a:xfrm>
            <a:off x="649223" y="1874516"/>
            <a:ext cx="1920241" cy="1417323"/>
          </a:xfrm>
          <a:prstGeom prst="roundRect">
            <a:avLst>
              <a:gd name="adj" fmla="val 10000"/>
            </a:avLst>
          </a:prstGeom>
          <a:solidFill>
            <a:srgbClr val="FFFFFF"/>
          </a:solidFill>
          <a:ln>
            <a:solidFill>
              <a:srgbClr val="B0A080"/>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
        <p:nvSpPr>
          <p:cNvPr id="146" name="TextBox 140"/>
          <p:cNvSpPr txBox="1"/>
          <p:nvPr/>
        </p:nvSpPr>
        <p:spPr>
          <a:xfrm>
            <a:off x="740662" y="1947671"/>
            <a:ext cx="1737363" cy="7350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a:defRPr b="1" sz="1300">
                <a:solidFill>
                  <a:srgbClr val="6B0F1A"/>
                </a:solidFill>
                <a:latin typeface="+mj-lt"/>
                <a:ea typeface="+mj-ea"/>
                <a:cs typeface="+mj-cs"/>
                <a:sym typeface="Helvetica"/>
              </a:defRPr>
            </a:pPr>
            <a:r>
              <a:t>Corpus masivo</a:t>
            </a:r>
          </a:p>
          <a:p>
            <a:pPr>
              <a:defRPr sz="1100">
                <a:solidFill>
                  <a:srgbClr val="3C2814"/>
                </a:solidFill>
                <a:latin typeface="+mj-lt"/>
                <a:ea typeface="+mj-ea"/>
                <a:cs typeface="+mj-cs"/>
                <a:sym typeface="Helvetica"/>
              </a:defRPr>
            </a:pPr>
            <a:r>
              <a:t>texto</a:t>
            </a:r>
          </a:p>
          <a:p>
            <a:pPr>
              <a:defRPr sz="1100">
                <a:solidFill>
                  <a:srgbClr val="3C2814"/>
                </a:solidFill>
                <a:latin typeface="+mj-lt"/>
                <a:ea typeface="+mj-ea"/>
                <a:cs typeface="+mj-cs"/>
                <a:sym typeface="Helvetica"/>
              </a:defRPr>
            </a:pPr>
            <a:r>
              <a:t>imágenes</a:t>
            </a:r>
          </a:p>
          <a:p>
            <a:pPr>
              <a:defRPr sz="1100">
                <a:solidFill>
                  <a:srgbClr val="3C2814"/>
                </a:solidFill>
                <a:latin typeface="+mj-lt"/>
                <a:ea typeface="+mj-ea"/>
                <a:cs typeface="+mj-cs"/>
                <a:sym typeface="Helvetica"/>
              </a:defRPr>
            </a:pPr>
            <a:r>
              <a:t>pares imagen–texto</a:t>
            </a:r>
          </a:p>
        </p:txBody>
      </p:sp>
      <p:sp>
        <p:nvSpPr>
          <p:cNvPr id="147" name="Right Arrow 141"/>
          <p:cNvSpPr/>
          <p:nvPr/>
        </p:nvSpPr>
        <p:spPr>
          <a:xfrm>
            <a:off x="2569464" y="2423160"/>
            <a:ext cx="320044" cy="320044"/>
          </a:xfrm>
          <a:prstGeom prst="rightArrow">
            <a:avLst>
              <a:gd name="adj1" fmla="val 35000"/>
              <a:gd name="adj2" fmla="val 40000"/>
            </a:avLst>
          </a:prstGeom>
          <a:solidFill>
            <a:srgbClr val="C6A046"/>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
        <p:nvSpPr>
          <p:cNvPr id="148" name="Rounded Rectangle 142"/>
          <p:cNvSpPr/>
          <p:nvPr/>
        </p:nvSpPr>
        <p:spPr>
          <a:xfrm>
            <a:off x="2889504" y="1874516"/>
            <a:ext cx="1920241" cy="1417323"/>
          </a:xfrm>
          <a:prstGeom prst="roundRect">
            <a:avLst>
              <a:gd name="adj" fmla="val 10000"/>
            </a:avLst>
          </a:prstGeom>
          <a:solidFill>
            <a:srgbClr val="FFFFFF"/>
          </a:solidFill>
          <a:ln>
            <a:solidFill>
              <a:srgbClr val="B0A080"/>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
        <p:nvSpPr>
          <p:cNvPr id="149" name="TextBox 143"/>
          <p:cNvSpPr txBox="1"/>
          <p:nvPr/>
        </p:nvSpPr>
        <p:spPr>
          <a:xfrm>
            <a:off x="2980943" y="1947671"/>
            <a:ext cx="1737364" cy="7350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a:defRPr b="1" sz="1300">
                <a:solidFill>
                  <a:srgbClr val="6B0F1A"/>
                </a:solidFill>
                <a:latin typeface="+mj-lt"/>
                <a:ea typeface="+mj-ea"/>
                <a:cs typeface="+mj-cs"/>
                <a:sym typeface="Helvetica"/>
              </a:defRPr>
            </a:pPr>
            <a:r>
              <a:t>Pretraining</a:t>
            </a:r>
          </a:p>
          <a:p>
            <a:pPr>
              <a:defRPr sz="1100">
                <a:solidFill>
                  <a:srgbClr val="3C2814"/>
                </a:solidFill>
                <a:latin typeface="+mj-lt"/>
                <a:ea typeface="+mj-ea"/>
                <a:cs typeface="+mj-cs"/>
                <a:sym typeface="Helvetica"/>
              </a:defRPr>
            </a:pPr>
            <a:r>
              <a:t>aprende patrones</a:t>
            </a:r>
          </a:p>
          <a:p>
            <a:pPr>
              <a:defRPr sz="1100">
                <a:solidFill>
                  <a:srgbClr val="3C2814"/>
                </a:solidFill>
                <a:latin typeface="+mj-lt"/>
                <a:ea typeface="+mj-ea"/>
                <a:cs typeface="+mj-cs"/>
                <a:sym typeface="Helvetica"/>
              </a:defRPr>
            </a:pPr>
            <a:r>
              <a:t>generales sin tarea</a:t>
            </a:r>
          </a:p>
          <a:p>
            <a:pPr>
              <a:defRPr sz="1100">
                <a:solidFill>
                  <a:srgbClr val="3C2814"/>
                </a:solidFill>
                <a:latin typeface="+mj-lt"/>
                <a:ea typeface="+mj-ea"/>
                <a:cs typeface="+mj-cs"/>
                <a:sym typeface="Helvetica"/>
              </a:defRPr>
            </a:pPr>
            <a:r>
              <a:t>final fija</a:t>
            </a:r>
          </a:p>
        </p:txBody>
      </p:sp>
      <p:sp>
        <p:nvSpPr>
          <p:cNvPr id="150" name="Right Arrow 144"/>
          <p:cNvSpPr/>
          <p:nvPr/>
        </p:nvSpPr>
        <p:spPr>
          <a:xfrm>
            <a:off x="4809744" y="2423160"/>
            <a:ext cx="320044" cy="320044"/>
          </a:xfrm>
          <a:prstGeom prst="rightArrow">
            <a:avLst>
              <a:gd name="adj1" fmla="val 35000"/>
              <a:gd name="adj2" fmla="val 40000"/>
            </a:avLst>
          </a:prstGeom>
          <a:solidFill>
            <a:srgbClr val="C6A046"/>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
        <p:nvSpPr>
          <p:cNvPr id="151" name="Rounded Rectangle 145"/>
          <p:cNvSpPr/>
          <p:nvPr/>
        </p:nvSpPr>
        <p:spPr>
          <a:xfrm>
            <a:off x="5129784" y="1874516"/>
            <a:ext cx="1920244" cy="1417323"/>
          </a:xfrm>
          <a:prstGeom prst="roundRect">
            <a:avLst>
              <a:gd name="adj" fmla="val 10000"/>
            </a:avLst>
          </a:prstGeom>
          <a:solidFill>
            <a:srgbClr val="EBD9A8"/>
          </a:solidFill>
          <a:ln w="19050">
            <a:solidFill>
              <a:srgbClr val="C6A04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
        <p:nvSpPr>
          <p:cNvPr id="152" name="TextBox 146"/>
          <p:cNvSpPr txBox="1"/>
          <p:nvPr/>
        </p:nvSpPr>
        <p:spPr>
          <a:xfrm>
            <a:off x="5221223" y="1947671"/>
            <a:ext cx="1737364" cy="7350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a:defRPr b="1" sz="1300">
                <a:solidFill>
                  <a:srgbClr val="6B0F1A"/>
                </a:solidFill>
                <a:latin typeface="+mj-lt"/>
                <a:ea typeface="+mj-ea"/>
                <a:cs typeface="+mj-cs"/>
                <a:sym typeface="Helvetica"/>
              </a:defRPr>
            </a:pPr>
            <a:r>
              <a:t>FM</a:t>
            </a:r>
          </a:p>
          <a:p>
            <a:pPr>
              <a:defRPr sz="1100">
                <a:solidFill>
                  <a:srgbClr val="3C2814"/>
                </a:solidFill>
                <a:latin typeface="+mj-lt"/>
                <a:ea typeface="+mj-ea"/>
                <a:cs typeface="+mj-cs"/>
                <a:sym typeface="Helvetica"/>
              </a:defRPr>
            </a:pPr>
            <a:r>
              <a:t>modelo fundacional con</a:t>
            </a:r>
          </a:p>
          <a:p>
            <a:pPr>
              <a:defRPr sz="1100">
                <a:solidFill>
                  <a:srgbClr val="3C2814"/>
                </a:solidFill>
                <a:latin typeface="+mj-lt"/>
                <a:ea typeface="+mj-ea"/>
                <a:cs typeface="+mj-cs"/>
                <a:sym typeface="Helvetica"/>
              </a:defRPr>
            </a:pPr>
            <a:r>
              <a:t>embeddings</a:t>
            </a:r>
          </a:p>
          <a:p>
            <a:pPr>
              <a:defRPr sz="1100">
                <a:solidFill>
                  <a:srgbClr val="3C2814"/>
                </a:solidFill>
                <a:latin typeface="+mj-lt"/>
                <a:ea typeface="+mj-ea"/>
                <a:cs typeface="+mj-cs"/>
                <a:sym typeface="Helvetica"/>
              </a:defRPr>
            </a:pPr>
            <a:r>
              <a:t>reutilizables</a:t>
            </a:r>
          </a:p>
        </p:txBody>
      </p:sp>
      <p:sp>
        <p:nvSpPr>
          <p:cNvPr id="153" name="Right Arrow 147"/>
          <p:cNvSpPr/>
          <p:nvPr/>
        </p:nvSpPr>
        <p:spPr>
          <a:xfrm>
            <a:off x="7050023" y="2423160"/>
            <a:ext cx="320044" cy="320044"/>
          </a:xfrm>
          <a:prstGeom prst="rightArrow">
            <a:avLst>
              <a:gd name="adj1" fmla="val 35000"/>
              <a:gd name="adj2" fmla="val 40000"/>
            </a:avLst>
          </a:prstGeom>
          <a:solidFill>
            <a:srgbClr val="C6A046"/>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
        <p:nvSpPr>
          <p:cNvPr id="154" name="Rounded Rectangle 148"/>
          <p:cNvSpPr/>
          <p:nvPr/>
        </p:nvSpPr>
        <p:spPr>
          <a:xfrm>
            <a:off x="7370064" y="1874516"/>
            <a:ext cx="1920244" cy="1417323"/>
          </a:xfrm>
          <a:prstGeom prst="roundRect">
            <a:avLst>
              <a:gd name="adj" fmla="val 10000"/>
            </a:avLst>
          </a:prstGeom>
          <a:solidFill>
            <a:srgbClr val="FFFFFF"/>
          </a:solidFill>
          <a:ln>
            <a:solidFill>
              <a:srgbClr val="B0A080"/>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
        <p:nvSpPr>
          <p:cNvPr id="155" name="TextBox 149"/>
          <p:cNvSpPr txBox="1"/>
          <p:nvPr/>
        </p:nvSpPr>
        <p:spPr>
          <a:xfrm>
            <a:off x="7461504" y="1947671"/>
            <a:ext cx="1737364" cy="7350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a:defRPr b="1" sz="1300">
                <a:solidFill>
                  <a:srgbClr val="6B0F1A"/>
                </a:solidFill>
                <a:latin typeface="+mj-lt"/>
                <a:ea typeface="+mj-ea"/>
                <a:cs typeface="+mj-cs"/>
                <a:sym typeface="Helvetica"/>
              </a:defRPr>
            </a:pPr>
            <a:r>
              <a:t>Adaptación ligera</a:t>
            </a:r>
          </a:p>
          <a:p>
            <a:pPr>
              <a:defRPr sz="1100">
                <a:solidFill>
                  <a:srgbClr val="3C2814"/>
                </a:solidFill>
                <a:latin typeface="+mj-lt"/>
                <a:ea typeface="+mj-ea"/>
                <a:cs typeface="+mj-cs"/>
                <a:sym typeface="Helvetica"/>
              </a:defRPr>
            </a:pPr>
            <a:r>
              <a:t>prompt</a:t>
            </a:r>
          </a:p>
          <a:p>
            <a:pPr>
              <a:defRPr sz="1100">
                <a:solidFill>
                  <a:srgbClr val="3C2814"/>
                </a:solidFill>
                <a:latin typeface="+mj-lt"/>
                <a:ea typeface="+mj-ea"/>
                <a:cs typeface="+mj-cs"/>
                <a:sym typeface="Helvetica"/>
              </a:defRPr>
            </a:pPr>
            <a:r>
              <a:t>cabeza pequeña</a:t>
            </a:r>
          </a:p>
          <a:p>
            <a:pPr>
              <a:defRPr sz="1100">
                <a:solidFill>
                  <a:srgbClr val="3C2814"/>
                </a:solidFill>
                <a:latin typeface="+mj-lt"/>
                <a:ea typeface="+mj-ea"/>
                <a:cs typeface="+mj-cs"/>
                <a:sym typeface="Helvetica"/>
              </a:defRPr>
            </a:pPr>
            <a:r>
              <a:t>encoder congelado</a:t>
            </a:r>
          </a:p>
        </p:txBody>
      </p:sp>
      <p:sp>
        <p:nvSpPr>
          <p:cNvPr id="156" name="Right Arrow 150"/>
          <p:cNvSpPr/>
          <p:nvPr/>
        </p:nvSpPr>
        <p:spPr>
          <a:xfrm>
            <a:off x="9290304" y="2423160"/>
            <a:ext cx="320044" cy="320044"/>
          </a:xfrm>
          <a:prstGeom prst="rightArrow">
            <a:avLst>
              <a:gd name="adj1" fmla="val 35000"/>
              <a:gd name="adj2" fmla="val 40000"/>
            </a:avLst>
          </a:prstGeom>
          <a:solidFill>
            <a:srgbClr val="C6A046"/>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
        <p:nvSpPr>
          <p:cNvPr id="157" name="Rounded Rectangle 151"/>
          <p:cNvSpPr/>
          <p:nvPr/>
        </p:nvSpPr>
        <p:spPr>
          <a:xfrm>
            <a:off x="9610342" y="1874516"/>
            <a:ext cx="1920244" cy="1417323"/>
          </a:xfrm>
          <a:prstGeom prst="roundRect">
            <a:avLst>
              <a:gd name="adj" fmla="val 10000"/>
            </a:avLst>
          </a:prstGeom>
          <a:solidFill>
            <a:srgbClr val="FFFFFF"/>
          </a:solidFill>
          <a:ln>
            <a:solidFill>
              <a:srgbClr val="B0A080"/>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
        <p:nvSpPr>
          <p:cNvPr id="158" name="TextBox 152"/>
          <p:cNvSpPr txBox="1"/>
          <p:nvPr/>
        </p:nvSpPr>
        <p:spPr>
          <a:xfrm>
            <a:off x="9701783" y="1920238"/>
            <a:ext cx="1737362"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b="1" sz="1300">
                <a:solidFill>
                  <a:srgbClr val="6B0F1A"/>
                </a:solidFill>
                <a:latin typeface="+mj-lt"/>
                <a:ea typeface="+mj-ea"/>
                <a:cs typeface="+mj-cs"/>
                <a:sym typeface="Helvetica"/>
              </a:defRPr>
            </a:lvl1pPr>
          </a:lstStyle>
          <a:p>
            <a:pPr/>
            <a:r>
              <a:t>Tarea final</a:t>
            </a:r>
          </a:p>
        </p:txBody>
      </p:sp>
      <p:pic>
        <p:nvPicPr>
          <p:cNvPr id="159" name="Picture 153" descr="Picture 153"/>
          <p:cNvPicPr>
            <a:picLocks noChangeAspect="1"/>
          </p:cNvPicPr>
          <p:nvPr/>
        </p:nvPicPr>
        <p:blipFill>
          <a:blip r:embed="rId3">
            <a:extLst/>
          </a:blip>
          <a:stretch>
            <a:fillRect/>
          </a:stretch>
        </p:blipFill>
        <p:spPr>
          <a:xfrm>
            <a:off x="10053828" y="2203703"/>
            <a:ext cx="1033276" cy="1033276"/>
          </a:xfrm>
          <a:prstGeom prst="rect">
            <a:avLst/>
          </a:prstGeom>
          <a:ln w="12700">
            <a:miter lim="400000"/>
          </a:ln>
        </p:spPr>
      </p:pic>
      <p:sp>
        <p:nvSpPr>
          <p:cNvPr id="160" name="TextBox 154"/>
          <p:cNvSpPr txBox="1"/>
          <p:nvPr/>
        </p:nvSpPr>
        <p:spPr>
          <a:xfrm>
            <a:off x="9427464" y="3337559"/>
            <a:ext cx="2286004" cy="36943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a:defRPr sz="1100">
                <a:solidFill>
                  <a:srgbClr val="826540"/>
                </a:solidFill>
                <a:latin typeface="+mj-lt"/>
                <a:ea typeface="+mj-ea"/>
                <a:cs typeface="+mj-cs"/>
                <a:sym typeface="Helvetica"/>
              </a:defRPr>
            </a:lvl1pPr>
          </a:lstStyle>
          <a:p>
            <a:pPr/>
            <a:r>
              <a:t>parche H&amp;E → clase histopatológica</a:t>
            </a:r>
          </a:p>
        </p:txBody>
      </p:sp>
      <p:sp>
        <p:nvSpPr>
          <p:cNvPr id="161" name="TextBox 155"/>
          <p:cNvSpPr txBox="1"/>
          <p:nvPr/>
        </p:nvSpPr>
        <p:spPr>
          <a:xfrm>
            <a:off x="582768" y="4291041"/>
            <a:ext cx="5760727" cy="307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400">
                <a:solidFill>
                  <a:srgbClr val="6B0F1A"/>
                </a:solidFill>
                <a:latin typeface="+mj-lt"/>
                <a:ea typeface="+mj-ea"/>
                <a:cs typeface="+mj-cs"/>
                <a:sym typeface="Helvetica"/>
              </a:defRPr>
            </a:lvl1pPr>
          </a:lstStyle>
          <a:p>
            <a:pPr/>
            <a:r>
              <a:t>Ejemplos que aparecen en el TFM</a:t>
            </a:r>
          </a:p>
        </p:txBody>
      </p:sp>
      <p:sp>
        <p:nvSpPr>
          <p:cNvPr id="162" name="Rounded Rectangle 156"/>
          <p:cNvSpPr/>
          <p:nvPr/>
        </p:nvSpPr>
        <p:spPr>
          <a:xfrm>
            <a:off x="582770" y="4702519"/>
            <a:ext cx="1463042" cy="365763"/>
          </a:xfrm>
          <a:prstGeom prst="roundRect">
            <a:avLst>
              <a:gd name="adj" fmla="val 50000"/>
            </a:avLst>
          </a:prstGeom>
          <a:solidFill>
            <a:srgbClr val="EBD9A8"/>
          </a:solidFill>
          <a:ln>
            <a:solidFill>
              <a:srgbClr val="C6A04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
        <p:nvSpPr>
          <p:cNvPr id="163" name="TextBox 157"/>
          <p:cNvSpPr txBox="1"/>
          <p:nvPr/>
        </p:nvSpPr>
        <p:spPr>
          <a:xfrm>
            <a:off x="582768" y="4720809"/>
            <a:ext cx="1463046" cy="2692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200">
                <a:solidFill>
                  <a:srgbClr val="4D0912"/>
                </a:solidFill>
                <a:latin typeface="+mj-lt"/>
                <a:ea typeface="+mj-ea"/>
                <a:cs typeface="+mj-cs"/>
                <a:sym typeface="Helvetica"/>
              </a:defRPr>
            </a:lvl1pPr>
          </a:lstStyle>
          <a:p>
            <a:pPr/>
            <a:r>
              <a:t>BERT · texto</a:t>
            </a:r>
          </a:p>
        </p:txBody>
      </p:sp>
      <p:sp>
        <p:nvSpPr>
          <p:cNvPr id="164" name="Rounded Rectangle 158"/>
          <p:cNvSpPr/>
          <p:nvPr/>
        </p:nvSpPr>
        <p:spPr>
          <a:xfrm>
            <a:off x="2182971" y="4702519"/>
            <a:ext cx="1645924" cy="365763"/>
          </a:xfrm>
          <a:prstGeom prst="roundRect">
            <a:avLst>
              <a:gd name="adj" fmla="val 50000"/>
            </a:avLst>
          </a:prstGeom>
          <a:solidFill>
            <a:srgbClr val="EBD9A8"/>
          </a:solidFill>
          <a:ln>
            <a:solidFill>
              <a:srgbClr val="C6A04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
        <p:nvSpPr>
          <p:cNvPr id="165" name="TextBox 159"/>
          <p:cNvSpPr txBox="1"/>
          <p:nvPr/>
        </p:nvSpPr>
        <p:spPr>
          <a:xfrm>
            <a:off x="2182970" y="4720809"/>
            <a:ext cx="1645925" cy="2692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200">
                <a:solidFill>
                  <a:srgbClr val="4D0912"/>
                </a:solidFill>
                <a:latin typeface="+mj-lt"/>
                <a:ea typeface="+mj-ea"/>
                <a:cs typeface="+mj-cs"/>
                <a:sym typeface="Helvetica"/>
              </a:defRPr>
            </a:lvl1pPr>
          </a:lstStyle>
          <a:p>
            <a:pPr/>
            <a:r>
              <a:t>DINOv2 · imagen</a:t>
            </a:r>
          </a:p>
        </p:txBody>
      </p:sp>
      <p:sp>
        <p:nvSpPr>
          <p:cNvPr id="166" name="Rounded Rectangle 160"/>
          <p:cNvSpPr/>
          <p:nvPr/>
        </p:nvSpPr>
        <p:spPr>
          <a:xfrm>
            <a:off x="3966049" y="4702519"/>
            <a:ext cx="2377444" cy="365763"/>
          </a:xfrm>
          <a:prstGeom prst="roundRect">
            <a:avLst>
              <a:gd name="adj" fmla="val 50000"/>
            </a:avLst>
          </a:prstGeom>
          <a:solidFill>
            <a:srgbClr val="EBD9A8"/>
          </a:solidFill>
          <a:ln>
            <a:solidFill>
              <a:srgbClr val="C6A04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
        <p:nvSpPr>
          <p:cNvPr id="167" name="TextBox 161"/>
          <p:cNvSpPr txBox="1"/>
          <p:nvPr/>
        </p:nvSpPr>
        <p:spPr>
          <a:xfrm>
            <a:off x="3966050" y="4720809"/>
            <a:ext cx="2377443" cy="2692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200">
                <a:solidFill>
                  <a:srgbClr val="4D0912"/>
                </a:solidFill>
                <a:latin typeface="+mj-lt"/>
                <a:ea typeface="+mj-ea"/>
                <a:cs typeface="+mj-cs"/>
                <a:sym typeface="Helvetica"/>
              </a:defRPr>
            </a:lvl1pPr>
          </a:lstStyle>
          <a:p>
            <a:pPr/>
            <a:r>
              <a:t>CLIP / PLIP · imagen + texto</a:t>
            </a:r>
          </a:p>
        </p:txBody>
      </p:sp>
      <p:sp>
        <p:nvSpPr>
          <p:cNvPr id="168" name="TextBox 162"/>
          <p:cNvSpPr txBox="1"/>
          <p:nvPr/>
        </p:nvSpPr>
        <p:spPr>
          <a:xfrm>
            <a:off x="6663528" y="4291041"/>
            <a:ext cx="4937764" cy="307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400">
                <a:solidFill>
                  <a:srgbClr val="6B0F1A"/>
                </a:solidFill>
                <a:latin typeface="+mj-lt"/>
                <a:ea typeface="+mj-ea"/>
                <a:cs typeface="+mj-cs"/>
                <a:sym typeface="Helvetica"/>
              </a:defRPr>
            </a:lvl1pPr>
          </a:lstStyle>
          <a:p>
            <a:pPr/>
            <a:r>
              <a:t>Por qué importa aquí</a:t>
            </a:r>
          </a:p>
        </p:txBody>
      </p:sp>
      <p:sp>
        <p:nvSpPr>
          <p:cNvPr id="169" name="TextBox 163"/>
          <p:cNvSpPr txBox="1"/>
          <p:nvPr/>
        </p:nvSpPr>
        <p:spPr>
          <a:xfrm>
            <a:off x="6663528" y="4629367"/>
            <a:ext cx="4937764" cy="635071"/>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p>
            <a:pPr>
              <a:defRPr sz="1200">
                <a:solidFill>
                  <a:srgbClr val="3C2814"/>
                </a:solidFill>
                <a:latin typeface="+mj-lt"/>
                <a:ea typeface="+mj-ea"/>
                <a:cs typeface="+mj-cs"/>
                <a:sym typeface="Helvetica"/>
              </a:defRPr>
            </a:pPr>
            <a:r>
              <a:t>▸ etiquetas histopatológicas caras</a:t>
            </a:r>
          </a:p>
          <a:p>
            <a:pPr>
              <a:defRPr sz="1200">
                <a:solidFill>
                  <a:srgbClr val="3C2814"/>
                </a:solidFill>
                <a:latin typeface="+mj-lt"/>
                <a:ea typeface="+mj-ea"/>
                <a:cs typeface="+mj-cs"/>
                <a:sym typeface="Helvetica"/>
              </a:defRPr>
            </a:pPr>
            <a:r>
              <a:t>▸ datos multi-institución limitados</a:t>
            </a:r>
          </a:p>
          <a:p>
            <a:pPr>
              <a:defRPr sz="1200">
                <a:solidFill>
                  <a:srgbClr val="3C2814"/>
                </a:solidFill>
                <a:latin typeface="+mj-lt"/>
                <a:ea typeface="+mj-ea"/>
                <a:cs typeface="+mj-cs"/>
                <a:sym typeface="Helvetica"/>
              </a:defRPr>
            </a:pPr>
            <a:r>
              <a:t>▸ el reto real es transferir bajo shift</a:t>
            </a:r>
          </a:p>
        </p:txBody>
      </p:sp>
      <p:sp>
        <p:nvSpPr>
          <p:cNvPr id="170" name="TextBox 164"/>
          <p:cNvSpPr txBox="1"/>
          <p:nvPr/>
        </p:nvSpPr>
        <p:spPr>
          <a:xfrm>
            <a:off x="589533" y="5597180"/>
            <a:ext cx="11000234" cy="5232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gn="ctr">
              <a:defRPr b="1" sz="1400">
                <a:solidFill>
                  <a:srgbClr val="4D0912"/>
                </a:solidFill>
                <a:latin typeface="+mj-lt"/>
                <a:ea typeface="+mj-ea"/>
                <a:cs typeface="+mj-cs"/>
                <a:sym typeface="Helvetica"/>
              </a:defRPr>
            </a:pPr>
            <a:r>
              <a:t>En este TFM no entrenamos modelos fundacionales desde cero: medimos qué representaciones</a:t>
            </a:r>
          </a:p>
          <a:p>
            <a:pPr algn="ctr">
              <a:defRPr b="1" sz="1400">
                <a:solidFill>
                  <a:srgbClr val="4D0912"/>
                </a:solidFill>
                <a:latin typeface="+mj-lt"/>
                <a:ea typeface="+mj-ea"/>
                <a:cs typeface="+mj-cs"/>
                <a:sym typeface="Helvetica"/>
              </a:defRPr>
            </a:pPr>
            <a:r>
              <a:t>preentrenadas transfieren mejor cuando cambia la fuente histopatológica.</a:t>
            </a:r>
          </a:p>
        </p:txBody>
      </p:sp>
      <p:sp>
        <p:nvSpPr>
          <p:cNvPr id="171" name="Rectangle 165"/>
          <p:cNvSpPr/>
          <p:nvPr/>
        </p:nvSpPr>
        <p:spPr>
          <a:xfrm>
            <a:off x="594357" y="6355079"/>
            <a:ext cx="11000239" cy="18292"/>
          </a:xfrm>
          <a:prstGeom prst="rect">
            <a:avLst/>
          </a:prstGeom>
          <a:solidFill>
            <a:srgbClr val="E5D0A0"/>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
        <p:nvSpPr>
          <p:cNvPr id="172" name="No se entrena un modelo desde cero para cada tarea: se reutiliza una representación preentrenada"/>
          <p:cNvSpPr txBox="1"/>
          <p:nvPr/>
        </p:nvSpPr>
        <p:spPr>
          <a:xfrm>
            <a:off x="558846" y="3476247"/>
            <a:ext cx="9073313" cy="332737"/>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sz="1600">
                <a:solidFill>
                  <a:srgbClr val="4D0912"/>
                </a:solidFill>
                <a:latin typeface="+mj-lt"/>
                <a:ea typeface="+mj-ea"/>
                <a:cs typeface="+mj-cs"/>
                <a:sym typeface="Helvetica"/>
              </a:defRPr>
            </a:lvl1pPr>
          </a:lstStyle>
          <a:p>
            <a:pPr/>
            <a:r>
              <a:t>No se entrena un modelo desde cero para cada tarea: se reutiliza una representación preentrenada</a:t>
            </a:r>
          </a:p>
        </p:txBody>
      </p:sp>
      <p:sp>
        <p:nvSpPr>
          <p:cNvPr id="173" name="Rectangle 6"/>
          <p:cNvSpPr/>
          <p:nvPr/>
        </p:nvSpPr>
        <p:spPr>
          <a:xfrm>
            <a:off x="548638" y="1024127"/>
            <a:ext cx="1097284"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7"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78"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79"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180"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Motivación   ·   6/26</a:t>
            </a:r>
          </a:p>
        </p:txBody>
      </p:sp>
      <p:sp>
        <p:nvSpPr>
          <p:cNvPr id="181" name="Rectangle 141"/>
          <p:cNvSpPr/>
          <p:nvPr/>
        </p:nvSpPr>
        <p:spPr>
          <a:xfrm>
            <a:off x="594357" y="6355079"/>
            <a:ext cx="11000239" cy="18292"/>
          </a:xfrm>
          <a:prstGeom prst="rect">
            <a:avLst/>
          </a:prstGeom>
          <a:solidFill>
            <a:srgbClr val="E5D0A0"/>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
        <p:nvSpPr>
          <p:cNvPr id="182" name="TextBox 185"/>
          <p:cNvSpPr txBox="1"/>
          <p:nvPr/>
        </p:nvSpPr>
        <p:spPr>
          <a:xfrm>
            <a:off x="594358" y="384046"/>
            <a:ext cx="11000237" cy="43766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defRPr>
            </a:lvl1pPr>
          </a:lstStyle>
          <a:p>
            <a:pPr/>
            <a:r>
              <a:t>De modelos fundacionales a visión-lenguaje</a:t>
            </a:r>
          </a:p>
        </p:txBody>
      </p:sp>
      <p:sp>
        <p:nvSpPr>
          <p:cNvPr id="183" name="TextBox 186"/>
          <p:cNvSpPr txBox="1"/>
          <p:nvPr/>
        </p:nvSpPr>
        <p:spPr>
          <a:xfrm>
            <a:off x="594358" y="1188719"/>
            <a:ext cx="11000237" cy="28079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400">
                <a:solidFill>
                  <a:srgbClr val="4D0912"/>
                </a:solidFill>
              </a:defRPr>
            </a:lvl1pPr>
          </a:lstStyle>
          <a:p>
            <a:pPr/>
            <a:r>
              <a:t>La variante que nos interesa aprende una representación común para imágenes y texto.</a:t>
            </a:r>
          </a:p>
        </p:txBody>
      </p:sp>
      <p:sp>
        <p:nvSpPr>
          <p:cNvPr id="184" name="TextBox 187"/>
          <p:cNvSpPr txBox="1"/>
          <p:nvPr/>
        </p:nvSpPr>
        <p:spPr>
          <a:xfrm>
            <a:off x="594357" y="1965960"/>
            <a:ext cx="5577846" cy="33308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a:solidFill>
                  <a:srgbClr val="6B0F1A"/>
                </a:solidFill>
              </a:defRPr>
            </a:lvl1pPr>
          </a:lstStyle>
          <a:p>
            <a:pPr/>
            <a:r>
              <a:t>Qué añade un VLM</a:t>
            </a:r>
          </a:p>
        </p:txBody>
      </p:sp>
      <p:sp>
        <p:nvSpPr>
          <p:cNvPr id="185" name="TextBox 188"/>
          <p:cNvSpPr txBox="1"/>
          <p:nvPr/>
        </p:nvSpPr>
        <p:spPr>
          <a:xfrm>
            <a:off x="594357" y="2377438"/>
            <a:ext cx="5577846" cy="104165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1400">
                <a:solidFill>
                  <a:srgbClr val="3C2814"/>
                </a:solidFill>
              </a:defRPr>
            </a:pPr>
            <a:r>
              <a:t>▸ Entrena con pares imagen–texto, no solo con etiquetas cerradas.</a:t>
            </a:r>
          </a:p>
          <a:p>
            <a:pPr>
              <a:defRPr sz="600">
                <a:solidFill>
                  <a:srgbClr val="3C2814"/>
                </a:solidFill>
              </a:defRPr>
            </a:pPr>
          </a:p>
          <a:p>
            <a:pPr>
              <a:defRPr sz="1400">
                <a:solidFill>
                  <a:srgbClr val="3C2814"/>
                </a:solidFill>
              </a:defRPr>
            </a:pPr>
            <a:r>
              <a:t>▸ Proyecta ambas modalidades a un espacio latente compartido.</a:t>
            </a:r>
          </a:p>
          <a:p>
            <a:pPr>
              <a:defRPr sz="600">
                <a:solidFill>
                  <a:srgbClr val="3C2814"/>
                </a:solidFill>
              </a:defRPr>
            </a:pPr>
          </a:p>
          <a:p>
            <a:pPr>
              <a:defRPr sz="1400">
                <a:solidFill>
                  <a:srgbClr val="3C2814"/>
                </a:solidFill>
              </a:defRPr>
            </a:pPr>
            <a:r>
              <a:t>▸ Permite expresar clases con texto: "a histopathology image of…"</a:t>
            </a:r>
          </a:p>
        </p:txBody>
      </p:sp>
      <p:sp>
        <p:nvSpPr>
          <p:cNvPr id="186" name="TextBox 189"/>
          <p:cNvSpPr txBox="1"/>
          <p:nvPr/>
        </p:nvSpPr>
        <p:spPr>
          <a:xfrm>
            <a:off x="6492240" y="1965960"/>
            <a:ext cx="5120643" cy="33308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a:solidFill>
                  <a:srgbClr val="6B0F1A"/>
                </a:solidFill>
              </a:defRPr>
            </a:lvl1pPr>
          </a:lstStyle>
          <a:p>
            <a:pPr/>
            <a:r>
              <a:t>Por qué importa aquí</a:t>
            </a:r>
          </a:p>
        </p:txBody>
      </p:sp>
      <p:sp>
        <p:nvSpPr>
          <p:cNvPr id="187" name="TextBox 190"/>
          <p:cNvSpPr txBox="1"/>
          <p:nvPr/>
        </p:nvSpPr>
        <p:spPr>
          <a:xfrm>
            <a:off x="6492240" y="2377438"/>
            <a:ext cx="5120643" cy="127025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1400">
                <a:solidFill>
                  <a:srgbClr val="3C2814"/>
                </a:solidFill>
              </a:defRPr>
            </a:pPr>
            <a:r>
              <a:t>▸ En histopatología, las etiquetas son caras.</a:t>
            </a:r>
          </a:p>
          <a:p>
            <a:pPr>
              <a:defRPr sz="600">
                <a:solidFill>
                  <a:srgbClr val="3C2814"/>
                </a:solidFill>
              </a:defRPr>
            </a:pPr>
          </a:p>
          <a:p>
            <a:pPr>
              <a:defRPr sz="1400">
                <a:solidFill>
                  <a:srgbClr val="3C2814"/>
                </a:solidFill>
              </a:defRPr>
            </a:pPr>
            <a:r>
              <a:t>▸ El texto puede actuar como supervisión débil.</a:t>
            </a:r>
          </a:p>
          <a:p>
            <a:pPr>
              <a:defRPr sz="600">
                <a:solidFill>
                  <a:srgbClr val="3C2814"/>
                </a:solidFill>
              </a:defRPr>
            </a:pPr>
          </a:p>
          <a:p>
            <a:pPr>
              <a:defRPr sz="1400">
                <a:solidFill>
                  <a:srgbClr val="3C2814"/>
                </a:solidFill>
              </a:defRPr>
            </a:pPr>
            <a:r>
              <a:t>▸ La pregunta es si esa representación transfiere cuando cambia la fuente.</a:t>
            </a:r>
          </a:p>
        </p:txBody>
      </p:sp>
      <p:sp>
        <p:nvSpPr>
          <p:cNvPr id="188" name="TextBox 191"/>
          <p:cNvSpPr txBox="1"/>
          <p:nvPr/>
        </p:nvSpPr>
        <p:spPr>
          <a:xfrm>
            <a:off x="589533" y="5962953"/>
            <a:ext cx="11000234" cy="27799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500">
                <a:solidFill>
                  <a:srgbClr val="4D0912"/>
                </a:solidFill>
              </a:defRPr>
            </a:lvl1pPr>
          </a:lstStyle>
          <a:p>
            <a:pPr/>
            <a:r>
              <a:t>A partir de aquí, el trabajo se centra en sistemas de visión-lenguaje basados en alineamiento imagen–texto.</a:t>
            </a:r>
          </a:p>
        </p:txBody>
      </p:sp>
      <p:sp>
        <p:nvSpPr>
          <p:cNvPr id="189" name="Rectangle 192"/>
          <p:cNvSpPr/>
          <p:nvPr/>
        </p:nvSpPr>
        <p:spPr>
          <a:xfrm>
            <a:off x="594358" y="6355079"/>
            <a:ext cx="11000237" cy="18291"/>
          </a:xfrm>
          <a:prstGeom prst="rect">
            <a:avLst/>
          </a:prstGeom>
          <a:solidFill>
            <a:srgbClr val="E5D0A0"/>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pic>
        <p:nvPicPr>
          <p:cNvPr id="190" name="Picture 137" descr="Picture 137"/>
          <p:cNvPicPr>
            <a:picLocks noChangeAspect="1"/>
          </p:cNvPicPr>
          <p:nvPr/>
        </p:nvPicPr>
        <p:blipFill>
          <a:blip r:embed="rId3">
            <a:extLst/>
          </a:blip>
          <a:stretch>
            <a:fillRect/>
          </a:stretch>
        </p:blipFill>
        <p:spPr>
          <a:xfrm>
            <a:off x="1489224" y="3702541"/>
            <a:ext cx="9200851" cy="2141542"/>
          </a:xfrm>
          <a:prstGeom prst="rect">
            <a:avLst/>
          </a:prstGeom>
          <a:ln w="12700">
            <a:miter lim="400000"/>
          </a:ln>
        </p:spPr>
      </p:pic>
      <p:sp>
        <p:nvSpPr>
          <p:cNvPr id="191" name="Rectangle 6"/>
          <p:cNvSpPr/>
          <p:nvPr/>
        </p:nvSpPr>
        <p:spPr>
          <a:xfrm>
            <a:off x="548638" y="1024127"/>
            <a:ext cx="1097284"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6"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197"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198"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Motivación   ·   7/26</a:t>
            </a:r>
          </a:p>
        </p:txBody>
      </p:sp>
      <p:sp>
        <p:nvSpPr>
          <p:cNvPr id="199" name="Rectangle 152"/>
          <p:cNvSpPr/>
          <p:nvPr/>
        </p:nvSpPr>
        <p:spPr>
          <a:xfrm>
            <a:off x="594357" y="6355079"/>
            <a:ext cx="11000239" cy="18292"/>
          </a:xfrm>
          <a:prstGeom prst="rect">
            <a:avLst/>
          </a:prstGeom>
          <a:solidFill>
            <a:srgbClr val="E5D0A0"/>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
        <p:nvSpPr>
          <p:cNvPr id="200" name="TextBox 197"/>
          <p:cNvSpPr txBox="1"/>
          <p:nvPr/>
        </p:nvSpPr>
        <p:spPr>
          <a:xfrm>
            <a:off x="594358" y="384046"/>
            <a:ext cx="11000237" cy="43766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defRPr>
            </a:lvl1pPr>
          </a:lstStyle>
          <a:p>
            <a:pPr/>
            <a:r>
              <a:t>Pregunta de investigación</a:t>
            </a:r>
          </a:p>
        </p:txBody>
      </p:sp>
      <p:sp>
        <p:nvSpPr>
          <p:cNvPr id="201" name="TextBox 198"/>
          <p:cNvSpPr txBox="1"/>
          <p:nvPr/>
        </p:nvSpPr>
        <p:spPr>
          <a:xfrm>
            <a:off x="594358" y="1188719"/>
            <a:ext cx="11000237" cy="28079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400">
                <a:solidFill>
                  <a:srgbClr val="4D0912"/>
                </a:solidFill>
              </a:defRPr>
            </a:lvl1pPr>
          </a:lstStyle>
          <a:p>
            <a:pPr/>
            <a:r>
              <a:t>El eje que organiza toda la metodología experimental.</a:t>
            </a:r>
          </a:p>
        </p:txBody>
      </p:sp>
      <p:sp>
        <p:nvSpPr>
          <p:cNvPr id="202" name="Rounded Rectangle 199"/>
          <p:cNvSpPr/>
          <p:nvPr/>
        </p:nvSpPr>
        <p:spPr>
          <a:xfrm>
            <a:off x="594359" y="1874516"/>
            <a:ext cx="11000235" cy="919726"/>
          </a:xfrm>
          <a:prstGeom prst="roundRect">
            <a:avLst>
              <a:gd name="adj" fmla="val 9445"/>
            </a:avLst>
          </a:prstGeom>
          <a:solidFill>
            <a:srgbClr val="F5EED8"/>
          </a:solidFill>
          <a:ln w="19050">
            <a:solidFill>
              <a:srgbClr val="C6A04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03" name="TextBox 200"/>
          <p:cNvSpPr txBox="1"/>
          <p:nvPr/>
        </p:nvSpPr>
        <p:spPr>
          <a:xfrm>
            <a:off x="777240" y="2011677"/>
            <a:ext cx="10634472" cy="716625"/>
          </a:xfrm>
          <a:prstGeom prst="rect">
            <a:avLst/>
          </a:prstGeom>
          <a:ln w="12700">
            <a:miter lim="400000"/>
          </a:ln>
          <a:extLst>
            <a:ext uri="{C572A759-6A51-4108-AA02-DFA0A04FC94B}">
              <ma14:wrappingTextBoxFlag xmlns:ma14="http://schemas.microsoft.com/office/mac/drawingml/2011/main" val="1"/>
            </a:ext>
          </a:extLst>
        </p:spPr>
        <p:txBody>
          <a:bodyPr lIns="91437" tIns="91437" rIns="91437" bIns="91437">
            <a:spAutoFit/>
          </a:bodyPr>
          <a:lstStyle/>
          <a:p>
            <a:pPr algn="ctr">
              <a:defRPr b="1">
                <a:solidFill>
                  <a:srgbClr val="4D0912"/>
                </a:solidFill>
              </a:defRPr>
            </a:pPr>
            <a:r>
              <a:t>¿En qué medida generaliza un sistema de visión-lenguaje, basado en alineamiento imagen–texto,</a:t>
            </a:r>
          </a:p>
          <a:p>
            <a:pPr algn="ctr">
              <a:defRPr b="1">
                <a:solidFill>
                  <a:srgbClr val="4D0912"/>
                </a:solidFill>
              </a:defRPr>
            </a:pPr>
            <a:r>
              <a:t>entre fuentes histopatológicas, y qué componentes explican las diferencias de rendimiento?</a:t>
            </a:r>
          </a:p>
        </p:txBody>
      </p:sp>
      <p:sp>
        <p:nvSpPr>
          <p:cNvPr id="204" name="TextBox 201"/>
          <p:cNvSpPr txBox="1"/>
          <p:nvPr/>
        </p:nvSpPr>
        <p:spPr>
          <a:xfrm>
            <a:off x="594358" y="3794759"/>
            <a:ext cx="11000237" cy="33308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a:solidFill>
                  <a:srgbClr val="6B0F1A"/>
                </a:solidFill>
              </a:defRPr>
            </a:lvl1pPr>
          </a:lstStyle>
          <a:p>
            <a:pPr/>
            <a:r>
              <a:t>Por qué esta pregunta:</a:t>
            </a:r>
          </a:p>
        </p:txBody>
      </p:sp>
      <p:sp>
        <p:nvSpPr>
          <p:cNvPr id="205" name="TextBox 202"/>
          <p:cNvSpPr txBox="1"/>
          <p:nvPr/>
        </p:nvSpPr>
        <p:spPr>
          <a:xfrm>
            <a:off x="594358" y="4206240"/>
            <a:ext cx="11000237" cy="104165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1400">
                <a:solidFill>
                  <a:srgbClr val="6B0F1A"/>
                </a:solidFill>
              </a:defRPr>
            </a:pPr>
            <a:r>
              <a:t>▸ Contexto: </a:t>
            </a:r>
            <a:r>
              <a:rPr b="0">
                <a:solidFill>
                  <a:srgbClr val="3C2814"/>
                </a:solidFill>
              </a:rPr>
              <a:t>histopatología combina datos escasos, variabilidad visual y sesgo de fuente.</a:t>
            </a:r>
            <a:endParaRPr>
              <a:solidFill>
                <a:srgbClr val="3C2814"/>
              </a:solidFill>
            </a:endParaRPr>
          </a:p>
          <a:p>
            <a:pPr>
              <a:defRPr sz="600">
                <a:solidFill>
                  <a:srgbClr val="3C2814"/>
                </a:solidFill>
              </a:defRPr>
            </a:pPr>
          </a:p>
          <a:p>
            <a:pPr>
              <a:defRPr b="1" sz="1400">
                <a:solidFill>
                  <a:srgbClr val="6B0F1A"/>
                </a:solidFill>
              </a:defRPr>
            </a:pPr>
            <a:r>
              <a:t>▸ Evaluación externa: </a:t>
            </a:r>
            <a:r>
              <a:rPr b="0">
                <a:solidFill>
                  <a:srgbClr val="3C2814"/>
                </a:solidFill>
              </a:rPr>
              <a:t>NCT-CRC, Chaoyang y LungHist700.</a:t>
            </a:r>
            <a:endParaRPr>
              <a:solidFill>
                <a:srgbClr val="3C2814"/>
              </a:solidFill>
            </a:endParaRPr>
          </a:p>
          <a:p>
            <a:pPr>
              <a:defRPr sz="600">
                <a:solidFill>
                  <a:srgbClr val="3C2814"/>
                </a:solidFill>
              </a:defRPr>
            </a:pPr>
          </a:p>
          <a:p>
            <a:pPr>
              <a:defRPr b="1" sz="1400">
                <a:solidFill>
                  <a:srgbClr val="6B0F1A"/>
                </a:solidFill>
              </a:defRPr>
            </a:pPr>
            <a:r>
              <a:t>▸ Procedimiento: </a:t>
            </a:r>
            <a:r>
              <a:rPr b="0">
                <a:solidFill>
                  <a:srgbClr val="3C2814"/>
                </a:solidFill>
              </a:rPr>
              <a:t>cambiamos una variable cada vez — codificador visual, codificador de texto, prompt, normalización y cabeza de clasificación.</a:t>
            </a:r>
          </a:p>
        </p:txBody>
      </p:sp>
      <p:sp>
        <p:nvSpPr>
          <p:cNvPr id="206" name="TextBox 203"/>
          <p:cNvSpPr txBox="1"/>
          <p:nvPr/>
        </p:nvSpPr>
        <p:spPr>
          <a:xfrm>
            <a:off x="594358" y="5806440"/>
            <a:ext cx="11000237" cy="28079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400">
                <a:solidFill>
                  <a:srgbClr val="4D0912"/>
                </a:solidFill>
              </a:defRPr>
            </a:lvl1pPr>
          </a:lstStyle>
          <a:p>
            <a:pPr/>
            <a:r>
              <a:t>La metodología se organiza alrededor de esta pregunta: cambiar una variable cada vez y medir qué resiste el desplazamiento de distribución.</a:t>
            </a:r>
          </a:p>
        </p:txBody>
      </p:sp>
      <p:sp>
        <p:nvSpPr>
          <p:cNvPr id="207" name="Rectangle 204"/>
          <p:cNvSpPr/>
          <p:nvPr/>
        </p:nvSpPr>
        <p:spPr>
          <a:xfrm>
            <a:off x="594358" y="6355079"/>
            <a:ext cx="11000237" cy="18291"/>
          </a:xfrm>
          <a:prstGeom prst="rect">
            <a:avLst/>
          </a:prstGeom>
          <a:solidFill>
            <a:srgbClr val="E5D0A0"/>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08" name="Rectangle 6"/>
          <p:cNvSpPr/>
          <p:nvPr/>
        </p:nvSpPr>
        <p:spPr>
          <a:xfrm>
            <a:off x="548638" y="1024127"/>
            <a:ext cx="1097284"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Rectangle 1"/>
          <p:cNvSpPr/>
          <p:nvPr/>
        </p:nvSpPr>
        <p:spPr>
          <a:xfrm>
            <a:off x="-1" y="0"/>
            <a:ext cx="12191697" cy="6858000"/>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pic>
        <p:nvPicPr>
          <p:cNvPr id="213" name="Picture 2" descr="Picture 2"/>
          <p:cNvPicPr>
            <a:picLocks noChangeAspect="1"/>
          </p:cNvPicPr>
          <p:nvPr/>
        </p:nvPicPr>
        <p:blipFill>
          <a:blip r:embed="rId3">
            <a:extLst/>
          </a:blip>
          <a:stretch>
            <a:fillRect/>
          </a:stretch>
        </p:blipFill>
        <p:spPr>
          <a:xfrm>
            <a:off x="0" y="0"/>
            <a:ext cx="12191697" cy="6858000"/>
          </a:xfrm>
          <a:prstGeom prst="rect">
            <a:avLst/>
          </a:prstGeom>
          <a:ln w="12700">
            <a:miter lim="400000"/>
          </a:ln>
        </p:spPr>
      </p:pic>
      <p:sp>
        <p:nvSpPr>
          <p:cNvPr id="214" name="Rectangle 3"/>
          <p:cNvSpPr/>
          <p:nvPr/>
        </p:nvSpPr>
        <p:spPr>
          <a:xfrm>
            <a:off x="-1" y="0"/>
            <a:ext cx="548642" cy="68580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15" name="TextBox 4"/>
          <p:cNvSpPr txBox="1"/>
          <p:nvPr/>
        </p:nvSpPr>
        <p:spPr>
          <a:xfrm>
            <a:off x="1142986" y="1920236"/>
            <a:ext cx="4023391" cy="289109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2000">
                <a:solidFill>
                  <a:srgbClr val="FAF7F2"/>
                </a:solidFill>
              </a:defRPr>
            </a:lvl1pPr>
          </a:lstStyle>
          <a:p>
            <a:pPr/>
            <a:r>
              <a:t>02</a:t>
            </a:r>
          </a:p>
        </p:txBody>
      </p:sp>
      <p:sp>
        <p:nvSpPr>
          <p:cNvPr id="216" name="TextBox 6"/>
          <p:cNvSpPr txBox="1"/>
          <p:nvPr/>
        </p:nvSpPr>
        <p:spPr>
          <a:xfrm>
            <a:off x="1142999" y="5303520"/>
            <a:ext cx="3074671" cy="653908"/>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b="1" sz="4400">
                <a:solidFill>
                  <a:srgbClr val="FAF7F2"/>
                </a:solidFill>
              </a:defRPr>
            </a:lvl1pPr>
          </a:lstStyle>
          <a:p>
            <a:pPr/>
            <a:r>
              <a:t>Metodología</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0"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21"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22"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223"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Metodología   ·   9/26</a:t>
            </a:r>
          </a:p>
        </p:txBody>
      </p:sp>
      <p:sp>
        <p:nvSpPr>
          <p:cNvPr id="224" name="TextBox 5"/>
          <p:cNvSpPr txBox="1"/>
          <p:nvPr/>
        </p:nvSpPr>
        <p:spPr>
          <a:xfrm>
            <a:off x="594357" y="384047"/>
            <a:ext cx="11000239" cy="4851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latin typeface="+mj-lt"/>
                <a:ea typeface="+mj-ea"/>
                <a:cs typeface="+mj-cs"/>
                <a:sym typeface="Helvetica"/>
              </a:defRPr>
            </a:lvl1pPr>
          </a:lstStyle>
          <a:p>
            <a:pPr/>
            <a:r>
              <a:t>El paradigma CLIP</a:t>
            </a:r>
          </a:p>
        </p:txBody>
      </p:sp>
      <p:sp>
        <p:nvSpPr>
          <p:cNvPr id="225" name="Rectangle 6"/>
          <p:cNvSpPr/>
          <p:nvPr/>
        </p:nvSpPr>
        <p:spPr>
          <a:xfrm>
            <a:off x="548639" y="1024127"/>
            <a:ext cx="1097282"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pic>
        <p:nvPicPr>
          <p:cNvPr id="226" name="Picture 172" descr="Picture 172"/>
          <p:cNvPicPr>
            <a:picLocks noChangeAspect="1"/>
          </p:cNvPicPr>
          <p:nvPr/>
        </p:nvPicPr>
        <p:blipFill>
          <a:blip r:embed="rId3">
            <a:extLst/>
          </a:blip>
          <a:stretch>
            <a:fillRect/>
          </a:stretch>
        </p:blipFill>
        <p:spPr>
          <a:xfrm>
            <a:off x="1528063" y="1769533"/>
            <a:ext cx="9308594" cy="4608577"/>
          </a:xfrm>
          <a:prstGeom prst="rect">
            <a:avLst/>
          </a:prstGeom>
          <a:ln w="12700">
            <a:miter lim="400000"/>
          </a:ln>
        </p:spPr>
      </p:pic>
      <p:sp>
        <p:nvSpPr>
          <p:cNvPr id="227" name="TextBox 7"/>
          <p:cNvSpPr txBox="1"/>
          <p:nvPr/>
        </p:nvSpPr>
        <p:spPr>
          <a:xfrm>
            <a:off x="594357" y="1188719"/>
            <a:ext cx="11000239" cy="307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400">
                <a:solidFill>
                  <a:srgbClr val="4D0912"/>
                </a:solidFill>
                <a:latin typeface="+mj-lt"/>
                <a:ea typeface="+mj-ea"/>
                <a:cs typeface="+mj-cs"/>
                <a:sym typeface="Helvetica"/>
              </a:defRPr>
            </a:lvl1pPr>
          </a:lstStyle>
          <a:p>
            <a:pPr/>
            <a:r>
              <a:t>Foundational Model (FM) de aprendizaje contrastivo imagen-texto en un espacio latente compartido</a:t>
            </a:r>
          </a:p>
        </p:txBody>
      </p:sp>
      <p:sp>
        <p:nvSpPr>
          <p:cNvPr id="228" name="TextBox 8"/>
          <p:cNvSpPr txBox="1"/>
          <p:nvPr/>
        </p:nvSpPr>
        <p:spPr>
          <a:xfrm>
            <a:off x="6830568" y="1764792"/>
            <a:ext cx="3904487" cy="45211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1000">
                <a:solidFill>
                  <a:srgbClr val="4D0912"/>
                </a:solidFill>
              </a:defRPr>
            </a:pPr>
            <a:r>
              <a:t>¿Por qué CLIP?</a:t>
            </a:r>
          </a:p>
          <a:p>
            <a:pPr marL="100263" indent="-100263">
              <a:buSzPct val="100000"/>
              <a:buChar char="▸"/>
              <a:defRPr sz="1000">
                <a:solidFill>
                  <a:srgbClr val="4D0912"/>
                </a:solidFill>
              </a:defRPr>
            </a:pPr>
            <a:r>
              <a:t>Aprendizaje contrastivo imagen-texto sobre pares emparejados, con una función de pérdida simétrica.</a:t>
            </a:r>
          </a:p>
          <a:p>
            <a:pPr marL="100263" indent="-100263">
              <a:buSzPct val="100000"/>
              <a:buChar char="▸"/>
              <a:defRPr sz="1000">
                <a:solidFill>
                  <a:srgbClr val="4D0912"/>
                </a:solidFill>
              </a:defRPr>
            </a:pPr>
            <a:r>
              <a:t>Clasificación de vocabulario abierto: cambias los prompts, cambias el clasificador (sin re-entrenar).</a:t>
            </a:r>
          </a:p>
          <a:p>
            <a:pPr marL="100263" indent="-100263">
              <a:buSzPct val="100000"/>
              <a:buChar char="▸"/>
              <a:defRPr sz="1000">
                <a:solidFill>
                  <a:srgbClr val="4D0912"/>
                </a:solidFill>
              </a:defRPr>
            </a:pPr>
            <a:r>
              <a:t>Paradigma adoptado por la familia de FMs de patología (PLIP, CONCH, BiomedCLIP, MUSK).</a:t>
            </a:r>
          </a:p>
          <a:p>
            <a:pPr>
              <a:defRPr b="1" sz="1000">
                <a:solidFill>
                  <a:srgbClr val="4D0912"/>
                </a:solidFill>
              </a:defRPr>
            </a:pPr>
          </a:p>
          <a:p>
            <a:pPr>
              <a:defRPr b="1" sz="1000">
                <a:solidFill>
                  <a:srgbClr val="4D0912"/>
                </a:solidFill>
              </a:defRPr>
            </a:pPr>
          </a:p>
          <a:p>
            <a:pPr>
              <a:defRPr b="1" sz="1000">
                <a:solidFill>
                  <a:srgbClr val="4D0912"/>
                </a:solidFill>
              </a:defRPr>
            </a:pPr>
          </a:p>
          <a:p>
            <a:pPr>
              <a:defRPr b="1" sz="1000">
                <a:solidFill>
                  <a:srgbClr val="4D0912"/>
                </a:solidFill>
              </a:defRPr>
            </a:pPr>
          </a:p>
          <a:p>
            <a:pPr>
              <a:defRPr b="1" sz="1000">
                <a:solidFill>
                  <a:srgbClr val="4D0912"/>
                </a:solidFill>
              </a:defRPr>
            </a:pPr>
          </a:p>
          <a:p>
            <a:pPr>
              <a:defRPr b="1" sz="1000">
                <a:solidFill>
                  <a:srgbClr val="4D0912"/>
                </a:solidFill>
              </a:defRPr>
            </a:pPr>
          </a:p>
          <a:p>
            <a:pPr>
              <a:defRPr b="1" sz="1000">
                <a:solidFill>
                  <a:srgbClr val="4D0912"/>
                </a:solidFill>
              </a:defRPr>
            </a:pPr>
          </a:p>
          <a:p>
            <a:pPr>
              <a:defRPr b="1" sz="1000">
                <a:solidFill>
                  <a:srgbClr val="4D0912"/>
                </a:solidFill>
              </a:defRPr>
            </a:pPr>
          </a:p>
          <a:p>
            <a:pPr>
              <a:defRPr b="1" sz="1000">
                <a:solidFill>
                  <a:srgbClr val="4D0912"/>
                </a:solidFill>
              </a:defRPr>
            </a:pPr>
          </a:p>
          <a:p>
            <a:pPr>
              <a:defRPr b="1" sz="1000">
                <a:solidFill>
                  <a:srgbClr val="4D0912"/>
                </a:solidFill>
              </a:defRPr>
            </a:pPr>
          </a:p>
          <a:p>
            <a:pPr>
              <a:defRPr b="1" sz="1000">
                <a:solidFill>
                  <a:srgbClr val="4D0912"/>
                </a:solidFill>
              </a:defRPr>
            </a:pPr>
          </a:p>
          <a:p>
            <a:pPr>
              <a:defRPr b="1" sz="1000">
                <a:solidFill>
                  <a:srgbClr val="4D0912"/>
                </a:solidFill>
              </a:defRPr>
            </a:pPr>
          </a:p>
          <a:p>
            <a:pPr>
              <a:defRPr b="1" sz="1000">
                <a:solidFill>
                  <a:srgbClr val="4D0912"/>
                </a:solidFill>
              </a:defRPr>
            </a:pPr>
          </a:p>
          <a:p>
            <a:pPr>
              <a:defRPr b="1" sz="1000">
                <a:solidFill>
                  <a:srgbClr val="4D0912"/>
                </a:solidFill>
              </a:defRPr>
            </a:pPr>
          </a:p>
          <a:p>
            <a:pPr>
              <a:defRPr b="1" sz="1000">
                <a:solidFill>
                  <a:srgbClr val="4D0912"/>
                </a:solidFill>
              </a:defRPr>
            </a:pPr>
          </a:p>
          <a:p>
            <a:pPr>
              <a:defRPr b="1" sz="1000">
                <a:solidFill>
                  <a:srgbClr val="4D0912"/>
                </a:solidFill>
              </a:defRPr>
            </a:pPr>
          </a:p>
          <a:p>
            <a:pPr>
              <a:defRPr b="1" sz="1000">
                <a:solidFill>
                  <a:srgbClr val="4D0912"/>
                </a:solidFill>
              </a:defRPr>
            </a:pPr>
          </a:p>
          <a:p>
            <a:pPr>
              <a:defRPr b="1" sz="1000">
                <a:solidFill>
                  <a:srgbClr val="4D0912"/>
                </a:solidFill>
              </a:defRPr>
            </a:pPr>
            <a:r>
              <a:t>Pregunta transversal</a:t>
            </a:r>
          </a:p>
          <a:p>
            <a:pPr>
              <a:defRPr sz="1000">
                <a:solidFill>
                  <a:srgbClr val="4D0912"/>
                </a:solidFill>
              </a:defRPr>
            </a:pPr>
            <a:r>
              <a:t>¿Qué componente del pipeline CLIP aporta más, y dónde están sus límites bajo desplazamiento de distribución?</a:t>
            </a:r>
          </a:p>
        </p:txBody>
      </p:sp>
      <p:pic>
        <p:nvPicPr>
          <p:cNvPr id="229" name="Picture 173" descr="Picture 173"/>
          <p:cNvPicPr>
            <a:picLocks noChangeAspect="1"/>
          </p:cNvPicPr>
          <p:nvPr/>
        </p:nvPicPr>
        <p:blipFill>
          <a:blip r:embed="rId4">
            <a:extLst/>
          </a:blip>
          <a:stretch>
            <a:fillRect/>
          </a:stretch>
        </p:blipFill>
        <p:spPr>
          <a:xfrm>
            <a:off x="1353311" y="1769533"/>
            <a:ext cx="5353683" cy="4595065"/>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29" grpId="1"/>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3"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34"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35"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236"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Metodología   ·   10/26</a:t>
            </a:r>
          </a:p>
        </p:txBody>
      </p:sp>
      <p:sp>
        <p:nvSpPr>
          <p:cNvPr id="237" name="TextBox 5"/>
          <p:cNvSpPr txBox="1"/>
          <p:nvPr/>
        </p:nvSpPr>
        <p:spPr>
          <a:xfrm>
            <a:off x="594357" y="384047"/>
            <a:ext cx="11000239" cy="4851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latin typeface="+mj-lt"/>
                <a:ea typeface="+mj-ea"/>
                <a:cs typeface="+mj-cs"/>
                <a:sym typeface="Helvetica"/>
              </a:defRPr>
            </a:lvl1pPr>
          </a:lstStyle>
          <a:p>
            <a:pPr/>
            <a:r>
              <a:t>PLIP: modelo fundacional específico de patología</a:t>
            </a:r>
          </a:p>
        </p:txBody>
      </p:sp>
      <p:sp>
        <p:nvSpPr>
          <p:cNvPr id="238" name="Rectangle 6"/>
          <p:cNvSpPr/>
          <p:nvPr/>
        </p:nvSpPr>
        <p:spPr>
          <a:xfrm>
            <a:off x="548639" y="1024127"/>
            <a:ext cx="1097282"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39" name="TextBox 7"/>
          <p:cNvSpPr txBox="1"/>
          <p:nvPr/>
        </p:nvSpPr>
        <p:spPr>
          <a:xfrm>
            <a:off x="594357" y="1188719"/>
            <a:ext cx="11000239" cy="307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400">
                <a:solidFill>
                  <a:srgbClr val="4D0912"/>
                </a:solidFill>
                <a:latin typeface="+mj-lt"/>
                <a:ea typeface="+mj-ea"/>
                <a:cs typeface="+mj-cs"/>
                <a:sym typeface="Helvetica"/>
              </a:defRPr>
            </a:lvl1pPr>
          </a:lstStyle>
          <a:p>
            <a:pPr/>
            <a:r>
              <a:t>CLIP-style entrenado en pares imagen–texto de patología (Huang 2023)</a:t>
            </a:r>
          </a:p>
        </p:txBody>
      </p:sp>
      <p:sp>
        <p:nvSpPr>
          <p:cNvPr id="240" name="TextBox 180"/>
          <p:cNvSpPr txBox="1"/>
          <p:nvPr/>
        </p:nvSpPr>
        <p:spPr>
          <a:xfrm>
            <a:off x="431094" y="1694744"/>
            <a:ext cx="8842676" cy="167252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a:solidFill>
                  <a:srgbClr val="4D0912"/>
                </a:solidFill>
                <a:latin typeface="+mj-lt"/>
                <a:ea typeface="+mj-ea"/>
                <a:cs typeface="+mj-cs"/>
                <a:sym typeface="Helvetica"/>
              </a:defRPr>
            </a:pPr>
            <a:r>
              <a:t>Qué es</a:t>
            </a:r>
          </a:p>
          <a:p>
            <a:pPr marL="180472" indent="-180472">
              <a:defRPr sz="1300">
                <a:solidFill>
                  <a:srgbClr val="3C2814"/>
                </a:solidFill>
                <a:latin typeface="+mj-lt"/>
                <a:ea typeface="+mj-ea"/>
                <a:cs typeface="+mj-cs"/>
                <a:sym typeface="Helvetica"/>
              </a:defRPr>
            </a:pPr>
            <a:r>
              <a:t>▸ Modelo CLIP-style </a:t>
            </a:r>
            <a:r>
              <a:rPr b="1"/>
              <a:t>entrenado en ~208K pares imagen–texto de patología</a:t>
            </a:r>
            <a:r>
              <a:t> (OpenPath: tweets de patólogos con #GIPath, #PathTwitter, etc., + subset filtrado de LAION).</a:t>
            </a:r>
          </a:p>
          <a:p>
            <a:pPr marL="180472" indent="-180472">
              <a:defRPr sz="1300">
                <a:solidFill>
                  <a:srgbClr val="3C2814"/>
                </a:solidFill>
                <a:latin typeface="+mj-lt"/>
                <a:ea typeface="+mj-ea"/>
                <a:cs typeface="+mj-cs"/>
                <a:sym typeface="Helvetica"/>
              </a:defRPr>
            </a:pPr>
          </a:p>
          <a:p>
            <a:pPr>
              <a:defRPr b="1">
                <a:solidFill>
                  <a:srgbClr val="4D0912"/>
                </a:solidFill>
                <a:latin typeface="+mj-lt"/>
                <a:ea typeface="+mj-ea"/>
                <a:cs typeface="+mj-cs"/>
                <a:sym typeface="Helvetica"/>
              </a:defRPr>
            </a:pPr>
            <a:r>
              <a:t>Arquitectura</a:t>
            </a:r>
          </a:p>
          <a:p>
            <a:pPr marL="180472" indent="-180472">
              <a:defRPr sz="1300">
                <a:solidFill>
                  <a:srgbClr val="3C2814"/>
                </a:solidFill>
                <a:latin typeface="+mj-lt"/>
                <a:ea typeface="+mj-ea"/>
                <a:cs typeface="+mj-cs"/>
                <a:sym typeface="Helvetica"/>
              </a:defRPr>
            </a:pPr>
            <a:r>
              <a:t>▸ Arquitectura original de CLIP: </a:t>
            </a:r>
            <a:r>
              <a:rPr b="1"/>
              <a:t>ViT-B/32 (encoder de imagen) + Transformer 12-layer con tokenizer BPE (texto)</a:t>
            </a:r>
            <a:r>
              <a:t>, entrenados contrastivamente desde la inicialización de CLIP en imágenes naturales.</a:t>
            </a:r>
          </a:p>
        </p:txBody>
      </p:sp>
      <p:pic>
        <p:nvPicPr>
          <p:cNvPr id="241" name="Picture 181" descr="Picture 181"/>
          <p:cNvPicPr>
            <a:picLocks noChangeAspect="1"/>
          </p:cNvPicPr>
          <p:nvPr/>
        </p:nvPicPr>
        <p:blipFill>
          <a:blip r:embed="rId3">
            <a:extLst/>
          </a:blip>
          <a:stretch>
            <a:fillRect/>
          </a:stretch>
        </p:blipFill>
        <p:spPr>
          <a:xfrm>
            <a:off x="3759200" y="3594641"/>
            <a:ext cx="7700193" cy="2670233"/>
          </a:xfrm>
          <a:prstGeom prst="rect">
            <a:avLst/>
          </a:prstGeom>
          <a:ln w="12700">
            <a:miter lim="400000"/>
          </a:ln>
        </p:spPr>
      </p:pic>
      <p:sp>
        <p:nvSpPr>
          <p:cNvPr id="242" name="TextBox 180"/>
          <p:cNvSpPr txBox="1"/>
          <p:nvPr/>
        </p:nvSpPr>
        <p:spPr>
          <a:xfrm>
            <a:off x="431091" y="3519744"/>
            <a:ext cx="2916841" cy="179952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a:solidFill>
                  <a:srgbClr val="4D0912"/>
                </a:solidFill>
                <a:latin typeface="+mj-lt"/>
                <a:ea typeface="+mj-ea"/>
                <a:cs typeface="+mj-cs"/>
                <a:sym typeface="Helvetica"/>
              </a:defRPr>
            </a:pPr>
            <a:r>
              <a:t>Rol en este trabajo</a:t>
            </a:r>
          </a:p>
          <a:p>
            <a:pPr marL="180472" indent="-180472">
              <a:defRPr sz="1300">
                <a:solidFill>
                  <a:srgbClr val="3C2814"/>
                </a:solidFill>
                <a:latin typeface="+mj-lt"/>
                <a:ea typeface="+mj-ea"/>
                <a:cs typeface="+mj-cs"/>
                <a:sym typeface="Helvetica"/>
              </a:defRPr>
            </a:pPr>
            <a:r>
              <a:t>▸ </a:t>
            </a:r>
            <a:r>
              <a:rPr b="1"/>
              <a:t>Referencia zero-shot</a:t>
            </a:r>
            <a:r>
              <a:t> en los 4 datasets: evaluamos PLIP tal cual, sin entrenar nada.</a:t>
            </a:r>
          </a:p>
          <a:p>
            <a:pPr marL="180472" indent="-180472">
              <a:defRPr sz="1300">
                <a:solidFill>
                  <a:srgbClr val="3C2814"/>
                </a:solidFill>
                <a:latin typeface="+mj-lt"/>
                <a:ea typeface="+mj-ea"/>
                <a:cs typeface="+mj-cs"/>
                <a:sym typeface="Helvetica"/>
              </a:defRPr>
            </a:pPr>
            <a:r>
              <a:t>▸ </a:t>
            </a:r>
            <a:r>
              <a:rPr b="1"/>
              <a:t>Codificador de imagen alternativo</a:t>
            </a:r>
            <a:r>
              <a:t> en la comparación RQ5: usamos solo su ViT-B/32 con nuestro BERT y proyecciones entrenadas.</a:t>
            </a:r>
          </a:p>
        </p:txBody>
      </p:sp>
      <p:sp>
        <p:nvSpPr>
          <p:cNvPr id="243" name="Rectangle 184"/>
          <p:cNvSpPr/>
          <p:nvPr/>
        </p:nvSpPr>
        <p:spPr>
          <a:xfrm>
            <a:off x="594357" y="6355079"/>
            <a:ext cx="11000239" cy="18292"/>
          </a:xfrm>
          <a:prstGeom prst="rect">
            <a:avLst/>
          </a:prstGeom>
          <a:solidFill>
            <a:srgbClr val="E5D0A0"/>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7"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48"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49"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250"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Metodología   ·   11/26</a:t>
            </a:r>
          </a:p>
        </p:txBody>
      </p:sp>
      <p:sp>
        <p:nvSpPr>
          <p:cNvPr id="251" name="TextBox 5"/>
          <p:cNvSpPr txBox="1"/>
          <p:nvPr/>
        </p:nvSpPr>
        <p:spPr>
          <a:xfrm>
            <a:off x="594357" y="384047"/>
            <a:ext cx="11000239" cy="4851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latin typeface="+mj-lt"/>
                <a:ea typeface="+mj-ea"/>
                <a:cs typeface="+mj-cs"/>
                <a:sym typeface="Helvetica"/>
              </a:defRPr>
            </a:lvl1pPr>
          </a:lstStyle>
          <a:p>
            <a:pPr/>
            <a:r>
              <a:t>Nuestra línea base experimental</a:t>
            </a:r>
          </a:p>
        </p:txBody>
      </p:sp>
      <p:sp>
        <p:nvSpPr>
          <p:cNvPr id="252" name="Rectangle 6"/>
          <p:cNvSpPr/>
          <p:nvPr/>
        </p:nvSpPr>
        <p:spPr>
          <a:xfrm>
            <a:off x="548639" y="1024127"/>
            <a:ext cx="1097282"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53" name="TextBox 7"/>
          <p:cNvSpPr txBox="1"/>
          <p:nvPr/>
        </p:nvSpPr>
        <p:spPr>
          <a:xfrm>
            <a:off x="594357" y="1188719"/>
            <a:ext cx="11000239" cy="307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400">
                <a:solidFill>
                  <a:srgbClr val="4D0912"/>
                </a:solidFill>
                <a:latin typeface="+mj-lt"/>
                <a:ea typeface="+mj-ea"/>
                <a:cs typeface="+mj-cs"/>
                <a:sym typeface="Helvetica"/>
              </a:defRPr>
            </a:lvl1pPr>
          </a:lstStyle>
          <a:p>
            <a:pPr/>
            <a:r>
              <a:t>CLIP entrenado con ambos encoders congelados y cabezas de proyección 256-d entrenables</a:t>
            </a:r>
          </a:p>
        </p:txBody>
      </p:sp>
      <p:pic>
        <p:nvPicPr>
          <p:cNvPr id="254" name="Picture 999" descr="Picture 999"/>
          <p:cNvPicPr>
            <a:picLocks noChangeAspect="1"/>
          </p:cNvPicPr>
          <p:nvPr/>
        </p:nvPicPr>
        <p:blipFill>
          <a:blip r:embed="rId3">
            <a:extLst/>
          </a:blip>
          <a:stretch>
            <a:fillRect/>
          </a:stretch>
        </p:blipFill>
        <p:spPr>
          <a:xfrm>
            <a:off x="1036319" y="1765522"/>
            <a:ext cx="5943604" cy="3632204"/>
          </a:xfrm>
          <a:prstGeom prst="rect">
            <a:avLst/>
          </a:prstGeom>
          <a:ln w="12700">
            <a:miter lim="400000"/>
          </a:ln>
        </p:spPr>
      </p:pic>
      <p:sp>
        <p:nvSpPr>
          <p:cNvPr id="255" name="TextBox 181"/>
          <p:cNvSpPr txBox="1"/>
          <p:nvPr/>
        </p:nvSpPr>
        <p:spPr>
          <a:xfrm>
            <a:off x="7299958" y="1765523"/>
            <a:ext cx="3590076" cy="4454532"/>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a:defRPr b="1" sz="1700">
                <a:solidFill>
                  <a:srgbClr val="4D0912"/>
                </a:solidFill>
              </a:defRPr>
            </a:pPr>
            <a:r>
              <a:t>Datos de entrada</a:t>
            </a:r>
          </a:p>
          <a:p>
            <a:pPr marL="180472" indent="-180472">
              <a:defRPr sz="1400">
                <a:solidFill>
                  <a:srgbClr val="4D0912"/>
                </a:solidFill>
              </a:defRPr>
            </a:pPr>
            <a:r>
              <a:t>▸ </a:t>
            </a:r>
            <a:r>
              <a:rPr b="1"/>
              <a:t>Imagen: </a:t>
            </a:r>
            <a:r>
              <a:t>224 × 224 px</a:t>
            </a:r>
          </a:p>
          <a:p>
            <a:pPr marL="180472" indent="-180472">
              <a:defRPr sz="1400">
                <a:solidFill>
                  <a:srgbClr val="4D0912"/>
                </a:solidFill>
              </a:defRPr>
            </a:pPr>
            <a:r>
              <a:t>▸ </a:t>
            </a:r>
            <a:r>
              <a:rPr b="1"/>
              <a:t>Texto: </a:t>
            </a:r>
            <a:r>
              <a:t>prompt fijo, 24 tokens WordPiece</a:t>
            </a:r>
          </a:p>
          <a:p>
            <a:pPr marL="180472" indent="-180472">
              <a:defRPr sz="1400">
                <a:solidFill>
                  <a:srgbClr val="4D0912"/>
                </a:solidFill>
              </a:defRPr>
            </a:pPr>
            <a:r>
              <a:t>▸ </a:t>
            </a:r>
            <a:r>
              <a:rPr b="1"/>
              <a:t>Prompt: </a:t>
            </a:r>
            <a:r>
              <a:rPr i="1"/>
              <a:t>"A histopathology image of {class}."</a:t>
            </a:r>
          </a:p>
          <a:p>
            <a:pPr marL="180472" indent="-180472">
              <a:defRPr sz="1400">
                <a:solidFill>
                  <a:srgbClr val="4D0912"/>
                </a:solidFill>
              </a:defRPr>
            </a:pPr>
            <a:r>
              <a:t>▸ </a:t>
            </a:r>
            <a:r>
              <a:rPr b="1"/>
              <a:t>Batch: </a:t>
            </a:r>
            <a:r>
              <a:t>32 pares imagen-texto</a:t>
            </a:r>
          </a:p>
          <a:p>
            <a:pPr marL="180472" indent="-180472">
              <a:defRPr sz="1400">
                <a:solidFill>
                  <a:srgbClr val="4D0912"/>
                </a:solidFill>
              </a:defRPr>
            </a:pPr>
            <a:r>
              <a:t>▸ </a:t>
            </a:r>
            <a:r>
              <a:rPr b="1"/>
              <a:t>Datos: </a:t>
            </a:r>
            <a:r>
              <a:t>LC25000, split estratificado 80/10/10</a:t>
            </a:r>
          </a:p>
          <a:p>
            <a:pPr>
              <a:defRPr sz="1400">
                <a:solidFill>
                  <a:srgbClr val="4D0912"/>
                </a:solidFill>
              </a:defRPr>
            </a:pPr>
          </a:p>
          <a:p>
            <a:pPr>
              <a:defRPr b="1" sz="1700">
                <a:solidFill>
                  <a:srgbClr val="4D0912"/>
                </a:solidFill>
              </a:defRPr>
            </a:pPr>
            <a:r>
              <a:t>Objetivo</a:t>
            </a:r>
          </a:p>
          <a:p>
            <a:pPr marL="180472" indent="-180472">
              <a:defRPr sz="1400">
                <a:solidFill>
                  <a:srgbClr val="4D0912"/>
                </a:solidFill>
              </a:defRPr>
            </a:pPr>
            <a:r>
              <a:t>▸ </a:t>
            </a:r>
            <a:r>
              <a:rPr b="1"/>
              <a:t>Pérdida: </a:t>
            </a:r>
            <a:r>
              <a:t>InfoNCE simétrica sobre la matriz 5×5</a:t>
            </a:r>
          </a:p>
          <a:p>
            <a:pPr marL="180472" indent="-180472">
              <a:defRPr sz="1400">
                <a:solidFill>
                  <a:srgbClr val="4D0912"/>
                </a:solidFill>
              </a:defRPr>
            </a:pPr>
            <a:r>
              <a:t>▸ </a:t>
            </a:r>
            <a:r>
              <a:rPr b="1"/>
              <a:t>Temperatura: </a:t>
            </a:r>
            <a:r>
              <a:t>τ = 0.07 (entrenable)</a:t>
            </a:r>
          </a:p>
          <a:p>
            <a:pPr>
              <a:defRPr sz="1400">
                <a:solidFill>
                  <a:srgbClr val="4D0912"/>
                </a:solidFill>
              </a:defRPr>
            </a:pPr>
          </a:p>
          <a:p>
            <a:pPr>
              <a:defRPr b="1" sz="1700">
                <a:solidFill>
                  <a:srgbClr val="4D0912"/>
                </a:solidFill>
              </a:defRPr>
            </a:pPr>
            <a:r>
              <a:t>Optimización</a:t>
            </a:r>
          </a:p>
          <a:p>
            <a:pPr marL="180472" indent="-180472">
              <a:defRPr sz="1400">
                <a:solidFill>
                  <a:srgbClr val="4D0912"/>
                </a:solidFill>
              </a:defRPr>
            </a:pPr>
            <a:r>
              <a:t>▸ AdamW · LR 1×10⁻³ · weight decay 1×10⁻⁴</a:t>
            </a:r>
          </a:p>
          <a:p>
            <a:pPr marL="180472" indent="-180472">
              <a:defRPr sz="1400">
                <a:solidFill>
                  <a:srgbClr val="4D0912"/>
                </a:solidFill>
              </a:defRPr>
            </a:pPr>
            <a:r>
              <a:t>▸ Gradient clipnorm 1.0</a:t>
            </a:r>
          </a:p>
          <a:p>
            <a:pPr marL="180472" indent="-180472">
              <a:defRPr sz="1400">
                <a:solidFill>
                  <a:srgbClr val="4D0912"/>
                </a:solidFill>
              </a:defRPr>
            </a:pPr>
            <a:r>
              <a:t>▸ ReduceLROnPlateau (factor 0.5, patience 2)</a:t>
            </a:r>
          </a:p>
          <a:p>
            <a:pPr marL="180472" indent="-180472">
              <a:defRPr sz="1400">
                <a:solidFill>
                  <a:srgbClr val="4D0912"/>
                </a:solidFill>
              </a:defRPr>
            </a:pPr>
            <a:r>
              <a:t>▸ EarlyStopping (patience 5, max 30 epochs)</a:t>
            </a:r>
          </a:p>
          <a:p>
            <a:pPr marL="180472" indent="-180472">
              <a:defRPr sz="1400">
                <a:solidFill>
                  <a:srgbClr val="4D0912"/>
                </a:solidFill>
              </a:defRPr>
            </a:pPr>
            <a:r>
              <a:t>▸ Precisión float32 · seed 42</a:t>
            </a:r>
          </a:p>
        </p:txBody>
      </p:sp>
      <p:sp>
        <p:nvSpPr>
          <p:cNvPr id="256" name="Rectangle 196"/>
          <p:cNvSpPr/>
          <p:nvPr/>
        </p:nvSpPr>
        <p:spPr>
          <a:xfrm>
            <a:off x="594357" y="6355079"/>
            <a:ext cx="11000239" cy="18292"/>
          </a:xfrm>
          <a:prstGeom prst="rect">
            <a:avLst/>
          </a:prstGeom>
          <a:solidFill>
            <a:srgbClr val="E5D0A0"/>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0"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61"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62"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263"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Metodología   ·   12/26</a:t>
            </a:r>
          </a:p>
        </p:txBody>
      </p:sp>
      <p:sp>
        <p:nvSpPr>
          <p:cNvPr id="264" name="TextBox 5"/>
          <p:cNvSpPr txBox="1"/>
          <p:nvPr/>
        </p:nvSpPr>
        <p:spPr>
          <a:xfrm>
            <a:off x="594357" y="384047"/>
            <a:ext cx="11000239" cy="4851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latin typeface="+mj-lt"/>
                <a:ea typeface="+mj-ea"/>
                <a:cs typeface="+mj-cs"/>
                <a:sym typeface="Helvetica"/>
              </a:defRPr>
            </a:lvl1pPr>
          </a:lstStyle>
          <a:p>
            <a:pPr/>
            <a:r>
              <a:t>Diseño experimental: una variable cada vez</a:t>
            </a:r>
          </a:p>
        </p:txBody>
      </p:sp>
      <p:sp>
        <p:nvSpPr>
          <p:cNvPr id="265" name="Rectangle 6"/>
          <p:cNvSpPr/>
          <p:nvPr/>
        </p:nvSpPr>
        <p:spPr>
          <a:xfrm>
            <a:off x="548639" y="1024127"/>
            <a:ext cx="1097282"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66" name="TextBox 7"/>
          <p:cNvSpPr txBox="1"/>
          <p:nvPr/>
        </p:nvSpPr>
        <p:spPr>
          <a:xfrm>
            <a:off x="594357" y="1188719"/>
            <a:ext cx="11000239" cy="307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400">
                <a:solidFill>
                  <a:srgbClr val="4D0912"/>
                </a:solidFill>
                <a:latin typeface="+mj-lt"/>
                <a:ea typeface="+mj-ea"/>
                <a:cs typeface="+mj-cs"/>
                <a:sym typeface="Helvetica"/>
              </a:defRPr>
            </a:lvl1pPr>
          </a:lstStyle>
          <a:p>
            <a:pPr/>
            <a:r>
              <a:t>Seis experimentos, cada uno cambiando un componente del pipeline base</a:t>
            </a:r>
          </a:p>
        </p:txBody>
      </p:sp>
      <p:sp>
        <p:nvSpPr>
          <p:cNvPr id="267" name="TextBox 181"/>
          <p:cNvSpPr txBox="1"/>
          <p:nvPr/>
        </p:nvSpPr>
        <p:spPr>
          <a:xfrm>
            <a:off x="629053" y="4915449"/>
            <a:ext cx="4323941" cy="1059961"/>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a:defRPr b="1" sz="1700">
                <a:solidFill>
                  <a:srgbClr val="4D0912"/>
                </a:solidFill>
              </a:defRPr>
            </a:pPr>
            <a:r>
              <a:t>Evaluación externa</a:t>
            </a:r>
          </a:p>
          <a:p>
            <a:pPr marL="180472" indent="-180472">
              <a:defRPr sz="1300">
                <a:solidFill>
                  <a:srgbClr val="3C2814"/>
                </a:solidFill>
              </a:defRPr>
            </a:pPr>
            <a:r>
              <a:t>▸ </a:t>
            </a:r>
            <a:r>
              <a:rPr b="1"/>
              <a:t>NCT-CRC-HE-7K</a:t>
            </a:r>
            <a:r>
              <a:t>: colon, estilo similar a LC25000 (Kather 2019)</a:t>
            </a:r>
          </a:p>
          <a:p>
            <a:pPr marL="180472" indent="-180472">
              <a:defRPr sz="1300">
                <a:solidFill>
                  <a:srgbClr val="3C2814"/>
                </a:solidFill>
              </a:defRPr>
            </a:pPr>
            <a:r>
              <a:t>▸ </a:t>
            </a:r>
            <a:r>
              <a:rPr b="1"/>
              <a:t>Chaoyang</a:t>
            </a:r>
            <a:r>
              <a:t>: colon, tinción y escáner distintos (Zhu 2021)</a:t>
            </a:r>
          </a:p>
          <a:p>
            <a:pPr marL="180472" indent="-180472">
              <a:defRPr sz="1300">
                <a:solidFill>
                  <a:srgbClr val="3C2814"/>
                </a:solidFill>
              </a:defRPr>
            </a:pPr>
            <a:r>
              <a:t>▸ </a:t>
            </a:r>
            <a:r>
              <a:rPr b="1"/>
              <a:t>LungHist700</a:t>
            </a:r>
            <a:r>
              <a:t>: pulmón, 20× (Reyes 2024)</a:t>
            </a:r>
          </a:p>
        </p:txBody>
      </p:sp>
      <p:sp>
        <p:nvSpPr>
          <p:cNvPr id="268" name="TextBox 182"/>
          <p:cNvSpPr txBox="1"/>
          <p:nvPr/>
        </p:nvSpPr>
        <p:spPr>
          <a:xfrm>
            <a:off x="6435496" y="4915449"/>
            <a:ext cx="5114750" cy="122027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1700">
                <a:solidFill>
                  <a:srgbClr val="4D0912"/>
                </a:solidFill>
              </a:defRPr>
            </a:pPr>
            <a:r>
              <a:t>Protocolo</a:t>
            </a:r>
          </a:p>
          <a:p>
            <a:pPr marL="180472" indent="-180472">
              <a:defRPr sz="1300">
                <a:solidFill>
                  <a:srgbClr val="3C2814"/>
                </a:solidFill>
              </a:defRPr>
            </a:pPr>
            <a:r>
              <a:t>▸ </a:t>
            </a:r>
            <a:r>
              <a:rPr b="1"/>
              <a:t>Argmax restringido</a:t>
            </a:r>
            <a:r>
              <a:t>: cada dataset compara solo contra sus clases (no las 5 completas): evita penalizar clases ausentes.</a:t>
            </a:r>
          </a:p>
          <a:p>
            <a:pPr marL="180472" indent="-180472">
              <a:defRPr sz="1300">
                <a:solidFill>
                  <a:srgbClr val="3C2814"/>
                </a:solidFill>
              </a:defRPr>
            </a:pPr>
            <a:r>
              <a:t>▸ </a:t>
            </a:r>
            <a:r>
              <a:rPr b="1"/>
              <a:t>Reporte por órgano</a:t>
            </a:r>
            <a:r>
              <a:t>: colon y pulmón separados, no promediados: evita ocultar cambios de régimen entre órganos.</a:t>
            </a:r>
          </a:p>
        </p:txBody>
      </p:sp>
      <p:pic>
        <p:nvPicPr>
          <p:cNvPr id="269" name="Picture 183" descr="Picture 183"/>
          <p:cNvPicPr>
            <a:picLocks noChangeAspect="1"/>
          </p:cNvPicPr>
          <p:nvPr/>
        </p:nvPicPr>
        <p:blipFill>
          <a:blip r:embed="rId3">
            <a:extLst/>
          </a:blip>
          <a:stretch>
            <a:fillRect/>
          </a:stretch>
        </p:blipFill>
        <p:spPr>
          <a:xfrm>
            <a:off x="608076" y="1737360"/>
            <a:ext cx="10972801" cy="2821579"/>
          </a:xfrm>
          <a:prstGeom prst="rect">
            <a:avLst/>
          </a:prstGeom>
          <a:ln w="12700">
            <a:miter lim="400000"/>
          </a:ln>
        </p:spPr>
      </p:pic>
      <p:sp>
        <p:nvSpPr>
          <p:cNvPr id="270" name="Rectangle 209"/>
          <p:cNvSpPr/>
          <p:nvPr/>
        </p:nvSpPr>
        <p:spPr>
          <a:xfrm>
            <a:off x="594357" y="6355079"/>
            <a:ext cx="11000239" cy="18292"/>
          </a:xfrm>
          <a:prstGeom prst="rect">
            <a:avLst/>
          </a:prstGeom>
          <a:solidFill>
            <a:srgbClr val="E5D0A0"/>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4" name="Rectangle 1"/>
          <p:cNvSpPr/>
          <p:nvPr/>
        </p:nvSpPr>
        <p:spPr>
          <a:xfrm>
            <a:off x="-1" y="0"/>
            <a:ext cx="12191697" cy="6858000"/>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pic>
        <p:nvPicPr>
          <p:cNvPr id="275" name="Picture 2" descr="Picture 2"/>
          <p:cNvPicPr>
            <a:picLocks noChangeAspect="1"/>
          </p:cNvPicPr>
          <p:nvPr/>
        </p:nvPicPr>
        <p:blipFill>
          <a:blip r:embed="rId3">
            <a:extLst/>
          </a:blip>
          <a:stretch>
            <a:fillRect/>
          </a:stretch>
        </p:blipFill>
        <p:spPr>
          <a:xfrm>
            <a:off x="0" y="0"/>
            <a:ext cx="12191697" cy="6858000"/>
          </a:xfrm>
          <a:prstGeom prst="rect">
            <a:avLst/>
          </a:prstGeom>
          <a:ln w="12700">
            <a:miter lim="400000"/>
          </a:ln>
        </p:spPr>
      </p:pic>
      <p:sp>
        <p:nvSpPr>
          <p:cNvPr id="276" name="Rectangle 3"/>
          <p:cNvSpPr/>
          <p:nvPr/>
        </p:nvSpPr>
        <p:spPr>
          <a:xfrm>
            <a:off x="-1" y="0"/>
            <a:ext cx="548642" cy="68580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277" name="TextBox 4"/>
          <p:cNvSpPr txBox="1"/>
          <p:nvPr/>
        </p:nvSpPr>
        <p:spPr>
          <a:xfrm>
            <a:off x="1142986" y="1920236"/>
            <a:ext cx="4023391" cy="289109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2000">
                <a:solidFill>
                  <a:srgbClr val="FAF7F2"/>
                </a:solidFill>
              </a:defRPr>
            </a:lvl1pPr>
          </a:lstStyle>
          <a:p>
            <a:pPr/>
            <a:r>
              <a:t>03</a:t>
            </a:r>
          </a:p>
        </p:txBody>
      </p:sp>
      <p:sp>
        <p:nvSpPr>
          <p:cNvPr id="278" name="TextBox 6"/>
          <p:cNvSpPr txBox="1"/>
          <p:nvPr/>
        </p:nvSpPr>
        <p:spPr>
          <a:xfrm>
            <a:off x="1142999" y="5303520"/>
            <a:ext cx="2639200" cy="653908"/>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b="1" sz="4400">
                <a:solidFill>
                  <a:srgbClr val="FAF7F2"/>
                </a:solidFill>
              </a:defRPr>
            </a:lvl1pPr>
          </a:lstStyle>
          <a:p>
            <a:pPr/>
            <a:r>
              <a:t>Resultados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2"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283"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Resultados   ·   14/26</a:t>
            </a:r>
          </a:p>
        </p:txBody>
      </p:sp>
      <p:sp>
        <p:nvSpPr>
          <p:cNvPr id="284" name="Rectangle"/>
          <p:cNvSpPr/>
          <p:nvPr/>
        </p:nvSpPr>
        <p:spPr>
          <a:xfrm>
            <a:off x="792471" y="2177024"/>
            <a:ext cx="4451306" cy="3096286"/>
          </a:xfrm>
          <a:prstGeom prst="rect">
            <a:avLst/>
          </a:prstGeom>
          <a:solidFill>
            <a:srgbClr val="F5EED8"/>
          </a:solidFill>
          <a:ln w="12700">
            <a:miter lim="400000"/>
          </a:ln>
        </p:spPr>
        <p:txBody>
          <a:bodyPr lIns="45718" tIns="45718" rIns="45718" bIns="45718" anchor="ctr"/>
          <a:lstStyle/>
          <a:p>
            <a:pPr algn="ctr">
              <a:defRPr>
                <a:solidFill>
                  <a:srgbClr val="FFFFFF"/>
                </a:solidFill>
              </a:defRPr>
            </a:pPr>
          </a:p>
        </p:txBody>
      </p:sp>
      <p:sp>
        <p:nvSpPr>
          <p:cNvPr id="285" name="Rectangle 219"/>
          <p:cNvSpPr/>
          <p:nvPr/>
        </p:nvSpPr>
        <p:spPr>
          <a:xfrm>
            <a:off x="548639" y="1024127"/>
            <a:ext cx="1097282" cy="36590"/>
          </a:xfrm>
          <a:prstGeom prst="rect">
            <a:avLst/>
          </a:prstGeom>
          <a:solidFill>
            <a:srgbClr val="C6A046"/>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
        <p:nvSpPr>
          <p:cNvPr id="286" name="TextBox 220"/>
          <p:cNvSpPr txBox="1"/>
          <p:nvPr/>
        </p:nvSpPr>
        <p:spPr>
          <a:xfrm>
            <a:off x="594356" y="384047"/>
            <a:ext cx="5278507" cy="485137"/>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b="1" sz="2600">
                <a:solidFill>
                  <a:srgbClr val="6B0F1A"/>
                </a:solidFill>
                <a:latin typeface="+mj-lt"/>
                <a:ea typeface="+mj-ea"/>
                <a:cs typeface="+mj-cs"/>
                <a:sym typeface="Helvetica"/>
              </a:defRPr>
            </a:lvl1pPr>
          </a:lstStyle>
          <a:p>
            <a:pPr/>
            <a:r>
              <a:t>Comportamiento de la línea base</a:t>
            </a:r>
          </a:p>
        </p:txBody>
      </p:sp>
      <p:sp>
        <p:nvSpPr>
          <p:cNvPr id="287" name="TextBox 221"/>
          <p:cNvSpPr txBox="1"/>
          <p:nvPr/>
        </p:nvSpPr>
        <p:spPr>
          <a:xfrm>
            <a:off x="594356" y="1188719"/>
            <a:ext cx="7428230" cy="307337"/>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sz="1400">
                <a:solidFill>
                  <a:srgbClr val="4D0912"/>
                </a:solidFill>
                <a:latin typeface="+mj-lt"/>
                <a:ea typeface="+mj-ea"/>
                <a:cs typeface="+mj-cs"/>
                <a:sym typeface="Helvetica"/>
              </a:defRPr>
            </a:lvl1pPr>
          </a:lstStyle>
          <a:p>
            <a:pPr/>
            <a:r>
              <a:t>Satura in-distribution pero colapsa a una sola clase en generalización con dataset de pulmón</a:t>
            </a:r>
          </a:p>
        </p:txBody>
      </p:sp>
      <p:sp>
        <p:nvSpPr>
          <p:cNvPr id="288" name="TextBox 222"/>
          <p:cNvSpPr txBox="1"/>
          <p:nvPr/>
        </p:nvSpPr>
        <p:spPr>
          <a:xfrm>
            <a:off x="963565" y="2279292"/>
            <a:ext cx="1991950" cy="12344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gn="ctr">
              <a:defRPr b="1" sz="1500">
                <a:solidFill>
                  <a:srgbClr val="4D0912"/>
                </a:solidFill>
                <a:latin typeface="+mj-lt"/>
                <a:ea typeface="+mj-ea"/>
                <a:cs typeface="+mj-cs"/>
                <a:sym typeface="Helvetica"/>
              </a:defRPr>
            </a:pPr>
            <a:r>
              <a:t>LC25000 (in-dist)</a:t>
            </a:r>
          </a:p>
          <a:p>
            <a:pPr algn="ctr">
              <a:defRPr b="1" sz="4800">
                <a:solidFill>
                  <a:srgbClr val="4D0912"/>
                </a:solidFill>
                <a:latin typeface="+mj-lt"/>
                <a:ea typeface="+mj-ea"/>
                <a:cs typeface="+mj-cs"/>
                <a:sym typeface="Helvetica"/>
              </a:defRPr>
            </a:pPr>
            <a:r>
              <a:t>0.996</a:t>
            </a:r>
          </a:p>
          <a:p>
            <a:pPr algn="ctr">
              <a:defRPr sz="1200">
                <a:solidFill>
                  <a:srgbClr val="3C2814"/>
                </a:solidFill>
                <a:latin typeface="+mj-lt"/>
                <a:ea typeface="+mj-ea"/>
                <a:cs typeface="+mj-cs"/>
                <a:sym typeface="Helvetica"/>
              </a:defRPr>
            </a:pPr>
            <a:r>
              <a:t>macro-F1</a:t>
            </a:r>
          </a:p>
        </p:txBody>
      </p:sp>
      <p:pic>
        <p:nvPicPr>
          <p:cNvPr id="289" name="Picture 235" descr="Picture 235"/>
          <p:cNvPicPr>
            <a:picLocks noChangeAspect="1"/>
          </p:cNvPicPr>
          <p:nvPr/>
        </p:nvPicPr>
        <p:blipFill>
          <a:blip r:embed="rId3">
            <a:extLst/>
          </a:blip>
          <a:stretch>
            <a:fillRect/>
          </a:stretch>
        </p:blipFill>
        <p:spPr>
          <a:xfrm>
            <a:off x="7099630" y="1898288"/>
            <a:ext cx="3313526" cy="3653753"/>
          </a:xfrm>
          <a:prstGeom prst="rect">
            <a:avLst/>
          </a:prstGeom>
          <a:ln w="12700">
            <a:miter lim="400000"/>
          </a:ln>
        </p:spPr>
      </p:pic>
      <p:sp>
        <p:nvSpPr>
          <p:cNvPr id="290" name="TextBox 225"/>
          <p:cNvSpPr txBox="1"/>
          <p:nvPr/>
        </p:nvSpPr>
        <p:spPr>
          <a:xfrm>
            <a:off x="6474095" y="5559547"/>
            <a:ext cx="4564590" cy="447037"/>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algn="ctr">
              <a:defRPr i="1" sz="1200">
                <a:solidFill>
                  <a:srgbClr val="4D0912"/>
                </a:solidFill>
                <a:latin typeface="+mj-lt"/>
                <a:ea typeface="+mj-ea"/>
                <a:cs typeface="+mj-cs"/>
                <a:sym typeface="Helvetica"/>
              </a:defRPr>
            </a:pPr>
            <a:r>
              <a:t>Matriz de confusión (normalizada) sobre LungHist700. </a:t>
            </a:r>
          </a:p>
          <a:p>
            <a:pPr algn="ctr">
              <a:defRPr i="1" sz="1200">
                <a:solidFill>
                  <a:srgbClr val="4D0912"/>
                </a:solidFill>
                <a:latin typeface="+mj-lt"/>
                <a:ea typeface="+mj-ea"/>
                <a:cs typeface="+mj-cs"/>
                <a:sym typeface="Helvetica"/>
              </a:defRPr>
            </a:pPr>
            <a:r>
              <a:t>La línea base asigna ~84% a la clase «squamous cell carcinoma»</a:t>
            </a:r>
          </a:p>
        </p:txBody>
      </p:sp>
      <p:sp>
        <p:nvSpPr>
          <p:cNvPr id="291" name="TextBox 226"/>
          <p:cNvSpPr txBox="1"/>
          <p:nvPr/>
        </p:nvSpPr>
        <p:spPr>
          <a:xfrm>
            <a:off x="507168" y="6085840"/>
            <a:ext cx="9793344" cy="332737"/>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lgn="ctr">
              <a:defRPr b="1" sz="1600">
                <a:solidFill>
                  <a:srgbClr val="4D0912"/>
                </a:solidFill>
                <a:latin typeface="+mj-lt"/>
                <a:ea typeface="+mj-ea"/>
                <a:cs typeface="+mj-cs"/>
                <a:sym typeface="Helvetica"/>
              </a:defRPr>
            </a:lvl1pPr>
          </a:lstStyle>
          <a:p>
            <a:pPr/>
            <a:r>
              <a:t>→  LC25000 saturado escondía el fallo: en pulmón la línea base es un clasificador de una sola clase.</a:t>
            </a:r>
          </a:p>
        </p:txBody>
      </p:sp>
      <p:sp>
        <p:nvSpPr>
          <p:cNvPr id="292" name="TextBox 222"/>
          <p:cNvSpPr txBox="1"/>
          <p:nvPr/>
        </p:nvSpPr>
        <p:spPr>
          <a:xfrm>
            <a:off x="3142475" y="2279292"/>
            <a:ext cx="1823399" cy="1234437"/>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algn="ctr">
              <a:defRPr b="1" sz="1500">
                <a:solidFill>
                  <a:srgbClr val="4D0912"/>
                </a:solidFill>
                <a:latin typeface="+mj-lt"/>
                <a:ea typeface="+mj-ea"/>
                <a:cs typeface="+mj-cs"/>
                <a:sym typeface="Helvetica"/>
              </a:defRPr>
            </a:pPr>
            <a:r>
              <a:t>NCT-CRC</a:t>
            </a:r>
          </a:p>
          <a:p>
            <a:pPr algn="ctr">
              <a:defRPr b="1" sz="4800">
                <a:solidFill>
                  <a:srgbClr val="4D0912"/>
                </a:solidFill>
                <a:latin typeface="+mj-lt"/>
                <a:ea typeface="+mj-ea"/>
                <a:cs typeface="+mj-cs"/>
                <a:sym typeface="Helvetica"/>
              </a:defRPr>
            </a:pPr>
            <a:r>
              <a:t>0.866</a:t>
            </a:r>
          </a:p>
          <a:p>
            <a:pPr algn="ctr">
              <a:defRPr i="1" sz="1200">
                <a:solidFill>
                  <a:srgbClr val="3C2814"/>
                </a:solidFill>
                <a:latin typeface="+mj-lt"/>
                <a:ea typeface="+mj-ea"/>
                <a:cs typeface="+mj-cs"/>
                <a:sym typeface="Helvetica"/>
              </a:defRPr>
            </a:pPr>
            <a:r>
              <a:t>colon, muestras similares</a:t>
            </a:r>
          </a:p>
        </p:txBody>
      </p:sp>
      <p:sp>
        <p:nvSpPr>
          <p:cNvPr id="293" name="TextBox 223"/>
          <p:cNvSpPr txBox="1"/>
          <p:nvPr/>
        </p:nvSpPr>
        <p:spPr>
          <a:xfrm>
            <a:off x="1068895" y="3894730"/>
            <a:ext cx="1781281" cy="1234437"/>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algn="ctr">
              <a:defRPr b="1" sz="1500">
                <a:solidFill>
                  <a:srgbClr val="4D0912"/>
                </a:solidFill>
                <a:latin typeface="+mj-lt"/>
                <a:ea typeface="+mj-ea"/>
                <a:cs typeface="+mj-cs"/>
                <a:sym typeface="Helvetica"/>
              </a:defRPr>
            </a:pPr>
            <a:r>
              <a:t>Chaoyang</a:t>
            </a:r>
          </a:p>
          <a:p>
            <a:pPr algn="ctr">
              <a:defRPr b="1" sz="4800">
                <a:solidFill>
                  <a:srgbClr val="4D0912"/>
                </a:solidFill>
                <a:latin typeface="+mj-lt"/>
                <a:ea typeface="+mj-ea"/>
                <a:cs typeface="+mj-cs"/>
                <a:sym typeface="Helvetica"/>
              </a:defRPr>
            </a:pPr>
            <a:r>
              <a:t>0.786</a:t>
            </a:r>
          </a:p>
          <a:p>
            <a:pPr algn="ctr">
              <a:defRPr i="1" sz="1200">
                <a:solidFill>
                  <a:srgbClr val="3C2814"/>
                </a:solidFill>
                <a:latin typeface="+mj-lt"/>
                <a:ea typeface="+mj-ea"/>
                <a:cs typeface="+mj-cs"/>
                <a:sym typeface="Helvetica"/>
              </a:defRPr>
            </a:pPr>
            <a:r>
              <a:t>colon, muestras distintas</a:t>
            </a:r>
          </a:p>
        </p:txBody>
      </p:sp>
      <p:sp>
        <p:nvSpPr>
          <p:cNvPr id="294" name="TextBox 224"/>
          <p:cNvSpPr txBox="1"/>
          <p:nvPr/>
        </p:nvSpPr>
        <p:spPr>
          <a:xfrm>
            <a:off x="3193706" y="3894730"/>
            <a:ext cx="1720931" cy="1234437"/>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algn="ctr">
              <a:defRPr b="1" sz="1500">
                <a:solidFill>
                  <a:srgbClr val="4D0912"/>
                </a:solidFill>
                <a:latin typeface="+mj-lt"/>
                <a:ea typeface="+mj-ea"/>
                <a:cs typeface="+mj-cs"/>
                <a:sym typeface="Helvetica"/>
              </a:defRPr>
            </a:pPr>
            <a:r>
              <a:t>LungHist700</a:t>
            </a:r>
          </a:p>
          <a:p>
            <a:pPr algn="ctr">
              <a:defRPr b="1" sz="4800">
                <a:solidFill>
                  <a:srgbClr val="A50F15"/>
                </a:solidFill>
                <a:latin typeface="+mj-lt"/>
                <a:ea typeface="+mj-ea"/>
                <a:cs typeface="+mj-cs"/>
                <a:sym typeface="Helvetica"/>
              </a:defRPr>
            </a:pPr>
            <a:r>
              <a:t>0.305</a:t>
            </a:r>
          </a:p>
          <a:p>
            <a:pPr algn="ctr">
              <a:defRPr i="1" sz="1200">
                <a:solidFill>
                  <a:srgbClr val="3C2814"/>
                </a:solidFill>
                <a:latin typeface="+mj-lt"/>
                <a:ea typeface="+mj-ea"/>
                <a:cs typeface="+mj-cs"/>
                <a:sym typeface="Helvetica"/>
              </a:defRPr>
            </a:pPr>
            <a:r>
              <a:t>pulmón, ≈ azar 3-clases</a:t>
            </a:r>
          </a:p>
        </p:txBody>
      </p:sp>
      <p:sp>
        <p:nvSpPr>
          <p:cNvPr id="295"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9"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00"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01"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302"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Resultados   ·   15/26</a:t>
            </a:r>
          </a:p>
        </p:txBody>
      </p:sp>
      <p:sp>
        <p:nvSpPr>
          <p:cNvPr id="303" name="TextBox 5"/>
          <p:cNvSpPr txBox="1"/>
          <p:nvPr/>
        </p:nvSpPr>
        <p:spPr>
          <a:xfrm>
            <a:off x="594357" y="384047"/>
            <a:ext cx="11000239" cy="4851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latin typeface="+mj-lt"/>
                <a:ea typeface="+mj-ea"/>
                <a:cs typeface="+mj-cs"/>
                <a:sym typeface="Helvetica"/>
              </a:defRPr>
            </a:lvl1pPr>
          </a:lstStyle>
          <a:p>
            <a:pPr/>
            <a:r>
              <a:t>El espacio latente de la línea base a través del shift</a:t>
            </a:r>
          </a:p>
        </p:txBody>
      </p:sp>
      <p:sp>
        <p:nvSpPr>
          <p:cNvPr id="304" name="Rectangle 6"/>
          <p:cNvSpPr/>
          <p:nvPr/>
        </p:nvSpPr>
        <p:spPr>
          <a:xfrm>
            <a:off x="548639" y="1024127"/>
            <a:ext cx="1097282"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05" name="TextBox 221"/>
          <p:cNvSpPr txBox="1"/>
          <p:nvPr/>
        </p:nvSpPr>
        <p:spPr>
          <a:xfrm>
            <a:off x="594356" y="1188719"/>
            <a:ext cx="7407654" cy="307337"/>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sz="1400">
                <a:solidFill>
                  <a:srgbClr val="4D0912"/>
                </a:solidFill>
                <a:latin typeface="+mj-lt"/>
                <a:ea typeface="+mj-ea"/>
                <a:cs typeface="+mj-cs"/>
                <a:sym typeface="Helvetica"/>
              </a:defRPr>
            </a:lvl1pPr>
          </a:lstStyle>
          <a:p>
            <a:pPr/>
            <a:r>
              <a:t>In-distribution saturada; los clusters se degradan progresivamente conforme aumenta el shift</a:t>
            </a:r>
          </a:p>
        </p:txBody>
      </p:sp>
      <p:sp>
        <p:nvSpPr>
          <p:cNvPr id="306" name="TextBox 223"/>
          <p:cNvSpPr txBox="1"/>
          <p:nvPr/>
        </p:nvSpPr>
        <p:spPr>
          <a:xfrm>
            <a:off x="581658" y="5398348"/>
            <a:ext cx="10835724" cy="6502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a:solidFill>
                  <a:srgbClr val="4D0912"/>
                </a:solidFill>
                <a:latin typeface="+mj-lt"/>
                <a:ea typeface="+mj-ea"/>
                <a:cs typeface="+mj-cs"/>
                <a:sym typeface="Helvetica"/>
              </a:defRPr>
            </a:lvl1pPr>
          </a:lstStyle>
          <a:p>
            <a:pPr/>
            <a:r>
              <a:t>LC25000 y NCT se co-localizan. Chaoyang diverge en un espacio cercano. LungHist700 aterriza en zona separada de las clases originales.</a:t>
            </a:r>
          </a:p>
        </p:txBody>
      </p:sp>
      <p:pic>
        <p:nvPicPr>
          <p:cNvPr id="307" name="Picture 243" descr="Picture 243"/>
          <p:cNvPicPr>
            <a:picLocks noChangeAspect="1"/>
          </p:cNvPicPr>
          <p:nvPr/>
        </p:nvPicPr>
        <p:blipFill>
          <a:blip r:embed="rId3">
            <a:extLst/>
          </a:blip>
          <a:stretch>
            <a:fillRect/>
          </a:stretch>
        </p:blipFill>
        <p:spPr>
          <a:xfrm>
            <a:off x="491086" y="2261384"/>
            <a:ext cx="10835724" cy="2646144"/>
          </a:xfrm>
          <a:prstGeom prst="rect">
            <a:avLst/>
          </a:prstGeom>
          <a:ln w="12700">
            <a:miter lim="400000"/>
          </a:ln>
        </p:spPr>
      </p:pic>
      <p:pic>
        <p:nvPicPr>
          <p:cNvPr id="308" name="Picture 244" descr="Picture 244"/>
          <p:cNvPicPr>
            <a:picLocks noChangeAspect="1"/>
          </p:cNvPicPr>
          <p:nvPr/>
        </p:nvPicPr>
        <p:blipFill>
          <a:blip r:embed="rId4">
            <a:extLst/>
          </a:blip>
          <a:stretch>
            <a:fillRect/>
          </a:stretch>
        </p:blipFill>
        <p:spPr>
          <a:xfrm>
            <a:off x="491086" y="2261384"/>
            <a:ext cx="10835724" cy="2646144"/>
          </a:xfrm>
          <a:prstGeom prst="rect">
            <a:avLst/>
          </a:prstGeom>
          <a:ln w="12700">
            <a:miter lim="400000"/>
          </a:ln>
        </p:spPr>
      </p:pic>
      <p:sp>
        <p:nvSpPr>
          <p:cNvPr id="309" name="Rectangle 245"/>
          <p:cNvSpPr/>
          <p:nvPr/>
        </p:nvSpPr>
        <p:spPr>
          <a:xfrm>
            <a:off x="594357" y="6355079"/>
            <a:ext cx="11000239" cy="18292"/>
          </a:xfrm>
          <a:prstGeom prst="rect">
            <a:avLst/>
          </a:prstGeom>
          <a:solidFill>
            <a:srgbClr val="E5D0A0"/>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308"/>
                                        </p:tgtEl>
                                        <p:attrNameLst>
                                          <p:attrName>style.visibility</p:attrName>
                                        </p:attrNameLst>
                                      </p:cBhvr>
                                      <p:to>
                                        <p:strVal val="visible"/>
                                      </p:to>
                                    </p:set>
                                  </p:childTnLst>
                                </p:cTn>
                              </p:par>
                            </p:childTnLst>
                          </p:cTn>
                        </p:par>
                        <p:par>
                          <p:cTn id="7" fill="hold">
                            <p:stCondLst>
                              <p:cond delay="0"/>
                            </p:stCondLst>
                            <p:childTnLst>
                              <p:par>
                                <p:cTn id="8" presetClass="exit" nodeType="afterEffect" presetSubtype="0" presetID="1" grpId="2" fill="hold">
                                  <p:stCondLst>
                                    <p:cond delay="0"/>
                                  </p:stCondLst>
                                  <p:iterate type="el" backwards="0">
                                    <p:tmAbs val="0"/>
                                  </p:iterate>
                                  <p:childTnLst>
                                    <p:set>
                                      <p:cBhvr>
                                        <p:cTn id="9" fill="hold">
                                          <p:stCondLst>
                                            <p:cond delay="0"/>
                                          </p:stCondLst>
                                        </p:cTn>
                                        <p:tgtEl>
                                          <p:spTgt spid="30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07" grpId="2"/>
      <p:bldP build="whole" bldLvl="1" animBg="1" rev="0" advAuto="0" spid="308" grpId="1"/>
    </p:bld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3"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14"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15"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316"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Resultados   ·   16/26</a:t>
            </a:r>
          </a:p>
        </p:txBody>
      </p:sp>
      <p:sp>
        <p:nvSpPr>
          <p:cNvPr id="317" name="TextBox 5"/>
          <p:cNvSpPr txBox="1"/>
          <p:nvPr/>
        </p:nvSpPr>
        <p:spPr>
          <a:xfrm>
            <a:off x="594357" y="384047"/>
            <a:ext cx="11000239" cy="4851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latin typeface="+mj-lt"/>
                <a:ea typeface="+mj-ea"/>
                <a:cs typeface="+mj-cs"/>
                <a:sym typeface="Helvetica"/>
              </a:defRPr>
            </a:lvl1pPr>
          </a:lstStyle>
          <a:p>
            <a:pPr/>
            <a:r>
              <a:t>CLIP vs clasificador CE: misma ResNet50, distinta cabeza</a:t>
            </a:r>
          </a:p>
        </p:txBody>
      </p:sp>
      <p:sp>
        <p:nvSpPr>
          <p:cNvPr id="318" name="Rectangle 6"/>
          <p:cNvSpPr/>
          <p:nvPr/>
        </p:nvSpPr>
        <p:spPr>
          <a:xfrm>
            <a:off x="548639" y="1024127"/>
            <a:ext cx="1097282"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19" name="TextBox 7"/>
          <p:cNvSpPr txBox="1"/>
          <p:nvPr/>
        </p:nvSpPr>
        <p:spPr>
          <a:xfrm>
            <a:off x="594357" y="1188719"/>
            <a:ext cx="8126059" cy="307337"/>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sz="1400">
                <a:solidFill>
                  <a:srgbClr val="4D0912"/>
                </a:solidFill>
                <a:latin typeface="+mj-lt"/>
                <a:ea typeface="+mj-ea"/>
                <a:cs typeface="+mj-cs"/>
                <a:sym typeface="Helvetica"/>
              </a:defRPr>
            </a:lvl1pPr>
          </a:lstStyle>
          <a:p>
            <a:pPr/>
            <a:r>
              <a:t>La ventaja de CLIP no aparece en el cambio fácil (NCT); aparece bajo un shift más fuerte (Chaoyang)</a:t>
            </a:r>
          </a:p>
        </p:txBody>
      </p:sp>
      <p:pic>
        <p:nvPicPr>
          <p:cNvPr id="320" name="Picture 256" descr="Picture 256"/>
          <p:cNvPicPr>
            <a:picLocks noChangeAspect="1"/>
          </p:cNvPicPr>
          <p:nvPr/>
        </p:nvPicPr>
        <p:blipFill>
          <a:blip r:embed="rId3">
            <a:extLst/>
          </a:blip>
          <a:stretch>
            <a:fillRect/>
          </a:stretch>
        </p:blipFill>
        <p:spPr>
          <a:xfrm>
            <a:off x="568959" y="2098899"/>
            <a:ext cx="5486402" cy="3000378"/>
          </a:xfrm>
          <a:prstGeom prst="rect">
            <a:avLst/>
          </a:prstGeom>
          <a:ln w="12700">
            <a:miter lim="400000"/>
          </a:ln>
        </p:spPr>
      </p:pic>
      <p:pic>
        <p:nvPicPr>
          <p:cNvPr id="321" name="Picture 260" descr="Picture 260"/>
          <p:cNvPicPr>
            <a:picLocks noChangeAspect="1"/>
          </p:cNvPicPr>
          <p:nvPr/>
        </p:nvPicPr>
        <p:blipFill>
          <a:blip r:embed="rId4">
            <a:extLst/>
          </a:blip>
          <a:stretch>
            <a:fillRect/>
          </a:stretch>
        </p:blipFill>
        <p:spPr>
          <a:xfrm>
            <a:off x="6311391" y="2098899"/>
            <a:ext cx="5257804" cy="2842312"/>
          </a:xfrm>
          <a:prstGeom prst="rect">
            <a:avLst/>
          </a:prstGeom>
          <a:ln w="12700">
            <a:miter lim="400000"/>
          </a:ln>
        </p:spPr>
      </p:pic>
      <p:sp>
        <p:nvSpPr>
          <p:cNvPr id="322" name="TextBox 258"/>
          <p:cNvSpPr txBox="1"/>
          <p:nvPr/>
        </p:nvSpPr>
        <p:spPr>
          <a:xfrm>
            <a:off x="6357108" y="5014107"/>
            <a:ext cx="5166367" cy="4978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i="1" sz="1300">
                <a:solidFill>
                  <a:srgbClr val="826540"/>
                </a:solidFill>
                <a:latin typeface="+mj-lt"/>
                <a:ea typeface="+mj-ea"/>
                <a:cs typeface="+mj-cs"/>
                <a:sym typeface="Helvetica"/>
              </a:defRPr>
            </a:lvl1pPr>
          </a:lstStyle>
          <a:p>
            <a:pPr/>
            <a:r>
              <a:t>CE convierte Chaoyang casi en "todo adenocarcinoma"; CLIP mantiene más balance.</a:t>
            </a:r>
          </a:p>
        </p:txBody>
      </p:sp>
      <p:sp>
        <p:nvSpPr>
          <p:cNvPr id="323" name="TextBox 259"/>
          <p:cNvSpPr txBox="1"/>
          <p:nvPr/>
        </p:nvSpPr>
        <p:spPr>
          <a:xfrm>
            <a:off x="635253" y="5635738"/>
            <a:ext cx="10908794" cy="3200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500">
                <a:solidFill>
                  <a:srgbClr val="4D0912"/>
                </a:solidFill>
                <a:latin typeface="+mj-lt"/>
                <a:ea typeface="+mj-ea"/>
                <a:cs typeface="+mj-cs"/>
                <a:sym typeface="Helvetica"/>
              </a:defRPr>
            </a:lvl1pPr>
          </a:lstStyle>
          <a:p>
            <a:pPr/>
            <a:r>
              <a:t>La cabeza CLIP estabiliza bajo shift, pero es una palanca secundaria: el colapso pulmonar sigue cerca del azar.</a:t>
            </a:r>
          </a:p>
        </p:txBody>
      </p:sp>
      <p:sp>
        <p:nvSpPr>
          <p:cNvPr id="324" name="Rectangle 257"/>
          <p:cNvSpPr/>
          <p:nvPr/>
        </p:nvSpPr>
        <p:spPr>
          <a:xfrm>
            <a:off x="594357" y="6355079"/>
            <a:ext cx="11000239" cy="18292"/>
          </a:xfrm>
          <a:prstGeom prst="rect">
            <a:avLst/>
          </a:prstGeom>
          <a:solidFill>
            <a:srgbClr val="E5D0A0"/>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8"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29"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30"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331"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Resultados   ·   17/26</a:t>
            </a:r>
          </a:p>
        </p:txBody>
      </p:sp>
      <p:sp>
        <p:nvSpPr>
          <p:cNvPr id="332" name="Rectangle 6"/>
          <p:cNvSpPr/>
          <p:nvPr/>
        </p:nvSpPr>
        <p:spPr>
          <a:xfrm>
            <a:off x="548639" y="1024127"/>
            <a:ext cx="1097282"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33" name="TextBox 253"/>
          <p:cNvSpPr txBox="1"/>
          <p:nvPr/>
        </p:nvSpPr>
        <p:spPr>
          <a:xfrm>
            <a:off x="594357" y="384047"/>
            <a:ext cx="11000239" cy="4851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latin typeface="+mj-lt"/>
                <a:ea typeface="+mj-ea"/>
                <a:cs typeface="+mj-cs"/>
                <a:sym typeface="Helvetica"/>
              </a:defRPr>
            </a:lvl1pPr>
          </a:lstStyle>
          <a:p>
            <a:pPr/>
            <a:r>
              <a:t>Normalización de tinción (Macenko)</a:t>
            </a:r>
          </a:p>
        </p:txBody>
      </p:sp>
      <p:sp>
        <p:nvSpPr>
          <p:cNvPr id="334" name="TextBox 254"/>
          <p:cNvSpPr txBox="1"/>
          <p:nvPr/>
        </p:nvSpPr>
        <p:spPr>
          <a:xfrm>
            <a:off x="594357" y="1188719"/>
            <a:ext cx="11000239" cy="307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400">
                <a:solidFill>
                  <a:srgbClr val="4D0912"/>
                </a:solidFill>
                <a:latin typeface="+mj-lt"/>
                <a:ea typeface="+mj-ea"/>
                <a:cs typeface="+mj-cs"/>
                <a:sym typeface="Helvetica"/>
              </a:defRPr>
            </a:lvl1pPr>
          </a:lstStyle>
          <a:p>
            <a:pPr/>
            <a:r>
              <a:t>Alinear el color apenas mueve el resultado</a:t>
            </a:r>
          </a:p>
        </p:txBody>
      </p:sp>
      <p:sp>
        <p:nvSpPr>
          <p:cNvPr id="335" name="TextBox 256"/>
          <p:cNvSpPr txBox="1"/>
          <p:nvPr/>
        </p:nvSpPr>
        <p:spPr>
          <a:xfrm>
            <a:off x="640070" y="5872731"/>
            <a:ext cx="3840497" cy="2692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200">
                <a:solidFill>
                  <a:srgbClr val="4D0912"/>
                </a:solidFill>
                <a:latin typeface="+mj-lt"/>
                <a:ea typeface="+mj-ea"/>
                <a:cs typeface="+mj-cs"/>
                <a:sym typeface="Helvetica"/>
              </a:defRPr>
            </a:lvl1pPr>
          </a:lstStyle>
          <a:p>
            <a:pPr/>
            <a:r>
              <a:t>Misma muestra bajo 4 métodos de normalización</a:t>
            </a:r>
          </a:p>
        </p:txBody>
      </p:sp>
      <p:pic>
        <p:nvPicPr>
          <p:cNvPr id="336" name="Picture 257" descr="Picture 257"/>
          <p:cNvPicPr>
            <a:picLocks noChangeAspect="1"/>
          </p:cNvPicPr>
          <p:nvPr/>
        </p:nvPicPr>
        <p:blipFill>
          <a:blip r:embed="rId3">
            <a:extLst/>
          </a:blip>
          <a:stretch>
            <a:fillRect/>
          </a:stretch>
        </p:blipFill>
        <p:spPr>
          <a:xfrm>
            <a:off x="4978400" y="1748027"/>
            <a:ext cx="6675120" cy="2066546"/>
          </a:xfrm>
          <a:prstGeom prst="rect">
            <a:avLst/>
          </a:prstGeom>
          <a:ln w="12700">
            <a:miter lim="400000"/>
          </a:ln>
        </p:spPr>
      </p:pic>
      <p:sp>
        <p:nvSpPr>
          <p:cNvPr id="337" name="TextBox 258"/>
          <p:cNvSpPr txBox="1"/>
          <p:nvPr/>
        </p:nvSpPr>
        <p:spPr>
          <a:xfrm>
            <a:off x="4988557" y="3926437"/>
            <a:ext cx="6400814" cy="144919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1600">
                <a:solidFill>
                  <a:srgbClr val="4D0912"/>
                </a:solidFill>
              </a:defRPr>
            </a:pPr>
            <a:r>
              <a:t>Método</a:t>
            </a:r>
          </a:p>
          <a:p>
            <a:pPr>
              <a:defRPr sz="1400">
                <a:solidFill>
                  <a:srgbClr val="3C2814"/>
                </a:solidFill>
              </a:defRPr>
            </a:pPr>
            <a:r>
              <a:t>Macenko usa NCT-NORM como referencia. NCT ya llega normalizado; Chaoyang y LungHist700 se transforman en inferencia.</a:t>
            </a:r>
          </a:p>
          <a:p>
            <a:pPr>
              <a:defRPr sz="1300">
                <a:solidFill>
                  <a:srgbClr val="3C2814"/>
                </a:solidFill>
              </a:defRPr>
            </a:pPr>
          </a:p>
          <a:p>
            <a:pPr>
              <a:defRPr b="1" sz="1600">
                <a:solidFill>
                  <a:srgbClr val="4D0912"/>
                </a:solidFill>
              </a:defRPr>
            </a:pPr>
            <a:r>
              <a:t>Resultado</a:t>
            </a:r>
          </a:p>
          <a:p>
            <a:pPr>
              <a:defRPr sz="1400">
                <a:solidFill>
                  <a:srgbClr val="3C2814"/>
                </a:solidFill>
              </a:defRPr>
            </a:pPr>
            <a:r>
              <a:t>La tinción explica una parte menor del shift; no rompe el colapso en pulmón.</a:t>
            </a:r>
          </a:p>
        </p:txBody>
      </p:sp>
      <p:pic>
        <p:nvPicPr>
          <p:cNvPr id="338" name="Picture 260" descr="Picture 260"/>
          <p:cNvPicPr>
            <a:picLocks noChangeAspect="1"/>
          </p:cNvPicPr>
          <p:nvPr/>
        </p:nvPicPr>
        <p:blipFill>
          <a:blip r:embed="rId4">
            <a:extLst/>
          </a:blip>
          <a:stretch>
            <a:fillRect/>
          </a:stretch>
        </p:blipFill>
        <p:spPr>
          <a:xfrm>
            <a:off x="594359" y="1589033"/>
            <a:ext cx="3931924" cy="4320793"/>
          </a:xfrm>
          <a:prstGeom prst="rect">
            <a:avLst/>
          </a:prstGeom>
          <a:ln w="12700">
            <a:miter lim="400000"/>
          </a:ln>
        </p:spPr>
      </p:pic>
      <p:sp>
        <p:nvSpPr>
          <p:cNvPr id="339" name="Rectangle 269"/>
          <p:cNvSpPr/>
          <p:nvPr/>
        </p:nvSpPr>
        <p:spPr>
          <a:xfrm>
            <a:off x="594357" y="6355079"/>
            <a:ext cx="11000239" cy="18292"/>
          </a:xfrm>
          <a:prstGeom prst="rect">
            <a:avLst/>
          </a:prstGeom>
          <a:solidFill>
            <a:srgbClr val="E5D0A0"/>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3"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44"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45"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346"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Resultados   ·   18/26</a:t>
            </a:r>
          </a:p>
        </p:txBody>
      </p:sp>
      <p:sp>
        <p:nvSpPr>
          <p:cNvPr id="347" name="TextBox 5"/>
          <p:cNvSpPr txBox="1"/>
          <p:nvPr/>
        </p:nvSpPr>
        <p:spPr>
          <a:xfrm>
            <a:off x="594357" y="384047"/>
            <a:ext cx="11000239" cy="4851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latin typeface="+mj-lt"/>
                <a:ea typeface="+mj-ea"/>
                <a:cs typeface="+mj-cs"/>
                <a:sym typeface="Helvetica"/>
              </a:defRPr>
            </a:lvl1pPr>
          </a:lstStyle>
          <a:p>
            <a:pPr/>
            <a:r>
              <a:t>Los codificadores de texto biomédico no mejoran la transferencia</a:t>
            </a:r>
          </a:p>
        </p:txBody>
      </p:sp>
      <p:sp>
        <p:nvSpPr>
          <p:cNvPr id="348" name="Rectangle 6"/>
          <p:cNvSpPr/>
          <p:nvPr/>
        </p:nvSpPr>
        <p:spPr>
          <a:xfrm>
            <a:off x="548639" y="1024127"/>
            <a:ext cx="1097282"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49" name="TextBox 281"/>
          <p:cNvSpPr txBox="1"/>
          <p:nvPr/>
        </p:nvSpPr>
        <p:spPr>
          <a:xfrm>
            <a:off x="594357" y="1188719"/>
            <a:ext cx="11000239" cy="307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i="1" sz="1400">
                <a:solidFill>
                  <a:srgbClr val="4D0912"/>
                </a:solidFill>
                <a:latin typeface="+mj-lt"/>
                <a:ea typeface="+mj-ea"/>
                <a:cs typeface="+mj-cs"/>
                <a:sym typeface="Helvetica"/>
              </a:defRPr>
            </a:lvl1pPr>
          </a:lstStyle>
          <a:p>
            <a:pPr/>
            <a:r>
              <a:t>Por qué podía ayudar</a:t>
            </a:r>
          </a:p>
        </p:txBody>
      </p:sp>
      <p:sp>
        <p:nvSpPr>
          <p:cNvPr id="350" name="TextBox 282"/>
          <p:cNvSpPr txBox="1"/>
          <p:nvPr/>
        </p:nvSpPr>
        <p:spPr>
          <a:xfrm>
            <a:off x="5239506" y="1417319"/>
            <a:ext cx="6309373" cy="28079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i="1" sz="1400">
                <a:solidFill>
                  <a:srgbClr val="826540"/>
                </a:solidFill>
              </a:defRPr>
            </a:lvl1pPr>
          </a:lstStyle>
          <a:p>
            <a:pPr/>
            <a:r>
              <a:t>Qué pasó</a:t>
            </a:r>
          </a:p>
        </p:txBody>
      </p:sp>
      <p:pic>
        <p:nvPicPr>
          <p:cNvPr id="351" name="Picture 283" descr="Picture 283"/>
          <p:cNvPicPr>
            <a:picLocks noChangeAspect="1"/>
          </p:cNvPicPr>
          <p:nvPr/>
        </p:nvPicPr>
        <p:blipFill>
          <a:blip r:embed="rId3">
            <a:extLst/>
          </a:blip>
          <a:stretch>
            <a:fillRect/>
          </a:stretch>
        </p:blipFill>
        <p:spPr>
          <a:xfrm>
            <a:off x="594359" y="1737360"/>
            <a:ext cx="4114802" cy="3653660"/>
          </a:xfrm>
          <a:prstGeom prst="rect">
            <a:avLst/>
          </a:prstGeom>
          <a:ln w="12700">
            <a:miter lim="400000"/>
          </a:ln>
        </p:spPr>
      </p:pic>
      <p:pic>
        <p:nvPicPr>
          <p:cNvPr id="352" name="Picture 284" descr="Picture 284"/>
          <p:cNvPicPr>
            <a:picLocks noChangeAspect="1"/>
          </p:cNvPicPr>
          <p:nvPr/>
        </p:nvPicPr>
        <p:blipFill>
          <a:blip r:embed="rId4">
            <a:extLst/>
          </a:blip>
          <a:stretch>
            <a:fillRect/>
          </a:stretch>
        </p:blipFill>
        <p:spPr>
          <a:xfrm>
            <a:off x="5193791" y="1737360"/>
            <a:ext cx="6400804" cy="3486152"/>
          </a:xfrm>
          <a:prstGeom prst="rect">
            <a:avLst/>
          </a:prstGeom>
          <a:ln w="12700">
            <a:miter lim="400000"/>
          </a:ln>
        </p:spPr>
      </p:pic>
      <p:sp>
        <p:nvSpPr>
          <p:cNvPr id="353" name="TextBox 285"/>
          <p:cNvSpPr txBox="1"/>
          <p:nvPr/>
        </p:nvSpPr>
        <p:spPr>
          <a:xfrm>
            <a:off x="640079" y="5528178"/>
            <a:ext cx="10908794" cy="50659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500">
                <a:solidFill>
                  <a:srgbClr val="4D0912"/>
                </a:solidFill>
              </a:defRPr>
            </a:lvl1pPr>
          </a:lstStyle>
          <a:p>
            <a:pPr/>
            <a:r>
              <a:t>Mejor tokenización no implica mejor transferencia: todas las variantes quedan por debajo de la línea base en NCT; en Chaoyang empatan y en LungHist700 regresan.</a:t>
            </a:r>
          </a:p>
        </p:txBody>
      </p:sp>
      <p:sp>
        <p:nvSpPr>
          <p:cNvPr id="354" name="Rectangle 281"/>
          <p:cNvSpPr/>
          <p:nvPr/>
        </p:nvSpPr>
        <p:spPr>
          <a:xfrm>
            <a:off x="594357" y="6355079"/>
            <a:ext cx="11000239" cy="18292"/>
          </a:xfrm>
          <a:prstGeom prst="rect">
            <a:avLst/>
          </a:prstGeom>
          <a:solidFill>
            <a:srgbClr val="E5D0A0"/>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8"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59"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60"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361"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Resultados   ·   19/26</a:t>
            </a:r>
          </a:p>
        </p:txBody>
      </p:sp>
      <p:sp>
        <p:nvSpPr>
          <p:cNvPr id="362" name="TextBox 5"/>
          <p:cNvSpPr txBox="1"/>
          <p:nvPr/>
        </p:nvSpPr>
        <p:spPr>
          <a:xfrm>
            <a:off x="594357" y="384047"/>
            <a:ext cx="11000239" cy="4851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latin typeface="+mj-lt"/>
                <a:ea typeface="+mj-ea"/>
                <a:cs typeface="+mj-cs"/>
                <a:sym typeface="Helvetica"/>
              </a:defRPr>
            </a:lvl1pPr>
          </a:lstStyle>
          <a:p>
            <a:pPr/>
            <a:r>
              <a:t>El cambio de régimen en pulmón</a:t>
            </a:r>
          </a:p>
        </p:txBody>
      </p:sp>
      <p:sp>
        <p:nvSpPr>
          <p:cNvPr id="363" name="Rectangle 6"/>
          <p:cNvSpPr/>
          <p:nvPr/>
        </p:nvSpPr>
        <p:spPr>
          <a:xfrm>
            <a:off x="548639" y="1024127"/>
            <a:ext cx="1097282"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64" name="TextBox 11"/>
          <p:cNvSpPr txBox="1"/>
          <p:nvPr/>
        </p:nvSpPr>
        <p:spPr>
          <a:xfrm>
            <a:off x="4167547" y="5989320"/>
            <a:ext cx="3826427" cy="300590"/>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lgn="ctr">
              <a:defRPr b="1" sz="1600">
                <a:solidFill>
                  <a:srgbClr val="4D0912"/>
                </a:solidFill>
              </a:defRPr>
            </a:lvl1pPr>
          </a:lstStyle>
          <a:p>
            <a:pPr/>
            <a:r>
              <a:t>La siguiente variable es el codificador visual.</a:t>
            </a:r>
          </a:p>
        </p:txBody>
      </p:sp>
      <p:sp>
        <p:nvSpPr>
          <p:cNvPr id="365" name="TextBox 278"/>
          <p:cNvSpPr txBox="1"/>
          <p:nvPr/>
        </p:nvSpPr>
        <p:spPr>
          <a:xfrm>
            <a:off x="594356" y="1188719"/>
            <a:ext cx="4650365" cy="307337"/>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sz="1400">
                <a:solidFill>
                  <a:srgbClr val="4D0912"/>
                </a:solidFill>
                <a:latin typeface="+mj-lt"/>
                <a:ea typeface="+mj-ea"/>
                <a:cs typeface="+mj-cs"/>
                <a:sym typeface="Helvetica"/>
              </a:defRPr>
            </a:lvl1pPr>
          </a:lstStyle>
          <a:p>
            <a:pPr/>
            <a:r>
              <a:t>Preprocesado, texto y cabeza no rompen el azar 3-clases</a:t>
            </a:r>
          </a:p>
        </p:txBody>
      </p:sp>
      <p:pic>
        <p:nvPicPr>
          <p:cNvPr id="366" name="Picture 279" descr="Picture 279"/>
          <p:cNvPicPr>
            <a:picLocks noChangeAspect="1"/>
          </p:cNvPicPr>
          <p:nvPr/>
        </p:nvPicPr>
        <p:blipFill>
          <a:blip r:embed="rId3">
            <a:extLst/>
          </a:blip>
          <a:stretch>
            <a:fillRect/>
          </a:stretch>
        </p:blipFill>
        <p:spPr>
          <a:xfrm>
            <a:off x="1065274" y="1920238"/>
            <a:ext cx="10058404" cy="3741990"/>
          </a:xfrm>
          <a:prstGeom prst="rect">
            <a:avLst/>
          </a:prstGeom>
          <a:ln w="12700">
            <a:miter lim="400000"/>
          </a:ln>
        </p:spPr>
      </p:pic>
      <p:sp>
        <p:nvSpPr>
          <p:cNvPr id="367" name="Rectangle 291"/>
          <p:cNvSpPr/>
          <p:nvPr/>
        </p:nvSpPr>
        <p:spPr>
          <a:xfrm>
            <a:off x="594357" y="6355079"/>
            <a:ext cx="11000239" cy="18292"/>
          </a:xfrm>
          <a:prstGeom prst="rect">
            <a:avLst/>
          </a:prstGeom>
          <a:solidFill>
            <a:srgbClr val="E5D0A0"/>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1"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72"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73"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374"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Resultados   ·   20/26</a:t>
            </a:r>
          </a:p>
        </p:txBody>
      </p:sp>
      <p:sp>
        <p:nvSpPr>
          <p:cNvPr id="375" name="TextBox 5"/>
          <p:cNvSpPr txBox="1"/>
          <p:nvPr/>
        </p:nvSpPr>
        <p:spPr>
          <a:xfrm>
            <a:off x="594357" y="384047"/>
            <a:ext cx="11000239" cy="4851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latin typeface="+mj-lt"/>
                <a:ea typeface="+mj-ea"/>
                <a:cs typeface="+mj-cs"/>
                <a:sym typeface="Helvetica"/>
              </a:defRPr>
            </a:lvl1pPr>
          </a:lstStyle>
          <a:p>
            <a:pPr/>
            <a:r>
              <a:t>El codificador visual como palanca dominante</a:t>
            </a:r>
          </a:p>
        </p:txBody>
      </p:sp>
      <p:sp>
        <p:nvSpPr>
          <p:cNvPr id="376" name="Rectangle 6"/>
          <p:cNvSpPr/>
          <p:nvPr/>
        </p:nvSpPr>
        <p:spPr>
          <a:xfrm>
            <a:off x="548639" y="1024127"/>
            <a:ext cx="1097282"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pic>
        <p:nvPicPr>
          <p:cNvPr id="377" name="Picture 287" descr="Picture 287"/>
          <p:cNvPicPr>
            <a:picLocks noChangeAspect="1"/>
          </p:cNvPicPr>
          <p:nvPr/>
        </p:nvPicPr>
        <p:blipFill>
          <a:blip r:embed="rId3">
            <a:extLst/>
          </a:blip>
          <a:stretch>
            <a:fillRect/>
          </a:stretch>
        </p:blipFill>
        <p:spPr>
          <a:xfrm>
            <a:off x="1746248" y="3042304"/>
            <a:ext cx="8686804" cy="2686881"/>
          </a:xfrm>
          <a:prstGeom prst="rect">
            <a:avLst/>
          </a:prstGeom>
          <a:ln w="12700">
            <a:miter lim="400000"/>
          </a:ln>
        </p:spPr>
      </p:pic>
      <p:sp>
        <p:nvSpPr>
          <p:cNvPr id="378" name="TextBox 288"/>
          <p:cNvSpPr txBox="1"/>
          <p:nvPr/>
        </p:nvSpPr>
        <p:spPr>
          <a:xfrm>
            <a:off x="774448" y="5764769"/>
            <a:ext cx="10630405" cy="55459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600">
                <a:solidFill>
                  <a:srgbClr val="4D0912"/>
                </a:solidFill>
              </a:defRPr>
            </a:lvl1pPr>
          </a:lstStyle>
          <a:p>
            <a:pPr/>
            <a:r>
              <a:t>El colapso en LungHist700 no se corrige con tinción, texto biomédico ni cabeza CE; cambia de régimen al sustituir el codificador visual.</a:t>
            </a:r>
          </a:p>
        </p:txBody>
      </p:sp>
      <p:sp>
        <p:nvSpPr>
          <p:cNvPr id="379" name="TextBox 221"/>
          <p:cNvSpPr txBox="1"/>
          <p:nvPr/>
        </p:nvSpPr>
        <p:spPr>
          <a:xfrm>
            <a:off x="594357" y="1188719"/>
            <a:ext cx="3820400" cy="307337"/>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sz="1400">
                <a:solidFill>
                  <a:srgbClr val="4D0912"/>
                </a:solidFill>
                <a:latin typeface="+mj-lt"/>
                <a:ea typeface="+mj-ea"/>
                <a:cs typeface="+mj-cs"/>
                <a:sym typeface="Helvetica"/>
              </a:defRPr>
            </a:lvl1pPr>
          </a:lstStyle>
          <a:p>
            <a:pPr/>
            <a:r>
              <a:t>El cuello de botella era la representación visual</a:t>
            </a:r>
          </a:p>
        </p:txBody>
      </p:sp>
      <p:sp>
        <p:nvSpPr>
          <p:cNvPr id="380" name="TextBox 182"/>
          <p:cNvSpPr txBox="1"/>
          <p:nvPr/>
        </p:nvSpPr>
        <p:spPr>
          <a:xfrm>
            <a:off x="6195466" y="1690129"/>
            <a:ext cx="5413084" cy="106259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1600">
                <a:solidFill>
                  <a:srgbClr val="4D0912"/>
                </a:solidFill>
              </a:defRPr>
            </a:pPr>
            <a:r>
              <a:t>Resultado</a:t>
            </a:r>
          </a:p>
          <a:p>
            <a:pPr marL="130341" indent="-130341">
              <a:buSzPct val="100000"/>
              <a:buChar char="▸"/>
              <a:defRPr sz="1600">
                <a:solidFill>
                  <a:srgbClr val="3C2814"/>
                </a:solidFill>
              </a:defRPr>
            </a:pPr>
            <a:r>
              <a:t>El codificador visual de PLIP mejora los tres datasets externos.</a:t>
            </a:r>
          </a:p>
          <a:p>
            <a:pPr marL="130341" indent="-130341">
              <a:buSzPct val="100000"/>
              <a:buChar char="▸"/>
              <a:defRPr sz="1600">
                <a:solidFill>
                  <a:srgbClr val="3C2814"/>
                </a:solidFill>
              </a:defRPr>
            </a:pPr>
            <a:r>
              <a:t>El salto crítico aparece en LungHist700, donde la línea base colapsaba.</a:t>
            </a:r>
          </a:p>
        </p:txBody>
      </p:sp>
      <p:sp>
        <p:nvSpPr>
          <p:cNvPr id="381" name="TextBox 182"/>
          <p:cNvSpPr txBox="1"/>
          <p:nvPr/>
        </p:nvSpPr>
        <p:spPr>
          <a:xfrm>
            <a:off x="611442" y="1690129"/>
            <a:ext cx="5114751" cy="106259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1600">
                <a:solidFill>
                  <a:srgbClr val="4D0912"/>
                </a:solidFill>
              </a:defRPr>
            </a:pPr>
            <a:r>
              <a:t>Cambio controlado</a:t>
            </a:r>
          </a:p>
          <a:p>
            <a:pPr marL="130341" indent="-130341">
              <a:buSzPct val="100000"/>
              <a:buChar char="▸"/>
              <a:defRPr sz="1600">
                <a:solidFill>
                  <a:srgbClr val="4D0912"/>
                </a:solidFill>
              </a:defRPr>
            </a:pPr>
            <a:r>
              <a:t>Manteniendo:</a:t>
            </a:r>
            <a:r>
              <a:rPr b="1"/>
              <a:t> </a:t>
            </a:r>
            <a:r>
              <a:t>mismo BERT, mismos prompts, cabezas de proyección CLIP y entrenamiento en LC25000.</a:t>
            </a:r>
          </a:p>
          <a:p>
            <a:pPr marL="130341" indent="-130341">
              <a:buSzPct val="100000"/>
              <a:buChar char="▸"/>
              <a:defRPr sz="1600">
                <a:solidFill>
                  <a:srgbClr val="4D0912"/>
                </a:solidFill>
              </a:defRPr>
            </a:pPr>
            <a:r>
              <a:t>Cambio: ResNet50 (ImageNet) → PLIP ViT-B/32 (OpenPath)</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5"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86"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87"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388"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Resultados   ·   21/26</a:t>
            </a:r>
          </a:p>
        </p:txBody>
      </p:sp>
      <p:sp>
        <p:nvSpPr>
          <p:cNvPr id="389" name="TextBox 5"/>
          <p:cNvSpPr txBox="1"/>
          <p:nvPr/>
        </p:nvSpPr>
        <p:spPr>
          <a:xfrm>
            <a:off x="594357" y="384047"/>
            <a:ext cx="11000239" cy="4851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latin typeface="+mj-lt"/>
                <a:ea typeface="+mj-ea"/>
                <a:cs typeface="+mj-cs"/>
                <a:sym typeface="Helvetica"/>
              </a:defRPr>
            </a:lvl1pPr>
          </a:lstStyle>
          <a:p>
            <a:pPr/>
            <a:r>
              <a:t>Descomposición de la mejora: una escalera de 3 pasos</a:t>
            </a:r>
          </a:p>
        </p:txBody>
      </p:sp>
      <p:sp>
        <p:nvSpPr>
          <p:cNvPr id="390" name="Rectangle 6"/>
          <p:cNvSpPr/>
          <p:nvPr/>
        </p:nvSpPr>
        <p:spPr>
          <a:xfrm>
            <a:off x="548639" y="1024127"/>
            <a:ext cx="1097282"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91" name="TextBox 7"/>
          <p:cNvSpPr txBox="1"/>
          <p:nvPr/>
        </p:nvSpPr>
        <p:spPr>
          <a:xfrm>
            <a:off x="594357" y="1188719"/>
            <a:ext cx="4205778" cy="307337"/>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sz="1400">
                <a:solidFill>
                  <a:srgbClr val="4D0912"/>
                </a:solidFill>
                <a:latin typeface="+mj-lt"/>
                <a:ea typeface="+mj-ea"/>
                <a:cs typeface="+mj-cs"/>
                <a:sym typeface="Helvetica"/>
              </a:defRPr>
            </a:lvl1pPr>
          </a:lstStyle>
          <a:p>
            <a:pPr/>
            <a:r>
              <a:t>La amplitud visual desbloquea; el dominio amplifica.</a:t>
            </a:r>
          </a:p>
        </p:txBody>
      </p:sp>
      <p:sp>
        <p:nvSpPr>
          <p:cNvPr id="392" name="TextBox 9"/>
          <p:cNvSpPr txBox="1"/>
          <p:nvPr/>
        </p:nvSpPr>
        <p:spPr>
          <a:xfrm>
            <a:off x="603248" y="5853927"/>
            <a:ext cx="10972804" cy="50939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400">
                <a:solidFill>
                  <a:srgbClr val="4D0912"/>
                </a:solidFill>
              </a:defRPr>
            </a:lvl1pPr>
          </a:lstStyle>
          <a:p>
            <a:pPr/>
            <a:r>
              <a:t>DINOv2 separa parte del salto sin histopatología; PLIP añade el margen de dominio. La descomposición es parcial, no una descomposición factorial perfecta.</a:t>
            </a:r>
          </a:p>
        </p:txBody>
      </p:sp>
      <p:graphicFrame>
        <p:nvGraphicFramePr>
          <p:cNvPr id="393" name="Table 10"/>
          <p:cNvGraphicFramePr/>
          <p:nvPr/>
        </p:nvGraphicFramePr>
        <p:xfrm>
          <a:off x="535940" y="1820676"/>
          <a:ext cx="5921227" cy="2926087"/>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1829792"/>
                <a:gridCol w="1028173"/>
                <a:gridCol w="1024165"/>
                <a:gridCol w="1023094"/>
                <a:gridCol w="1016000"/>
              </a:tblGrid>
              <a:tr h="585216">
                <a:tc>
                  <a:txBody>
                    <a:bodyPr/>
                    <a:lstStyle/>
                    <a:p>
                      <a:pPr algn="ctr">
                        <a:defRPr b="0" sz="1800">
                          <a:solidFill>
                            <a:srgbClr val="000000"/>
                          </a:solidFill>
                        </a:defRPr>
                      </a:pPr>
                      <a:r>
                        <a:rPr b="1" sz="1400">
                          <a:solidFill>
                            <a:srgbClr val="FFFFFF"/>
                          </a:solidFill>
                          <a:latin typeface="+mn-lt"/>
                          <a:ea typeface="+mn-ea"/>
                          <a:cs typeface="+mn-cs"/>
                        </a:rPr>
                        <a:t>Condición</a:t>
                      </a:r>
                    </a:p>
                  </a:txBody>
                  <a:tcPr marL="45720" marR="45720" marT="45720" marB="45720" anchor="ctr" anchorCtr="0" horzOverflow="overflow">
                    <a:solidFill>
                      <a:srgbClr val="6B0F1A"/>
                    </a:solidFill>
                  </a:tcPr>
                </a:tc>
                <a:tc>
                  <a:txBody>
                    <a:bodyPr/>
                    <a:lstStyle/>
                    <a:p>
                      <a:pPr algn="ctr">
                        <a:defRPr b="0" sz="1800">
                          <a:solidFill>
                            <a:srgbClr val="000000"/>
                          </a:solidFill>
                        </a:defRPr>
                      </a:pPr>
                      <a:r>
                        <a:rPr b="1" sz="1400">
                          <a:solidFill>
                            <a:srgbClr val="FFFFFF"/>
                          </a:solidFill>
                          <a:latin typeface="+mn-lt"/>
                          <a:ea typeface="+mn-ea"/>
                          <a:cs typeface="+mn-cs"/>
                        </a:rPr>
                        <a:t>LC25000</a:t>
                      </a:r>
                    </a:p>
                  </a:txBody>
                  <a:tcPr marL="45720" marR="45720" marT="45720" marB="45720" anchor="ctr" anchorCtr="0" horzOverflow="overflow">
                    <a:solidFill>
                      <a:srgbClr val="6B0F1A"/>
                    </a:solidFill>
                  </a:tcPr>
                </a:tc>
                <a:tc>
                  <a:txBody>
                    <a:bodyPr/>
                    <a:lstStyle/>
                    <a:p>
                      <a:pPr algn="ctr">
                        <a:defRPr b="0" sz="1800">
                          <a:solidFill>
                            <a:srgbClr val="000000"/>
                          </a:solidFill>
                        </a:defRPr>
                      </a:pPr>
                      <a:r>
                        <a:rPr b="1" sz="1400">
                          <a:solidFill>
                            <a:srgbClr val="FFFFFF"/>
                          </a:solidFill>
                          <a:latin typeface="+mn-lt"/>
                          <a:ea typeface="+mn-ea"/>
                          <a:cs typeface="+mn-cs"/>
                        </a:rPr>
                        <a:t>NCT</a:t>
                      </a:r>
                    </a:p>
                  </a:txBody>
                  <a:tcPr marL="45720" marR="45720" marT="45720" marB="45720" anchor="ctr" anchorCtr="0" horzOverflow="overflow">
                    <a:solidFill>
                      <a:srgbClr val="6B0F1A"/>
                    </a:solidFill>
                  </a:tcPr>
                </a:tc>
                <a:tc>
                  <a:txBody>
                    <a:bodyPr/>
                    <a:lstStyle/>
                    <a:p>
                      <a:pPr algn="ctr">
                        <a:defRPr b="0" sz="1800">
                          <a:solidFill>
                            <a:srgbClr val="000000"/>
                          </a:solidFill>
                        </a:defRPr>
                      </a:pPr>
                      <a:r>
                        <a:rPr b="1" sz="1400">
                          <a:solidFill>
                            <a:srgbClr val="FFFFFF"/>
                          </a:solidFill>
                          <a:latin typeface="+mn-lt"/>
                          <a:ea typeface="+mn-ea"/>
                          <a:cs typeface="+mn-cs"/>
                        </a:rPr>
                        <a:t>Chaoyang</a:t>
                      </a:r>
                    </a:p>
                  </a:txBody>
                  <a:tcPr marL="45720" marR="45720" marT="45720" marB="45720" anchor="ctr" anchorCtr="0" horzOverflow="overflow">
                    <a:solidFill>
                      <a:srgbClr val="6B0F1A"/>
                    </a:solidFill>
                  </a:tcPr>
                </a:tc>
                <a:tc>
                  <a:txBody>
                    <a:bodyPr/>
                    <a:lstStyle/>
                    <a:p>
                      <a:pPr algn="ctr">
                        <a:defRPr b="0" sz="1800">
                          <a:solidFill>
                            <a:srgbClr val="000000"/>
                          </a:solidFill>
                        </a:defRPr>
                      </a:pPr>
                      <a:r>
                        <a:rPr b="1" sz="1400">
                          <a:solidFill>
                            <a:srgbClr val="FFFFFF"/>
                          </a:solidFill>
                          <a:latin typeface="+mn-lt"/>
                          <a:ea typeface="+mn-ea"/>
                          <a:cs typeface="+mn-cs"/>
                        </a:rPr>
                        <a:t>LungHist700</a:t>
                      </a:r>
                    </a:p>
                  </a:txBody>
                  <a:tcPr marL="45720" marR="45720" marT="45720" marB="45720" anchor="ctr" anchorCtr="0" horzOverflow="overflow">
                    <a:solidFill>
                      <a:srgbClr val="6B0F1A"/>
                    </a:solidFill>
                  </a:tcPr>
                </a:tc>
              </a:tr>
              <a:tr h="585216">
                <a:tc>
                  <a:txBody>
                    <a:bodyPr/>
                    <a:lstStyle/>
                    <a:p>
                      <a:pPr algn="l">
                        <a:defRPr sz="1400">
                          <a:solidFill>
                            <a:srgbClr val="333333"/>
                          </a:solidFill>
                          <a:latin typeface="+mn-lt"/>
                          <a:ea typeface="+mn-ea"/>
                          <a:cs typeface="+mn-cs"/>
                        </a:defRPr>
                      </a:pPr>
                      <a:r>
                        <a:t>ResNet50</a:t>
                      </a:r>
                    </a:p>
                    <a:p>
                      <a:pPr algn="l">
                        <a:defRPr sz="1400">
                          <a:solidFill>
                            <a:srgbClr val="333333"/>
                          </a:solidFill>
                          <a:latin typeface="+mn-lt"/>
                          <a:ea typeface="+mn-ea"/>
                          <a:cs typeface="+mn-cs"/>
                        </a:defRPr>
                      </a:pPr>
                      <a:r>
                        <a:t>(ImageNet, baseline)</a:t>
                      </a:r>
                    </a:p>
                  </a:txBody>
                  <a:tcPr marL="45720" marR="45720" marT="45720" marB="45720" anchor="t" anchorCtr="0" horzOverflow="overflow">
                    <a:solidFill>
                      <a:srgbClr val="FFFFFF"/>
                    </a:solidFill>
                  </a:tcPr>
                </a:tc>
                <a:tc>
                  <a:txBody>
                    <a:bodyPr/>
                    <a:lstStyle/>
                    <a:p>
                      <a:pPr algn="ctr">
                        <a:defRPr sz="1800"/>
                      </a:pPr>
                      <a:r>
                        <a:rPr sz="1400">
                          <a:solidFill>
                            <a:srgbClr val="333333"/>
                          </a:solidFill>
                          <a:latin typeface="+mn-lt"/>
                          <a:ea typeface="+mn-ea"/>
                          <a:cs typeface="+mn-cs"/>
                        </a:rPr>
                        <a:t>0.996</a:t>
                      </a:r>
                    </a:p>
                  </a:txBody>
                  <a:tcPr marL="45720" marR="45720" marT="45720" marB="45720" anchor="ctr" anchorCtr="0" horzOverflow="overflow">
                    <a:solidFill>
                      <a:srgbClr val="FFFFFF"/>
                    </a:solidFill>
                  </a:tcPr>
                </a:tc>
                <a:tc>
                  <a:txBody>
                    <a:bodyPr/>
                    <a:lstStyle/>
                    <a:p>
                      <a:pPr algn="ctr">
                        <a:defRPr sz="1800"/>
                      </a:pPr>
                      <a:r>
                        <a:rPr sz="1400">
                          <a:solidFill>
                            <a:srgbClr val="333333"/>
                          </a:solidFill>
                          <a:latin typeface="+mn-lt"/>
                          <a:ea typeface="+mn-ea"/>
                          <a:cs typeface="+mn-cs"/>
                        </a:rPr>
                        <a:t>0.866</a:t>
                      </a:r>
                    </a:p>
                  </a:txBody>
                  <a:tcPr marL="45720" marR="45720" marT="45720" marB="45720" anchor="ctr" anchorCtr="0" horzOverflow="overflow">
                    <a:solidFill>
                      <a:srgbClr val="FFFFFF"/>
                    </a:solidFill>
                  </a:tcPr>
                </a:tc>
                <a:tc>
                  <a:txBody>
                    <a:bodyPr/>
                    <a:lstStyle/>
                    <a:p>
                      <a:pPr algn="ctr">
                        <a:defRPr sz="1800"/>
                      </a:pPr>
                      <a:r>
                        <a:rPr sz="1400">
                          <a:solidFill>
                            <a:srgbClr val="333333"/>
                          </a:solidFill>
                          <a:latin typeface="+mn-lt"/>
                          <a:ea typeface="+mn-ea"/>
                          <a:cs typeface="+mn-cs"/>
                        </a:rPr>
                        <a:t>0.786</a:t>
                      </a:r>
                    </a:p>
                  </a:txBody>
                  <a:tcPr marL="45720" marR="45720" marT="45720" marB="45720" anchor="ctr" anchorCtr="0" horzOverflow="overflow">
                    <a:solidFill>
                      <a:srgbClr val="FFFFFF"/>
                    </a:solidFill>
                  </a:tcPr>
                </a:tc>
                <a:tc>
                  <a:txBody>
                    <a:bodyPr/>
                    <a:lstStyle/>
                    <a:p>
                      <a:pPr algn="ctr">
                        <a:defRPr sz="1800"/>
                      </a:pPr>
                      <a:r>
                        <a:rPr sz="1400">
                          <a:solidFill>
                            <a:srgbClr val="333333"/>
                          </a:solidFill>
                          <a:latin typeface="+mn-lt"/>
                          <a:ea typeface="+mn-ea"/>
                          <a:cs typeface="+mn-cs"/>
                        </a:rPr>
                        <a:t>0.305</a:t>
                      </a:r>
                    </a:p>
                  </a:txBody>
                  <a:tcPr marL="45720" marR="45720" marT="45720" marB="45720" anchor="ctr" anchorCtr="0" horzOverflow="overflow">
                    <a:solidFill>
                      <a:srgbClr val="FFFFFF"/>
                    </a:solidFill>
                  </a:tcPr>
                </a:tc>
              </a:tr>
              <a:tr h="585216">
                <a:tc>
                  <a:txBody>
                    <a:bodyPr/>
                    <a:lstStyle/>
                    <a:p>
                      <a:pPr algn="l">
                        <a:defRPr sz="1400">
                          <a:solidFill>
                            <a:srgbClr val="333333"/>
                          </a:solidFill>
                          <a:latin typeface="+mn-lt"/>
                          <a:ea typeface="+mn-ea"/>
                          <a:cs typeface="+mn-cs"/>
                        </a:defRPr>
                      </a:pPr>
                      <a:r>
                        <a:t>DINOv2 ViT-B/14</a:t>
                      </a:r>
                    </a:p>
                    <a:p>
                      <a:pPr algn="l">
                        <a:defRPr sz="1400">
                          <a:solidFill>
                            <a:srgbClr val="333333"/>
                          </a:solidFill>
                          <a:latin typeface="+mn-lt"/>
                          <a:ea typeface="+mn-ea"/>
                          <a:cs typeface="+mn-cs"/>
                        </a:defRPr>
                      </a:pPr>
                      <a:r>
                        <a:t>(SSL general)</a:t>
                      </a:r>
                    </a:p>
                  </a:txBody>
                  <a:tcPr marL="45720" marR="45720" marT="45720" marB="45720" anchor="t" anchorCtr="0" horzOverflow="overflow">
                    <a:solidFill>
                      <a:srgbClr val="FFFFFF"/>
                    </a:solidFill>
                  </a:tcPr>
                </a:tc>
                <a:tc>
                  <a:txBody>
                    <a:bodyPr/>
                    <a:lstStyle/>
                    <a:p>
                      <a:pPr algn="ctr">
                        <a:defRPr sz="1800"/>
                      </a:pPr>
                      <a:r>
                        <a:rPr sz="1400">
                          <a:solidFill>
                            <a:srgbClr val="333333"/>
                          </a:solidFill>
                          <a:latin typeface="+mn-lt"/>
                          <a:ea typeface="+mn-ea"/>
                          <a:cs typeface="+mn-cs"/>
                        </a:rPr>
                        <a:t>0.989</a:t>
                      </a:r>
                    </a:p>
                  </a:txBody>
                  <a:tcPr marL="45720" marR="45720" marT="45720" marB="45720" anchor="ctr" anchorCtr="0" horzOverflow="overflow">
                    <a:solidFill>
                      <a:srgbClr val="FFFFFF"/>
                    </a:solidFill>
                  </a:tcPr>
                </a:tc>
                <a:tc>
                  <a:txBody>
                    <a:bodyPr/>
                    <a:lstStyle/>
                    <a:p>
                      <a:pPr algn="ctr">
                        <a:defRPr sz="1800"/>
                      </a:pPr>
                      <a:r>
                        <a:rPr sz="1400">
                          <a:solidFill>
                            <a:srgbClr val="333333"/>
                          </a:solidFill>
                          <a:latin typeface="+mn-lt"/>
                          <a:ea typeface="+mn-ea"/>
                          <a:cs typeface="+mn-cs"/>
                        </a:rPr>
                        <a:t>0.855</a:t>
                      </a:r>
                    </a:p>
                  </a:txBody>
                  <a:tcPr marL="45720" marR="45720" marT="45720" marB="45720" anchor="ctr" anchorCtr="0" horzOverflow="overflow">
                    <a:solidFill>
                      <a:srgbClr val="FFFFFF"/>
                    </a:solidFill>
                  </a:tcPr>
                </a:tc>
                <a:tc>
                  <a:txBody>
                    <a:bodyPr/>
                    <a:lstStyle/>
                    <a:p>
                      <a:pPr algn="ctr">
                        <a:defRPr sz="1800"/>
                      </a:pPr>
                      <a:r>
                        <a:rPr sz="1400">
                          <a:solidFill>
                            <a:srgbClr val="333333"/>
                          </a:solidFill>
                          <a:latin typeface="+mn-lt"/>
                          <a:ea typeface="+mn-ea"/>
                          <a:cs typeface="+mn-cs"/>
                        </a:rPr>
                        <a:t>0.776</a:t>
                      </a:r>
                    </a:p>
                  </a:txBody>
                  <a:tcPr marL="45720" marR="45720" marT="45720" marB="45720" anchor="ctr" anchorCtr="0" horzOverflow="overflow">
                    <a:solidFill>
                      <a:srgbClr val="FFFFFF"/>
                    </a:solidFill>
                  </a:tcPr>
                </a:tc>
                <a:tc>
                  <a:txBody>
                    <a:bodyPr/>
                    <a:lstStyle/>
                    <a:p>
                      <a:pPr algn="ctr">
                        <a:defRPr sz="1800"/>
                      </a:pPr>
                      <a:r>
                        <a:rPr sz="1400">
                          <a:solidFill>
                            <a:srgbClr val="333333"/>
                          </a:solidFill>
                          <a:latin typeface="+mn-lt"/>
                          <a:ea typeface="+mn-ea"/>
                          <a:cs typeface="+mn-cs"/>
                        </a:rPr>
                        <a:t>0.457</a:t>
                      </a:r>
                    </a:p>
                  </a:txBody>
                  <a:tcPr marL="45720" marR="45720" marT="45720" marB="45720" anchor="ctr" anchorCtr="0" horzOverflow="overflow">
                    <a:solidFill>
                      <a:srgbClr val="FFFFFF"/>
                    </a:solidFill>
                  </a:tcPr>
                </a:tc>
              </a:tr>
              <a:tr h="585216">
                <a:tc>
                  <a:txBody>
                    <a:bodyPr/>
                    <a:lstStyle/>
                    <a:p>
                      <a:pPr algn="l">
                        <a:defRPr sz="1400">
                          <a:solidFill>
                            <a:srgbClr val="333333"/>
                          </a:solidFill>
                          <a:latin typeface="+mn-lt"/>
                          <a:ea typeface="+mn-ea"/>
                          <a:cs typeface="+mn-cs"/>
                        </a:defRPr>
                      </a:pPr>
                      <a:r>
                        <a:t>PLIP zero-shot </a:t>
                      </a:r>
                    </a:p>
                    <a:p>
                      <a:pPr algn="l">
                        <a:defRPr sz="1400">
                          <a:solidFill>
                            <a:srgbClr val="333333"/>
                          </a:solidFill>
                          <a:latin typeface="+mn-lt"/>
                          <a:ea typeface="+mn-ea"/>
                          <a:cs typeface="+mn-cs"/>
                        </a:defRPr>
                      </a:pPr>
                      <a:r>
                        <a:t>(sin entrenamiento en LC25000)</a:t>
                      </a:r>
                    </a:p>
                  </a:txBody>
                  <a:tcPr marL="45720" marR="45720" marT="45720" marB="45720" anchor="t" anchorCtr="0" horzOverflow="overflow">
                    <a:solidFill>
                      <a:srgbClr val="FFFFFF"/>
                    </a:solidFill>
                  </a:tcPr>
                </a:tc>
                <a:tc>
                  <a:txBody>
                    <a:bodyPr/>
                    <a:lstStyle/>
                    <a:p>
                      <a:pPr algn="ctr">
                        <a:defRPr sz="1800"/>
                      </a:pPr>
                      <a:r>
                        <a:rPr sz="1400">
                          <a:solidFill>
                            <a:srgbClr val="333333"/>
                          </a:solidFill>
                          <a:latin typeface="+mn-lt"/>
                          <a:ea typeface="+mn-ea"/>
                          <a:cs typeface="+mn-cs"/>
                        </a:rPr>
                        <a:t>0.700</a:t>
                      </a:r>
                    </a:p>
                  </a:txBody>
                  <a:tcPr marL="45720" marR="45720" marT="45720" marB="45720" anchor="ctr" anchorCtr="0" horzOverflow="overflow">
                    <a:solidFill>
                      <a:srgbClr val="FFFFFF"/>
                    </a:solidFill>
                  </a:tcPr>
                </a:tc>
                <a:tc>
                  <a:txBody>
                    <a:bodyPr/>
                    <a:lstStyle/>
                    <a:p>
                      <a:pPr algn="ctr">
                        <a:defRPr sz="1800"/>
                      </a:pPr>
                      <a:r>
                        <a:rPr sz="1400">
                          <a:solidFill>
                            <a:srgbClr val="333333"/>
                          </a:solidFill>
                          <a:latin typeface="+mn-lt"/>
                          <a:ea typeface="+mn-ea"/>
                          <a:cs typeface="+mn-cs"/>
                        </a:rPr>
                        <a:t>0.661</a:t>
                      </a:r>
                    </a:p>
                  </a:txBody>
                  <a:tcPr marL="45720" marR="45720" marT="45720" marB="45720" anchor="ctr" anchorCtr="0" horzOverflow="overflow">
                    <a:solidFill>
                      <a:srgbClr val="FFFFFF"/>
                    </a:solidFill>
                  </a:tcPr>
                </a:tc>
                <a:tc>
                  <a:txBody>
                    <a:bodyPr/>
                    <a:lstStyle/>
                    <a:p>
                      <a:pPr algn="ctr">
                        <a:defRPr sz="1800"/>
                      </a:pPr>
                      <a:r>
                        <a:rPr sz="1400">
                          <a:solidFill>
                            <a:srgbClr val="333333"/>
                          </a:solidFill>
                          <a:latin typeface="+mn-lt"/>
                          <a:ea typeface="+mn-ea"/>
                          <a:cs typeface="+mn-cs"/>
                        </a:rPr>
                        <a:t>0.731</a:t>
                      </a:r>
                    </a:p>
                  </a:txBody>
                  <a:tcPr marL="45720" marR="45720" marT="45720" marB="45720" anchor="ctr" anchorCtr="0" horzOverflow="overflow">
                    <a:solidFill>
                      <a:srgbClr val="FFFFFF"/>
                    </a:solidFill>
                  </a:tcPr>
                </a:tc>
                <a:tc>
                  <a:txBody>
                    <a:bodyPr/>
                    <a:lstStyle/>
                    <a:p>
                      <a:pPr algn="ctr">
                        <a:defRPr sz="1800"/>
                      </a:pPr>
                      <a:r>
                        <a:rPr sz="1400">
                          <a:solidFill>
                            <a:srgbClr val="333333"/>
                          </a:solidFill>
                          <a:latin typeface="+mn-lt"/>
                          <a:ea typeface="+mn-ea"/>
                          <a:cs typeface="+mn-cs"/>
                        </a:rPr>
                        <a:t>0.544</a:t>
                      </a:r>
                    </a:p>
                  </a:txBody>
                  <a:tcPr marL="45720" marR="45720" marT="45720" marB="45720" anchor="ctr" anchorCtr="0" horzOverflow="overflow">
                    <a:solidFill>
                      <a:srgbClr val="FFFFFF"/>
                    </a:solidFill>
                  </a:tcPr>
                </a:tc>
              </a:tr>
              <a:tr h="585216">
                <a:tc>
                  <a:txBody>
                    <a:bodyPr/>
                    <a:lstStyle/>
                    <a:p>
                      <a:pPr algn="l">
                        <a:defRPr sz="1800"/>
                      </a:pPr>
                      <a:r>
                        <a:rPr sz="1400">
                          <a:solidFill>
                            <a:srgbClr val="333333"/>
                          </a:solidFill>
                          <a:latin typeface="+mn-lt"/>
                          <a:ea typeface="+mn-ea"/>
                          <a:cs typeface="+mn-cs"/>
                        </a:rPr>
                        <a:t>PLIP ViT-B/32 + (entrenamiento en LC25000)</a:t>
                      </a:r>
                    </a:p>
                  </a:txBody>
                  <a:tcPr marL="45720" marR="45720" marT="45720" marB="45720" anchor="t" anchorCtr="0" horzOverflow="overflow">
                    <a:solidFill>
                      <a:srgbClr val="FFFFFF"/>
                    </a:solidFill>
                  </a:tcPr>
                </a:tc>
                <a:tc>
                  <a:txBody>
                    <a:bodyPr/>
                    <a:lstStyle/>
                    <a:p>
                      <a:pPr algn="ctr">
                        <a:defRPr sz="1800"/>
                      </a:pPr>
                      <a:r>
                        <a:rPr b="1" sz="1400">
                          <a:solidFill>
                            <a:srgbClr val="333333"/>
                          </a:solidFill>
                          <a:latin typeface="+mn-lt"/>
                          <a:ea typeface="+mn-ea"/>
                          <a:cs typeface="+mn-cs"/>
                        </a:rPr>
                        <a:t>0.996</a:t>
                      </a:r>
                    </a:p>
                  </a:txBody>
                  <a:tcPr marL="45720" marR="45720" marT="45720" marB="45720" anchor="ctr" anchorCtr="0" horzOverflow="overflow">
                    <a:solidFill>
                      <a:srgbClr val="FFFFFF"/>
                    </a:solidFill>
                  </a:tcPr>
                </a:tc>
                <a:tc>
                  <a:txBody>
                    <a:bodyPr/>
                    <a:lstStyle/>
                    <a:p>
                      <a:pPr algn="ctr">
                        <a:defRPr sz="1800"/>
                      </a:pPr>
                      <a:r>
                        <a:rPr b="1" sz="1400">
                          <a:solidFill>
                            <a:srgbClr val="333333"/>
                          </a:solidFill>
                          <a:latin typeface="+mn-lt"/>
                          <a:ea typeface="+mn-ea"/>
                          <a:cs typeface="+mn-cs"/>
                        </a:rPr>
                        <a:t>0.933</a:t>
                      </a:r>
                    </a:p>
                  </a:txBody>
                  <a:tcPr marL="45720" marR="45720" marT="45720" marB="45720" anchor="ctr" anchorCtr="0" horzOverflow="overflow">
                    <a:solidFill>
                      <a:srgbClr val="FFFFFF"/>
                    </a:solidFill>
                  </a:tcPr>
                </a:tc>
                <a:tc>
                  <a:txBody>
                    <a:bodyPr/>
                    <a:lstStyle/>
                    <a:p>
                      <a:pPr algn="ctr">
                        <a:defRPr sz="1800"/>
                      </a:pPr>
                      <a:r>
                        <a:rPr b="1" sz="1400">
                          <a:solidFill>
                            <a:srgbClr val="333333"/>
                          </a:solidFill>
                          <a:latin typeface="+mn-lt"/>
                          <a:ea typeface="+mn-ea"/>
                          <a:cs typeface="+mn-cs"/>
                        </a:rPr>
                        <a:t>0.813</a:t>
                      </a:r>
                    </a:p>
                  </a:txBody>
                  <a:tcPr marL="45720" marR="45720" marT="45720" marB="45720" anchor="ctr" anchorCtr="0" horzOverflow="overflow">
                    <a:solidFill>
                      <a:srgbClr val="FFFFFF"/>
                    </a:solidFill>
                  </a:tcPr>
                </a:tc>
                <a:tc>
                  <a:txBody>
                    <a:bodyPr/>
                    <a:lstStyle/>
                    <a:p>
                      <a:pPr algn="ctr">
                        <a:defRPr sz="1800"/>
                      </a:pPr>
                      <a:r>
                        <a:rPr b="1" sz="1400">
                          <a:solidFill>
                            <a:srgbClr val="333333"/>
                          </a:solidFill>
                          <a:latin typeface="+mn-lt"/>
                          <a:ea typeface="+mn-ea"/>
                          <a:cs typeface="+mn-cs"/>
                        </a:rPr>
                        <a:t>0.640</a:t>
                      </a:r>
                    </a:p>
                  </a:txBody>
                  <a:tcPr marL="45720" marR="45720" marT="45720" marB="45720" anchor="ctr" anchorCtr="0" horzOverflow="overflow">
                    <a:solidFill>
                      <a:srgbClr val="FFFFFF"/>
                    </a:solidFill>
                  </a:tcPr>
                </a:tc>
              </a:tr>
            </a:tbl>
          </a:graphicData>
        </a:graphic>
      </p:graphicFrame>
      <p:pic>
        <p:nvPicPr>
          <p:cNvPr id="394" name="Picture 297" descr="Picture 297"/>
          <p:cNvPicPr>
            <a:picLocks noChangeAspect="1"/>
          </p:cNvPicPr>
          <p:nvPr/>
        </p:nvPicPr>
        <p:blipFill>
          <a:blip r:embed="rId3">
            <a:extLst/>
          </a:blip>
          <a:stretch>
            <a:fillRect/>
          </a:stretch>
        </p:blipFill>
        <p:spPr>
          <a:xfrm>
            <a:off x="6466683" y="1820676"/>
            <a:ext cx="5303528" cy="3724884"/>
          </a:xfrm>
          <a:prstGeom prst="rect">
            <a:avLst/>
          </a:prstGeom>
          <a:ln w="12700">
            <a:miter lim="400000"/>
          </a:ln>
        </p:spPr>
      </p:pic>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8"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399"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00"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401"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Resultados   ·   22/26</a:t>
            </a:r>
          </a:p>
        </p:txBody>
      </p:sp>
      <p:sp>
        <p:nvSpPr>
          <p:cNvPr id="402" name="TextBox 5"/>
          <p:cNvSpPr txBox="1"/>
          <p:nvPr/>
        </p:nvSpPr>
        <p:spPr>
          <a:xfrm>
            <a:off x="594357" y="384047"/>
            <a:ext cx="11000239" cy="4851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latin typeface="+mj-lt"/>
                <a:ea typeface="+mj-ea"/>
                <a:cs typeface="+mj-cs"/>
                <a:sym typeface="Helvetica"/>
              </a:defRPr>
            </a:lvl1pPr>
          </a:lstStyle>
          <a:p>
            <a:pPr/>
            <a:r>
              <a:t>Por qué importa el codificador visual</a:t>
            </a:r>
          </a:p>
        </p:txBody>
      </p:sp>
      <p:sp>
        <p:nvSpPr>
          <p:cNvPr id="403" name="Rectangle 6"/>
          <p:cNvSpPr/>
          <p:nvPr/>
        </p:nvSpPr>
        <p:spPr>
          <a:xfrm>
            <a:off x="548639" y="1024127"/>
            <a:ext cx="1097282"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04" name="TextBox 8"/>
          <p:cNvSpPr txBox="1"/>
          <p:nvPr/>
        </p:nvSpPr>
        <p:spPr>
          <a:xfrm>
            <a:off x="603504" y="5172788"/>
            <a:ext cx="10972801" cy="117259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1400">
                <a:solidFill>
                  <a:srgbClr val="4D0912"/>
                </a:solidFill>
              </a:defRPr>
            </a:pPr>
            <a:r>
              <a:t>ResNet50:  sin estructura por clase.</a:t>
            </a:r>
          </a:p>
          <a:p>
            <a:pPr>
              <a:defRPr sz="1400">
                <a:solidFill>
                  <a:srgbClr val="4D0912"/>
                </a:solidFill>
              </a:defRPr>
            </a:pPr>
            <a:r>
              <a:t>DINOv2:  separación parcial.</a:t>
            </a:r>
          </a:p>
          <a:p>
            <a:pPr>
              <a:defRPr sz="1400">
                <a:solidFill>
                  <a:srgbClr val="4D0912"/>
                </a:solidFill>
              </a:defRPr>
            </a:pPr>
            <a:r>
              <a:t>PLIP zero-shot:  región pulmonar propia.</a:t>
            </a:r>
          </a:p>
          <a:p>
            <a:pPr>
              <a:defRPr sz="1400">
                <a:solidFill>
                  <a:srgbClr val="4D0912"/>
                </a:solidFill>
              </a:defRPr>
            </a:pPr>
            <a:r>
              <a:t>PLIP + LC25000:  subestructura por clase.</a:t>
            </a:r>
          </a:p>
          <a:p>
            <a:pPr>
              <a:defRPr b="1" sz="1300">
                <a:solidFill>
                  <a:srgbClr val="4D0912"/>
                </a:solidFill>
              </a:defRPr>
            </a:pPr>
            <a:r>
              <a:t>El UMAP no prueba el mecanismo, pero sí muestra el patrón que la métrica resume: PLIP no solo sube F1; recupera estructura visual útil.</a:t>
            </a:r>
          </a:p>
        </p:txBody>
      </p:sp>
      <p:pic>
        <p:nvPicPr>
          <p:cNvPr id="405" name="Picture 327" descr="Picture 327"/>
          <p:cNvPicPr>
            <a:picLocks noChangeAspect="1"/>
          </p:cNvPicPr>
          <p:nvPr/>
        </p:nvPicPr>
        <p:blipFill>
          <a:blip r:embed="rId3">
            <a:extLst/>
          </a:blip>
          <a:stretch>
            <a:fillRect/>
          </a:stretch>
        </p:blipFill>
        <p:spPr>
          <a:xfrm>
            <a:off x="603504" y="1737360"/>
            <a:ext cx="10972801" cy="3014805"/>
          </a:xfrm>
          <a:prstGeom prst="rect">
            <a:avLst/>
          </a:prstGeom>
          <a:ln w="12700">
            <a:miter lim="400000"/>
          </a:ln>
        </p:spPr>
      </p:pic>
      <p:sp>
        <p:nvSpPr>
          <p:cNvPr id="406" name="TextBox 327"/>
          <p:cNvSpPr txBox="1"/>
          <p:nvPr/>
        </p:nvSpPr>
        <p:spPr>
          <a:xfrm>
            <a:off x="4286113" y="4843603"/>
            <a:ext cx="3589294" cy="280796"/>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lgn="ctr">
              <a:defRPr i="1" sz="1400">
                <a:solidFill>
                  <a:srgbClr val="3C2814"/>
                </a:solidFill>
              </a:defRPr>
            </a:lvl1pPr>
          </a:lstStyle>
          <a:p>
            <a:pPr/>
            <a:r>
              <a:t>círculos = LC25000    ·    triángulos = LungHist700</a:t>
            </a:r>
          </a:p>
        </p:txBody>
      </p:sp>
      <p:sp>
        <p:nvSpPr>
          <p:cNvPr id="407" name="TextBox 327"/>
          <p:cNvSpPr txBox="1"/>
          <p:nvPr/>
        </p:nvSpPr>
        <p:spPr>
          <a:xfrm>
            <a:off x="594357" y="1188719"/>
            <a:ext cx="11000239" cy="307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400">
                <a:solidFill>
                  <a:srgbClr val="4D0912"/>
                </a:solidFill>
                <a:latin typeface="+mj-lt"/>
                <a:ea typeface="+mj-ea"/>
                <a:cs typeface="+mj-cs"/>
                <a:sym typeface="Helvetica"/>
              </a:defRPr>
            </a:lvl1pPr>
          </a:lstStyle>
          <a:p>
            <a:pPr/>
            <a:r>
              <a:t>El espacio latente refleja el resultado cuantitativo</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1" name="Rectangle 1"/>
          <p:cNvSpPr/>
          <p:nvPr/>
        </p:nvSpPr>
        <p:spPr>
          <a:xfrm>
            <a:off x="-1" y="0"/>
            <a:ext cx="12191697" cy="6858000"/>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pic>
        <p:nvPicPr>
          <p:cNvPr id="412" name="Picture 2" descr="Picture 2"/>
          <p:cNvPicPr>
            <a:picLocks noChangeAspect="1"/>
          </p:cNvPicPr>
          <p:nvPr/>
        </p:nvPicPr>
        <p:blipFill>
          <a:blip r:embed="rId3">
            <a:extLst/>
          </a:blip>
          <a:stretch>
            <a:fillRect/>
          </a:stretch>
        </p:blipFill>
        <p:spPr>
          <a:xfrm>
            <a:off x="0" y="0"/>
            <a:ext cx="12191697" cy="6858000"/>
          </a:xfrm>
          <a:prstGeom prst="rect">
            <a:avLst/>
          </a:prstGeom>
          <a:ln w="12700">
            <a:miter lim="400000"/>
          </a:ln>
        </p:spPr>
      </p:pic>
      <p:sp>
        <p:nvSpPr>
          <p:cNvPr id="413" name="Rectangle 3"/>
          <p:cNvSpPr/>
          <p:nvPr/>
        </p:nvSpPr>
        <p:spPr>
          <a:xfrm>
            <a:off x="-1" y="0"/>
            <a:ext cx="548642" cy="68580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14" name="TextBox 4"/>
          <p:cNvSpPr txBox="1"/>
          <p:nvPr/>
        </p:nvSpPr>
        <p:spPr>
          <a:xfrm>
            <a:off x="1142986" y="1920236"/>
            <a:ext cx="4023391" cy="289109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2000">
                <a:solidFill>
                  <a:srgbClr val="FAF7F2"/>
                </a:solidFill>
              </a:defRPr>
            </a:lvl1pPr>
          </a:lstStyle>
          <a:p>
            <a:pPr/>
            <a:r>
              <a:t>04</a:t>
            </a:r>
          </a:p>
        </p:txBody>
      </p:sp>
      <p:sp>
        <p:nvSpPr>
          <p:cNvPr id="415" name="TextBox 5"/>
          <p:cNvSpPr txBox="1"/>
          <p:nvPr/>
        </p:nvSpPr>
        <p:spPr>
          <a:xfrm>
            <a:off x="1142999" y="4846320"/>
            <a:ext cx="731001" cy="300590"/>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sz="1600">
                <a:solidFill>
                  <a:srgbClr val="C9A227"/>
                </a:solidFill>
              </a:defRPr>
            </a:lvl1pPr>
          </a:lstStyle>
          <a:p>
            <a:pPr/>
            <a:r>
              <a:t>Sección</a:t>
            </a:r>
          </a:p>
        </p:txBody>
      </p:sp>
      <p:sp>
        <p:nvSpPr>
          <p:cNvPr id="416" name="TextBox 6"/>
          <p:cNvSpPr txBox="1"/>
          <p:nvPr/>
        </p:nvSpPr>
        <p:spPr>
          <a:xfrm>
            <a:off x="1142978" y="5303520"/>
            <a:ext cx="5795002" cy="653908"/>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b="1" sz="4400">
                <a:solidFill>
                  <a:srgbClr val="FAF7F2"/>
                </a:solidFill>
              </a:defRPr>
            </a:lvl1pPr>
          </a:lstStyle>
          <a:p>
            <a:pPr/>
            <a:r>
              <a:t>Discusión y conclusiones</a:t>
            </a:r>
          </a:p>
        </p:txBody>
      </p:sp>
      <p:sp>
        <p:nvSpPr>
          <p:cNvPr id="417" name="TextBox 334"/>
          <p:cNvSpPr txBox="1"/>
          <p:nvPr/>
        </p:nvSpPr>
        <p:spPr>
          <a:xfrm>
            <a:off x="1014712" y="5927340"/>
            <a:ext cx="10543887" cy="3708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a:solidFill>
                  <a:srgbClr val="FFFFFF"/>
                </a:solidFill>
                <a:latin typeface="+mj-lt"/>
                <a:ea typeface="+mj-ea"/>
                <a:cs typeface="+mj-cs"/>
                <a:sym typeface="Helvetica"/>
              </a:defRPr>
            </a:lvl1pPr>
          </a:lstStyle>
          <a:p>
            <a:pPr/>
            <a:r>
              <a:t>No es solo un ranking de modelos: es un estudio sobre qué tipo de representación visual transfiere.</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1"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22"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23"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424"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Discusión y conclusiones   ·   24/26</a:t>
            </a:r>
          </a:p>
        </p:txBody>
      </p:sp>
      <p:sp>
        <p:nvSpPr>
          <p:cNvPr id="425" name="TextBox 5"/>
          <p:cNvSpPr txBox="1"/>
          <p:nvPr/>
        </p:nvSpPr>
        <p:spPr>
          <a:xfrm>
            <a:off x="594358" y="384046"/>
            <a:ext cx="11002979" cy="5486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3000">
                <a:solidFill>
                  <a:srgbClr val="6B0F1A"/>
                </a:solidFill>
                <a:latin typeface="+mj-lt"/>
                <a:ea typeface="+mj-ea"/>
                <a:cs typeface="+mj-cs"/>
                <a:sym typeface="Helvetica"/>
              </a:defRPr>
            </a:lvl1pPr>
          </a:lstStyle>
          <a:p>
            <a:pPr/>
            <a:r>
              <a:t>Qué explica realmente la generalización externa</a:t>
            </a:r>
          </a:p>
        </p:txBody>
      </p:sp>
      <p:sp>
        <p:nvSpPr>
          <p:cNvPr id="426" name="Rectangle 6"/>
          <p:cNvSpPr/>
          <p:nvPr/>
        </p:nvSpPr>
        <p:spPr>
          <a:xfrm>
            <a:off x="548639" y="1024127"/>
            <a:ext cx="1097282"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27" name="Rounded Rectangle 341"/>
          <p:cNvSpPr/>
          <p:nvPr/>
        </p:nvSpPr>
        <p:spPr>
          <a:xfrm>
            <a:off x="594359" y="1463038"/>
            <a:ext cx="3453387" cy="3977643"/>
          </a:xfrm>
          <a:prstGeom prst="roundRect">
            <a:avLst>
              <a:gd name="adj" fmla="val 16667"/>
            </a:avLst>
          </a:prstGeom>
          <a:solidFill>
            <a:srgbClr val="F5EED8"/>
          </a:solidFill>
          <a:ln w="19050">
            <a:solidFill>
              <a:srgbClr val="6B0F1A"/>
            </a:solidFill>
          </a:ln>
        </p:spPr>
        <p:txBody>
          <a:bodyPr lIns="45718" tIns="45718" rIns="45718" bIns="45718" anchor="ctr"/>
          <a:lstStyle/>
          <a:p>
            <a:pPr algn="ctr">
              <a:defRPr>
                <a:solidFill>
                  <a:srgbClr val="FFFFFF"/>
                </a:solidFill>
                <a:latin typeface="+mj-lt"/>
                <a:ea typeface="+mj-ea"/>
                <a:cs typeface="+mj-cs"/>
                <a:sym typeface="Helvetica"/>
              </a:defRPr>
            </a:pPr>
          </a:p>
        </p:txBody>
      </p:sp>
      <p:grpSp>
        <p:nvGrpSpPr>
          <p:cNvPr id="430" name="Oval 342"/>
          <p:cNvGrpSpPr/>
          <p:nvPr/>
        </p:nvGrpSpPr>
        <p:grpSpPr>
          <a:xfrm>
            <a:off x="1978147" y="1691637"/>
            <a:ext cx="685814" cy="685814"/>
            <a:chOff x="-1" y="0"/>
            <a:chExt cx="685812" cy="685812"/>
          </a:xfrm>
        </p:grpSpPr>
        <p:sp>
          <p:nvSpPr>
            <p:cNvPr id="428" name="Circle"/>
            <p:cNvSpPr/>
            <p:nvPr/>
          </p:nvSpPr>
          <p:spPr>
            <a:xfrm>
              <a:off x="-2" y="-1"/>
              <a:ext cx="685813" cy="685813"/>
            </a:xfrm>
            <a:prstGeom prst="ellipse">
              <a:avLst/>
            </a:prstGeom>
            <a:solidFill>
              <a:srgbClr val="6B0F1A"/>
            </a:solidFill>
            <a:ln w="9525" cap="flat">
              <a:solidFill>
                <a:srgbClr val="6B0F1A"/>
              </a:solidFill>
              <a:prstDash val="solid"/>
              <a:round/>
            </a:ln>
            <a:effectLst/>
          </p:spPr>
          <p:txBody>
            <a:bodyPr wrap="square" lIns="45718" tIns="45718" rIns="45718" bIns="45718" numCol="1" anchor="ctr">
              <a:noAutofit/>
            </a:bodyPr>
            <a:lstStyle/>
            <a:p>
              <a:pPr algn="ctr">
                <a:defRPr b="1" sz="2800">
                  <a:solidFill>
                    <a:srgbClr val="FFFFFF"/>
                  </a:solidFill>
                  <a:latin typeface="+mj-lt"/>
                  <a:ea typeface="+mj-ea"/>
                  <a:cs typeface="+mj-cs"/>
                  <a:sym typeface="Helvetica"/>
                </a:defRPr>
              </a:pPr>
            </a:p>
          </p:txBody>
        </p:sp>
        <p:sp>
          <p:nvSpPr>
            <p:cNvPr id="429" name="1"/>
            <p:cNvSpPr txBox="1"/>
            <p:nvPr/>
          </p:nvSpPr>
          <p:spPr>
            <a:xfrm>
              <a:off x="150915" y="81280"/>
              <a:ext cx="383977" cy="523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800">
                  <a:solidFill>
                    <a:srgbClr val="FFFFFF"/>
                  </a:solidFill>
                  <a:latin typeface="+mj-lt"/>
                  <a:ea typeface="+mj-ea"/>
                  <a:cs typeface="+mj-cs"/>
                  <a:sym typeface="Helvetica"/>
                </a:defRPr>
              </a:lvl1pPr>
            </a:lstStyle>
            <a:p>
              <a:pPr/>
              <a:r>
                <a:t>1</a:t>
              </a:r>
            </a:p>
          </p:txBody>
        </p:sp>
      </p:grpSp>
      <p:sp>
        <p:nvSpPr>
          <p:cNvPr id="431" name="TextBox 343"/>
          <p:cNvSpPr txBox="1"/>
          <p:nvPr/>
        </p:nvSpPr>
        <p:spPr>
          <a:xfrm>
            <a:off x="822956" y="2560321"/>
            <a:ext cx="2996194" cy="3200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500">
                <a:solidFill>
                  <a:srgbClr val="4D0912"/>
                </a:solidFill>
                <a:latin typeface="+mj-lt"/>
                <a:ea typeface="+mj-ea"/>
                <a:cs typeface="+mj-cs"/>
                <a:sym typeface="Helvetica"/>
              </a:defRPr>
            </a:lvl1pPr>
          </a:lstStyle>
          <a:p>
            <a:pPr/>
            <a:r>
              <a:t>El cuello de botella era visual</a:t>
            </a:r>
          </a:p>
        </p:txBody>
      </p:sp>
      <p:sp>
        <p:nvSpPr>
          <p:cNvPr id="432" name="Rectangle 344"/>
          <p:cNvSpPr/>
          <p:nvPr/>
        </p:nvSpPr>
        <p:spPr>
          <a:xfrm>
            <a:off x="1680971" y="3383279"/>
            <a:ext cx="1280167" cy="45726"/>
          </a:xfrm>
          <a:prstGeom prst="rect">
            <a:avLst/>
          </a:prstGeom>
          <a:solidFill>
            <a:srgbClr val="C6A046"/>
          </a:soli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433" name="TextBox 345"/>
          <p:cNvSpPr txBox="1"/>
          <p:nvPr/>
        </p:nvSpPr>
        <p:spPr>
          <a:xfrm>
            <a:off x="868680" y="3566159"/>
            <a:ext cx="2904746" cy="142379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1400">
                <a:solidFill>
                  <a:srgbClr val="3C2814"/>
                </a:solidFill>
              </a:defRPr>
            </a:lvl1pPr>
          </a:lstStyle>
          <a:p>
            <a:pPr/>
            <a:r>
              <a:t>Normalización de tinción, codificadores de texto biomédicos y sustituir CLIP por un clasificador CE no rompen el colapso pulmonar. El cambio de régimen aparece al cambiar el codificador visual.</a:t>
            </a:r>
          </a:p>
        </p:txBody>
      </p:sp>
      <p:sp>
        <p:nvSpPr>
          <p:cNvPr id="434" name="Rounded Rectangle 346"/>
          <p:cNvSpPr/>
          <p:nvPr/>
        </p:nvSpPr>
        <p:spPr>
          <a:xfrm>
            <a:off x="4367784" y="1463038"/>
            <a:ext cx="3453389" cy="3977643"/>
          </a:xfrm>
          <a:prstGeom prst="roundRect">
            <a:avLst>
              <a:gd name="adj" fmla="val 16667"/>
            </a:avLst>
          </a:prstGeom>
          <a:solidFill>
            <a:srgbClr val="F5EED8"/>
          </a:solidFill>
          <a:ln w="19050">
            <a:solidFill>
              <a:srgbClr val="6B0F1A"/>
            </a:solidFill>
          </a:ln>
        </p:spPr>
        <p:txBody>
          <a:bodyPr lIns="45718" tIns="45718" rIns="45718" bIns="45718" anchor="ctr"/>
          <a:lstStyle/>
          <a:p>
            <a:pPr algn="ctr">
              <a:defRPr>
                <a:solidFill>
                  <a:srgbClr val="FFFFFF"/>
                </a:solidFill>
                <a:latin typeface="+mj-lt"/>
                <a:ea typeface="+mj-ea"/>
                <a:cs typeface="+mj-cs"/>
                <a:sym typeface="Helvetica"/>
              </a:defRPr>
            </a:pPr>
          </a:p>
        </p:txBody>
      </p:sp>
      <p:grpSp>
        <p:nvGrpSpPr>
          <p:cNvPr id="437" name="Oval 347"/>
          <p:cNvGrpSpPr/>
          <p:nvPr/>
        </p:nvGrpSpPr>
        <p:grpSpPr>
          <a:xfrm>
            <a:off x="5751576" y="1691637"/>
            <a:ext cx="685813" cy="685814"/>
            <a:chOff x="0" y="0"/>
            <a:chExt cx="685812" cy="685812"/>
          </a:xfrm>
        </p:grpSpPr>
        <p:sp>
          <p:nvSpPr>
            <p:cNvPr id="435" name="Circle"/>
            <p:cNvSpPr/>
            <p:nvPr/>
          </p:nvSpPr>
          <p:spPr>
            <a:xfrm>
              <a:off x="-1" y="-1"/>
              <a:ext cx="685813" cy="685813"/>
            </a:xfrm>
            <a:prstGeom prst="ellipse">
              <a:avLst/>
            </a:prstGeom>
            <a:solidFill>
              <a:srgbClr val="6B0F1A"/>
            </a:solidFill>
            <a:ln w="9525" cap="flat">
              <a:solidFill>
                <a:srgbClr val="6B0F1A"/>
              </a:solidFill>
              <a:prstDash val="solid"/>
              <a:round/>
            </a:ln>
            <a:effectLst/>
          </p:spPr>
          <p:txBody>
            <a:bodyPr wrap="square" lIns="45718" tIns="45718" rIns="45718" bIns="45718" numCol="1" anchor="ctr">
              <a:noAutofit/>
            </a:bodyPr>
            <a:lstStyle/>
            <a:p>
              <a:pPr algn="ctr">
                <a:defRPr b="1" sz="2800">
                  <a:solidFill>
                    <a:srgbClr val="FFFFFF"/>
                  </a:solidFill>
                  <a:latin typeface="+mj-lt"/>
                  <a:ea typeface="+mj-ea"/>
                  <a:cs typeface="+mj-cs"/>
                  <a:sym typeface="Helvetica"/>
                </a:defRPr>
              </a:pPr>
            </a:p>
          </p:txBody>
        </p:sp>
        <p:sp>
          <p:nvSpPr>
            <p:cNvPr id="436" name="2"/>
            <p:cNvSpPr txBox="1"/>
            <p:nvPr/>
          </p:nvSpPr>
          <p:spPr>
            <a:xfrm>
              <a:off x="150915" y="81280"/>
              <a:ext cx="383978" cy="523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800">
                  <a:solidFill>
                    <a:srgbClr val="FFFFFF"/>
                  </a:solidFill>
                  <a:latin typeface="+mj-lt"/>
                  <a:ea typeface="+mj-ea"/>
                  <a:cs typeface="+mj-cs"/>
                  <a:sym typeface="Helvetica"/>
                </a:defRPr>
              </a:lvl1pPr>
            </a:lstStyle>
            <a:p>
              <a:pPr/>
              <a:r>
                <a:t>2</a:t>
              </a:r>
            </a:p>
          </p:txBody>
        </p:sp>
      </p:grpSp>
      <p:sp>
        <p:nvSpPr>
          <p:cNvPr id="438" name="TextBox 348"/>
          <p:cNvSpPr txBox="1"/>
          <p:nvPr/>
        </p:nvSpPr>
        <p:spPr>
          <a:xfrm>
            <a:off x="4596384" y="2560321"/>
            <a:ext cx="2996190" cy="5486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500">
                <a:solidFill>
                  <a:srgbClr val="4D0912"/>
                </a:solidFill>
                <a:latin typeface="+mj-lt"/>
                <a:ea typeface="+mj-ea"/>
                <a:cs typeface="+mj-cs"/>
                <a:sym typeface="Helvetica"/>
              </a:defRPr>
            </a:lvl1pPr>
          </a:lstStyle>
          <a:p>
            <a:pPr/>
            <a:r>
              <a:t>La amplitud visual desbloquea; el dominio amplifica</a:t>
            </a:r>
          </a:p>
        </p:txBody>
      </p:sp>
      <p:sp>
        <p:nvSpPr>
          <p:cNvPr id="439" name="Rectangle 349"/>
          <p:cNvSpPr/>
          <p:nvPr/>
        </p:nvSpPr>
        <p:spPr>
          <a:xfrm>
            <a:off x="5454396" y="3383279"/>
            <a:ext cx="1280166" cy="45726"/>
          </a:xfrm>
          <a:prstGeom prst="rect">
            <a:avLst/>
          </a:prstGeom>
          <a:solidFill>
            <a:srgbClr val="C6A046"/>
          </a:soli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440" name="TextBox 350"/>
          <p:cNvSpPr txBox="1"/>
          <p:nvPr/>
        </p:nvSpPr>
        <p:spPr>
          <a:xfrm>
            <a:off x="4642103" y="3566159"/>
            <a:ext cx="2904750" cy="95842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1400">
                <a:solidFill>
                  <a:srgbClr val="3C2814"/>
                </a:solidFill>
                <a:latin typeface="+mj-lt"/>
                <a:ea typeface="+mj-ea"/>
                <a:cs typeface="+mj-cs"/>
                <a:sym typeface="Helvetica"/>
              </a:defRPr>
            </a:lvl1pPr>
          </a:lstStyle>
          <a:p>
            <a:pPr/>
            <a:r>
              <a:t>DINOv2 sube LungHist700 de 0.305 → 0.457 sin histopatología. PLIP zero-shot sube a 0.544. PLIP + LC25000 alcanza 0.640.</a:t>
            </a:r>
          </a:p>
        </p:txBody>
      </p:sp>
      <p:sp>
        <p:nvSpPr>
          <p:cNvPr id="441" name="Rounded Rectangle 351"/>
          <p:cNvSpPr/>
          <p:nvPr/>
        </p:nvSpPr>
        <p:spPr>
          <a:xfrm>
            <a:off x="8141206" y="1463038"/>
            <a:ext cx="3453389" cy="3977643"/>
          </a:xfrm>
          <a:prstGeom prst="roundRect">
            <a:avLst>
              <a:gd name="adj" fmla="val 16667"/>
            </a:avLst>
          </a:prstGeom>
          <a:solidFill>
            <a:srgbClr val="F5EED8"/>
          </a:solidFill>
          <a:ln w="19050">
            <a:solidFill>
              <a:srgbClr val="6B0F1A"/>
            </a:solidFill>
          </a:ln>
        </p:spPr>
        <p:txBody>
          <a:bodyPr lIns="45718" tIns="45718" rIns="45718" bIns="45718" anchor="ctr"/>
          <a:lstStyle/>
          <a:p>
            <a:pPr algn="ctr">
              <a:defRPr>
                <a:solidFill>
                  <a:srgbClr val="FFFFFF"/>
                </a:solidFill>
                <a:latin typeface="+mj-lt"/>
                <a:ea typeface="+mj-ea"/>
                <a:cs typeface="+mj-cs"/>
                <a:sym typeface="Helvetica"/>
              </a:defRPr>
            </a:pPr>
          </a:p>
        </p:txBody>
      </p:sp>
      <p:grpSp>
        <p:nvGrpSpPr>
          <p:cNvPr id="444" name="Oval 352"/>
          <p:cNvGrpSpPr/>
          <p:nvPr/>
        </p:nvGrpSpPr>
        <p:grpSpPr>
          <a:xfrm>
            <a:off x="9525000" y="1691637"/>
            <a:ext cx="685800" cy="685814"/>
            <a:chOff x="0" y="0"/>
            <a:chExt cx="685800" cy="685812"/>
          </a:xfrm>
        </p:grpSpPr>
        <p:sp>
          <p:nvSpPr>
            <p:cNvPr id="442" name="Circle"/>
            <p:cNvSpPr/>
            <p:nvPr/>
          </p:nvSpPr>
          <p:spPr>
            <a:xfrm>
              <a:off x="0" y="-1"/>
              <a:ext cx="685800" cy="685813"/>
            </a:xfrm>
            <a:prstGeom prst="ellipse">
              <a:avLst/>
            </a:prstGeom>
            <a:solidFill>
              <a:srgbClr val="6B0F1A"/>
            </a:solidFill>
            <a:ln w="9525" cap="flat">
              <a:solidFill>
                <a:srgbClr val="6B0F1A"/>
              </a:solidFill>
              <a:prstDash val="solid"/>
              <a:round/>
            </a:ln>
            <a:effectLst/>
          </p:spPr>
          <p:txBody>
            <a:bodyPr wrap="square" lIns="45718" tIns="45718" rIns="45718" bIns="45718" numCol="1" anchor="ctr">
              <a:noAutofit/>
            </a:bodyPr>
            <a:lstStyle/>
            <a:p>
              <a:pPr algn="ctr">
                <a:defRPr b="1" sz="2800">
                  <a:solidFill>
                    <a:srgbClr val="FFFFFF"/>
                  </a:solidFill>
                  <a:latin typeface="+mj-lt"/>
                  <a:ea typeface="+mj-ea"/>
                  <a:cs typeface="+mj-cs"/>
                  <a:sym typeface="Helvetica"/>
                </a:defRPr>
              </a:pPr>
            </a:p>
          </p:txBody>
        </p:sp>
        <p:sp>
          <p:nvSpPr>
            <p:cNvPr id="443" name="3"/>
            <p:cNvSpPr txBox="1"/>
            <p:nvPr/>
          </p:nvSpPr>
          <p:spPr>
            <a:xfrm>
              <a:off x="150912" y="81280"/>
              <a:ext cx="383978" cy="523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sz="2800">
                  <a:solidFill>
                    <a:srgbClr val="FFFFFF"/>
                  </a:solidFill>
                  <a:latin typeface="+mj-lt"/>
                  <a:ea typeface="+mj-ea"/>
                  <a:cs typeface="+mj-cs"/>
                  <a:sym typeface="Helvetica"/>
                </a:defRPr>
              </a:lvl1pPr>
            </a:lstStyle>
            <a:p>
              <a:pPr/>
              <a:r>
                <a:t>3</a:t>
              </a:r>
            </a:p>
          </p:txBody>
        </p:sp>
      </p:grpSp>
      <p:sp>
        <p:nvSpPr>
          <p:cNvPr id="445" name="TextBox 353"/>
          <p:cNvSpPr txBox="1"/>
          <p:nvPr/>
        </p:nvSpPr>
        <p:spPr>
          <a:xfrm>
            <a:off x="8369806" y="2560321"/>
            <a:ext cx="2996191" cy="5486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500">
                <a:solidFill>
                  <a:srgbClr val="4D0912"/>
                </a:solidFill>
                <a:latin typeface="+mj-lt"/>
                <a:ea typeface="+mj-ea"/>
                <a:cs typeface="+mj-cs"/>
                <a:sym typeface="Helvetica"/>
              </a:defRPr>
            </a:lvl1pPr>
          </a:lstStyle>
          <a:p>
            <a:pPr/>
            <a:r>
              <a:t>Reportar por órgano cambia la conclusión</a:t>
            </a:r>
          </a:p>
        </p:txBody>
      </p:sp>
      <p:sp>
        <p:nvSpPr>
          <p:cNvPr id="446" name="Rectangle 354"/>
          <p:cNvSpPr/>
          <p:nvPr/>
        </p:nvSpPr>
        <p:spPr>
          <a:xfrm>
            <a:off x="9227818" y="3383279"/>
            <a:ext cx="1280166" cy="45726"/>
          </a:xfrm>
          <a:prstGeom prst="rect">
            <a:avLst/>
          </a:prstGeom>
          <a:solidFill>
            <a:srgbClr val="C6A046"/>
          </a:solidFill>
          <a:ln w="12700">
            <a:miter lim="400000"/>
          </a:ln>
        </p:spPr>
        <p:txBody>
          <a:bodyPr lIns="45718" tIns="45718" rIns="45718" bIns="45718" anchor="ctr"/>
          <a:lstStyle/>
          <a:p>
            <a:pPr algn="ctr">
              <a:defRPr>
                <a:solidFill>
                  <a:srgbClr val="FFFFFF"/>
                </a:solidFill>
                <a:latin typeface="+mj-lt"/>
                <a:ea typeface="+mj-ea"/>
                <a:cs typeface="+mj-cs"/>
                <a:sym typeface="Helvetica"/>
              </a:defRPr>
            </a:pPr>
          </a:p>
        </p:txBody>
      </p:sp>
      <p:sp>
        <p:nvSpPr>
          <p:cNvPr id="447" name="TextBox 355"/>
          <p:cNvSpPr txBox="1"/>
          <p:nvPr/>
        </p:nvSpPr>
        <p:spPr>
          <a:xfrm>
            <a:off x="8415525" y="3566159"/>
            <a:ext cx="2904750" cy="9550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1400">
                <a:solidFill>
                  <a:srgbClr val="3C2814"/>
                </a:solidFill>
                <a:latin typeface="+mj-lt"/>
                <a:ea typeface="+mj-ea"/>
                <a:cs typeface="+mj-cs"/>
                <a:sym typeface="Helvetica"/>
              </a:defRPr>
            </a:lvl1pPr>
          </a:lstStyle>
          <a:p>
            <a:pPr/>
            <a:r>
              <a:t>Colon transfiere parcialmente. Pulmón colapsa. Promediar los datasets externos ocultaría esa asimetría.</a:t>
            </a:r>
          </a:p>
        </p:txBody>
      </p:sp>
      <p:sp>
        <p:nvSpPr>
          <p:cNvPr id="448" name="TextBox 356"/>
          <p:cNvSpPr txBox="1"/>
          <p:nvPr/>
        </p:nvSpPr>
        <p:spPr>
          <a:xfrm>
            <a:off x="640079" y="5577840"/>
            <a:ext cx="10908794" cy="50939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400">
                <a:solidFill>
                  <a:srgbClr val="4D0912"/>
                </a:solidFill>
              </a:defRPr>
            </a:lvl1pPr>
          </a:lstStyle>
          <a:p>
            <a:pPr/>
            <a:r>
              <a:t>Conclusión: bajo shift externo, no domina el texto, el color ni la cabeza CE; domina la representación visual. La amplitud general desbloquea la transferencia y el pretraining histopatológico aporta el mejor margen final.</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2"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53"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54"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455"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Discusión y conclusiones   ·   25/26</a:t>
            </a:r>
          </a:p>
        </p:txBody>
      </p:sp>
      <p:sp>
        <p:nvSpPr>
          <p:cNvPr id="456" name="TextBox 5"/>
          <p:cNvSpPr txBox="1"/>
          <p:nvPr/>
        </p:nvSpPr>
        <p:spPr>
          <a:xfrm>
            <a:off x="594357" y="384047"/>
            <a:ext cx="11000239" cy="4851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latin typeface="+mj-lt"/>
                <a:ea typeface="+mj-ea"/>
                <a:cs typeface="+mj-cs"/>
                <a:sym typeface="Helvetica"/>
              </a:defRPr>
            </a:lvl1pPr>
          </a:lstStyle>
          <a:p>
            <a:pPr/>
            <a:r>
              <a:t>Limitaciones y trabajo futuro</a:t>
            </a:r>
          </a:p>
        </p:txBody>
      </p:sp>
      <p:sp>
        <p:nvSpPr>
          <p:cNvPr id="457" name="Rectangle 6"/>
          <p:cNvSpPr/>
          <p:nvPr/>
        </p:nvSpPr>
        <p:spPr>
          <a:xfrm>
            <a:off x="548639" y="1024127"/>
            <a:ext cx="1097282"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58" name="TextBox 7"/>
          <p:cNvSpPr txBox="1"/>
          <p:nvPr/>
        </p:nvSpPr>
        <p:spPr>
          <a:xfrm>
            <a:off x="594356" y="1338578"/>
            <a:ext cx="5395373" cy="40030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a:solidFill>
                  <a:srgbClr val="4D0912"/>
                </a:solidFill>
                <a:latin typeface="+mj-lt"/>
                <a:ea typeface="+mj-ea"/>
                <a:cs typeface="+mj-cs"/>
                <a:sym typeface="Helvetica"/>
              </a:defRPr>
            </a:pPr>
            <a:r>
              <a:t>Limitaciones</a:t>
            </a:r>
          </a:p>
          <a:p>
            <a:pPr>
              <a:defRPr>
                <a:solidFill>
                  <a:srgbClr val="4D0912"/>
                </a:solidFill>
                <a:latin typeface="+mj-lt"/>
                <a:ea typeface="+mj-ea"/>
                <a:cs typeface="+mj-cs"/>
                <a:sym typeface="Helvetica"/>
              </a:defRPr>
            </a:pPr>
          </a:p>
          <a:p>
            <a:pPr>
              <a:defRPr>
                <a:solidFill>
                  <a:srgbClr val="4D0912"/>
                </a:solidFill>
                <a:latin typeface="+mj-lt"/>
                <a:ea typeface="+mj-ea"/>
                <a:cs typeface="+mj-cs"/>
                <a:sym typeface="Helvetica"/>
              </a:defRPr>
            </a:pPr>
            <a:r>
              <a:t>▸ </a:t>
            </a:r>
            <a:r>
              <a:rPr b="1"/>
              <a:t>Encoders congelados</a:t>
            </a:r>
            <a:r>
              <a:t>: con fine-tuning end-to-end, la palanca dominante podría cambiar.</a:t>
            </a:r>
          </a:p>
          <a:p>
            <a:pPr>
              <a:defRPr>
                <a:solidFill>
                  <a:srgbClr val="4D0912"/>
                </a:solidFill>
                <a:latin typeface="+mj-lt"/>
                <a:ea typeface="+mj-ea"/>
                <a:cs typeface="+mj-cs"/>
                <a:sym typeface="Helvetica"/>
              </a:defRPr>
            </a:pPr>
            <a:r>
              <a:t>▸ LC25000 infla el resultado in-distribution (aumentos y duplicados); la evidencia fuerte viene de los </a:t>
            </a:r>
            <a:r>
              <a:rPr b="1"/>
              <a:t>datasets externos</a:t>
            </a:r>
            <a:r>
              <a:t>.</a:t>
            </a:r>
          </a:p>
          <a:p>
            <a:pPr>
              <a:defRPr>
                <a:solidFill>
                  <a:srgbClr val="4D0912"/>
                </a:solidFill>
                <a:latin typeface="+mj-lt"/>
                <a:ea typeface="+mj-ea"/>
                <a:cs typeface="+mj-cs"/>
                <a:sym typeface="Helvetica"/>
              </a:defRPr>
            </a:pPr>
            <a:r>
              <a:t>▸ </a:t>
            </a:r>
            <a:r>
              <a:rPr b="1"/>
              <a:t>PLIP vs DINOv2 no separa</a:t>
            </a:r>
            <a:r>
              <a:t> completamente dominio, objetivo y patch size: el +0.087 se lee como evidencia de preentrenamiento histopatológico, no como aislamiento causal.</a:t>
            </a:r>
          </a:p>
          <a:p>
            <a:pPr>
              <a:defRPr>
                <a:solidFill>
                  <a:srgbClr val="4D0912"/>
                </a:solidFill>
                <a:latin typeface="+mj-lt"/>
                <a:ea typeface="+mj-ea"/>
                <a:cs typeface="+mj-cs"/>
                <a:sym typeface="Helvetica"/>
              </a:defRPr>
            </a:pPr>
            <a:r>
              <a:t>▸ </a:t>
            </a:r>
            <a:r>
              <a:rPr b="1"/>
              <a:t>Una semilla por condición</a:t>
            </a:r>
            <a:r>
              <a:t> y N=359 en LungHist700: </a:t>
            </a:r>
            <a:r>
              <a:rPr b="1"/>
              <a:t>sin intervalos de confianza</a:t>
            </a:r>
            <a:r>
              <a:t> sobre el +0.335.</a:t>
            </a:r>
          </a:p>
        </p:txBody>
      </p:sp>
      <p:sp>
        <p:nvSpPr>
          <p:cNvPr id="459" name="TextBox 8"/>
          <p:cNvSpPr txBox="1"/>
          <p:nvPr/>
        </p:nvSpPr>
        <p:spPr>
          <a:xfrm>
            <a:off x="6446518" y="1330960"/>
            <a:ext cx="5212096" cy="37236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a:solidFill>
                  <a:srgbClr val="6B0F1A"/>
                </a:solidFill>
                <a:latin typeface="+mj-lt"/>
                <a:ea typeface="+mj-ea"/>
                <a:cs typeface="+mj-cs"/>
                <a:sym typeface="Helvetica"/>
              </a:defRPr>
            </a:pPr>
            <a:r>
              <a:t>Trabajo futuro</a:t>
            </a:r>
          </a:p>
          <a:p>
            <a:pPr>
              <a:defRPr>
                <a:solidFill>
                  <a:srgbClr val="4D0912"/>
                </a:solidFill>
                <a:latin typeface="+mj-lt"/>
                <a:ea typeface="+mj-ea"/>
                <a:cs typeface="+mj-cs"/>
                <a:sym typeface="Helvetica"/>
              </a:defRPr>
            </a:pPr>
          </a:p>
          <a:p>
            <a:pPr marL="180473" indent="-180473">
              <a:buSzPct val="100000"/>
              <a:buChar char="▸"/>
              <a:defRPr>
                <a:solidFill>
                  <a:srgbClr val="4D0912"/>
                </a:solidFill>
                <a:latin typeface="+mj-lt"/>
                <a:ea typeface="+mj-ea"/>
                <a:cs typeface="+mj-cs"/>
                <a:sym typeface="Helvetica"/>
              </a:defRPr>
            </a:pPr>
            <a:r>
              <a:t>Control factorial: mismo ViT y patch size, distinto dominio de preentrenamiento.</a:t>
            </a:r>
          </a:p>
          <a:p>
            <a:pPr marL="180473" indent="-180473">
              <a:buSzPct val="100000"/>
              <a:buChar char="▸"/>
              <a:defRPr>
                <a:solidFill>
                  <a:srgbClr val="4D0912"/>
                </a:solidFill>
                <a:latin typeface="+mj-lt"/>
                <a:ea typeface="+mj-ea"/>
                <a:cs typeface="+mj-cs"/>
                <a:sym typeface="Helvetica"/>
              </a:defRPr>
            </a:pPr>
            <a:r>
              <a:t>Stain Normalization con ViT en lugar de ResNet50.</a:t>
            </a:r>
          </a:p>
          <a:p>
            <a:pPr marL="180473" indent="-180473">
              <a:buSzPct val="100000"/>
              <a:buChar char="▸"/>
              <a:defRPr>
                <a:solidFill>
                  <a:srgbClr val="4D0912"/>
                </a:solidFill>
                <a:latin typeface="+mj-lt"/>
                <a:ea typeface="+mj-ea"/>
                <a:cs typeface="+mj-cs"/>
                <a:sym typeface="Helvetica"/>
              </a:defRPr>
            </a:pPr>
            <a:r>
              <a:t>Comparación head-to-head con UNI, CONCH, BiomedCLIP y MUSK.</a:t>
            </a:r>
          </a:p>
          <a:p>
            <a:pPr marL="180473" indent="-180473">
              <a:buSzPct val="100000"/>
              <a:buChar char="▸"/>
              <a:defRPr>
                <a:solidFill>
                  <a:srgbClr val="4D0912"/>
                </a:solidFill>
                <a:latin typeface="+mj-lt"/>
                <a:ea typeface="+mj-ea"/>
                <a:cs typeface="+mj-cs"/>
                <a:sym typeface="Helvetica"/>
              </a:defRPr>
            </a:pPr>
            <a:r>
              <a:t>Preentrenamiento autosupervisado histopatológico controlado (por ejemplo, sobre TCGA).</a:t>
            </a:r>
          </a:p>
          <a:p>
            <a:pPr marL="180473" indent="-180473">
              <a:buSzPct val="100000"/>
              <a:buChar char="▸"/>
              <a:defRPr>
                <a:solidFill>
                  <a:srgbClr val="4D0912"/>
                </a:solidFill>
                <a:latin typeface="+mj-lt"/>
                <a:ea typeface="+mj-ea"/>
                <a:cs typeface="+mj-cs"/>
                <a:sym typeface="Helvetica"/>
              </a:defRPr>
            </a:pPr>
            <a:r>
              <a:t>Pasar de parches aislados a WSI como secuencia de tiles.</a:t>
            </a:r>
          </a:p>
        </p:txBody>
      </p:sp>
      <p:sp>
        <p:nvSpPr>
          <p:cNvPr id="460" name="Rectangle 371"/>
          <p:cNvSpPr/>
          <p:nvPr/>
        </p:nvSpPr>
        <p:spPr>
          <a:xfrm>
            <a:off x="594357" y="6355079"/>
            <a:ext cx="11000239" cy="18292"/>
          </a:xfrm>
          <a:prstGeom prst="rect">
            <a:avLst/>
          </a:prstGeom>
          <a:solidFill>
            <a:srgbClr val="E5D0A0"/>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6B0F1A"/>
        </a:solidFill>
      </p:bgPr>
    </p:bg>
    <p:spTree>
      <p:nvGrpSpPr>
        <p:cNvPr id="1" name=""/>
        <p:cNvGrpSpPr/>
        <p:nvPr/>
      </p:nvGrpSpPr>
      <p:grpSpPr>
        <a:xfrm>
          <a:off x="0" y="0"/>
          <a:ext cx="0" cy="0"/>
          <a:chOff x="0" y="0"/>
          <a:chExt cx="0" cy="0"/>
        </a:xfrm>
      </p:grpSpPr>
      <p:pic>
        <p:nvPicPr>
          <p:cNvPr id="464" name="Picture 4" descr="Picture 4"/>
          <p:cNvPicPr>
            <a:picLocks noChangeAspect="1"/>
          </p:cNvPicPr>
          <p:nvPr/>
        </p:nvPicPr>
        <p:blipFill>
          <a:blip r:embed="rId3">
            <a:extLst/>
          </a:blip>
          <a:stretch>
            <a:fillRect/>
          </a:stretch>
        </p:blipFill>
        <p:spPr>
          <a:xfrm>
            <a:off x="0" y="0"/>
            <a:ext cx="12191697" cy="6858000"/>
          </a:xfrm>
          <a:prstGeom prst="rect">
            <a:avLst/>
          </a:prstGeom>
          <a:ln w="12700">
            <a:miter lim="400000"/>
          </a:ln>
        </p:spPr>
      </p:pic>
      <p:sp>
        <p:nvSpPr>
          <p:cNvPr id="465" name="TextBox 1"/>
          <p:cNvSpPr txBox="1"/>
          <p:nvPr/>
        </p:nvSpPr>
        <p:spPr>
          <a:xfrm>
            <a:off x="39516" y="2925384"/>
            <a:ext cx="12100268" cy="100722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7200">
                <a:solidFill>
                  <a:srgbClr val="FFFFFF"/>
                </a:solidFill>
              </a:defRPr>
            </a:lvl1pPr>
          </a:lstStyle>
          <a:p>
            <a:pPr/>
            <a:r>
              <a:t>Preguntas</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9"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70"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71"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472"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BACKUP</a:t>
            </a:r>
          </a:p>
        </p:txBody>
      </p:sp>
      <p:sp>
        <p:nvSpPr>
          <p:cNvPr id="473" name="Rectangle 280"/>
          <p:cNvSpPr/>
          <p:nvPr/>
        </p:nvSpPr>
        <p:spPr>
          <a:xfrm>
            <a:off x="594357" y="6355079"/>
            <a:ext cx="11000239" cy="18292"/>
          </a:xfrm>
          <a:prstGeom prst="rect">
            <a:avLst/>
          </a:prstGeom>
          <a:solidFill>
            <a:srgbClr val="E5D0A0"/>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
        <p:nvSpPr>
          <p:cNvPr id="474" name="TextBox 494"/>
          <p:cNvSpPr txBox="1"/>
          <p:nvPr/>
        </p:nvSpPr>
        <p:spPr>
          <a:xfrm>
            <a:off x="594359" y="384048"/>
            <a:ext cx="11000235" cy="43766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defRPr>
            </a:lvl1pPr>
          </a:lstStyle>
          <a:p>
            <a:pPr/>
            <a:r>
              <a:t>Backup — preguntas previsibles</a:t>
            </a:r>
          </a:p>
        </p:txBody>
      </p:sp>
      <p:sp>
        <p:nvSpPr>
          <p:cNvPr id="475" name="TextBox 495"/>
          <p:cNvSpPr txBox="1"/>
          <p:nvPr/>
        </p:nvSpPr>
        <p:spPr>
          <a:xfrm>
            <a:off x="594359" y="1188720"/>
            <a:ext cx="11000235" cy="28079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400">
                <a:solidFill>
                  <a:srgbClr val="4D0912"/>
                </a:solidFill>
              </a:defRPr>
            </a:lvl1pPr>
          </a:lstStyle>
          <a:p>
            <a:pPr/>
            <a:r>
              <a:t>Slides adicionales para responder objeciones metodológicas típicas.</a:t>
            </a:r>
          </a:p>
        </p:txBody>
      </p:sp>
      <p:sp>
        <p:nvSpPr>
          <p:cNvPr id="476" name="Rectangle 499"/>
          <p:cNvSpPr/>
          <p:nvPr/>
        </p:nvSpPr>
        <p:spPr>
          <a:xfrm>
            <a:off x="594359" y="6355079"/>
            <a:ext cx="11000235" cy="18290"/>
          </a:xfrm>
          <a:prstGeom prst="rect">
            <a:avLst/>
          </a:prstGeom>
          <a:solidFill>
            <a:srgbClr val="E5D0A0"/>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77" name="TextBox 500"/>
          <p:cNvSpPr txBox="1"/>
          <p:nvPr/>
        </p:nvSpPr>
        <p:spPr>
          <a:xfrm>
            <a:off x="594359" y="1920239"/>
            <a:ext cx="3566162" cy="30059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600">
                <a:solidFill>
                  <a:srgbClr val="6B0F1A"/>
                </a:solidFill>
              </a:defRPr>
            </a:lvl1pPr>
          </a:lstStyle>
          <a:p>
            <a:pPr/>
            <a:r>
              <a:t>Modelos</a:t>
            </a:r>
          </a:p>
        </p:txBody>
      </p:sp>
      <p:sp>
        <p:nvSpPr>
          <p:cNvPr id="478" name="Rounded Rectangle 501"/>
          <p:cNvSpPr/>
          <p:nvPr/>
        </p:nvSpPr>
        <p:spPr>
          <a:xfrm>
            <a:off x="594359" y="2423160"/>
            <a:ext cx="3566162" cy="868682"/>
          </a:xfrm>
          <a:prstGeom prst="roundRect">
            <a:avLst>
              <a:gd name="adj" fmla="val 10000"/>
            </a:avLst>
          </a:prstGeom>
          <a:solidFill>
            <a:srgbClr val="F5EED8"/>
          </a:solidFill>
          <a:ln>
            <a:solidFill>
              <a:srgbClr val="C6A04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79" name="TextBox 502"/>
          <p:cNvSpPr txBox="1"/>
          <p:nvPr/>
        </p:nvSpPr>
        <p:spPr>
          <a:xfrm>
            <a:off x="685798" y="2478023"/>
            <a:ext cx="3383283" cy="2483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200">
                <a:solidFill>
                  <a:srgbClr val="C6A046"/>
                </a:solidFill>
              </a:defRPr>
            </a:lvl1pPr>
          </a:lstStyle>
          <a:p>
            <a:pPr/>
            <a:r>
              <a:t>S28</a:t>
            </a:r>
          </a:p>
        </p:txBody>
      </p:sp>
      <p:sp>
        <p:nvSpPr>
          <p:cNvPr id="480" name="TextBox 503"/>
          <p:cNvSpPr txBox="1"/>
          <p:nvPr/>
        </p:nvSpPr>
        <p:spPr>
          <a:xfrm>
            <a:off x="685798" y="2752345"/>
            <a:ext cx="3383283" cy="24830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200">
                <a:solidFill>
                  <a:srgbClr val="3C2814"/>
                </a:solidFill>
              </a:defRPr>
            </a:lvl1pPr>
          </a:lstStyle>
          <a:p>
            <a:pPr/>
            <a:r>
              <a:t>¿Qué rol cumple cada modelo?</a:t>
            </a:r>
          </a:p>
        </p:txBody>
      </p:sp>
      <p:sp>
        <p:nvSpPr>
          <p:cNvPr id="481" name="Rounded Rectangle 504"/>
          <p:cNvSpPr/>
          <p:nvPr/>
        </p:nvSpPr>
        <p:spPr>
          <a:xfrm>
            <a:off x="594359" y="3383279"/>
            <a:ext cx="3566162" cy="868682"/>
          </a:xfrm>
          <a:prstGeom prst="roundRect">
            <a:avLst>
              <a:gd name="adj" fmla="val 10000"/>
            </a:avLst>
          </a:prstGeom>
          <a:solidFill>
            <a:srgbClr val="F5EED8"/>
          </a:solidFill>
          <a:ln>
            <a:solidFill>
              <a:srgbClr val="C6A04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82" name="TextBox 505"/>
          <p:cNvSpPr txBox="1"/>
          <p:nvPr/>
        </p:nvSpPr>
        <p:spPr>
          <a:xfrm>
            <a:off x="685798" y="3438145"/>
            <a:ext cx="3383283" cy="24830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200">
                <a:solidFill>
                  <a:srgbClr val="C6A046"/>
                </a:solidFill>
              </a:defRPr>
            </a:lvl1pPr>
          </a:lstStyle>
          <a:p>
            <a:pPr/>
            <a:r>
              <a:t>S29</a:t>
            </a:r>
          </a:p>
        </p:txBody>
      </p:sp>
      <p:sp>
        <p:nvSpPr>
          <p:cNvPr id="483" name="TextBox 506"/>
          <p:cNvSpPr txBox="1"/>
          <p:nvPr/>
        </p:nvSpPr>
        <p:spPr>
          <a:xfrm>
            <a:off x="685798" y="3712465"/>
            <a:ext cx="3383283" cy="24830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200">
                <a:solidFill>
                  <a:srgbClr val="3C2814"/>
                </a:solidFill>
              </a:defRPr>
            </a:lvl1pPr>
          </a:lstStyle>
          <a:p>
            <a:pPr/>
            <a:r>
              <a:t>¿Qué aísla realmente DINOv2?</a:t>
            </a:r>
          </a:p>
        </p:txBody>
      </p:sp>
      <p:sp>
        <p:nvSpPr>
          <p:cNvPr id="484" name="Rounded Rectangle 507"/>
          <p:cNvSpPr/>
          <p:nvPr/>
        </p:nvSpPr>
        <p:spPr>
          <a:xfrm>
            <a:off x="594359" y="4343400"/>
            <a:ext cx="3566162" cy="868681"/>
          </a:xfrm>
          <a:prstGeom prst="roundRect">
            <a:avLst>
              <a:gd name="adj" fmla="val 10000"/>
            </a:avLst>
          </a:prstGeom>
          <a:solidFill>
            <a:srgbClr val="F5EED8"/>
          </a:solidFill>
          <a:ln>
            <a:solidFill>
              <a:srgbClr val="C6A04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85" name="TextBox 508"/>
          <p:cNvSpPr txBox="1"/>
          <p:nvPr/>
        </p:nvSpPr>
        <p:spPr>
          <a:xfrm>
            <a:off x="685798" y="4398265"/>
            <a:ext cx="3383283" cy="24830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200">
                <a:solidFill>
                  <a:srgbClr val="C6A046"/>
                </a:solidFill>
              </a:defRPr>
            </a:lvl1pPr>
          </a:lstStyle>
          <a:p>
            <a:pPr/>
            <a:r>
              <a:t>S35</a:t>
            </a:r>
          </a:p>
        </p:txBody>
      </p:sp>
      <p:sp>
        <p:nvSpPr>
          <p:cNvPr id="486" name="TextBox 509"/>
          <p:cNvSpPr txBox="1"/>
          <p:nvPr/>
        </p:nvSpPr>
        <p:spPr>
          <a:xfrm>
            <a:off x="685798" y="4672585"/>
            <a:ext cx="3383283" cy="2483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200">
                <a:solidFill>
                  <a:srgbClr val="3C2814"/>
                </a:solidFill>
              </a:defRPr>
            </a:lvl1pPr>
          </a:lstStyle>
          <a:p>
            <a:pPr/>
            <a:r>
              <a:t>¿Qué aporta DINOv2 como control?</a:t>
            </a:r>
          </a:p>
        </p:txBody>
      </p:sp>
      <p:sp>
        <p:nvSpPr>
          <p:cNvPr id="487" name="TextBox 510"/>
          <p:cNvSpPr txBox="1"/>
          <p:nvPr/>
        </p:nvSpPr>
        <p:spPr>
          <a:xfrm>
            <a:off x="4297679" y="1920239"/>
            <a:ext cx="3566160" cy="30059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600">
                <a:solidFill>
                  <a:srgbClr val="6B0F1A"/>
                </a:solidFill>
              </a:defRPr>
            </a:lvl1pPr>
          </a:lstStyle>
          <a:p>
            <a:pPr/>
            <a:r>
              <a:t>Método</a:t>
            </a:r>
          </a:p>
        </p:txBody>
      </p:sp>
      <p:sp>
        <p:nvSpPr>
          <p:cNvPr id="488" name="Rounded Rectangle 511"/>
          <p:cNvSpPr/>
          <p:nvPr/>
        </p:nvSpPr>
        <p:spPr>
          <a:xfrm>
            <a:off x="4297679" y="2423160"/>
            <a:ext cx="3566162" cy="868682"/>
          </a:xfrm>
          <a:prstGeom prst="roundRect">
            <a:avLst>
              <a:gd name="adj" fmla="val 10000"/>
            </a:avLst>
          </a:prstGeom>
          <a:solidFill>
            <a:srgbClr val="F5EED8"/>
          </a:solidFill>
          <a:ln>
            <a:solidFill>
              <a:srgbClr val="C6A04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89" name="TextBox 512"/>
          <p:cNvSpPr txBox="1"/>
          <p:nvPr/>
        </p:nvSpPr>
        <p:spPr>
          <a:xfrm>
            <a:off x="4389120" y="2478023"/>
            <a:ext cx="3383281" cy="2483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200">
                <a:solidFill>
                  <a:srgbClr val="C6A046"/>
                </a:solidFill>
              </a:defRPr>
            </a:lvl1pPr>
          </a:lstStyle>
          <a:p>
            <a:pPr/>
            <a:r>
              <a:t>S30</a:t>
            </a:r>
          </a:p>
        </p:txBody>
      </p:sp>
      <p:sp>
        <p:nvSpPr>
          <p:cNvPr id="490" name="TextBox 513"/>
          <p:cNvSpPr txBox="1"/>
          <p:nvPr/>
        </p:nvSpPr>
        <p:spPr>
          <a:xfrm>
            <a:off x="4389120" y="2752345"/>
            <a:ext cx="3383281" cy="24830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200">
                <a:solidFill>
                  <a:srgbClr val="3C2814"/>
                </a:solidFill>
              </a:defRPr>
            </a:lvl1pPr>
          </a:lstStyle>
          <a:p>
            <a:pPr/>
            <a:r>
              <a:t>¿Cómo funciona Macenko?</a:t>
            </a:r>
          </a:p>
        </p:txBody>
      </p:sp>
      <p:sp>
        <p:nvSpPr>
          <p:cNvPr id="491" name="Rounded Rectangle 514"/>
          <p:cNvSpPr/>
          <p:nvPr/>
        </p:nvSpPr>
        <p:spPr>
          <a:xfrm>
            <a:off x="4297679" y="3383279"/>
            <a:ext cx="3566162" cy="868682"/>
          </a:xfrm>
          <a:prstGeom prst="roundRect">
            <a:avLst>
              <a:gd name="adj" fmla="val 10000"/>
            </a:avLst>
          </a:prstGeom>
          <a:solidFill>
            <a:srgbClr val="F5EED8"/>
          </a:solidFill>
          <a:ln>
            <a:solidFill>
              <a:srgbClr val="C6A04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92" name="TextBox 515"/>
          <p:cNvSpPr txBox="1"/>
          <p:nvPr/>
        </p:nvSpPr>
        <p:spPr>
          <a:xfrm>
            <a:off x="4389120" y="3438145"/>
            <a:ext cx="3383281" cy="24830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200">
                <a:solidFill>
                  <a:srgbClr val="C6A046"/>
                </a:solidFill>
              </a:defRPr>
            </a:lvl1pPr>
          </a:lstStyle>
          <a:p>
            <a:pPr/>
            <a:r>
              <a:t>S32</a:t>
            </a:r>
          </a:p>
        </p:txBody>
      </p:sp>
      <p:sp>
        <p:nvSpPr>
          <p:cNvPr id="493" name="TextBox 516"/>
          <p:cNvSpPr txBox="1"/>
          <p:nvPr/>
        </p:nvSpPr>
        <p:spPr>
          <a:xfrm>
            <a:off x="4389120" y="3712465"/>
            <a:ext cx="3383281" cy="24830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200">
                <a:solidFill>
                  <a:srgbClr val="3C2814"/>
                </a:solidFill>
              </a:defRPr>
            </a:lvl1pPr>
          </a:lstStyle>
          <a:p>
            <a:pPr/>
            <a:r>
              <a:t>¿Por qué argmax restringido?</a:t>
            </a:r>
          </a:p>
        </p:txBody>
      </p:sp>
      <p:sp>
        <p:nvSpPr>
          <p:cNvPr id="494" name="Rounded Rectangle 517"/>
          <p:cNvSpPr/>
          <p:nvPr/>
        </p:nvSpPr>
        <p:spPr>
          <a:xfrm>
            <a:off x="4297679" y="4343400"/>
            <a:ext cx="3566162" cy="868681"/>
          </a:xfrm>
          <a:prstGeom prst="roundRect">
            <a:avLst>
              <a:gd name="adj" fmla="val 10000"/>
            </a:avLst>
          </a:prstGeom>
          <a:solidFill>
            <a:srgbClr val="F5EED8"/>
          </a:solidFill>
          <a:ln>
            <a:solidFill>
              <a:srgbClr val="C6A04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95" name="TextBox 518"/>
          <p:cNvSpPr txBox="1"/>
          <p:nvPr/>
        </p:nvSpPr>
        <p:spPr>
          <a:xfrm>
            <a:off x="4389120" y="4398265"/>
            <a:ext cx="3383281" cy="24830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200">
                <a:solidFill>
                  <a:srgbClr val="C6A046"/>
                </a:solidFill>
              </a:defRPr>
            </a:lvl1pPr>
          </a:lstStyle>
          <a:p>
            <a:pPr/>
            <a:r>
              <a:t>S36</a:t>
            </a:r>
          </a:p>
        </p:txBody>
      </p:sp>
      <p:sp>
        <p:nvSpPr>
          <p:cNvPr id="496" name="TextBox 519"/>
          <p:cNvSpPr txBox="1"/>
          <p:nvPr/>
        </p:nvSpPr>
        <p:spPr>
          <a:xfrm>
            <a:off x="4389120" y="4672585"/>
            <a:ext cx="3383281" cy="2483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200">
                <a:solidFill>
                  <a:srgbClr val="3C2814"/>
                </a:solidFill>
              </a:defRPr>
            </a:lvl1pPr>
          </a:lstStyle>
          <a:p>
            <a:pPr/>
            <a:r>
              <a:t>¿Qué optimiza InfoNCE?</a:t>
            </a:r>
          </a:p>
        </p:txBody>
      </p:sp>
      <p:sp>
        <p:nvSpPr>
          <p:cNvPr id="497" name="TextBox 520"/>
          <p:cNvSpPr txBox="1"/>
          <p:nvPr/>
        </p:nvSpPr>
        <p:spPr>
          <a:xfrm>
            <a:off x="8000999" y="1920239"/>
            <a:ext cx="3566162" cy="30059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600">
                <a:solidFill>
                  <a:srgbClr val="6B0F1A"/>
                </a:solidFill>
              </a:defRPr>
            </a:lvl1pPr>
          </a:lstStyle>
          <a:p>
            <a:pPr/>
            <a:r>
              <a:t>Validez</a:t>
            </a:r>
          </a:p>
        </p:txBody>
      </p:sp>
      <p:sp>
        <p:nvSpPr>
          <p:cNvPr id="498" name="Rounded Rectangle 521"/>
          <p:cNvSpPr/>
          <p:nvPr/>
        </p:nvSpPr>
        <p:spPr>
          <a:xfrm>
            <a:off x="8001000" y="2423160"/>
            <a:ext cx="3566160" cy="868682"/>
          </a:xfrm>
          <a:prstGeom prst="roundRect">
            <a:avLst>
              <a:gd name="adj" fmla="val 10000"/>
            </a:avLst>
          </a:prstGeom>
          <a:solidFill>
            <a:srgbClr val="F5EED8"/>
          </a:solidFill>
          <a:ln>
            <a:solidFill>
              <a:srgbClr val="C6A04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499" name="TextBox 522"/>
          <p:cNvSpPr txBox="1"/>
          <p:nvPr/>
        </p:nvSpPr>
        <p:spPr>
          <a:xfrm>
            <a:off x="8092440" y="2478023"/>
            <a:ext cx="3383281" cy="2483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200">
                <a:solidFill>
                  <a:srgbClr val="C6A046"/>
                </a:solidFill>
              </a:defRPr>
            </a:lvl1pPr>
          </a:lstStyle>
          <a:p>
            <a:pPr/>
            <a:r>
              <a:t>S31</a:t>
            </a:r>
          </a:p>
        </p:txBody>
      </p:sp>
      <p:sp>
        <p:nvSpPr>
          <p:cNvPr id="500" name="TextBox 523"/>
          <p:cNvSpPr txBox="1"/>
          <p:nvPr/>
        </p:nvSpPr>
        <p:spPr>
          <a:xfrm>
            <a:off x="8092440" y="2752345"/>
            <a:ext cx="3383281" cy="24830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200">
                <a:solidFill>
                  <a:srgbClr val="3C2814"/>
                </a:solidFill>
              </a:defRPr>
            </a:lvl1pPr>
          </a:lstStyle>
          <a:p>
            <a:pPr/>
            <a:r>
              <a:t>¿Qué muestra UMAP y qué no?</a:t>
            </a:r>
          </a:p>
        </p:txBody>
      </p:sp>
      <p:sp>
        <p:nvSpPr>
          <p:cNvPr id="501" name="Rounded Rectangle 524"/>
          <p:cNvSpPr/>
          <p:nvPr/>
        </p:nvSpPr>
        <p:spPr>
          <a:xfrm>
            <a:off x="8001000" y="3383279"/>
            <a:ext cx="3566160" cy="868682"/>
          </a:xfrm>
          <a:prstGeom prst="roundRect">
            <a:avLst>
              <a:gd name="adj" fmla="val 10000"/>
            </a:avLst>
          </a:prstGeom>
          <a:solidFill>
            <a:srgbClr val="F5EED8"/>
          </a:solidFill>
          <a:ln>
            <a:solidFill>
              <a:srgbClr val="C6A04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02" name="TextBox 525"/>
          <p:cNvSpPr txBox="1"/>
          <p:nvPr/>
        </p:nvSpPr>
        <p:spPr>
          <a:xfrm>
            <a:off x="8092440" y="3438145"/>
            <a:ext cx="3383281" cy="24830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200">
                <a:solidFill>
                  <a:srgbClr val="C6A046"/>
                </a:solidFill>
              </a:defRPr>
            </a:lvl1pPr>
          </a:lstStyle>
          <a:p>
            <a:pPr/>
            <a:r>
              <a:t>S33</a:t>
            </a:r>
          </a:p>
        </p:txBody>
      </p:sp>
      <p:sp>
        <p:nvSpPr>
          <p:cNvPr id="503" name="TextBox 526"/>
          <p:cNvSpPr txBox="1"/>
          <p:nvPr/>
        </p:nvSpPr>
        <p:spPr>
          <a:xfrm>
            <a:off x="8092440" y="3712465"/>
            <a:ext cx="3383281" cy="24830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200">
                <a:solidFill>
                  <a:srgbClr val="3C2814"/>
                </a:solidFill>
              </a:defRPr>
            </a:lvl1pPr>
          </a:lstStyle>
          <a:p>
            <a:pPr/>
            <a:r>
              <a:t>¿Por qué BERT y no CLIP-text?</a:t>
            </a:r>
          </a:p>
        </p:txBody>
      </p:sp>
      <p:sp>
        <p:nvSpPr>
          <p:cNvPr id="504" name="Rounded Rectangle 527"/>
          <p:cNvSpPr/>
          <p:nvPr/>
        </p:nvSpPr>
        <p:spPr>
          <a:xfrm>
            <a:off x="8001000" y="4343400"/>
            <a:ext cx="3566160" cy="868681"/>
          </a:xfrm>
          <a:prstGeom prst="roundRect">
            <a:avLst>
              <a:gd name="adj" fmla="val 10000"/>
            </a:avLst>
          </a:prstGeom>
          <a:solidFill>
            <a:srgbClr val="F5EED8"/>
          </a:solidFill>
          <a:ln>
            <a:solidFill>
              <a:srgbClr val="C6A046"/>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05" name="TextBox 528"/>
          <p:cNvSpPr txBox="1"/>
          <p:nvPr/>
        </p:nvSpPr>
        <p:spPr>
          <a:xfrm>
            <a:off x="8092440" y="4398265"/>
            <a:ext cx="3383281" cy="24830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200">
                <a:solidFill>
                  <a:srgbClr val="C6A046"/>
                </a:solidFill>
              </a:defRPr>
            </a:lvl1pPr>
          </a:lstStyle>
          <a:p>
            <a:pPr/>
            <a:r>
              <a:t>S34</a:t>
            </a:r>
          </a:p>
        </p:txBody>
      </p:sp>
      <p:sp>
        <p:nvSpPr>
          <p:cNvPr id="506" name="TextBox 529"/>
          <p:cNvSpPr txBox="1"/>
          <p:nvPr/>
        </p:nvSpPr>
        <p:spPr>
          <a:xfrm>
            <a:off x="8092440" y="4672585"/>
            <a:ext cx="3383281" cy="2483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200">
                <a:solidFill>
                  <a:srgbClr val="3C2814"/>
                </a:solidFill>
              </a:defRPr>
            </a:lvl1pPr>
          </a:lstStyle>
          <a:p>
            <a:pPr/>
            <a:r>
              <a:t>¿La fuga de LC25000 invalida?</a:t>
            </a:r>
          </a:p>
        </p:txBody>
      </p:sp>
      <p:sp>
        <p:nvSpPr>
          <p:cNvPr id="507" name="TextBox 530"/>
          <p:cNvSpPr txBox="1"/>
          <p:nvPr/>
        </p:nvSpPr>
        <p:spPr>
          <a:xfrm>
            <a:off x="594359" y="5989321"/>
            <a:ext cx="11000235"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500">
                <a:solidFill>
                  <a:srgbClr val="4D0912"/>
                </a:solidFill>
              </a:defRPr>
            </a:lvl1pPr>
          </a:lstStyle>
          <a:p>
            <a:pPr/>
            <a:r>
              <a:t>Estas slides no forman parte de la defensa cronometrada: solo se navegan si el tribunal las provoca.</a:t>
            </a:r>
          </a:p>
        </p:txBody>
      </p:sp>
      <p:sp>
        <p:nvSpPr>
          <p:cNvPr id="508" name="Rectangle 531"/>
          <p:cNvSpPr/>
          <p:nvPr/>
        </p:nvSpPr>
        <p:spPr>
          <a:xfrm>
            <a:off x="594359" y="6355079"/>
            <a:ext cx="11000235" cy="18290"/>
          </a:xfrm>
          <a:prstGeom prst="rect">
            <a:avLst/>
          </a:prstGeom>
          <a:solidFill>
            <a:srgbClr val="EBD9A8"/>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09" name="Rectangle 6"/>
          <p:cNvSpPr/>
          <p:nvPr/>
        </p:nvSpPr>
        <p:spPr>
          <a:xfrm>
            <a:off x="548638" y="1024127"/>
            <a:ext cx="1097284"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3"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14"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15"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516"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BACKUP</a:t>
            </a:r>
          </a:p>
        </p:txBody>
      </p:sp>
      <p:sp>
        <p:nvSpPr>
          <p:cNvPr id="517" name="TextBox 276"/>
          <p:cNvSpPr txBox="1"/>
          <p:nvPr/>
        </p:nvSpPr>
        <p:spPr>
          <a:xfrm>
            <a:off x="640079" y="384047"/>
            <a:ext cx="10908794" cy="43766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defRPr>
            </a:lvl1pPr>
          </a:lstStyle>
          <a:p>
            <a:pPr/>
            <a:r>
              <a:t>¿Qué rol cumple cada modelo en el experimento?</a:t>
            </a:r>
          </a:p>
        </p:txBody>
      </p:sp>
      <p:sp>
        <p:nvSpPr>
          <p:cNvPr id="518" name="TextBox 277"/>
          <p:cNvSpPr txBox="1"/>
          <p:nvPr/>
        </p:nvSpPr>
        <p:spPr>
          <a:xfrm>
            <a:off x="640079" y="1188719"/>
            <a:ext cx="10908794" cy="307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400">
                <a:solidFill>
                  <a:srgbClr val="4D0912"/>
                </a:solidFill>
                <a:latin typeface="+mj-lt"/>
                <a:ea typeface="+mj-ea"/>
                <a:cs typeface="+mj-cs"/>
                <a:sym typeface="Helvetica"/>
              </a:defRPr>
            </a:lvl1pPr>
          </a:lstStyle>
          <a:p>
            <a:pPr/>
            <a:r>
              <a:t>Cada modelo entra para aislar UNA variable del pipeline base, no como comparación genérica.</a:t>
            </a:r>
          </a:p>
        </p:txBody>
      </p:sp>
      <p:sp>
        <p:nvSpPr>
          <p:cNvPr id="519" name="Rectangle 280"/>
          <p:cNvSpPr/>
          <p:nvPr/>
        </p:nvSpPr>
        <p:spPr>
          <a:xfrm>
            <a:off x="594357" y="6355079"/>
            <a:ext cx="11000239" cy="18292"/>
          </a:xfrm>
          <a:prstGeom prst="rect">
            <a:avLst/>
          </a:prstGeom>
          <a:solidFill>
            <a:srgbClr val="E5D0A0"/>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sp>
        <p:nvSpPr>
          <p:cNvPr id="520" name="TextBox 494"/>
          <p:cNvSpPr txBox="1"/>
          <p:nvPr/>
        </p:nvSpPr>
        <p:spPr>
          <a:xfrm>
            <a:off x="594360" y="1920239"/>
            <a:ext cx="2011679" cy="31049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700">
                <a:solidFill>
                  <a:srgbClr val="6B0F1A"/>
                </a:solidFill>
              </a:defRPr>
            </a:lvl1pPr>
          </a:lstStyle>
          <a:p>
            <a:pPr/>
            <a:r>
              <a:t>Imagen</a:t>
            </a:r>
          </a:p>
        </p:txBody>
      </p:sp>
      <p:sp>
        <p:nvSpPr>
          <p:cNvPr id="521" name="Rounded Rectangle 495"/>
          <p:cNvSpPr/>
          <p:nvPr/>
        </p:nvSpPr>
        <p:spPr>
          <a:xfrm>
            <a:off x="2788920" y="1965960"/>
            <a:ext cx="1920242" cy="777242"/>
          </a:xfrm>
          <a:prstGeom prst="roundRect">
            <a:avLst>
              <a:gd name="adj" fmla="val 15000"/>
            </a:avLst>
          </a:prstGeom>
          <a:solidFill>
            <a:srgbClr val="F5EED8"/>
          </a:solidFill>
          <a:ln w="15240">
            <a:solidFill>
              <a:srgbClr val="4D0912"/>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22" name="TextBox 496"/>
          <p:cNvSpPr txBox="1"/>
          <p:nvPr/>
        </p:nvSpPr>
        <p:spPr>
          <a:xfrm>
            <a:off x="2834638" y="1993393"/>
            <a:ext cx="1828802" cy="2582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300">
                <a:solidFill>
                  <a:srgbClr val="4D0912"/>
                </a:solidFill>
              </a:defRPr>
            </a:lvl1pPr>
          </a:lstStyle>
          <a:p>
            <a:pPr/>
            <a:r>
              <a:t>ResNet50</a:t>
            </a:r>
          </a:p>
        </p:txBody>
      </p:sp>
      <p:sp>
        <p:nvSpPr>
          <p:cNvPr id="523" name="TextBox 497"/>
          <p:cNvSpPr txBox="1"/>
          <p:nvPr/>
        </p:nvSpPr>
        <p:spPr>
          <a:xfrm>
            <a:off x="2834638" y="2304289"/>
            <a:ext cx="1828802" cy="2285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1000">
                <a:solidFill>
                  <a:srgbClr val="826540"/>
                </a:solidFill>
              </a:defRPr>
            </a:lvl1pPr>
          </a:lstStyle>
          <a:p>
            <a:pPr/>
            <a:r>
              <a:t>baseline</a:t>
            </a:r>
          </a:p>
        </p:txBody>
      </p:sp>
      <p:sp>
        <p:nvSpPr>
          <p:cNvPr id="524" name="Right Arrow 498"/>
          <p:cNvSpPr/>
          <p:nvPr/>
        </p:nvSpPr>
        <p:spPr>
          <a:xfrm>
            <a:off x="4727447" y="2304288"/>
            <a:ext cx="274322" cy="182882"/>
          </a:xfrm>
          <a:prstGeom prst="rightArrow">
            <a:avLst>
              <a:gd name="adj1" fmla="val 35000"/>
              <a:gd name="adj2" fmla="val 40000"/>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25" name="Rounded Rectangle 499"/>
          <p:cNvSpPr/>
          <p:nvPr/>
        </p:nvSpPr>
        <p:spPr>
          <a:xfrm>
            <a:off x="4983479" y="1965960"/>
            <a:ext cx="1920242" cy="777242"/>
          </a:xfrm>
          <a:prstGeom prst="roundRect">
            <a:avLst>
              <a:gd name="adj" fmla="val 15000"/>
            </a:avLst>
          </a:prstGeom>
          <a:solidFill>
            <a:srgbClr val="F5EED8"/>
          </a:solidFill>
          <a:ln w="15240">
            <a:solidFill>
              <a:srgbClr val="4D0912"/>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26" name="TextBox 500"/>
          <p:cNvSpPr txBox="1"/>
          <p:nvPr/>
        </p:nvSpPr>
        <p:spPr>
          <a:xfrm>
            <a:off x="5029198" y="1993393"/>
            <a:ext cx="1828802" cy="2582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300">
                <a:solidFill>
                  <a:srgbClr val="4D0912"/>
                </a:solidFill>
              </a:defRPr>
            </a:lvl1pPr>
          </a:lstStyle>
          <a:p>
            <a:pPr/>
            <a:r>
              <a:t>DINOv2 ViT-B/14</a:t>
            </a:r>
          </a:p>
        </p:txBody>
      </p:sp>
      <p:sp>
        <p:nvSpPr>
          <p:cNvPr id="527" name="TextBox 501"/>
          <p:cNvSpPr txBox="1"/>
          <p:nvPr/>
        </p:nvSpPr>
        <p:spPr>
          <a:xfrm>
            <a:off x="5029198" y="2304289"/>
            <a:ext cx="1828802" cy="2285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1000">
                <a:solidFill>
                  <a:srgbClr val="826540"/>
                </a:solidFill>
              </a:defRPr>
            </a:lvl1pPr>
          </a:lstStyle>
          <a:p>
            <a:pPr/>
            <a:r>
              <a:t>control parcial</a:t>
            </a:r>
          </a:p>
        </p:txBody>
      </p:sp>
      <p:sp>
        <p:nvSpPr>
          <p:cNvPr id="528" name="Right Arrow 502"/>
          <p:cNvSpPr/>
          <p:nvPr/>
        </p:nvSpPr>
        <p:spPr>
          <a:xfrm>
            <a:off x="6922006" y="2304288"/>
            <a:ext cx="274322" cy="182882"/>
          </a:xfrm>
          <a:prstGeom prst="rightArrow">
            <a:avLst>
              <a:gd name="adj1" fmla="val 35000"/>
              <a:gd name="adj2" fmla="val 40000"/>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29" name="Rounded Rectangle 503"/>
          <p:cNvSpPr/>
          <p:nvPr/>
        </p:nvSpPr>
        <p:spPr>
          <a:xfrm>
            <a:off x="7178040" y="1965960"/>
            <a:ext cx="1920242" cy="777242"/>
          </a:xfrm>
          <a:prstGeom prst="roundRect">
            <a:avLst>
              <a:gd name="adj" fmla="val 15000"/>
            </a:avLst>
          </a:prstGeom>
          <a:solidFill>
            <a:srgbClr val="F5EED8"/>
          </a:solidFill>
          <a:ln w="15240">
            <a:solidFill>
              <a:srgbClr val="4D0912"/>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30" name="TextBox 504"/>
          <p:cNvSpPr txBox="1"/>
          <p:nvPr/>
        </p:nvSpPr>
        <p:spPr>
          <a:xfrm>
            <a:off x="7223759" y="1993393"/>
            <a:ext cx="1828802" cy="2582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300">
                <a:solidFill>
                  <a:srgbClr val="4D0912"/>
                </a:solidFill>
              </a:defRPr>
            </a:lvl1pPr>
          </a:lstStyle>
          <a:p>
            <a:pPr/>
            <a:r>
              <a:t>PLIP ViT-B/32</a:t>
            </a:r>
          </a:p>
        </p:txBody>
      </p:sp>
      <p:sp>
        <p:nvSpPr>
          <p:cNvPr id="531" name="TextBox 505"/>
          <p:cNvSpPr txBox="1"/>
          <p:nvPr/>
        </p:nvSpPr>
        <p:spPr>
          <a:xfrm>
            <a:off x="7223759" y="2304289"/>
            <a:ext cx="1828802" cy="2285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1000">
                <a:solidFill>
                  <a:srgbClr val="826540"/>
                </a:solidFill>
              </a:defRPr>
            </a:lvl1pPr>
          </a:lstStyle>
          <a:p>
            <a:pPr/>
            <a:r>
              <a:t>principal</a:t>
            </a:r>
          </a:p>
        </p:txBody>
      </p:sp>
      <p:sp>
        <p:nvSpPr>
          <p:cNvPr id="532" name="TextBox 506"/>
          <p:cNvSpPr txBox="1"/>
          <p:nvPr/>
        </p:nvSpPr>
        <p:spPr>
          <a:xfrm>
            <a:off x="594360" y="2816350"/>
            <a:ext cx="2011679" cy="173648"/>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sz="1000">
                <a:solidFill>
                  <a:srgbClr val="826540"/>
                </a:solidFill>
              </a:defRPr>
            </a:lvl1pPr>
          </a:lstStyle>
          <a:p>
            <a:pPr/>
            <a:r>
              <a:t>CNN → ViT → dominio</a:t>
            </a:r>
          </a:p>
        </p:txBody>
      </p:sp>
      <p:sp>
        <p:nvSpPr>
          <p:cNvPr id="533" name="TextBox 507"/>
          <p:cNvSpPr txBox="1"/>
          <p:nvPr/>
        </p:nvSpPr>
        <p:spPr>
          <a:xfrm>
            <a:off x="594360" y="3246121"/>
            <a:ext cx="2011679" cy="31048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700">
                <a:solidFill>
                  <a:srgbClr val="6B0F1A"/>
                </a:solidFill>
              </a:defRPr>
            </a:lvl1pPr>
          </a:lstStyle>
          <a:p>
            <a:pPr/>
            <a:r>
              <a:t>Texto</a:t>
            </a:r>
          </a:p>
        </p:txBody>
      </p:sp>
      <p:sp>
        <p:nvSpPr>
          <p:cNvPr id="534" name="Rounded Rectangle 508"/>
          <p:cNvSpPr/>
          <p:nvPr/>
        </p:nvSpPr>
        <p:spPr>
          <a:xfrm>
            <a:off x="2788920" y="3291837"/>
            <a:ext cx="1920242" cy="777243"/>
          </a:xfrm>
          <a:prstGeom prst="roundRect">
            <a:avLst>
              <a:gd name="adj" fmla="val 15000"/>
            </a:avLst>
          </a:prstGeom>
          <a:solidFill>
            <a:srgbClr val="F5EED8"/>
          </a:solidFill>
          <a:ln w="15240">
            <a:solidFill>
              <a:srgbClr val="4D0912"/>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35" name="TextBox 509"/>
          <p:cNvSpPr txBox="1"/>
          <p:nvPr/>
        </p:nvSpPr>
        <p:spPr>
          <a:xfrm>
            <a:off x="2834638" y="3319272"/>
            <a:ext cx="1828802" cy="2582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300">
                <a:solidFill>
                  <a:srgbClr val="4D0912"/>
                </a:solidFill>
              </a:defRPr>
            </a:lvl1pPr>
          </a:lstStyle>
          <a:p>
            <a:pPr/>
            <a:r>
              <a:t>BERT</a:t>
            </a:r>
          </a:p>
        </p:txBody>
      </p:sp>
      <p:sp>
        <p:nvSpPr>
          <p:cNvPr id="536" name="TextBox 510"/>
          <p:cNvSpPr txBox="1"/>
          <p:nvPr/>
        </p:nvSpPr>
        <p:spPr>
          <a:xfrm>
            <a:off x="2834638" y="3630168"/>
            <a:ext cx="1828802" cy="2285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1000">
                <a:solidFill>
                  <a:srgbClr val="826540"/>
                </a:solidFill>
              </a:defRPr>
            </a:lvl1pPr>
          </a:lstStyle>
          <a:p>
            <a:pPr/>
            <a:r>
              <a:t>general</a:t>
            </a:r>
          </a:p>
        </p:txBody>
      </p:sp>
      <p:sp>
        <p:nvSpPr>
          <p:cNvPr id="537" name="Right Arrow 511"/>
          <p:cNvSpPr/>
          <p:nvPr/>
        </p:nvSpPr>
        <p:spPr>
          <a:xfrm>
            <a:off x="4727447" y="3630167"/>
            <a:ext cx="274322" cy="182882"/>
          </a:xfrm>
          <a:prstGeom prst="rightArrow">
            <a:avLst>
              <a:gd name="adj1" fmla="val 35000"/>
              <a:gd name="adj2" fmla="val 40000"/>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38" name="Rounded Rectangle 512"/>
          <p:cNvSpPr/>
          <p:nvPr/>
        </p:nvSpPr>
        <p:spPr>
          <a:xfrm>
            <a:off x="4983479" y="3291837"/>
            <a:ext cx="1920242" cy="777243"/>
          </a:xfrm>
          <a:prstGeom prst="roundRect">
            <a:avLst>
              <a:gd name="adj" fmla="val 15000"/>
            </a:avLst>
          </a:prstGeom>
          <a:solidFill>
            <a:srgbClr val="F5EED8"/>
          </a:solidFill>
          <a:ln w="15240">
            <a:solidFill>
              <a:srgbClr val="4D0912"/>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39" name="TextBox 513"/>
          <p:cNvSpPr txBox="1"/>
          <p:nvPr/>
        </p:nvSpPr>
        <p:spPr>
          <a:xfrm>
            <a:off x="5029198" y="3319272"/>
            <a:ext cx="1828802" cy="2582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300">
                <a:solidFill>
                  <a:srgbClr val="4D0912"/>
                </a:solidFill>
              </a:defRPr>
            </a:lvl1pPr>
          </a:lstStyle>
          <a:p>
            <a:pPr/>
            <a:r>
              <a:t>BioBERT</a:t>
            </a:r>
          </a:p>
        </p:txBody>
      </p:sp>
      <p:sp>
        <p:nvSpPr>
          <p:cNvPr id="540" name="TextBox 514"/>
          <p:cNvSpPr txBox="1"/>
          <p:nvPr/>
        </p:nvSpPr>
        <p:spPr>
          <a:xfrm>
            <a:off x="5029198" y="3630168"/>
            <a:ext cx="1828802" cy="2285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1000">
                <a:solidFill>
                  <a:srgbClr val="826540"/>
                </a:solidFill>
              </a:defRPr>
            </a:lvl1pPr>
          </a:lstStyle>
          <a:p>
            <a:pPr/>
            <a:r>
              <a:t>biomédico continuo</a:t>
            </a:r>
          </a:p>
        </p:txBody>
      </p:sp>
      <p:sp>
        <p:nvSpPr>
          <p:cNvPr id="541" name="Right Arrow 515"/>
          <p:cNvSpPr/>
          <p:nvPr/>
        </p:nvSpPr>
        <p:spPr>
          <a:xfrm>
            <a:off x="6922006" y="3630167"/>
            <a:ext cx="274322" cy="182882"/>
          </a:xfrm>
          <a:prstGeom prst="rightArrow">
            <a:avLst>
              <a:gd name="adj1" fmla="val 35000"/>
              <a:gd name="adj2" fmla="val 40000"/>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42" name="Rounded Rectangle 516"/>
          <p:cNvSpPr/>
          <p:nvPr/>
        </p:nvSpPr>
        <p:spPr>
          <a:xfrm>
            <a:off x="7178040" y="3291837"/>
            <a:ext cx="1920242" cy="777243"/>
          </a:xfrm>
          <a:prstGeom prst="roundRect">
            <a:avLst>
              <a:gd name="adj" fmla="val 15000"/>
            </a:avLst>
          </a:prstGeom>
          <a:solidFill>
            <a:srgbClr val="F5EED8"/>
          </a:solidFill>
          <a:ln w="15240">
            <a:solidFill>
              <a:srgbClr val="4D0912"/>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43" name="TextBox 517"/>
          <p:cNvSpPr txBox="1"/>
          <p:nvPr/>
        </p:nvSpPr>
        <p:spPr>
          <a:xfrm>
            <a:off x="7223759" y="3319272"/>
            <a:ext cx="1828802" cy="2582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300">
                <a:solidFill>
                  <a:srgbClr val="4D0912"/>
                </a:solidFill>
              </a:defRPr>
            </a:lvl1pPr>
          </a:lstStyle>
          <a:p>
            <a:pPr/>
            <a:r>
              <a:t>PubMedBERT</a:t>
            </a:r>
          </a:p>
        </p:txBody>
      </p:sp>
      <p:sp>
        <p:nvSpPr>
          <p:cNvPr id="544" name="TextBox 518"/>
          <p:cNvSpPr txBox="1"/>
          <p:nvPr/>
        </p:nvSpPr>
        <p:spPr>
          <a:xfrm>
            <a:off x="7223759" y="3630168"/>
            <a:ext cx="1828802" cy="2285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1000">
                <a:solidFill>
                  <a:srgbClr val="826540"/>
                </a:solidFill>
              </a:defRPr>
            </a:lvl1pPr>
          </a:lstStyle>
          <a:p>
            <a:pPr/>
            <a:r>
              <a:t>biomédico desde cero</a:t>
            </a:r>
          </a:p>
        </p:txBody>
      </p:sp>
      <p:sp>
        <p:nvSpPr>
          <p:cNvPr id="545" name="TextBox 519"/>
          <p:cNvSpPr txBox="1"/>
          <p:nvPr/>
        </p:nvSpPr>
        <p:spPr>
          <a:xfrm>
            <a:off x="594360" y="4142230"/>
            <a:ext cx="2011679" cy="17364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sz="1000">
                <a:solidFill>
                  <a:srgbClr val="826540"/>
                </a:solidFill>
              </a:defRPr>
            </a:lvl1pPr>
          </a:lstStyle>
          <a:p>
            <a:pPr/>
            <a:r>
              <a:t>misma arch, distinto pretraining</a:t>
            </a:r>
          </a:p>
        </p:txBody>
      </p:sp>
      <p:sp>
        <p:nvSpPr>
          <p:cNvPr id="546" name="TextBox 520"/>
          <p:cNvSpPr txBox="1"/>
          <p:nvPr/>
        </p:nvSpPr>
        <p:spPr>
          <a:xfrm>
            <a:off x="594360" y="4572000"/>
            <a:ext cx="2011679" cy="31049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700">
                <a:solidFill>
                  <a:srgbClr val="6B0F1A"/>
                </a:solidFill>
              </a:defRPr>
            </a:lvl1pPr>
          </a:lstStyle>
          <a:p>
            <a:pPr/>
            <a:r>
              <a:t>Modelo completo</a:t>
            </a:r>
          </a:p>
        </p:txBody>
      </p:sp>
      <p:sp>
        <p:nvSpPr>
          <p:cNvPr id="547" name="Rounded Rectangle 521"/>
          <p:cNvSpPr/>
          <p:nvPr/>
        </p:nvSpPr>
        <p:spPr>
          <a:xfrm>
            <a:off x="2788920" y="4617720"/>
            <a:ext cx="1920242" cy="777242"/>
          </a:xfrm>
          <a:prstGeom prst="roundRect">
            <a:avLst>
              <a:gd name="adj" fmla="val 15000"/>
            </a:avLst>
          </a:prstGeom>
          <a:solidFill>
            <a:srgbClr val="F5EED8"/>
          </a:solidFill>
          <a:ln w="15240">
            <a:solidFill>
              <a:srgbClr val="4D0912"/>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48" name="TextBox 522"/>
          <p:cNvSpPr txBox="1"/>
          <p:nvPr/>
        </p:nvSpPr>
        <p:spPr>
          <a:xfrm>
            <a:off x="2834638" y="4645153"/>
            <a:ext cx="1828802" cy="2582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300">
                <a:solidFill>
                  <a:srgbClr val="4D0912"/>
                </a:solidFill>
              </a:defRPr>
            </a:lvl1pPr>
          </a:lstStyle>
          <a:p>
            <a:pPr/>
            <a:r>
              <a:t>PLIP zero-shot</a:t>
            </a:r>
          </a:p>
        </p:txBody>
      </p:sp>
      <p:sp>
        <p:nvSpPr>
          <p:cNvPr id="549" name="TextBox 523"/>
          <p:cNvSpPr txBox="1"/>
          <p:nvPr/>
        </p:nvSpPr>
        <p:spPr>
          <a:xfrm>
            <a:off x="2834638" y="4956048"/>
            <a:ext cx="1828802" cy="2285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1000">
                <a:solidFill>
                  <a:srgbClr val="826540"/>
                </a:solidFill>
              </a:defRPr>
            </a:lvl1pPr>
          </a:lstStyle>
          <a:p>
            <a:pPr/>
            <a:r>
              <a:t>sin entrenar sobre LC25000</a:t>
            </a:r>
          </a:p>
        </p:txBody>
      </p:sp>
      <p:sp>
        <p:nvSpPr>
          <p:cNvPr id="550" name="TextBox 524"/>
          <p:cNvSpPr txBox="1"/>
          <p:nvPr/>
        </p:nvSpPr>
        <p:spPr>
          <a:xfrm>
            <a:off x="594360" y="5468110"/>
            <a:ext cx="2011679" cy="173648"/>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sz="1000">
                <a:solidFill>
                  <a:srgbClr val="826540"/>
                </a:solidFill>
              </a:defRPr>
            </a:lvl1pPr>
          </a:lstStyle>
          <a:p>
            <a:pPr/>
            <a:r>
              <a:t>referencia externa</a:t>
            </a:r>
          </a:p>
        </p:txBody>
      </p:sp>
      <p:sp>
        <p:nvSpPr>
          <p:cNvPr id="551" name="TextBox 525"/>
          <p:cNvSpPr txBox="1"/>
          <p:nvPr/>
        </p:nvSpPr>
        <p:spPr>
          <a:xfrm>
            <a:off x="594359" y="5989321"/>
            <a:ext cx="11000235"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500">
                <a:solidFill>
                  <a:srgbClr val="4D0912"/>
                </a:solidFill>
              </a:defRPr>
            </a:lvl1pPr>
          </a:lstStyle>
          <a:p>
            <a:pPr/>
            <a:r>
              <a:t>Cada modelo entra para aislar UNA variable del pipeline base, no un ranking genérico.</a:t>
            </a:r>
          </a:p>
        </p:txBody>
      </p:sp>
      <p:sp>
        <p:nvSpPr>
          <p:cNvPr id="552" name="Rectangle 526"/>
          <p:cNvSpPr/>
          <p:nvPr/>
        </p:nvSpPr>
        <p:spPr>
          <a:xfrm>
            <a:off x="594359" y="6355079"/>
            <a:ext cx="11000235" cy="18290"/>
          </a:xfrm>
          <a:prstGeom prst="rect">
            <a:avLst/>
          </a:prstGeom>
          <a:solidFill>
            <a:srgbClr val="EBD9A8"/>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53" name="Rectangle 6"/>
          <p:cNvSpPr/>
          <p:nvPr/>
        </p:nvSpPr>
        <p:spPr>
          <a:xfrm>
            <a:off x="548638" y="1024127"/>
            <a:ext cx="1097284"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7"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58"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59"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560"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BACKUP</a:t>
            </a:r>
          </a:p>
        </p:txBody>
      </p:sp>
      <p:sp>
        <p:nvSpPr>
          <p:cNvPr id="561" name="TextBox 276"/>
          <p:cNvSpPr txBox="1"/>
          <p:nvPr/>
        </p:nvSpPr>
        <p:spPr>
          <a:xfrm>
            <a:off x="640079" y="384047"/>
            <a:ext cx="10908794" cy="43766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defRPr>
            </a:lvl1pPr>
          </a:lstStyle>
          <a:p>
            <a:pPr/>
            <a:r>
              <a:t>¿Qué aísla realmente DINOv2?</a:t>
            </a:r>
          </a:p>
        </p:txBody>
      </p:sp>
      <p:sp>
        <p:nvSpPr>
          <p:cNvPr id="562" name="TextBox 277"/>
          <p:cNvSpPr txBox="1"/>
          <p:nvPr/>
        </p:nvSpPr>
        <p:spPr>
          <a:xfrm>
            <a:off x="640079" y="1188719"/>
            <a:ext cx="10908794" cy="28079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400">
                <a:solidFill>
                  <a:srgbClr val="4D0912"/>
                </a:solidFill>
              </a:defRPr>
            </a:lvl1pPr>
          </a:lstStyle>
          <a:p>
            <a:pPr/>
            <a:r>
              <a:t>DINOv2 permite una descomposición parcial, no causal perfecta.</a:t>
            </a:r>
          </a:p>
        </p:txBody>
      </p:sp>
      <p:sp>
        <p:nvSpPr>
          <p:cNvPr id="563" name="Rectangle 281"/>
          <p:cNvSpPr/>
          <p:nvPr/>
        </p:nvSpPr>
        <p:spPr>
          <a:xfrm>
            <a:off x="594357" y="6355079"/>
            <a:ext cx="11000239" cy="18292"/>
          </a:xfrm>
          <a:prstGeom prst="rect">
            <a:avLst/>
          </a:prstGeom>
          <a:solidFill>
            <a:srgbClr val="E5D0A0"/>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Helvetica"/>
              </a:defRPr>
            </a:pPr>
          </a:p>
        </p:txBody>
      </p:sp>
      <p:graphicFrame>
        <p:nvGraphicFramePr>
          <p:cNvPr id="564" name="Table 508"/>
          <p:cNvGraphicFramePr/>
          <p:nvPr/>
        </p:nvGraphicFramePr>
        <p:xfrm>
          <a:off x="594359" y="1920238"/>
          <a:ext cx="11000230" cy="2468883"/>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2926080"/>
                <a:gridCol w="2018537"/>
                <a:gridCol w="2018537"/>
                <a:gridCol w="2018537"/>
                <a:gridCol w="2018537"/>
              </a:tblGrid>
              <a:tr h="617220">
                <a:tc>
                  <a:txBody>
                    <a:bodyPr/>
                    <a:lstStyle/>
                    <a:p>
                      <a:pPr algn="l">
                        <a:defRPr b="0" sz="1800">
                          <a:solidFill>
                            <a:srgbClr val="000000"/>
                          </a:solidFill>
                        </a:defRPr>
                      </a:pPr>
                      <a:r>
                        <a:rPr b="1" sz="1300">
                          <a:solidFill>
                            <a:srgbClr val="FFFFFF"/>
                          </a:solidFill>
                          <a:latin typeface="+mn-lt"/>
                          <a:ea typeface="+mn-ea"/>
                          <a:cs typeface="+mn-cs"/>
                        </a:rPr>
                        <a:t>Comparación</a:t>
                      </a:r>
                    </a:p>
                  </a:txBody>
                  <a:tcPr marL="36576" marR="36576" marT="36576" marB="36576" anchor="t" anchorCtr="0" horzOverflow="overflow">
                    <a:solidFill>
                      <a:srgbClr val="4D0912"/>
                    </a:solidFill>
                  </a:tcPr>
                </a:tc>
                <a:tc>
                  <a:txBody>
                    <a:bodyPr/>
                    <a:lstStyle/>
                    <a:p>
                      <a:pPr algn="ctr">
                        <a:defRPr b="0" sz="1800">
                          <a:solidFill>
                            <a:srgbClr val="000000"/>
                          </a:solidFill>
                        </a:defRPr>
                      </a:pPr>
                      <a:r>
                        <a:rPr b="1" sz="1300">
                          <a:solidFill>
                            <a:srgbClr val="FFFFFF"/>
                          </a:solidFill>
                          <a:latin typeface="+mn-lt"/>
                          <a:ea typeface="+mn-ea"/>
                          <a:cs typeface="+mn-cs"/>
                        </a:rPr>
                        <a:t>Arquitectura</a:t>
                      </a:r>
                    </a:p>
                  </a:txBody>
                  <a:tcPr marL="36576" marR="36576" marT="36576" marB="36576" anchor="t" anchorCtr="0" horzOverflow="overflow">
                    <a:solidFill>
                      <a:srgbClr val="4D0912"/>
                    </a:solidFill>
                  </a:tcPr>
                </a:tc>
                <a:tc>
                  <a:txBody>
                    <a:bodyPr/>
                    <a:lstStyle/>
                    <a:p>
                      <a:pPr algn="ctr">
                        <a:defRPr b="0" sz="1800">
                          <a:solidFill>
                            <a:srgbClr val="000000"/>
                          </a:solidFill>
                        </a:defRPr>
                      </a:pPr>
                      <a:r>
                        <a:rPr b="1" sz="1300">
                          <a:solidFill>
                            <a:srgbClr val="FFFFFF"/>
                          </a:solidFill>
                          <a:latin typeface="+mn-lt"/>
                          <a:ea typeface="+mn-ea"/>
                          <a:cs typeface="+mn-cs"/>
                        </a:rPr>
                        <a:t>Objetivo</a:t>
                      </a:r>
                    </a:p>
                  </a:txBody>
                  <a:tcPr marL="36576" marR="36576" marT="36576" marB="36576" anchor="t" anchorCtr="0" horzOverflow="overflow">
                    <a:solidFill>
                      <a:srgbClr val="4D0912"/>
                    </a:solidFill>
                  </a:tcPr>
                </a:tc>
                <a:tc>
                  <a:txBody>
                    <a:bodyPr/>
                    <a:lstStyle/>
                    <a:p>
                      <a:pPr algn="ctr">
                        <a:defRPr b="0" sz="1800">
                          <a:solidFill>
                            <a:srgbClr val="000000"/>
                          </a:solidFill>
                        </a:defRPr>
                      </a:pPr>
                      <a:r>
                        <a:rPr b="1" sz="1300">
                          <a:solidFill>
                            <a:srgbClr val="FFFFFF"/>
                          </a:solidFill>
                          <a:latin typeface="+mn-lt"/>
                          <a:ea typeface="+mn-ea"/>
                          <a:cs typeface="+mn-cs"/>
                        </a:rPr>
                        <a:t>Dominio</a:t>
                      </a:r>
                    </a:p>
                  </a:txBody>
                  <a:tcPr marL="36576" marR="36576" marT="36576" marB="36576" anchor="t" anchorCtr="0" horzOverflow="overflow">
                    <a:solidFill>
                      <a:srgbClr val="4D0912"/>
                    </a:solidFill>
                  </a:tcPr>
                </a:tc>
                <a:tc>
                  <a:txBody>
                    <a:bodyPr/>
                    <a:lstStyle/>
                    <a:p>
                      <a:pPr algn="ctr">
                        <a:defRPr b="0" sz="1800">
                          <a:solidFill>
                            <a:srgbClr val="000000"/>
                          </a:solidFill>
                        </a:defRPr>
                      </a:pPr>
                      <a:r>
                        <a:rPr b="1" sz="1300">
                          <a:solidFill>
                            <a:srgbClr val="FFFFFF"/>
                          </a:solidFill>
                          <a:latin typeface="+mn-lt"/>
                          <a:ea typeface="+mn-ea"/>
                          <a:cs typeface="+mn-cs"/>
                        </a:rPr>
                        <a:t>Patch size</a:t>
                      </a:r>
                    </a:p>
                  </a:txBody>
                  <a:tcPr marL="36576" marR="36576" marT="36576" marB="36576" anchor="t" anchorCtr="0" horzOverflow="overflow">
                    <a:solidFill>
                      <a:srgbClr val="4D0912"/>
                    </a:solidFill>
                  </a:tcPr>
                </a:tc>
              </a:tr>
              <a:tr h="617220">
                <a:tc>
                  <a:txBody>
                    <a:bodyPr/>
                    <a:lstStyle/>
                    <a:p>
                      <a:pPr algn="l">
                        <a:defRPr sz="1800"/>
                      </a:pPr>
                      <a:r>
                        <a:rPr b="1" sz="1400">
                          <a:solidFill>
                            <a:srgbClr val="4D0912"/>
                          </a:solidFill>
                          <a:latin typeface="+mn-lt"/>
                          <a:ea typeface="+mn-ea"/>
                          <a:cs typeface="+mn-cs"/>
                        </a:rPr>
                        <a:t>ResNet50 → PLIP</a:t>
                      </a:r>
                    </a:p>
                  </a:txBody>
                  <a:tcPr marL="36576" marR="36576" marT="36576" marB="36576" anchor="t" anchorCtr="0" horzOverflow="overflow">
                    <a:solidFill>
                      <a:srgbClr val="FFFCF3"/>
                    </a:solidFill>
                  </a:tcPr>
                </a:tc>
                <a:tc>
                  <a:txBody>
                    <a:bodyPr/>
                    <a:lstStyle/>
                    <a:p>
                      <a:pPr algn="ctr">
                        <a:defRPr sz="1800"/>
                      </a:pPr>
                      <a:r>
                        <a:rPr b="1" sz="2000">
                          <a:solidFill>
                            <a:srgbClr val="B02020"/>
                          </a:solidFill>
                          <a:latin typeface="+mn-lt"/>
                          <a:ea typeface="+mn-ea"/>
                          <a:cs typeface="+mn-cs"/>
                        </a:rPr>
                        <a:t>✗</a:t>
                      </a:r>
                    </a:p>
                  </a:txBody>
                  <a:tcPr marL="36576" marR="36576" marT="36576" marB="36576" anchor="t" anchorCtr="0" horzOverflow="overflow">
                    <a:solidFill>
                      <a:srgbClr val="FFFCF3"/>
                    </a:solidFill>
                  </a:tcPr>
                </a:tc>
                <a:tc>
                  <a:txBody>
                    <a:bodyPr/>
                    <a:lstStyle/>
                    <a:p>
                      <a:pPr algn="ctr">
                        <a:defRPr sz="1800"/>
                      </a:pPr>
                      <a:r>
                        <a:rPr b="1" sz="2000">
                          <a:solidFill>
                            <a:srgbClr val="B02020"/>
                          </a:solidFill>
                          <a:latin typeface="+mn-lt"/>
                          <a:ea typeface="+mn-ea"/>
                          <a:cs typeface="+mn-cs"/>
                        </a:rPr>
                        <a:t>✗</a:t>
                      </a:r>
                    </a:p>
                  </a:txBody>
                  <a:tcPr marL="36576" marR="36576" marT="36576" marB="36576" anchor="t" anchorCtr="0" horzOverflow="overflow">
                    <a:solidFill>
                      <a:srgbClr val="FFFCF3"/>
                    </a:solidFill>
                  </a:tcPr>
                </a:tc>
                <a:tc>
                  <a:txBody>
                    <a:bodyPr/>
                    <a:lstStyle/>
                    <a:p>
                      <a:pPr algn="ctr">
                        <a:defRPr sz="1800"/>
                      </a:pPr>
                      <a:r>
                        <a:rPr b="1" sz="2000">
                          <a:solidFill>
                            <a:srgbClr val="B02020"/>
                          </a:solidFill>
                          <a:latin typeface="+mn-lt"/>
                          <a:ea typeface="+mn-ea"/>
                          <a:cs typeface="+mn-cs"/>
                        </a:rPr>
                        <a:t>✗</a:t>
                      </a:r>
                    </a:p>
                  </a:txBody>
                  <a:tcPr marL="36576" marR="36576" marT="36576" marB="36576" anchor="t" anchorCtr="0" horzOverflow="overflow">
                    <a:solidFill>
                      <a:srgbClr val="FFFCF3"/>
                    </a:solidFill>
                  </a:tcPr>
                </a:tc>
                <a:tc>
                  <a:txBody>
                    <a:bodyPr/>
                    <a:lstStyle/>
                    <a:p>
                      <a:pPr algn="ctr">
                        <a:defRPr sz="1800"/>
                      </a:pPr>
                      <a:r>
                        <a:rPr b="1" sz="2000">
                          <a:solidFill>
                            <a:srgbClr val="B02020"/>
                          </a:solidFill>
                          <a:latin typeface="+mn-lt"/>
                          <a:ea typeface="+mn-ea"/>
                          <a:cs typeface="+mn-cs"/>
                        </a:rPr>
                        <a:t>✗</a:t>
                      </a:r>
                    </a:p>
                  </a:txBody>
                  <a:tcPr marL="36576" marR="36576" marT="36576" marB="36576" anchor="t" anchorCtr="0" horzOverflow="overflow">
                    <a:solidFill>
                      <a:srgbClr val="FFFCF3"/>
                    </a:solidFill>
                  </a:tcPr>
                </a:tc>
              </a:tr>
              <a:tr h="617220">
                <a:tc>
                  <a:txBody>
                    <a:bodyPr/>
                    <a:lstStyle/>
                    <a:p>
                      <a:pPr algn="l">
                        <a:defRPr sz="1800"/>
                      </a:pPr>
                      <a:r>
                        <a:rPr b="1" sz="1400">
                          <a:solidFill>
                            <a:srgbClr val="4D0912"/>
                          </a:solidFill>
                          <a:latin typeface="+mn-lt"/>
                          <a:ea typeface="+mn-ea"/>
                          <a:cs typeface="+mn-cs"/>
                        </a:rPr>
                        <a:t>ResNet50 → DINOv2</a:t>
                      </a:r>
                    </a:p>
                  </a:txBody>
                  <a:tcPr marL="36576" marR="36576" marT="36576" marB="36576" anchor="t" anchorCtr="0" horzOverflow="overflow">
                    <a:solidFill>
                      <a:srgbClr val="F5EED8"/>
                    </a:solidFill>
                  </a:tcPr>
                </a:tc>
                <a:tc>
                  <a:txBody>
                    <a:bodyPr/>
                    <a:lstStyle/>
                    <a:p>
                      <a:pPr algn="ctr">
                        <a:defRPr sz="1800"/>
                      </a:pPr>
                      <a:r>
                        <a:rPr b="1" sz="2000">
                          <a:solidFill>
                            <a:srgbClr val="B02020"/>
                          </a:solidFill>
                          <a:latin typeface="+mn-lt"/>
                          <a:ea typeface="+mn-ea"/>
                          <a:cs typeface="+mn-cs"/>
                        </a:rPr>
                        <a:t>✗</a:t>
                      </a:r>
                    </a:p>
                  </a:txBody>
                  <a:tcPr marL="36576" marR="36576" marT="36576" marB="36576" anchor="t" anchorCtr="0" horzOverflow="overflow">
                    <a:solidFill>
                      <a:srgbClr val="F5EED8"/>
                    </a:solidFill>
                  </a:tcPr>
                </a:tc>
                <a:tc>
                  <a:txBody>
                    <a:bodyPr/>
                    <a:lstStyle/>
                    <a:p>
                      <a:pPr algn="ctr">
                        <a:defRPr sz="1800"/>
                      </a:pPr>
                      <a:r>
                        <a:rPr b="1" sz="2000">
                          <a:solidFill>
                            <a:srgbClr val="B02020"/>
                          </a:solidFill>
                          <a:latin typeface="+mn-lt"/>
                          <a:ea typeface="+mn-ea"/>
                          <a:cs typeface="+mn-cs"/>
                        </a:rPr>
                        <a:t>✗</a:t>
                      </a:r>
                    </a:p>
                  </a:txBody>
                  <a:tcPr marL="36576" marR="36576" marT="36576" marB="36576" anchor="t" anchorCtr="0" horzOverflow="overflow">
                    <a:solidFill>
                      <a:srgbClr val="F5EED8"/>
                    </a:solidFill>
                  </a:tcPr>
                </a:tc>
                <a:tc>
                  <a:txBody>
                    <a:bodyPr/>
                    <a:lstStyle/>
                    <a:p>
                      <a:pPr algn="ctr">
                        <a:defRPr sz="1800"/>
                      </a:pPr>
                      <a:r>
                        <a:rPr b="1" sz="2000">
                          <a:solidFill>
                            <a:srgbClr val="3C7A5E"/>
                          </a:solidFill>
                          <a:latin typeface="+mn-lt"/>
                          <a:ea typeface="+mn-ea"/>
                          <a:cs typeface="+mn-cs"/>
                        </a:rPr>
                        <a:t>✓ natural</a:t>
                      </a:r>
                    </a:p>
                  </a:txBody>
                  <a:tcPr marL="36576" marR="36576" marT="36576" marB="36576" anchor="t" anchorCtr="0" horzOverflow="overflow">
                    <a:solidFill>
                      <a:srgbClr val="F5EED8"/>
                    </a:solidFill>
                  </a:tcPr>
                </a:tc>
                <a:tc>
                  <a:txBody>
                    <a:bodyPr/>
                    <a:lstStyle/>
                    <a:p>
                      <a:pPr algn="ctr">
                        <a:defRPr sz="1800"/>
                      </a:pPr>
                      <a:r>
                        <a:rPr b="1" sz="2000">
                          <a:solidFill>
                            <a:srgbClr val="B02020"/>
                          </a:solidFill>
                          <a:latin typeface="+mn-lt"/>
                          <a:ea typeface="+mn-ea"/>
                          <a:cs typeface="+mn-cs"/>
                        </a:rPr>
                        <a:t>✗</a:t>
                      </a:r>
                    </a:p>
                  </a:txBody>
                  <a:tcPr marL="36576" marR="36576" marT="36576" marB="36576" anchor="t" anchorCtr="0" horzOverflow="overflow">
                    <a:solidFill>
                      <a:srgbClr val="F5EED8"/>
                    </a:solidFill>
                  </a:tcPr>
                </a:tc>
              </a:tr>
              <a:tr h="617220">
                <a:tc>
                  <a:txBody>
                    <a:bodyPr/>
                    <a:lstStyle/>
                    <a:p>
                      <a:pPr algn="l">
                        <a:defRPr sz="1800"/>
                      </a:pPr>
                      <a:r>
                        <a:rPr b="1" sz="1400">
                          <a:solidFill>
                            <a:srgbClr val="4D0912"/>
                          </a:solidFill>
                          <a:latin typeface="+mn-lt"/>
                          <a:ea typeface="+mn-ea"/>
                          <a:cs typeface="+mn-cs"/>
                        </a:rPr>
                        <a:t>DINOv2 → PLIP</a:t>
                      </a:r>
                    </a:p>
                  </a:txBody>
                  <a:tcPr marL="36576" marR="36576" marT="36576" marB="36576" anchor="t" anchorCtr="0" horzOverflow="overflow">
                    <a:solidFill>
                      <a:srgbClr val="FFFCF3"/>
                    </a:solidFill>
                  </a:tcPr>
                </a:tc>
                <a:tc>
                  <a:txBody>
                    <a:bodyPr/>
                    <a:lstStyle/>
                    <a:p>
                      <a:pPr algn="ctr">
                        <a:defRPr sz="1800"/>
                      </a:pPr>
                      <a:r>
                        <a:rPr b="1" sz="2000">
                          <a:solidFill>
                            <a:srgbClr val="3C7A5E"/>
                          </a:solidFill>
                          <a:latin typeface="+mn-lt"/>
                          <a:ea typeface="+mn-ea"/>
                          <a:cs typeface="+mn-cs"/>
                        </a:rPr>
                        <a:t>✓ familia ViT</a:t>
                      </a:r>
                    </a:p>
                  </a:txBody>
                  <a:tcPr marL="36576" marR="36576" marT="36576" marB="36576" anchor="t" anchorCtr="0" horzOverflow="overflow">
                    <a:solidFill>
                      <a:srgbClr val="FFFCF3"/>
                    </a:solidFill>
                  </a:tcPr>
                </a:tc>
                <a:tc>
                  <a:txBody>
                    <a:bodyPr/>
                    <a:lstStyle/>
                    <a:p>
                      <a:pPr algn="ctr">
                        <a:defRPr sz="1800"/>
                      </a:pPr>
                      <a:r>
                        <a:rPr b="1" sz="2000">
                          <a:solidFill>
                            <a:srgbClr val="B02020"/>
                          </a:solidFill>
                          <a:latin typeface="+mn-lt"/>
                          <a:ea typeface="+mn-ea"/>
                          <a:cs typeface="+mn-cs"/>
                        </a:rPr>
                        <a:t>✗</a:t>
                      </a:r>
                    </a:p>
                  </a:txBody>
                  <a:tcPr marL="36576" marR="36576" marT="36576" marB="36576" anchor="t" anchorCtr="0" horzOverflow="overflow">
                    <a:solidFill>
                      <a:srgbClr val="FFFCF3"/>
                    </a:solidFill>
                  </a:tcPr>
                </a:tc>
                <a:tc>
                  <a:txBody>
                    <a:bodyPr/>
                    <a:lstStyle/>
                    <a:p>
                      <a:pPr algn="ctr">
                        <a:defRPr sz="1800"/>
                      </a:pPr>
                      <a:r>
                        <a:rPr b="1" sz="2000">
                          <a:solidFill>
                            <a:srgbClr val="B02020"/>
                          </a:solidFill>
                          <a:latin typeface="+mn-lt"/>
                          <a:ea typeface="+mn-ea"/>
                          <a:cs typeface="+mn-cs"/>
                        </a:rPr>
                        <a:t>✗</a:t>
                      </a:r>
                    </a:p>
                  </a:txBody>
                  <a:tcPr marL="36576" marR="36576" marT="36576" marB="36576" anchor="t" anchorCtr="0" horzOverflow="overflow">
                    <a:solidFill>
                      <a:srgbClr val="FFFCF3"/>
                    </a:solidFill>
                  </a:tcPr>
                </a:tc>
                <a:tc>
                  <a:txBody>
                    <a:bodyPr/>
                    <a:lstStyle/>
                    <a:p>
                      <a:pPr algn="ctr">
                        <a:defRPr sz="1800"/>
                      </a:pPr>
                      <a:r>
                        <a:rPr b="1" sz="2000">
                          <a:solidFill>
                            <a:srgbClr val="B02020"/>
                          </a:solidFill>
                          <a:latin typeface="+mn-lt"/>
                          <a:ea typeface="+mn-ea"/>
                          <a:cs typeface="+mn-cs"/>
                        </a:rPr>
                        <a:t>✗ (14→32)</a:t>
                      </a:r>
                    </a:p>
                  </a:txBody>
                  <a:tcPr marL="36576" marR="36576" marT="36576" marB="36576" anchor="t" anchorCtr="0" horzOverflow="overflow">
                    <a:solidFill>
                      <a:srgbClr val="FFFCF3"/>
                    </a:solidFill>
                  </a:tcPr>
                </a:tc>
              </a:tr>
            </a:tbl>
          </a:graphicData>
        </a:graphic>
      </p:graphicFrame>
      <p:sp>
        <p:nvSpPr>
          <p:cNvPr id="565" name="TextBox 509"/>
          <p:cNvSpPr txBox="1"/>
          <p:nvPr/>
        </p:nvSpPr>
        <p:spPr>
          <a:xfrm>
            <a:off x="594359" y="4480560"/>
            <a:ext cx="11000235" cy="30108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1300">
                <a:solidFill>
                  <a:srgbClr val="3C2814"/>
                </a:solidFill>
              </a:defRPr>
            </a:lvl1pPr>
          </a:lstStyle>
          <a:p>
            <a:pPr/>
            <a:r>
              <a:t>✓  = constante (buena aislamiento)      ✗  = cambia (posible confound)</a:t>
            </a:r>
          </a:p>
        </p:txBody>
      </p:sp>
      <p:sp>
        <p:nvSpPr>
          <p:cNvPr id="566" name="TextBox 510"/>
          <p:cNvSpPr txBox="1"/>
          <p:nvPr/>
        </p:nvSpPr>
        <p:spPr>
          <a:xfrm>
            <a:off x="594359" y="4983480"/>
            <a:ext cx="11000235"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500">
                <a:solidFill>
                  <a:srgbClr val="4D0912"/>
                </a:solidFill>
              </a:defRPr>
            </a:lvl1pPr>
          </a:lstStyle>
          <a:p>
            <a:pPr/>
            <a:r>
              <a:t>DINOv2 no aísla el dominio: separa el salto en dos comparaciones más interpretables.</a:t>
            </a:r>
          </a:p>
        </p:txBody>
      </p:sp>
      <p:sp>
        <p:nvSpPr>
          <p:cNvPr id="567" name="Rectangle 511"/>
          <p:cNvSpPr/>
          <p:nvPr/>
        </p:nvSpPr>
        <p:spPr>
          <a:xfrm>
            <a:off x="594359" y="6355079"/>
            <a:ext cx="11000235" cy="18290"/>
          </a:xfrm>
          <a:prstGeom prst="rect">
            <a:avLst/>
          </a:prstGeom>
          <a:solidFill>
            <a:srgbClr val="EBD9A8"/>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68" name="Rectangle 6"/>
          <p:cNvSpPr/>
          <p:nvPr/>
        </p:nvSpPr>
        <p:spPr>
          <a:xfrm>
            <a:off x="548638" y="1024127"/>
            <a:ext cx="1097284"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2"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73"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74"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575"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BACKUP</a:t>
            </a:r>
          </a:p>
        </p:txBody>
      </p:sp>
      <p:sp>
        <p:nvSpPr>
          <p:cNvPr id="576" name="TextBox 276"/>
          <p:cNvSpPr txBox="1"/>
          <p:nvPr/>
        </p:nvSpPr>
        <p:spPr>
          <a:xfrm>
            <a:off x="640079" y="384046"/>
            <a:ext cx="10908794" cy="43766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defRPr>
            </a:lvl1pPr>
          </a:lstStyle>
          <a:p>
            <a:pPr/>
            <a:r>
              <a:t>¿Cómo funciona Macenko?</a:t>
            </a:r>
          </a:p>
        </p:txBody>
      </p:sp>
      <p:sp>
        <p:nvSpPr>
          <p:cNvPr id="577" name="TextBox 277"/>
          <p:cNvSpPr txBox="1"/>
          <p:nvPr/>
        </p:nvSpPr>
        <p:spPr>
          <a:xfrm>
            <a:off x="640079" y="1188719"/>
            <a:ext cx="10908794" cy="307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400">
                <a:solidFill>
                  <a:srgbClr val="4D0912"/>
                </a:solidFill>
                <a:latin typeface="+mj-lt"/>
                <a:ea typeface="+mj-ea"/>
                <a:cs typeface="+mj-cs"/>
                <a:sym typeface="Helvetica"/>
              </a:defRPr>
            </a:lvl1pPr>
          </a:lstStyle>
          <a:p>
            <a:pPr/>
            <a:r>
              <a:t>Aprende vectores H&amp;E del input, conserva concentraciones, re-renderiza con paleta de referencia.</a:t>
            </a:r>
          </a:p>
        </p:txBody>
      </p:sp>
      <p:sp>
        <p:nvSpPr>
          <p:cNvPr id="578" name="Rounded Rectangle 518"/>
          <p:cNvSpPr/>
          <p:nvPr/>
        </p:nvSpPr>
        <p:spPr>
          <a:xfrm>
            <a:off x="790955" y="1874517"/>
            <a:ext cx="1554482" cy="685802"/>
          </a:xfrm>
          <a:prstGeom prst="roundRect">
            <a:avLst>
              <a:gd name="adj" fmla="val 12000"/>
            </a:avLst>
          </a:prstGeom>
          <a:solidFill>
            <a:srgbClr val="F5EED8"/>
          </a:solidFill>
          <a:ln w="15240">
            <a:solidFill>
              <a:srgbClr val="4D0912"/>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79" name="TextBox 519"/>
          <p:cNvSpPr txBox="1"/>
          <p:nvPr/>
        </p:nvSpPr>
        <p:spPr>
          <a:xfrm>
            <a:off x="836674" y="1947673"/>
            <a:ext cx="1463042" cy="2582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300">
                <a:solidFill>
                  <a:srgbClr val="4D0912"/>
                </a:solidFill>
              </a:defRPr>
            </a:lvl1pPr>
          </a:lstStyle>
          <a:p>
            <a:pPr/>
            <a:r>
              <a:t>RGB</a:t>
            </a:r>
          </a:p>
        </p:txBody>
      </p:sp>
      <p:sp>
        <p:nvSpPr>
          <p:cNvPr id="580" name="TextBox 520"/>
          <p:cNvSpPr txBox="1"/>
          <p:nvPr/>
        </p:nvSpPr>
        <p:spPr>
          <a:xfrm>
            <a:off x="836674" y="2240278"/>
            <a:ext cx="1463042" cy="20591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900">
                <a:solidFill>
                  <a:srgbClr val="826540"/>
                </a:solidFill>
              </a:defRPr>
            </a:lvl1pPr>
          </a:lstStyle>
          <a:p>
            <a:pPr/>
            <a:r>
              <a:t>imagen original</a:t>
            </a:r>
          </a:p>
        </p:txBody>
      </p:sp>
      <p:sp>
        <p:nvSpPr>
          <p:cNvPr id="581" name="Right Arrow 521"/>
          <p:cNvSpPr/>
          <p:nvPr/>
        </p:nvSpPr>
        <p:spPr>
          <a:xfrm>
            <a:off x="2363722" y="2148838"/>
            <a:ext cx="256034" cy="164594"/>
          </a:xfrm>
          <a:prstGeom prst="rightArrow">
            <a:avLst>
              <a:gd name="adj1" fmla="val 35000"/>
              <a:gd name="adj2" fmla="val 40000"/>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82" name="Rounded Rectangle 522"/>
          <p:cNvSpPr/>
          <p:nvPr/>
        </p:nvSpPr>
        <p:spPr>
          <a:xfrm>
            <a:off x="2601466" y="1874517"/>
            <a:ext cx="1554482" cy="685802"/>
          </a:xfrm>
          <a:prstGeom prst="roundRect">
            <a:avLst>
              <a:gd name="adj" fmla="val 12000"/>
            </a:avLst>
          </a:prstGeom>
          <a:solidFill>
            <a:srgbClr val="F5EED8"/>
          </a:solidFill>
          <a:ln w="15240">
            <a:solidFill>
              <a:srgbClr val="4D0912"/>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83" name="TextBox 523"/>
          <p:cNvSpPr txBox="1"/>
          <p:nvPr/>
        </p:nvSpPr>
        <p:spPr>
          <a:xfrm>
            <a:off x="2647188" y="1947673"/>
            <a:ext cx="1463041" cy="2582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300">
                <a:solidFill>
                  <a:srgbClr val="4D0912"/>
                </a:solidFill>
              </a:defRPr>
            </a:lvl1pPr>
          </a:lstStyle>
          <a:p>
            <a:pPr/>
            <a:r>
              <a:t>OD</a:t>
            </a:r>
          </a:p>
        </p:txBody>
      </p:sp>
      <p:sp>
        <p:nvSpPr>
          <p:cNvPr id="584" name="TextBox 524"/>
          <p:cNvSpPr txBox="1"/>
          <p:nvPr/>
        </p:nvSpPr>
        <p:spPr>
          <a:xfrm>
            <a:off x="2647188" y="2240278"/>
            <a:ext cx="1463041" cy="20591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900">
                <a:solidFill>
                  <a:srgbClr val="826540"/>
                </a:solidFill>
              </a:defRPr>
            </a:lvl1pPr>
          </a:lstStyle>
          <a:p>
            <a:pPr/>
            <a:r>
              <a:t>log₁₀ inverso</a:t>
            </a:r>
          </a:p>
        </p:txBody>
      </p:sp>
      <p:sp>
        <p:nvSpPr>
          <p:cNvPr id="585" name="Right Arrow 525"/>
          <p:cNvSpPr/>
          <p:nvPr/>
        </p:nvSpPr>
        <p:spPr>
          <a:xfrm>
            <a:off x="4174235" y="2148838"/>
            <a:ext cx="256034" cy="164594"/>
          </a:xfrm>
          <a:prstGeom prst="rightArrow">
            <a:avLst>
              <a:gd name="adj1" fmla="val 35000"/>
              <a:gd name="adj2" fmla="val 40000"/>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86" name="Rounded Rectangle 526"/>
          <p:cNvSpPr/>
          <p:nvPr/>
        </p:nvSpPr>
        <p:spPr>
          <a:xfrm>
            <a:off x="4411979" y="1874517"/>
            <a:ext cx="1554482" cy="685802"/>
          </a:xfrm>
          <a:prstGeom prst="roundRect">
            <a:avLst>
              <a:gd name="adj" fmla="val 12000"/>
            </a:avLst>
          </a:prstGeom>
          <a:solidFill>
            <a:srgbClr val="F5EED8"/>
          </a:solidFill>
          <a:ln w="15240">
            <a:solidFill>
              <a:srgbClr val="4D0912"/>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87" name="TextBox 527"/>
          <p:cNvSpPr txBox="1"/>
          <p:nvPr/>
        </p:nvSpPr>
        <p:spPr>
          <a:xfrm>
            <a:off x="4457700" y="1947673"/>
            <a:ext cx="1463039" cy="2582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300">
                <a:solidFill>
                  <a:srgbClr val="4D0912"/>
                </a:solidFill>
              </a:defRPr>
            </a:lvl1pPr>
          </a:lstStyle>
          <a:p>
            <a:pPr/>
            <a:r>
              <a:t>H · E</a:t>
            </a:r>
          </a:p>
        </p:txBody>
      </p:sp>
      <p:sp>
        <p:nvSpPr>
          <p:cNvPr id="588" name="TextBox 528"/>
          <p:cNvSpPr txBox="1"/>
          <p:nvPr/>
        </p:nvSpPr>
        <p:spPr>
          <a:xfrm>
            <a:off x="4457700" y="2240278"/>
            <a:ext cx="1463039" cy="20591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900">
                <a:solidFill>
                  <a:srgbClr val="826540"/>
                </a:solidFill>
              </a:defRPr>
            </a:lvl1pPr>
          </a:lstStyle>
          <a:p>
            <a:pPr/>
            <a:r>
              <a:t>SVD stain vectors</a:t>
            </a:r>
          </a:p>
        </p:txBody>
      </p:sp>
      <p:sp>
        <p:nvSpPr>
          <p:cNvPr id="589" name="Right Arrow 529"/>
          <p:cNvSpPr/>
          <p:nvPr/>
        </p:nvSpPr>
        <p:spPr>
          <a:xfrm>
            <a:off x="5984747" y="2148838"/>
            <a:ext cx="256034" cy="164594"/>
          </a:xfrm>
          <a:prstGeom prst="rightArrow">
            <a:avLst>
              <a:gd name="adj1" fmla="val 35000"/>
              <a:gd name="adj2" fmla="val 40000"/>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90" name="Rounded Rectangle 530"/>
          <p:cNvSpPr/>
          <p:nvPr/>
        </p:nvSpPr>
        <p:spPr>
          <a:xfrm>
            <a:off x="6222491" y="1874517"/>
            <a:ext cx="1554482" cy="685802"/>
          </a:xfrm>
          <a:prstGeom prst="roundRect">
            <a:avLst>
              <a:gd name="adj" fmla="val 12000"/>
            </a:avLst>
          </a:prstGeom>
          <a:solidFill>
            <a:srgbClr val="F5EED8"/>
          </a:solidFill>
          <a:ln w="15240">
            <a:solidFill>
              <a:srgbClr val="4D0912"/>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91" name="TextBox 531"/>
          <p:cNvSpPr txBox="1"/>
          <p:nvPr/>
        </p:nvSpPr>
        <p:spPr>
          <a:xfrm>
            <a:off x="6268210" y="1947673"/>
            <a:ext cx="1463041" cy="2582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300">
                <a:solidFill>
                  <a:srgbClr val="4D0912"/>
                </a:solidFill>
              </a:defRPr>
            </a:lvl1pPr>
          </a:lstStyle>
          <a:p>
            <a:pPr/>
            <a:r>
              <a:t>C fija</a:t>
            </a:r>
          </a:p>
        </p:txBody>
      </p:sp>
      <p:sp>
        <p:nvSpPr>
          <p:cNvPr id="592" name="TextBox 532"/>
          <p:cNvSpPr txBox="1"/>
          <p:nvPr/>
        </p:nvSpPr>
        <p:spPr>
          <a:xfrm>
            <a:off x="6268210" y="2240278"/>
            <a:ext cx="1463041" cy="20591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900">
                <a:solidFill>
                  <a:srgbClr val="826540"/>
                </a:solidFill>
              </a:defRPr>
            </a:lvl1pPr>
          </a:lstStyle>
          <a:p>
            <a:pPr/>
            <a:r>
              <a:t>concentraciones</a:t>
            </a:r>
          </a:p>
        </p:txBody>
      </p:sp>
      <p:sp>
        <p:nvSpPr>
          <p:cNvPr id="593" name="Right Arrow 533"/>
          <p:cNvSpPr/>
          <p:nvPr/>
        </p:nvSpPr>
        <p:spPr>
          <a:xfrm>
            <a:off x="7795259" y="2148838"/>
            <a:ext cx="256034" cy="164594"/>
          </a:xfrm>
          <a:prstGeom prst="rightArrow">
            <a:avLst>
              <a:gd name="adj1" fmla="val 35000"/>
              <a:gd name="adj2" fmla="val 40000"/>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94" name="Rounded Rectangle 534"/>
          <p:cNvSpPr/>
          <p:nvPr/>
        </p:nvSpPr>
        <p:spPr>
          <a:xfrm>
            <a:off x="8033004" y="1874517"/>
            <a:ext cx="1554482" cy="685802"/>
          </a:xfrm>
          <a:prstGeom prst="roundRect">
            <a:avLst>
              <a:gd name="adj" fmla="val 12000"/>
            </a:avLst>
          </a:prstGeom>
          <a:solidFill>
            <a:srgbClr val="F5EED8"/>
          </a:solidFill>
          <a:ln w="15240">
            <a:solidFill>
              <a:srgbClr val="4D0912"/>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95" name="TextBox 535"/>
          <p:cNvSpPr txBox="1"/>
          <p:nvPr/>
        </p:nvSpPr>
        <p:spPr>
          <a:xfrm>
            <a:off x="8078723" y="1947673"/>
            <a:ext cx="1463041" cy="2582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300">
                <a:solidFill>
                  <a:srgbClr val="4D0912"/>
                </a:solidFill>
              </a:defRPr>
            </a:lvl1pPr>
          </a:lstStyle>
          <a:p>
            <a:pPr/>
            <a:r>
              <a:t>paleta ref.</a:t>
            </a:r>
          </a:p>
        </p:txBody>
      </p:sp>
      <p:sp>
        <p:nvSpPr>
          <p:cNvPr id="596" name="TextBox 536"/>
          <p:cNvSpPr txBox="1"/>
          <p:nvPr/>
        </p:nvSpPr>
        <p:spPr>
          <a:xfrm>
            <a:off x="8078723" y="2240278"/>
            <a:ext cx="1463041" cy="20591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900">
                <a:solidFill>
                  <a:srgbClr val="826540"/>
                </a:solidFill>
              </a:defRPr>
            </a:lvl1pPr>
          </a:lstStyle>
          <a:p>
            <a:pPr/>
            <a:r>
              <a:t>NCT-NORM</a:t>
            </a:r>
          </a:p>
        </p:txBody>
      </p:sp>
      <p:sp>
        <p:nvSpPr>
          <p:cNvPr id="597" name="Right Arrow 537"/>
          <p:cNvSpPr/>
          <p:nvPr/>
        </p:nvSpPr>
        <p:spPr>
          <a:xfrm>
            <a:off x="9605771" y="2148838"/>
            <a:ext cx="256034" cy="164594"/>
          </a:xfrm>
          <a:prstGeom prst="rightArrow">
            <a:avLst>
              <a:gd name="adj1" fmla="val 35000"/>
              <a:gd name="adj2" fmla="val 40000"/>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98" name="Rounded Rectangle 538"/>
          <p:cNvSpPr/>
          <p:nvPr/>
        </p:nvSpPr>
        <p:spPr>
          <a:xfrm>
            <a:off x="9843516" y="1874517"/>
            <a:ext cx="1554482" cy="685802"/>
          </a:xfrm>
          <a:prstGeom prst="roundRect">
            <a:avLst>
              <a:gd name="adj" fmla="val 12000"/>
            </a:avLst>
          </a:prstGeom>
          <a:solidFill>
            <a:srgbClr val="EBD9A8"/>
          </a:solidFill>
          <a:ln w="15240">
            <a:solidFill>
              <a:srgbClr val="4D0912"/>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599" name="TextBox 539"/>
          <p:cNvSpPr txBox="1"/>
          <p:nvPr/>
        </p:nvSpPr>
        <p:spPr>
          <a:xfrm>
            <a:off x="9889235" y="1947673"/>
            <a:ext cx="1463041" cy="2582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300">
                <a:solidFill>
                  <a:srgbClr val="4D0912"/>
                </a:solidFill>
              </a:defRPr>
            </a:lvl1pPr>
          </a:lstStyle>
          <a:p>
            <a:pPr/>
            <a:r>
              <a:t>RGB norm.</a:t>
            </a:r>
          </a:p>
        </p:txBody>
      </p:sp>
      <p:pic>
        <p:nvPicPr>
          <p:cNvPr id="600" name="Picture 540" descr="Picture 540"/>
          <p:cNvPicPr>
            <a:picLocks noChangeAspect="1"/>
          </p:cNvPicPr>
          <p:nvPr/>
        </p:nvPicPr>
        <p:blipFill>
          <a:blip r:embed="rId3">
            <a:extLst/>
          </a:blip>
          <a:stretch>
            <a:fillRect/>
          </a:stretch>
        </p:blipFill>
        <p:spPr>
          <a:xfrm>
            <a:off x="937258" y="2759393"/>
            <a:ext cx="2745946" cy="3017522"/>
          </a:xfrm>
          <a:prstGeom prst="rect">
            <a:avLst/>
          </a:prstGeom>
          <a:ln w="12700">
            <a:miter lim="400000"/>
          </a:ln>
        </p:spPr>
      </p:pic>
      <p:sp>
        <p:nvSpPr>
          <p:cNvPr id="601" name="TextBox 546"/>
          <p:cNvSpPr txBox="1"/>
          <p:nvPr/>
        </p:nvSpPr>
        <p:spPr>
          <a:xfrm>
            <a:off x="612647" y="5968368"/>
            <a:ext cx="11000234"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500">
                <a:solidFill>
                  <a:srgbClr val="4D0912"/>
                </a:solidFill>
              </a:defRPr>
            </a:lvl1pPr>
          </a:lstStyle>
          <a:p>
            <a:pPr/>
            <a:r>
              <a:t>Macenko cambia la paleta, no el contenido; en este TFM mueve poco el resultado.</a:t>
            </a:r>
          </a:p>
        </p:txBody>
      </p:sp>
      <p:sp>
        <p:nvSpPr>
          <p:cNvPr id="602" name="Rectangle 547"/>
          <p:cNvSpPr/>
          <p:nvPr/>
        </p:nvSpPr>
        <p:spPr>
          <a:xfrm>
            <a:off x="594359" y="6355079"/>
            <a:ext cx="11000235" cy="18290"/>
          </a:xfrm>
          <a:prstGeom prst="rect">
            <a:avLst/>
          </a:prstGeom>
          <a:solidFill>
            <a:srgbClr val="EBD9A8"/>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03" name="Rectangle 6"/>
          <p:cNvSpPr/>
          <p:nvPr/>
        </p:nvSpPr>
        <p:spPr>
          <a:xfrm>
            <a:off x="548638" y="1024127"/>
            <a:ext cx="1097284"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04" name="TextBox 278"/>
          <p:cNvSpPr txBox="1"/>
          <p:nvPr/>
        </p:nvSpPr>
        <p:spPr>
          <a:xfrm>
            <a:off x="4704077" y="3013986"/>
            <a:ext cx="5669286" cy="253298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1300">
                <a:solidFill>
                  <a:srgbClr val="6B0F1A"/>
                </a:solidFill>
                <a:latin typeface="+mj-lt"/>
                <a:ea typeface="+mj-ea"/>
                <a:cs typeface="+mj-cs"/>
                <a:sym typeface="Helvetica"/>
              </a:defRPr>
            </a:pPr>
            <a:r>
              <a:t>Procedimiento (4 pasos)</a:t>
            </a:r>
          </a:p>
          <a:p>
            <a:pPr>
              <a:defRPr b="1" sz="1300">
                <a:solidFill>
                  <a:srgbClr val="3C2814"/>
                </a:solidFill>
                <a:latin typeface="+mj-lt"/>
                <a:ea typeface="+mj-ea"/>
                <a:cs typeface="+mj-cs"/>
                <a:sym typeface="Helvetica"/>
              </a:defRPr>
            </a:pPr>
          </a:p>
          <a:p>
            <a:pPr>
              <a:defRPr b="1" sz="1300">
                <a:solidFill>
                  <a:srgbClr val="3C2814"/>
                </a:solidFill>
                <a:latin typeface="+mj-lt"/>
                <a:ea typeface="+mj-ea"/>
                <a:cs typeface="+mj-cs"/>
                <a:sym typeface="Helvetica"/>
              </a:defRPr>
            </a:pPr>
            <a:r>
              <a:t>1. Convertir RGB → densidad óptica (OD):</a:t>
            </a:r>
          </a:p>
          <a:p>
            <a:pPr>
              <a:defRPr i="1" sz="1300">
                <a:solidFill>
                  <a:srgbClr val="3C2814"/>
                </a:solidFill>
                <a:latin typeface="+mj-lt"/>
                <a:ea typeface="+mj-ea"/>
                <a:cs typeface="+mj-cs"/>
                <a:sym typeface="Helvetica"/>
              </a:defRPr>
            </a:pPr>
            <a:r>
              <a:t>     OD = − log₁₀( (I + 1) / I₀ ),   I₀ = 255</a:t>
            </a:r>
          </a:p>
          <a:p>
            <a:pPr>
              <a:defRPr b="1" sz="1300">
                <a:solidFill>
                  <a:srgbClr val="3C2814"/>
                </a:solidFill>
                <a:latin typeface="+mj-lt"/>
                <a:ea typeface="+mj-ea"/>
                <a:cs typeface="+mj-cs"/>
                <a:sym typeface="Helvetica"/>
              </a:defRPr>
            </a:pPr>
            <a:r>
              <a:t>2. Descomponer contribución de tinciones:</a:t>
            </a:r>
          </a:p>
          <a:p>
            <a:pPr>
              <a:defRPr i="1" sz="1300">
                <a:solidFill>
                  <a:srgbClr val="3C2814"/>
                </a:solidFill>
                <a:latin typeface="+mj-lt"/>
                <a:ea typeface="+mj-ea"/>
                <a:cs typeface="+mj-cs"/>
                <a:sym typeface="Helvetica"/>
              </a:defRPr>
            </a:pPr>
            <a:r>
              <a:t>     OD = S · C</a:t>
            </a:r>
          </a:p>
          <a:p>
            <a:pPr>
              <a:defRPr sz="1300">
                <a:solidFill>
                  <a:srgbClr val="826540"/>
                </a:solidFill>
                <a:latin typeface="+mj-lt"/>
                <a:ea typeface="+mj-ea"/>
                <a:cs typeface="+mj-cs"/>
                <a:sym typeface="Helvetica"/>
              </a:defRPr>
            </a:pPr>
            <a:r>
              <a:t>     S: vectores stain (H, E),  C: concentraciones</a:t>
            </a:r>
          </a:p>
          <a:p>
            <a:pPr>
              <a:defRPr b="1" sz="1300">
                <a:solidFill>
                  <a:srgbClr val="3C2814"/>
                </a:solidFill>
                <a:latin typeface="+mj-lt"/>
                <a:ea typeface="+mj-ea"/>
                <a:cs typeface="+mj-cs"/>
                <a:sym typeface="Helvetica"/>
              </a:defRPr>
            </a:pPr>
            <a:r>
              <a:t>3. Estimar concentraciones vía pseudo-inversa:</a:t>
            </a:r>
          </a:p>
          <a:p>
            <a:pPr>
              <a:defRPr i="1" sz="1300">
                <a:solidFill>
                  <a:srgbClr val="3C2814"/>
                </a:solidFill>
                <a:latin typeface="+mj-lt"/>
                <a:ea typeface="+mj-ea"/>
                <a:cs typeface="+mj-cs"/>
                <a:sym typeface="Helvetica"/>
              </a:defRPr>
            </a:pPr>
            <a:r>
              <a:t>     C = S⁺ · OD</a:t>
            </a:r>
          </a:p>
          <a:p>
            <a:pPr>
              <a:defRPr b="1" sz="1300">
                <a:solidFill>
                  <a:srgbClr val="3C2814"/>
                </a:solidFill>
                <a:latin typeface="+mj-lt"/>
                <a:ea typeface="+mj-ea"/>
                <a:cs typeface="+mj-cs"/>
                <a:sym typeface="Helvetica"/>
              </a:defRPr>
            </a:pPr>
            <a:r>
              <a:t>4. Re-renderizar con matriz de referencia:</a:t>
            </a:r>
          </a:p>
          <a:p>
            <a:pPr>
              <a:defRPr i="1" sz="1300">
                <a:solidFill>
                  <a:srgbClr val="3C2814"/>
                </a:solidFill>
                <a:latin typeface="+mj-lt"/>
                <a:ea typeface="+mj-ea"/>
                <a:cs typeface="+mj-cs"/>
                <a:sym typeface="Helvetica"/>
              </a:defRPr>
            </a:pPr>
            <a:r>
              <a:t>     OD′ = S_ref · C</a:t>
            </a:r>
          </a:p>
          <a:p>
            <a:pPr>
              <a:defRPr i="1" sz="1300">
                <a:solidFill>
                  <a:srgbClr val="3C2814"/>
                </a:solidFill>
                <a:latin typeface="+mj-lt"/>
                <a:ea typeface="+mj-ea"/>
                <a:cs typeface="+mj-cs"/>
                <a:sym typeface="Helvetica"/>
              </a:defRPr>
            </a:pPr>
            <a:r>
              <a:t>     I′  = I₀ · 10^(−OD′)</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8"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09"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10"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611"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BACKUP</a:t>
            </a:r>
          </a:p>
        </p:txBody>
      </p:sp>
      <p:sp>
        <p:nvSpPr>
          <p:cNvPr id="612" name="TextBox 276"/>
          <p:cNvSpPr txBox="1"/>
          <p:nvPr/>
        </p:nvSpPr>
        <p:spPr>
          <a:xfrm>
            <a:off x="640079" y="384047"/>
            <a:ext cx="10908794" cy="43766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defRPr>
            </a:lvl1pPr>
          </a:lstStyle>
          <a:p>
            <a:pPr/>
            <a:r>
              <a:t>¿Qué muestra UMAP y qué no muestra?</a:t>
            </a:r>
          </a:p>
        </p:txBody>
      </p:sp>
      <p:sp>
        <p:nvSpPr>
          <p:cNvPr id="613" name="TextBox 277"/>
          <p:cNvSpPr txBox="1"/>
          <p:nvPr/>
        </p:nvSpPr>
        <p:spPr>
          <a:xfrm>
            <a:off x="640079" y="1188719"/>
            <a:ext cx="10908794" cy="307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400">
                <a:solidFill>
                  <a:srgbClr val="4D0912"/>
                </a:solidFill>
                <a:latin typeface="+mj-lt"/>
                <a:ea typeface="+mj-ea"/>
                <a:cs typeface="+mj-cs"/>
                <a:sym typeface="Helvetica"/>
              </a:defRPr>
            </a:lvl1pPr>
          </a:lstStyle>
          <a:p>
            <a:pPr/>
            <a:r>
              <a:t>Proyección a 2D que preserva vecindarios locales; NO reemplaza a macro-F1.</a:t>
            </a:r>
          </a:p>
        </p:txBody>
      </p:sp>
      <p:pic>
        <p:nvPicPr>
          <p:cNvPr id="614" name="Picture 531" descr="Picture 531"/>
          <p:cNvPicPr>
            <a:picLocks noChangeAspect="1"/>
          </p:cNvPicPr>
          <p:nvPr/>
        </p:nvPicPr>
        <p:blipFill>
          <a:blip r:embed="rId3">
            <a:extLst/>
          </a:blip>
          <a:stretch>
            <a:fillRect/>
          </a:stretch>
        </p:blipFill>
        <p:spPr>
          <a:xfrm>
            <a:off x="1289050" y="1639566"/>
            <a:ext cx="9601200" cy="3887129"/>
          </a:xfrm>
          <a:prstGeom prst="rect">
            <a:avLst/>
          </a:prstGeom>
          <a:ln w="12700">
            <a:miter lim="400000"/>
          </a:ln>
        </p:spPr>
      </p:pic>
      <p:sp>
        <p:nvSpPr>
          <p:cNvPr id="615" name="TextBox 532"/>
          <p:cNvSpPr txBox="1"/>
          <p:nvPr/>
        </p:nvSpPr>
        <p:spPr>
          <a:xfrm>
            <a:off x="632458" y="5543552"/>
            <a:ext cx="3657603" cy="4289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gn="ctr">
              <a:defRPr b="1" sz="1300">
                <a:solidFill>
                  <a:srgbClr val="3C7A5E"/>
                </a:solidFill>
              </a:defRPr>
            </a:pPr>
            <a:r>
              <a:t>Sí muestra</a:t>
            </a:r>
          </a:p>
          <a:p>
            <a:pPr algn="ctr">
              <a:defRPr sz="1100">
                <a:solidFill>
                  <a:srgbClr val="3C2814"/>
                </a:solidFill>
              </a:defRPr>
            </a:pPr>
            <a:r>
              <a:t>vecindarios locales · solapamiento relativo</a:t>
            </a:r>
          </a:p>
        </p:txBody>
      </p:sp>
      <p:sp>
        <p:nvSpPr>
          <p:cNvPr id="616" name="TextBox 533"/>
          <p:cNvSpPr txBox="1"/>
          <p:nvPr/>
        </p:nvSpPr>
        <p:spPr>
          <a:xfrm>
            <a:off x="4381500" y="5543552"/>
            <a:ext cx="3657600" cy="4289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gn="ctr">
              <a:defRPr b="1" sz="1300">
                <a:solidFill>
                  <a:srgbClr val="B02020"/>
                </a:solidFill>
              </a:defRPr>
            </a:pPr>
            <a:r>
              <a:t>NO muestra</a:t>
            </a:r>
          </a:p>
          <a:p>
            <a:pPr algn="ctr">
              <a:defRPr sz="1100">
                <a:solidFill>
                  <a:srgbClr val="3C2814"/>
                </a:solidFill>
              </a:defRPr>
            </a:pPr>
            <a:r>
              <a:t>distancias globales · causalidad</a:t>
            </a:r>
          </a:p>
        </p:txBody>
      </p:sp>
      <p:sp>
        <p:nvSpPr>
          <p:cNvPr id="617" name="TextBox 534"/>
          <p:cNvSpPr txBox="1"/>
          <p:nvPr/>
        </p:nvSpPr>
        <p:spPr>
          <a:xfrm>
            <a:off x="8130540" y="5543552"/>
            <a:ext cx="3657602" cy="4289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gn="ctr">
              <a:defRPr b="1" sz="1300">
                <a:solidFill>
                  <a:srgbClr val="6B0F1A"/>
                </a:solidFill>
              </a:defRPr>
            </a:pPr>
            <a:r>
              <a:t>Uso aquí</a:t>
            </a:r>
          </a:p>
          <a:p>
            <a:pPr algn="ctr">
              <a:defRPr sz="1100">
                <a:solidFill>
                  <a:srgbClr val="3C2814"/>
                </a:solidFill>
              </a:defRPr>
            </a:pPr>
            <a:r>
              <a:t>consistencia con macro-F1</a:t>
            </a:r>
          </a:p>
        </p:txBody>
      </p:sp>
      <p:sp>
        <p:nvSpPr>
          <p:cNvPr id="618" name="TextBox 535"/>
          <p:cNvSpPr txBox="1"/>
          <p:nvPr/>
        </p:nvSpPr>
        <p:spPr>
          <a:xfrm>
            <a:off x="589533" y="6024773"/>
            <a:ext cx="11000234"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500">
                <a:solidFill>
                  <a:srgbClr val="4D0912"/>
                </a:solidFill>
              </a:defRPr>
            </a:lvl1pPr>
          </a:lstStyle>
          <a:p>
            <a:pPr/>
            <a:r>
              <a:t>UMAP no prueba el mecanismo: comprueba si la geometría es consistente con la métrica.</a:t>
            </a:r>
          </a:p>
        </p:txBody>
      </p:sp>
      <p:sp>
        <p:nvSpPr>
          <p:cNvPr id="619" name="Rectangle 536"/>
          <p:cNvSpPr/>
          <p:nvPr/>
        </p:nvSpPr>
        <p:spPr>
          <a:xfrm>
            <a:off x="594359" y="6355079"/>
            <a:ext cx="11000235" cy="18290"/>
          </a:xfrm>
          <a:prstGeom prst="rect">
            <a:avLst/>
          </a:prstGeom>
          <a:solidFill>
            <a:srgbClr val="EBD9A8"/>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20" name="Rectangle 6"/>
          <p:cNvSpPr/>
          <p:nvPr/>
        </p:nvSpPr>
        <p:spPr>
          <a:xfrm>
            <a:off x="548638" y="1024127"/>
            <a:ext cx="1097284"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4"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25"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26"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627"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BACKUP</a:t>
            </a:r>
          </a:p>
        </p:txBody>
      </p:sp>
      <p:sp>
        <p:nvSpPr>
          <p:cNvPr id="628" name="TextBox 276"/>
          <p:cNvSpPr txBox="1"/>
          <p:nvPr/>
        </p:nvSpPr>
        <p:spPr>
          <a:xfrm>
            <a:off x="640079" y="384047"/>
            <a:ext cx="10908794" cy="43766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defRPr>
            </a:lvl1pPr>
          </a:lstStyle>
          <a:p>
            <a:pPr/>
            <a:r>
              <a:t>¿Por qué restringir el argmax por órgano?</a:t>
            </a:r>
          </a:p>
        </p:txBody>
      </p:sp>
      <p:sp>
        <p:nvSpPr>
          <p:cNvPr id="629" name="TextBox 277"/>
          <p:cNvSpPr txBox="1"/>
          <p:nvPr/>
        </p:nvSpPr>
        <p:spPr>
          <a:xfrm>
            <a:off x="640079" y="1188719"/>
            <a:ext cx="10908794" cy="28079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400">
                <a:solidFill>
                  <a:srgbClr val="4D0912"/>
                </a:solidFill>
              </a:defRPr>
            </a:lvl1pPr>
          </a:lstStyle>
          <a:p>
            <a:pPr/>
            <a:r>
              <a:t>Los datasets externos contienen solo un subconjunto de las 5 clases LC25000.</a:t>
            </a:r>
          </a:p>
        </p:txBody>
      </p:sp>
      <p:sp>
        <p:nvSpPr>
          <p:cNvPr id="630" name="TextBox 544"/>
          <p:cNvSpPr txBox="1"/>
          <p:nvPr/>
        </p:nvSpPr>
        <p:spPr>
          <a:xfrm>
            <a:off x="96519" y="2096007"/>
            <a:ext cx="1463042" cy="2807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400">
                <a:solidFill>
                  <a:srgbClr val="6B0F1A"/>
                </a:solidFill>
              </a:defRPr>
            </a:lvl1pPr>
          </a:lstStyle>
          <a:p>
            <a:pPr/>
            <a:r>
              <a:t>NCT · Chaoyang</a:t>
            </a:r>
          </a:p>
        </p:txBody>
      </p:sp>
      <p:sp>
        <p:nvSpPr>
          <p:cNvPr id="631" name="Rounded Rectangle 545"/>
          <p:cNvSpPr/>
          <p:nvPr/>
        </p:nvSpPr>
        <p:spPr>
          <a:xfrm>
            <a:off x="1471675" y="1846049"/>
            <a:ext cx="2011681" cy="731522"/>
          </a:xfrm>
          <a:prstGeom prst="roundRect">
            <a:avLst>
              <a:gd name="adj" fmla="val 20000"/>
            </a:avLst>
          </a:prstGeom>
          <a:solidFill>
            <a:srgbClr val="EBD9A8"/>
          </a:solidFill>
          <a:ln w="19050">
            <a:solidFill>
              <a:srgbClr val="4D0912"/>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32" name="TextBox 546"/>
          <p:cNvSpPr txBox="1"/>
          <p:nvPr/>
        </p:nvSpPr>
        <p:spPr>
          <a:xfrm>
            <a:off x="1517394" y="1937490"/>
            <a:ext cx="1920240" cy="335944"/>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algn="ctr">
              <a:defRPr b="1" sz="1100">
                <a:solidFill>
                  <a:srgbClr val="4D0912"/>
                </a:solidFill>
              </a:defRPr>
            </a:pPr>
            <a:r>
              <a:t>colon</a:t>
            </a:r>
          </a:p>
          <a:p>
            <a:pPr algn="ctr">
              <a:defRPr b="1" sz="1100">
                <a:solidFill>
                  <a:srgbClr val="4D0912"/>
                </a:solidFill>
              </a:defRPr>
            </a:pPr>
            <a:r>
              <a:t>benigno</a:t>
            </a:r>
          </a:p>
        </p:txBody>
      </p:sp>
      <p:sp>
        <p:nvSpPr>
          <p:cNvPr id="633" name="Rounded Rectangle 547"/>
          <p:cNvSpPr/>
          <p:nvPr/>
        </p:nvSpPr>
        <p:spPr>
          <a:xfrm>
            <a:off x="3574796" y="1846049"/>
            <a:ext cx="2011682" cy="731522"/>
          </a:xfrm>
          <a:prstGeom prst="roundRect">
            <a:avLst>
              <a:gd name="adj" fmla="val 20000"/>
            </a:avLst>
          </a:prstGeom>
          <a:solidFill>
            <a:srgbClr val="EBD9A8"/>
          </a:solidFill>
          <a:ln w="19050">
            <a:solidFill>
              <a:srgbClr val="4D0912"/>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34" name="TextBox 548"/>
          <p:cNvSpPr txBox="1"/>
          <p:nvPr/>
        </p:nvSpPr>
        <p:spPr>
          <a:xfrm>
            <a:off x="3620515" y="1937490"/>
            <a:ext cx="1920241" cy="335944"/>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algn="ctr">
              <a:defRPr b="1" sz="1100">
                <a:solidFill>
                  <a:srgbClr val="4D0912"/>
                </a:solidFill>
              </a:defRPr>
            </a:pPr>
            <a:r>
              <a:t>colon</a:t>
            </a:r>
          </a:p>
          <a:p>
            <a:pPr algn="ctr">
              <a:defRPr b="1" sz="1100">
                <a:solidFill>
                  <a:srgbClr val="4D0912"/>
                </a:solidFill>
              </a:defRPr>
            </a:pPr>
            <a:r>
              <a:t>adenoc.</a:t>
            </a:r>
          </a:p>
        </p:txBody>
      </p:sp>
      <p:sp>
        <p:nvSpPr>
          <p:cNvPr id="635" name="Rounded Rectangle 549"/>
          <p:cNvSpPr/>
          <p:nvPr/>
        </p:nvSpPr>
        <p:spPr>
          <a:xfrm>
            <a:off x="5677915" y="1846049"/>
            <a:ext cx="2011682" cy="731522"/>
          </a:xfrm>
          <a:prstGeom prst="roundRect">
            <a:avLst>
              <a:gd name="adj" fmla="val 20000"/>
            </a:avLst>
          </a:prstGeom>
          <a:solidFill>
            <a:srgbClr val="DDD0B8"/>
          </a:solidFill>
          <a:ln w="6350">
            <a:solidFill>
              <a:srgbClr val="AA998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36" name="TextBox 550"/>
          <p:cNvSpPr txBox="1"/>
          <p:nvPr/>
        </p:nvSpPr>
        <p:spPr>
          <a:xfrm>
            <a:off x="5723635" y="1937490"/>
            <a:ext cx="1920241" cy="335944"/>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algn="ctr">
              <a:defRPr sz="1100">
                <a:solidFill>
                  <a:srgbClr val="AAAAAA"/>
                </a:solidFill>
              </a:defRPr>
            </a:pPr>
            <a:r>
              <a:t>pulmón</a:t>
            </a:r>
          </a:p>
          <a:p>
            <a:pPr algn="ctr">
              <a:defRPr sz="1100">
                <a:solidFill>
                  <a:srgbClr val="AAAAAA"/>
                </a:solidFill>
              </a:defRPr>
            </a:pPr>
            <a:r>
              <a:t>benigno</a:t>
            </a:r>
          </a:p>
        </p:txBody>
      </p:sp>
      <p:sp>
        <p:nvSpPr>
          <p:cNvPr id="637" name="Rounded Rectangle 551"/>
          <p:cNvSpPr/>
          <p:nvPr/>
        </p:nvSpPr>
        <p:spPr>
          <a:xfrm>
            <a:off x="7781035" y="1846049"/>
            <a:ext cx="2011682" cy="731522"/>
          </a:xfrm>
          <a:prstGeom prst="roundRect">
            <a:avLst>
              <a:gd name="adj" fmla="val 20000"/>
            </a:avLst>
          </a:prstGeom>
          <a:solidFill>
            <a:srgbClr val="DDD0B8"/>
          </a:solidFill>
          <a:ln w="6350">
            <a:solidFill>
              <a:srgbClr val="AA998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38" name="TextBox 552"/>
          <p:cNvSpPr txBox="1"/>
          <p:nvPr/>
        </p:nvSpPr>
        <p:spPr>
          <a:xfrm>
            <a:off x="7826756" y="1937490"/>
            <a:ext cx="1920241" cy="335944"/>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algn="ctr">
              <a:defRPr sz="1100">
                <a:solidFill>
                  <a:srgbClr val="AAAAAA"/>
                </a:solidFill>
              </a:defRPr>
            </a:pPr>
            <a:r>
              <a:t>pulmón</a:t>
            </a:r>
          </a:p>
          <a:p>
            <a:pPr algn="ctr">
              <a:defRPr sz="1100">
                <a:solidFill>
                  <a:srgbClr val="AAAAAA"/>
                </a:solidFill>
              </a:defRPr>
            </a:pPr>
            <a:r>
              <a:t>adenoc.</a:t>
            </a:r>
          </a:p>
        </p:txBody>
      </p:sp>
      <p:sp>
        <p:nvSpPr>
          <p:cNvPr id="639" name="Rounded Rectangle 553"/>
          <p:cNvSpPr/>
          <p:nvPr/>
        </p:nvSpPr>
        <p:spPr>
          <a:xfrm>
            <a:off x="9884156" y="1846049"/>
            <a:ext cx="2011682" cy="731522"/>
          </a:xfrm>
          <a:prstGeom prst="roundRect">
            <a:avLst>
              <a:gd name="adj" fmla="val 20000"/>
            </a:avLst>
          </a:prstGeom>
          <a:solidFill>
            <a:srgbClr val="DDD0B8"/>
          </a:solidFill>
          <a:ln w="6350">
            <a:solidFill>
              <a:srgbClr val="AA998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40" name="TextBox 554"/>
          <p:cNvSpPr txBox="1"/>
          <p:nvPr/>
        </p:nvSpPr>
        <p:spPr>
          <a:xfrm>
            <a:off x="9929876" y="1937490"/>
            <a:ext cx="1920241" cy="335944"/>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algn="ctr">
              <a:defRPr sz="1100">
                <a:solidFill>
                  <a:srgbClr val="AAAAAA"/>
                </a:solidFill>
              </a:defRPr>
            </a:pPr>
            <a:r>
              <a:t>pulmón</a:t>
            </a:r>
          </a:p>
          <a:p>
            <a:pPr algn="ctr">
              <a:defRPr sz="1100">
                <a:solidFill>
                  <a:srgbClr val="AAAAAA"/>
                </a:solidFill>
              </a:defRPr>
            </a:pPr>
            <a:r>
              <a:t>escamoso</a:t>
            </a:r>
          </a:p>
        </p:txBody>
      </p:sp>
      <p:sp>
        <p:nvSpPr>
          <p:cNvPr id="641" name="TextBox 555"/>
          <p:cNvSpPr txBox="1"/>
          <p:nvPr/>
        </p:nvSpPr>
        <p:spPr>
          <a:xfrm>
            <a:off x="96519" y="3193289"/>
            <a:ext cx="1463042" cy="2807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400">
                <a:solidFill>
                  <a:srgbClr val="6B0F1A"/>
                </a:solidFill>
              </a:defRPr>
            </a:lvl1pPr>
          </a:lstStyle>
          <a:p>
            <a:pPr/>
            <a:r>
              <a:t>LungHist700</a:t>
            </a:r>
          </a:p>
        </p:txBody>
      </p:sp>
      <p:sp>
        <p:nvSpPr>
          <p:cNvPr id="642" name="Rounded Rectangle 556"/>
          <p:cNvSpPr/>
          <p:nvPr/>
        </p:nvSpPr>
        <p:spPr>
          <a:xfrm>
            <a:off x="1471675" y="2943330"/>
            <a:ext cx="2011681" cy="731522"/>
          </a:xfrm>
          <a:prstGeom prst="roundRect">
            <a:avLst>
              <a:gd name="adj" fmla="val 20000"/>
            </a:avLst>
          </a:prstGeom>
          <a:solidFill>
            <a:srgbClr val="DDD0B8"/>
          </a:solidFill>
          <a:ln w="6350">
            <a:solidFill>
              <a:srgbClr val="AA998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43" name="TextBox 557"/>
          <p:cNvSpPr txBox="1"/>
          <p:nvPr/>
        </p:nvSpPr>
        <p:spPr>
          <a:xfrm>
            <a:off x="1517394" y="3034769"/>
            <a:ext cx="1920240" cy="335945"/>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algn="ctr">
              <a:defRPr sz="1100">
                <a:solidFill>
                  <a:srgbClr val="AAAAAA"/>
                </a:solidFill>
              </a:defRPr>
            </a:pPr>
            <a:r>
              <a:t>colon</a:t>
            </a:r>
          </a:p>
          <a:p>
            <a:pPr algn="ctr">
              <a:defRPr sz="1100">
                <a:solidFill>
                  <a:srgbClr val="AAAAAA"/>
                </a:solidFill>
              </a:defRPr>
            </a:pPr>
            <a:r>
              <a:t>benigno</a:t>
            </a:r>
          </a:p>
        </p:txBody>
      </p:sp>
      <p:sp>
        <p:nvSpPr>
          <p:cNvPr id="644" name="Rounded Rectangle 558"/>
          <p:cNvSpPr/>
          <p:nvPr/>
        </p:nvSpPr>
        <p:spPr>
          <a:xfrm>
            <a:off x="3574796" y="2943330"/>
            <a:ext cx="2011682" cy="731522"/>
          </a:xfrm>
          <a:prstGeom prst="roundRect">
            <a:avLst>
              <a:gd name="adj" fmla="val 20000"/>
            </a:avLst>
          </a:prstGeom>
          <a:solidFill>
            <a:srgbClr val="DDD0B8"/>
          </a:solidFill>
          <a:ln w="6350">
            <a:solidFill>
              <a:srgbClr val="AA9988"/>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45" name="TextBox 559"/>
          <p:cNvSpPr txBox="1"/>
          <p:nvPr/>
        </p:nvSpPr>
        <p:spPr>
          <a:xfrm>
            <a:off x="3620515" y="3034769"/>
            <a:ext cx="1920241" cy="335945"/>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algn="ctr">
              <a:defRPr sz="1100">
                <a:solidFill>
                  <a:srgbClr val="AAAAAA"/>
                </a:solidFill>
              </a:defRPr>
            </a:pPr>
            <a:r>
              <a:t>colon</a:t>
            </a:r>
          </a:p>
          <a:p>
            <a:pPr algn="ctr">
              <a:defRPr sz="1100">
                <a:solidFill>
                  <a:srgbClr val="AAAAAA"/>
                </a:solidFill>
              </a:defRPr>
            </a:pPr>
            <a:r>
              <a:t>adenoc.</a:t>
            </a:r>
          </a:p>
        </p:txBody>
      </p:sp>
      <p:sp>
        <p:nvSpPr>
          <p:cNvPr id="646" name="Rounded Rectangle 560"/>
          <p:cNvSpPr/>
          <p:nvPr/>
        </p:nvSpPr>
        <p:spPr>
          <a:xfrm>
            <a:off x="5677915" y="2943330"/>
            <a:ext cx="2011682" cy="731522"/>
          </a:xfrm>
          <a:prstGeom prst="roundRect">
            <a:avLst>
              <a:gd name="adj" fmla="val 20000"/>
            </a:avLst>
          </a:prstGeom>
          <a:solidFill>
            <a:srgbClr val="EBD9A8"/>
          </a:solidFill>
          <a:ln w="19050">
            <a:solidFill>
              <a:srgbClr val="4D0912"/>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47" name="TextBox 561"/>
          <p:cNvSpPr txBox="1"/>
          <p:nvPr/>
        </p:nvSpPr>
        <p:spPr>
          <a:xfrm>
            <a:off x="5723635" y="3034769"/>
            <a:ext cx="1920241" cy="335945"/>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algn="ctr">
              <a:defRPr b="1" sz="1100">
                <a:solidFill>
                  <a:srgbClr val="4D0912"/>
                </a:solidFill>
              </a:defRPr>
            </a:pPr>
            <a:r>
              <a:t>pulmón</a:t>
            </a:r>
          </a:p>
          <a:p>
            <a:pPr algn="ctr">
              <a:defRPr b="1" sz="1100">
                <a:solidFill>
                  <a:srgbClr val="4D0912"/>
                </a:solidFill>
              </a:defRPr>
            </a:pPr>
            <a:r>
              <a:t>benigno</a:t>
            </a:r>
          </a:p>
        </p:txBody>
      </p:sp>
      <p:sp>
        <p:nvSpPr>
          <p:cNvPr id="648" name="Rounded Rectangle 562"/>
          <p:cNvSpPr/>
          <p:nvPr/>
        </p:nvSpPr>
        <p:spPr>
          <a:xfrm>
            <a:off x="7781035" y="2943330"/>
            <a:ext cx="2011682" cy="731522"/>
          </a:xfrm>
          <a:prstGeom prst="roundRect">
            <a:avLst>
              <a:gd name="adj" fmla="val 20000"/>
            </a:avLst>
          </a:prstGeom>
          <a:solidFill>
            <a:srgbClr val="EBD9A8"/>
          </a:solidFill>
          <a:ln w="19050">
            <a:solidFill>
              <a:srgbClr val="4D0912"/>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49" name="TextBox 563"/>
          <p:cNvSpPr txBox="1"/>
          <p:nvPr/>
        </p:nvSpPr>
        <p:spPr>
          <a:xfrm>
            <a:off x="7826756" y="3034769"/>
            <a:ext cx="1920241" cy="335945"/>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algn="ctr">
              <a:defRPr b="1" sz="1100">
                <a:solidFill>
                  <a:srgbClr val="4D0912"/>
                </a:solidFill>
              </a:defRPr>
            </a:pPr>
            <a:r>
              <a:t>pulmón</a:t>
            </a:r>
          </a:p>
          <a:p>
            <a:pPr algn="ctr">
              <a:defRPr b="1" sz="1100">
                <a:solidFill>
                  <a:srgbClr val="4D0912"/>
                </a:solidFill>
              </a:defRPr>
            </a:pPr>
            <a:r>
              <a:t>adenoc.</a:t>
            </a:r>
          </a:p>
        </p:txBody>
      </p:sp>
      <p:sp>
        <p:nvSpPr>
          <p:cNvPr id="650" name="Rounded Rectangle 564"/>
          <p:cNvSpPr/>
          <p:nvPr/>
        </p:nvSpPr>
        <p:spPr>
          <a:xfrm>
            <a:off x="9884156" y="2943330"/>
            <a:ext cx="2011682" cy="731522"/>
          </a:xfrm>
          <a:prstGeom prst="roundRect">
            <a:avLst>
              <a:gd name="adj" fmla="val 20000"/>
            </a:avLst>
          </a:prstGeom>
          <a:solidFill>
            <a:srgbClr val="EBD9A8"/>
          </a:solidFill>
          <a:ln w="19050">
            <a:solidFill>
              <a:srgbClr val="4D0912"/>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51" name="TextBox 565"/>
          <p:cNvSpPr txBox="1"/>
          <p:nvPr/>
        </p:nvSpPr>
        <p:spPr>
          <a:xfrm>
            <a:off x="9929876" y="3034769"/>
            <a:ext cx="1920241" cy="335945"/>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algn="ctr">
              <a:defRPr b="1" sz="1100">
                <a:solidFill>
                  <a:srgbClr val="4D0912"/>
                </a:solidFill>
              </a:defRPr>
            </a:pPr>
            <a:r>
              <a:t>pulmón</a:t>
            </a:r>
          </a:p>
          <a:p>
            <a:pPr algn="ctr">
              <a:defRPr b="1" sz="1100">
                <a:solidFill>
                  <a:srgbClr val="4D0912"/>
                </a:solidFill>
              </a:defRPr>
            </a:pPr>
            <a:r>
              <a:t>escamoso</a:t>
            </a:r>
          </a:p>
        </p:txBody>
      </p:sp>
      <p:sp>
        <p:nvSpPr>
          <p:cNvPr id="652" name="TextBox 566"/>
          <p:cNvSpPr txBox="1"/>
          <p:nvPr/>
        </p:nvSpPr>
        <p:spPr>
          <a:xfrm>
            <a:off x="594359" y="4297680"/>
            <a:ext cx="11000235" cy="102186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1400">
                <a:solidFill>
                  <a:srgbClr val="6B0F1A"/>
                </a:solidFill>
              </a:defRPr>
            </a:pPr>
            <a:r>
              <a:t>Cómo se implementa</a:t>
            </a:r>
          </a:p>
          <a:p>
            <a:pPr>
              <a:defRPr sz="1300">
                <a:solidFill>
                  <a:srgbClr val="3C2814"/>
                </a:solidFill>
              </a:defRPr>
            </a:pPr>
            <a:r>
              <a:t>▸ Calcular cosine(embedding_imagen, embedding_prompt) sobre las 5 clases.</a:t>
            </a:r>
          </a:p>
          <a:p>
            <a:pPr>
              <a:defRPr sz="1300">
                <a:solidFill>
                  <a:srgbClr val="3C2814"/>
                </a:solidFill>
              </a:defRPr>
            </a:pPr>
            <a:r>
              <a:t>▸ Recortar el vector a las clases del órgano del dataset ANTES del argmax.</a:t>
            </a:r>
          </a:p>
          <a:p>
            <a:pPr>
              <a:defRPr sz="1300">
                <a:solidFill>
                  <a:srgbClr val="3C2814"/>
                </a:solidFill>
              </a:defRPr>
            </a:pPr>
            <a:r>
              <a:t>▸ El modelo sigue entrenado sobre las 5; sólo se restringe la evaluación.</a:t>
            </a:r>
          </a:p>
        </p:txBody>
      </p:sp>
      <p:sp>
        <p:nvSpPr>
          <p:cNvPr id="653" name="TextBox 567"/>
          <p:cNvSpPr txBox="1"/>
          <p:nvPr/>
        </p:nvSpPr>
        <p:spPr>
          <a:xfrm>
            <a:off x="594359" y="5989321"/>
            <a:ext cx="11000235"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500">
                <a:solidFill>
                  <a:srgbClr val="4D0912"/>
                </a:solidFill>
              </a:defRPr>
            </a:lvl1pPr>
          </a:lstStyle>
          <a:p>
            <a:pPr/>
            <a:r>
              <a:t>No es detección abierta multi-órgano: es discriminación DENTRO del órgano evaluado.</a:t>
            </a:r>
          </a:p>
        </p:txBody>
      </p:sp>
      <p:sp>
        <p:nvSpPr>
          <p:cNvPr id="654" name="Rectangle 568"/>
          <p:cNvSpPr/>
          <p:nvPr/>
        </p:nvSpPr>
        <p:spPr>
          <a:xfrm>
            <a:off x="594359" y="6355079"/>
            <a:ext cx="11000235" cy="18290"/>
          </a:xfrm>
          <a:prstGeom prst="rect">
            <a:avLst/>
          </a:prstGeom>
          <a:solidFill>
            <a:srgbClr val="EBD9A8"/>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55" name="Rectangle 6"/>
          <p:cNvSpPr/>
          <p:nvPr/>
        </p:nvSpPr>
        <p:spPr>
          <a:xfrm>
            <a:off x="548638" y="1024127"/>
            <a:ext cx="1097284"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9"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60"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61"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662"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BACKUP</a:t>
            </a:r>
          </a:p>
        </p:txBody>
      </p:sp>
      <p:sp>
        <p:nvSpPr>
          <p:cNvPr id="663" name="TextBox 276"/>
          <p:cNvSpPr txBox="1"/>
          <p:nvPr/>
        </p:nvSpPr>
        <p:spPr>
          <a:xfrm>
            <a:off x="640079" y="384047"/>
            <a:ext cx="10908794" cy="43766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defRPr>
            </a:lvl1pPr>
          </a:lstStyle>
          <a:p>
            <a:pPr/>
            <a:r>
              <a:t>¿Por qué BERT y no el text encoder de CLIP?</a:t>
            </a:r>
          </a:p>
        </p:txBody>
      </p:sp>
      <p:sp>
        <p:nvSpPr>
          <p:cNvPr id="664" name="TextBox 277"/>
          <p:cNvSpPr txBox="1"/>
          <p:nvPr/>
        </p:nvSpPr>
        <p:spPr>
          <a:xfrm>
            <a:off x="640079" y="1188719"/>
            <a:ext cx="10908794" cy="307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400">
                <a:solidFill>
                  <a:srgbClr val="4D0912"/>
                </a:solidFill>
                <a:latin typeface="+mj-lt"/>
                <a:ea typeface="+mj-ea"/>
                <a:cs typeface="+mj-cs"/>
                <a:sym typeface="Helvetica"/>
              </a:defRPr>
            </a:lvl1pPr>
          </a:lstStyle>
          <a:p>
            <a:pPr/>
            <a:r>
              <a:t>Aislamos vocabulario y dominio del texto, no la arquitectura completa.</a:t>
            </a:r>
          </a:p>
        </p:txBody>
      </p:sp>
      <p:sp>
        <p:nvSpPr>
          <p:cNvPr id="665" name="Rounded Rectangle 557"/>
          <p:cNvSpPr/>
          <p:nvPr/>
        </p:nvSpPr>
        <p:spPr>
          <a:xfrm>
            <a:off x="594359" y="1874517"/>
            <a:ext cx="5303523" cy="3566162"/>
          </a:xfrm>
          <a:prstGeom prst="roundRect">
            <a:avLst>
              <a:gd name="adj" fmla="val 5000"/>
            </a:avLst>
          </a:prstGeom>
          <a:solidFill>
            <a:srgbClr val="F5EED8"/>
          </a:solidFill>
          <a:ln w="25400">
            <a:solidFill>
              <a:srgbClr val="3C7A5E"/>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66" name="TextBox 558"/>
          <p:cNvSpPr txBox="1"/>
          <p:nvPr/>
        </p:nvSpPr>
        <p:spPr>
          <a:xfrm>
            <a:off x="777238" y="2011678"/>
            <a:ext cx="4937762" cy="33308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a:solidFill>
                  <a:srgbClr val="3C7A5E"/>
                </a:solidFill>
              </a:defRPr>
            </a:lvl1pPr>
          </a:lstStyle>
          <a:p>
            <a:pPr/>
            <a:r>
              <a:t>Comparación LIMPIA</a:t>
            </a:r>
          </a:p>
        </p:txBody>
      </p:sp>
      <p:sp>
        <p:nvSpPr>
          <p:cNvPr id="667" name="TextBox 559"/>
          <p:cNvSpPr txBox="1"/>
          <p:nvPr/>
        </p:nvSpPr>
        <p:spPr>
          <a:xfrm>
            <a:off x="777238" y="2560321"/>
            <a:ext cx="4937762"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500">
                <a:solidFill>
                  <a:srgbClr val="4D0912"/>
                </a:solidFill>
              </a:defRPr>
            </a:lvl1pPr>
          </a:lstStyle>
          <a:p>
            <a:pPr/>
            <a:r>
              <a:t>BERT → BioBERT → PubMedBERT</a:t>
            </a:r>
          </a:p>
        </p:txBody>
      </p:sp>
      <p:sp>
        <p:nvSpPr>
          <p:cNvPr id="668" name="TextBox 560"/>
          <p:cNvSpPr txBox="1"/>
          <p:nvPr/>
        </p:nvSpPr>
        <p:spPr>
          <a:xfrm>
            <a:off x="868680" y="3154679"/>
            <a:ext cx="4754880" cy="18442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1400">
                <a:solidFill>
                  <a:srgbClr val="3C7A5E"/>
                </a:solidFill>
              </a:defRPr>
            </a:pPr>
            <a:r>
              <a:t>Cambia</a:t>
            </a:r>
          </a:p>
          <a:p>
            <a:pPr>
              <a:defRPr sz="1300">
                <a:solidFill>
                  <a:srgbClr val="3C2814"/>
                </a:solidFill>
              </a:defRPr>
            </a:pPr>
            <a:r>
              <a:t>▸ dominio del pretraining</a:t>
            </a:r>
          </a:p>
          <a:p>
            <a:pPr>
              <a:defRPr sz="1300">
                <a:solidFill>
                  <a:srgbClr val="3C2814"/>
                </a:solidFill>
              </a:defRPr>
            </a:pPr>
            <a:r>
              <a:t>▸ vocabulario / tokenización</a:t>
            </a:r>
          </a:p>
          <a:p>
            <a:pPr>
              <a:defRPr sz="600">
                <a:solidFill>
                  <a:srgbClr val="3C2814"/>
                </a:solidFill>
              </a:defRPr>
            </a:pPr>
          </a:p>
          <a:p>
            <a:pPr>
              <a:defRPr b="1" sz="1400">
                <a:solidFill>
                  <a:srgbClr val="3C7A5E"/>
                </a:solidFill>
              </a:defRPr>
            </a:pPr>
            <a:r>
              <a:t>Constante</a:t>
            </a:r>
          </a:p>
          <a:p>
            <a:pPr>
              <a:defRPr sz="1300">
                <a:solidFill>
                  <a:srgbClr val="3C2814"/>
                </a:solidFill>
              </a:defRPr>
            </a:pPr>
            <a:r>
              <a:t>▸ arquitectura (12 layers, 768-d)</a:t>
            </a:r>
          </a:p>
          <a:p>
            <a:pPr>
              <a:defRPr sz="1300">
                <a:solidFill>
                  <a:srgbClr val="3C2814"/>
                </a:solidFill>
              </a:defRPr>
            </a:pPr>
            <a:r>
              <a:t>▸ pooling ([CLS])</a:t>
            </a:r>
          </a:p>
          <a:p>
            <a:pPr>
              <a:defRPr sz="1300">
                <a:solidFill>
                  <a:srgbClr val="3C2814"/>
                </a:solidFill>
              </a:defRPr>
            </a:pPr>
            <a:r>
              <a:t>▸ familia BERT</a:t>
            </a:r>
          </a:p>
        </p:txBody>
      </p:sp>
      <p:sp>
        <p:nvSpPr>
          <p:cNvPr id="669" name="Rounded Rectangle 561"/>
          <p:cNvSpPr/>
          <p:nvPr/>
        </p:nvSpPr>
        <p:spPr>
          <a:xfrm>
            <a:off x="6217920" y="1874517"/>
            <a:ext cx="5303521" cy="3566162"/>
          </a:xfrm>
          <a:prstGeom prst="roundRect">
            <a:avLst>
              <a:gd name="adj" fmla="val 5000"/>
            </a:avLst>
          </a:prstGeom>
          <a:solidFill>
            <a:srgbClr val="FAE8E8"/>
          </a:solidFill>
          <a:ln w="25400">
            <a:solidFill>
              <a:srgbClr val="B02020"/>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70" name="TextBox 562"/>
          <p:cNvSpPr txBox="1"/>
          <p:nvPr/>
        </p:nvSpPr>
        <p:spPr>
          <a:xfrm>
            <a:off x="6400798" y="2011678"/>
            <a:ext cx="4937762" cy="33308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a:solidFill>
                  <a:srgbClr val="B02020"/>
                </a:solidFill>
              </a:defRPr>
            </a:lvl1pPr>
          </a:lstStyle>
          <a:p>
            <a:pPr/>
            <a:r>
              <a:t>Comparación SUCIA</a:t>
            </a:r>
          </a:p>
        </p:txBody>
      </p:sp>
      <p:sp>
        <p:nvSpPr>
          <p:cNvPr id="671" name="TextBox 563"/>
          <p:cNvSpPr txBox="1"/>
          <p:nvPr/>
        </p:nvSpPr>
        <p:spPr>
          <a:xfrm>
            <a:off x="6400798" y="2560321"/>
            <a:ext cx="4937762"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500">
                <a:solidFill>
                  <a:srgbClr val="4D0912"/>
                </a:solidFill>
              </a:defRPr>
            </a:lvl1pPr>
          </a:lstStyle>
          <a:p>
            <a:pPr/>
            <a:r>
              <a:t>BERT → CLIP-text</a:t>
            </a:r>
          </a:p>
        </p:txBody>
      </p:sp>
      <p:sp>
        <p:nvSpPr>
          <p:cNvPr id="672" name="TextBox 564"/>
          <p:cNvSpPr txBox="1"/>
          <p:nvPr/>
        </p:nvSpPr>
        <p:spPr>
          <a:xfrm>
            <a:off x="6492240" y="3154678"/>
            <a:ext cx="4754882" cy="160690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1400">
                <a:solidFill>
                  <a:srgbClr val="B02020"/>
                </a:solidFill>
              </a:defRPr>
            </a:pPr>
            <a:r>
              <a:t>Cambia TODO</a:t>
            </a:r>
          </a:p>
          <a:p>
            <a:pPr>
              <a:defRPr sz="1300">
                <a:solidFill>
                  <a:srgbClr val="3C2814"/>
                </a:solidFill>
              </a:defRPr>
            </a:pPr>
            <a:r>
              <a:t>▸ arquitectura (Transformer distinto)</a:t>
            </a:r>
          </a:p>
          <a:p>
            <a:pPr>
              <a:defRPr sz="1300">
                <a:solidFill>
                  <a:srgbClr val="3C2814"/>
                </a:solidFill>
              </a:defRPr>
            </a:pPr>
            <a:r>
              <a:t>▸ tokenizer BPE (no WordPiece)</a:t>
            </a:r>
          </a:p>
          <a:p>
            <a:pPr>
              <a:defRPr sz="1300">
                <a:solidFill>
                  <a:srgbClr val="3C2814"/>
                </a:solidFill>
              </a:defRPr>
            </a:pPr>
            <a:r>
              <a:t>▸ pooling ([EOS] no [CLS])</a:t>
            </a:r>
          </a:p>
          <a:p>
            <a:pPr>
              <a:defRPr sz="1300">
                <a:solidFill>
                  <a:srgbClr val="3C2814"/>
                </a:solidFill>
              </a:defRPr>
            </a:pPr>
            <a:r>
              <a:t>▸ dominio + objetivo pretraining</a:t>
            </a:r>
          </a:p>
          <a:p>
            <a:pPr>
              <a:defRPr sz="600">
                <a:solidFill>
                  <a:srgbClr val="3C2814"/>
                </a:solidFill>
              </a:defRPr>
            </a:pPr>
          </a:p>
          <a:p>
            <a:pPr>
              <a:defRPr b="1" sz="1400">
                <a:solidFill>
                  <a:srgbClr val="B02020"/>
                </a:solidFill>
              </a:defRPr>
            </a:pPr>
            <a:r>
              <a:t>⚠ demasiadas variables a la vez</a:t>
            </a:r>
          </a:p>
        </p:txBody>
      </p:sp>
      <p:sp>
        <p:nvSpPr>
          <p:cNvPr id="673" name="TextBox 565"/>
          <p:cNvSpPr txBox="1"/>
          <p:nvPr/>
        </p:nvSpPr>
        <p:spPr>
          <a:xfrm>
            <a:off x="594359" y="5989321"/>
            <a:ext cx="11000235"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500">
                <a:solidFill>
                  <a:srgbClr val="4D0912"/>
                </a:solidFill>
              </a:defRPr>
            </a:lvl1pPr>
          </a:lstStyle>
          <a:p>
            <a:pPr/>
            <a:r>
              <a:t>CLIP-text habría respondido otra pregunta. PLIP zero-shot ya cubre el caso "CLIP entero".</a:t>
            </a:r>
          </a:p>
        </p:txBody>
      </p:sp>
      <p:sp>
        <p:nvSpPr>
          <p:cNvPr id="674" name="Rectangle 566"/>
          <p:cNvSpPr/>
          <p:nvPr/>
        </p:nvSpPr>
        <p:spPr>
          <a:xfrm>
            <a:off x="594359" y="6355079"/>
            <a:ext cx="11000235" cy="18290"/>
          </a:xfrm>
          <a:prstGeom prst="rect">
            <a:avLst/>
          </a:prstGeom>
          <a:solidFill>
            <a:srgbClr val="EBD9A8"/>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75" name="Rectangle 6"/>
          <p:cNvSpPr/>
          <p:nvPr/>
        </p:nvSpPr>
        <p:spPr>
          <a:xfrm>
            <a:off x="548638" y="1024127"/>
            <a:ext cx="1097284"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9"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80"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81"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682"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BACKUP</a:t>
            </a:r>
          </a:p>
        </p:txBody>
      </p:sp>
      <p:sp>
        <p:nvSpPr>
          <p:cNvPr id="683" name="TextBox 276"/>
          <p:cNvSpPr txBox="1"/>
          <p:nvPr/>
        </p:nvSpPr>
        <p:spPr>
          <a:xfrm>
            <a:off x="640079" y="384047"/>
            <a:ext cx="10908794" cy="43766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defRPr>
            </a:lvl1pPr>
          </a:lstStyle>
          <a:p>
            <a:pPr/>
            <a:r>
              <a:t>¿La fuga de LC25000 invalida las conclusiones?</a:t>
            </a:r>
          </a:p>
        </p:txBody>
      </p:sp>
      <p:sp>
        <p:nvSpPr>
          <p:cNvPr id="684" name="TextBox 277"/>
          <p:cNvSpPr txBox="1"/>
          <p:nvPr/>
        </p:nvSpPr>
        <p:spPr>
          <a:xfrm>
            <a:off x="640079" y="1188719"/>
            <a:ext cx="10908794" cy="28079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400">
                <a:solidFill>
                  <a:srgbClr val="4D0912"/>
                </a:solidFill>
              </a:defRPr>
            </a:lvl1pPr>
          </a:lstStyle>
          <a:p>
            <a:pPr/>
            <a:r>
              <a:t>Invalida una lectura fuerte del 0.996; no invalida los resultados externos.</a:t>
            </a:r>
          </a:p>
        </p:txBody>
      </p:sp>
      <p:pic>
        <p:nvPicPr>
          <p:cNvPr id="685" name="Picture 569" descr="Picture 569"/>
          <p:cNvPicPr>
            <a:picLocks noChangeAspect="1"/>
          </p:cNvPicPr>
          <p:nvPr/>
        </p:nvPicPr>
        <p:blipFill>
          <a:blip r:embed="rId3">
            <a:extLst/>
          </a:blip>
          <a:stretch>
            <a:fillRect/>
          </a:stretch>
        </p:blipFill>
        <p:spPr>
          <a:xfrm>
            <a:off x="1380489" y="1563806"/>
            <a:ext cx="9418321" cy="4506376"/>
          </a:xfrm>
          <a:prstGeom prst="rect">
            <a:avLst/>
          </a:prstGeom>
          <a:ln w="12700">
            <a:miter lim="400000"/>
          </a:ln>
        </p:spPr>
      </p:pic>
      <p:sp>
        <p:nvSpPr>
          <p:cNvPr id="686" name="TextBox 570"/>
          <p:cNvSpPr txBox="1"/>
          <p:nvPr/>
        </p:nvSpPr>
        <p:spPr>
          <a:xfrm>
            <a:off x="594359" y="5989321"/>
            <a:ext cx="11000235"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500">
                <a:solidFill>
                  <a:srgbClr val="4D0912"/>
                </a:solidFill>
              </a:defRPr>
            </a:lvl1pPr>
          </a:lstStyle>
          <a:p>
            <a:pPr/>
            <a:r>
              <a:t>Los +0.335 externos NO dependen de LC25000; el 0.996 in-dist sí queda acotado.</a:t>
            </a:r>
          </a:p>
        </p:txBody>
      </p:sp>
      <p:sp>
        <p:nvSpPr>
          <p:cNvPr id="687" name="Rectangle 571"/>
          <p:cNvSpPr/>
          <p:nvPr/>
        </p:nvSpPr>
        <p:spPr>
          <a:xfrm>
            <a:off x="594359" y="6355079"/>
            <a:ext cx="11000235" cy="18290"/>
          </a:xfrm>
          <a:prstGeom prst="rect">
            <a:avLst/>
          </a:prstGeom>
          <a:solidFill>
            <a:srgbClr val="EBD9A8"/>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88" name="Rectangle 6"/>
          <p:cNvSpPr/>
          <p:nvPr/>
        </p:nvSpPr>
        <p:spPr>
          <a:xfrm>
            <a:off x="548638" y="1024127"/>
            <a:ext cx="1097284"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2"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93"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694"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695"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BACKUP</a:t>
            </a:r>
          </a:p>
        </p:txBody>
      </p:sp>
      <p:sp>
        <p:nvSpPr>
          <p:cNvPr id="696" name="TextBox 276"/>
          <p:cNvSpPr txBox="1"/>
          <p:nvPr/>
        </p:nvSpPr>
        <p:spPr>
          <a:xfrm>
            <a:off x="640079" y="384047"/>
            <a:ext cx="10908794" cy="43766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defRPr>
            </a:lvl1pPr>
          </a:lstStyle>
          <a:p>
            <a:pPr/>
            <a:r>
              <a:t>¿Qué aporta DINOv2 como control?</a:t>
            </a:r>
          </a:p>
        </p:txBody>
      </p:sp>
      <p:sp>
        <p:nvSpPr>
          <p:cNvPr id="697" name="TextBox 277"/>
          <p:cNvSpPr txBox="1"/>
          <p:nvPr/>
        </p:nvSpPr>
        <p:spPr>
          <a:xfrm>
            <a:off x="640079" y="1188719"/>
            <a:ext cx="10908794" cy="307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400">
                <a:solidFill>
                  <a:srgbClr val="4D0912"/>
                </a:solidFill>
                <a:latin typeface="+mj-lt"/>
                <a:ea typeface="+mj-ea"/>
                <a:cs typeface="+mj-cs"/>
                <a:sym typeface="Helvetica"/>
              </a:defRPr>
            </a:lvl1pPr>
          </a:lstStyle>
          <a:p>
            <a:pPr/>
            <a:r>
              <a:t>Self-supervised distillation sobre 142M imágenes curadas, sin etiquetas (Oquab 2024).</a:t>
            </a:r>
          </a:p>
        </p:txBody>
      </p:sp>
      <p:pic>
        <p:nvPicPr>
          <p:cNvPr id="698" name="Picture 607" descr="Picture 607"/>
          <p:cNvPicPr>
            <a:picLocks noChangeAspect="1"/>
          </p:cNvPicPr>
          <p:nvPr/>
        </p:nvPicPr>
        <p:blipFill>
          <a:blip r:embed="rId3">
            <a:extLst/>
          </a:blip>
          <a:stretch>
            <a:fillRect/>
          </a:stretch>
        </p:blipFill>
        <p:spPr>
          <a:xfrm>
            <a:off x="1746250" y="1581147"/>
            <a:ext cx="8686800" cy="4826003"/>
          </a:xfrm>
          <a:prstGeom prst="rect">
            <a:avLst/>
          </a:prstGeom>
          <a:ln w="12700">
            <a:miter lim="400000"/>
          </a:ln>
        </p:spPr>
      </p:pic>
      <p:sp>
        <p:nvSpPr>
          <p:cNvPr id="699" name="TextBox 608"/>
          <p:cNvSpPr txBox="1"/>
          <p:nvPr/>
        </p:nvSpPr>
        <p:spPr>
          <a:xfrm>
            <a:off x="594359" y="5989321"/>
            <a:ext cx="11000235"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500">
                <a:solidFill>
                  <a:srgbClr val="4D0912"/>
                </a:solidFill>
              </a:defRPr>
            </a:lvl1pPr>
          </a:lstStyle>
          <a:p>
            <a:pPr/>
            <a:r>
              <a:t>Representación visual fuerte SIN dominio médico → control parcial para separar amplitud visual de dominio.</a:t>
            </a:r>
          </a:p>
        </p:txBody>
      </p:sp>
      <p:sp>
        <p:nvSpPr>
          <p:cNvPr id="700" name="Rectangle 609"/>
          <p:cNvSpPr/>
          <p:nvPr/>
        </p:nvSpPr>
        <p:spPr>
          <a:xfrm>
            <a:off x="594359" y="6355079"/>
            <a:ext cx="11000235" cy="18290"/>
          </a:xfrm>
          <a:prstGeom prst="rect">
            <a:avLst/>
          </a:prstGeom>
          <a:solidFill>
            <a:srgbClr val="EBD9A8"/>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701" name="Rectangle 6"/>
          <p:cNvSpPr/>
          <p:nvPr/>
        </p:nvSpPr>
        <p:spPr>
          <a:xfrm>
            <a:off x="548638" y="1024127"/>
            <a:ext cx="1097284"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05" name="Rectangle 1"/>
          <p:cNvSpPr/>
          <p:nvPr/>
        </p:nvSpPr>
        <p:spPr>
          <a:xfrm>
            <a:off x="-1" y="-1"/>
            <a:ext cx="12191697" cy="164594"/>
          </a:xfrm>
          <a:prstGeom prst="rect">
            <a:avLst/>
          </a:prstGeom>
          <a:solidFill>
            <a:srgbClr val="6B0F1A"/>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706" name="Rectangle 2"/>
          <p:cNvSpPr/>
          <p:nvPr/>
        </p:nvSpPr>
        <p:spPr>
          <a:xfrm>
            <a:off x="-1" y="6812280"/>
            <a:ext cx="12191697" cy="36600"/>
          </a:xfrm>
          <a:prstGeom prst="rect">
            <a:avLst/>
          </a:prstGeom>
          <a:solidFill>
            <a:srgbClr val="D9D4CB"/>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707" name="TextBox 3"/>
          <p:cNvSpPr txBox="1"/>
          <p:nvPr/>
        </p:nvSpPr>
        <p:spPr>
          <a:xfrm>
            <a:off x="594360" y="6492240"/>
            <a:ext cx="7223760"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Leandro Candau  ·  TFM: Foundational VLMs para histopatología</a:t>
            </a:r>
          </a:p>
        </p:txBody>
      </p:sp>
      <p:sp>
        <p:nvSpPr>
          <p:cNvPr id="708" name="TextBox 4"/>
          <p:cNvSpPr txBox="1"/>
          <p:nvPr/>
        </p:nvSpPr>
        <p:spPr>
          <a:xfrm>
            <a:off x="8579814" y="6492240"/>
            <a:ext cx="3017545"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666666"/>
                </a:solidFill>
              </a:defRPr>
            </a:lvl1pPr>
          </a:lstStyle>
          <a:p>
            <a:pPr/>
            <a:r>
              <a:t>BACKUP</a:t>
            </a:r>
          </a:p>
        </p:txBody>
      </p:sp>
      <p:sp>
        <p:nvSpPr>
          <p:cNvPr id="709" name="TextBox 276"/>
          <p:cNvSpPr txBox="1"/>
          <p:nvPr/>
        </p:nvSpPr>
        <p:spPr>
          <a:xfrm>
            <a:off x="640079" y="384047"/>
            <a:ext cx="10908794" cy="43766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600">
                <a:solidFill>
                  <a:srgbClr val="6B0F1A"/>
                </a:solidFill>
              </a:defRPr>
            </a:lvl1pPr>
          </a:lstStyle>
          <a:p>
            <a:pPr/>
            <a:r>
              <a:t>¿Qué optimiza exactamente InfoNCE?</a:t>
            </a:r>
          </a:p>
        </p:txBody>
      </p:sp>
      <p:sp>
        <p:nvSpPr>
          <p:cNvPr id="710" name="TextBox 277"/>
          <p:cNvSpPr txBox="1"/>
          <p:nvPr/>
        </p:nvSpPr>
        <p:spPr>
          <a:xfrm>
            <a:off x="640079" y="1188719"/>
            <a:ext cx="10908794" cy="307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400">
                <a:solidFill>
                  <a:srgbClr val="4D0912"/>
                </a:solidFill>
                <a:latin typeface="+mj-lt"/>
                <a:ea typeface="+mj-ea"/>
                <a:cs typeface="+mj-cs"/>
                <a:sym typeface="Helvetica"/>
              </a:defRPr>
            </a:lvl1pPr>
          </a:lstStyle>
          <a:p>
            <a:pPr/>
            <a:r>
              <a:t>El objetivo contrastivo que optimizamos entre imagen y texto en cada batch (Oord 2018).</a:t>
            </a:r>
          </a:p>
        </p:txBody>
      </p:sp>
      <p:pic>
        <p:nvPicPr>
          <p:cNvPr id="711" name="Picture 620" descr="Picture 620"/>
          <p:cNvPicPr>
            <a:picLocks noChangeAspect="1"/>
          </p:cNvPicPr>
          <p:nvPr/>
        </p:nvPicPr>
        <p:blipFill>
          <a:blip r:embed="rId3">
            <a:extLst/>
          </a:blip>
          <a:stretch>
            <a:fillRect/>
          </a:stretch>
        </p:blipFill>
        <p:spPr>
          <a:xfrm>
            <a:off x="607059" y="1757808"/>
            <a:ext cx="5029202" cy="4335519"/>
          </a:xfrm>
          <a:prstGeom prst="rect">
            <a:avLst/>
          </a:prstGeom>
          <a:ln w="12700">
            <a:miter lim="400000"/>
          </a:ln>
        </p:spPr>
      </p:pic>
      <p:sp>
        <p:nvSpPr>
          <p:cNvPr id="712" name="TextBox 621"/>
          <p:cNvSpPr txBox="1"/>
          <p:nvPr/>
        </p:nvSpPr>
        <p:spPr>
          <a:xfrm>
            <a:off x="6035040" y="1828800"/>
            <a:ext cx="5669282"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500">
                <a:solidFill>
                  <a:srgbClr val="6B0F1A"/>
                </a:solidFill>
              </a:defRPr>
            </a:lvl1pPr>
          </a:lstStyle>
          <a:p>
            <a:pPr/>
            <a:r>
              <a:t>Fórmula</a:t>
            </a:r>
          </a:p>
        </p:txBody>
      </p:sp>
      <p:sp>
        <p:nvSpPr>
          <p:cNvPr id="713" name="TextBox 622"/>
          <p:cNvSpPr txBox="1"/>
          <p:nvPr/>
        </p:nvSpPr>
        <p:spPr>
          <a:xfrm>
            <a:off x="6035040" y="2148839"/>
            <a:ext cx="5669282" cy="9623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1300">
                <a:solidFill>
                  <a:srgbClr val="3C2814"/>
                </a:solidFill>
              </a:defRPr>
            </a:pPr>
            <a:r>
              <a:t>sᵢⱼ = (vᵢ · tⱼ) / τ</a:t>
            </a:r>
          </a:p>
          <a:p>
            <a:pPr>
              <a:defRPr sz="1100">
                <a:solidFill>
                  <a:srgbClr val="3C2814"/>
                </a:solidFill>
              </a:defRPr>
            </a:pPr>
            <a:r>
              <a:t>L_{I→T} = −(1/N) Σᵢ log[ exp(sᵢᵢ) / Σⱼ exp(sᵢⱼ) ]</a:t>
            </a:r>
          </a:p>
          <a:p>
            <a:pPr>
              <a:defRPr sz="1100">
                <a:solidFill>
                  <a:srgbClr val="3C2814"/>
                </a:solidFill>
              </a:defRPr>
            </a:pPr>
            <a:r>
              <a:t>L_{T→I} = versión traspuesta</a:t>
            </a:r>
          </a:p>
          <a:p>
            <a:pPr>
              <a:defRPr sz="1300">
                <a:solidFill>
                  <a:srgbClr val="3C2814"/>
                </a:solidFill>
              </a:defRPr>
            </a:pPr>
            <a:r>
              <a:t>L_InfoNCE = ½ (L_{I→T} + L_{T→I})</a:t>
            </a:r>
          </a:p>
          <a:p>
            <a:pPr>
              <a:defRPr i="1" sz="1100">
                <a:solidFill>
                  <a:srgbClr val="826540"/>
                </a:solidFill>
              </a:defRPr>
            </a:pPr>
            <a:r>
              <a:t>τ aprendida como log(1/τ)</a:t>
            </a:r>
          </a:p>
        </p:txBody>
      </p:sp>
      <p:sp>
        <p:nvSpPr>
          <p:cNvPr id="714" name="TextBox 623"/>
          <p:cNvSpPr txBox="1"/>
          <p:nvPr/>
        </p:nvSpPr>
        <p:spPr>
          <a:xfrm>
            <a:off x="6035040" y="3749038"/>
            <a:ext cx="5669282"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500">
                <a:solidFill>
                  <a:srgbClr val="6B0F1A"/>
                </a:solidFill>
              </a:defRPr>
            </a:lvl1pPr>
          </a:lstStyle>
          <a:p>
            <a:pPr/>
            <a:r>
              <a:t>Interpretación</a:t>
            </a:r>
          </a:p>
        </p:txBody>
      </p:sp>
      <p:sp>
        <p:nvSpPr>
          <p:cNvPr id="715" name="TextBox 624"/>
          <p:cNvSpPr txBox="1"/>
          <p:nvPr/>
        </p:nvSpPr>
        <p:spPr>
          <a:xfrm>
            <a:off x="6035040" y="4069080"/>
            <a:ext cx="5669282" cy="12854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1300">
                <a:solidFill>
                  <a:srgbClr val="3C2814"/>
                </a:solidFill>
              </a:defRPr>
            </a:pPr>
            <a:r>
              <a:t>▸ Rows = imágenes, columns = prompts / textos.</a:t>
            </a:r>
          </a:p>
          <a:p>
            <a:pPr>
              <a:defRPr sz="1300">
                <a:solidFill>
                  <a:srgbClr val="3C2814"/>
                </a:solidFill>
              </a:defRPr>
            </a:pPr>
            <a:r>
              <a:t>▸ Softmax por fila empuja la diagonal.</a:t>
            </a:r>
          </a:p>
          <a:p>
            <a:pPr>
              <a:defRPr sz="1300">
                <a:solidFill>
                  <a:srgbClr val="3C2814"/>
                </a:solidFill>
              </a:defRPr>
            </a:pPr>
            <a:r>
              <a:t>▸ Diagonal = positivos reales (aciertos).</a:t>
            </a:r>
          </a:p>
          <a:p>
            <a:pPr>
              <a:defRPr sz="1300">
                <a:solidFill>
                  <a:srgbClr val="3C2814"/>
                </a:solidFill>
              </a:defRPr>
            </a:pPr>
            <a:r>
              <a:t>▸ Off-diagonal = negativos in-batch (imperfectos).</a:t>
            </a:r>
          </a:p>
          <a:p>
            <a:pPr>
              <a:defRPr b="1" sz="1300">
                <a:solidFill>
                  <a:srgbClr val="B02020"/>
                </a:solidFill>
              </a:defRPr>
            </a:pPr>
            <a:r>
              <a:t>▸ ⚠ Falsos negativos: prompts compartidos por clase.</a:t>
            </a:r>
          </a:p>
        </p:txBody>
      </p:sp>
      <p:sp>
        <p:nvSpPr>
          <p:cNvPr id="716" name="TextBox 625"/>
          <p:cNvSpPr txBox="1"/>
          <p:nvPr/>
        </p:nvSpPr>
        <p:spPr>
          <a:xfrm>
            <a:off x="594359" y="5989321"/>
            <a:ext cx="11000235" cy="27799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500">
                <a:solidFill>
                  <a:srgbClr val="4D0912"/>
                </a:solidFill>
              </a:defRPr>
            </a:lvl1pPr>
          </a:lstStyle>
          <a:p>
            <a:pPr/>
            <a:r>
              <a:t>InfoNCE empuja la diagonal por encima de las off-diagonales; caveat: prompts compartidos crean falsos negativos.</a:t>
            </a:r>
          </a:p>
        </p:txBody>
      </p:sp>
      <p:sp>
        <p:nvSpPr>
          <p:cNvPr id="717" name="Rectangle 626"/>
          <p:cNvSpPr/>
          <p:nvPr/>
        </p:nvSpPr>
        <p:spPr>
          <a:xfrm>
            <a:off x="594359" y="6355079"/>
            <a:ext cx="11000235" cy="18290"/>
          </a:xfrm>
          <a:prstGeom prst="rect">
            <a:avLst/>
          </a:prstGeom>
          <a:solidFill>
            <a:srgbClr val="EBD9A8"/>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
        <p:nvSpPr>
          <p:cNvPr id="718" name="Rectangle 6"/>
          <p:cNvSpPr/>
          <p:nvPr/>
        </p:nvSpPr>
        <p:spPr>
          <a:xfrm>
            <a:off x="548638" y="1024127"/>
            <a:ext cx="1097284" cy="36600"/>
          </a:xfrm>
          <a:prstGeom prst="rect">
            <a:avLst/>
          </a:prstGeom>
          <a:solidFill>
            <a:srgbClr val="C9A227"/>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defRPr>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