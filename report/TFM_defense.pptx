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94" r:id="rId43"/>
    <p:sldId id="283" r:id="rId35"/>
    <p:sldId id="284" r:id="rId36"/>
    <p:sldId id="285" r:id="rId37"/>
    <p:sldId id="286" r:id="rId38"/>
    <p:sldId id="287" r:id="rId39"/>
    <p:sldId id="288" r:id="rId40"/>
    <p:sldId id="289" r:id="rId41"/>
    <p:sldId id="292" r:id="rId44"/>
    <p:sldId id="293" r:id="rId45"/>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1pPr>
    <a:lvl2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2pPr>
    <a:lvl3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3pPr>
    <a:lvl4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4pPr>
    <a:lvl5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5pPr>
    <a:lvl6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6pPr>
    <a:lvl7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7pPr>
    <a:lvl8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8pPr>
    <a:lvl9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0" name="Shape 90"/>
          <p:cNvSpPr/>
          <p:nvPr>
            <p:ph type="sldImg"/>
          </p:nvPr>
        </p:nvSpPr>
        <p:spPr>
          <a:xfrm>
            <a:off x="1143000" y="685800"/>
            <a:ext cx="4572000" cy="3429000"/>
          </a:xfrm>
          <a:prstGeom prst="rect">
            <a:avLst/>
          </a:prstGeom>
        </p:spPr>
        <p:txBody>
          <a:bodyPr/>
          <a:lstStyle/>
          <a:p>
            <a:pPr/>
          </a:p>
        </p:txBody>
      </p:sp>
      <p:sp>
        <p:nvSpPr>
          <p:cNvPr id="91" name="Shape 91"/>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n-lt"/>
        <a:ea typeface="+mn-ea"/>
        <a:cs typeface="+mn-cs"/>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101"/>
          <p:cNvSpPr/>
          <p:nvPr>
            <p:ph type="sldImg"/>
          </p:nvPr>
        </p:nvSpPr>
        <p:spPr>
          <a:prstGeom prst="rect">
            <a:avLst/>
          </a:prstGeom>
        </p:spPr>
        <p:txBody>
          <a:bodyPr/>
          <a:lstStyle/>
          <a:p>
            <a:pPr/>
          </a:p>
        </p:txBody>
      </p:sp>
      <p:sp>
        <p:nvSpPr>
          <p:cNvPr id="102" name="Shape 102"/>
          <p:cNvSpPr/>
          <p:nvPr>
            <p:ph type="body" sz="quarter" idx="1"/>
          </p:nvPr>
        </p:nvSpPr>
        <p:spPr>
          <a:prstGeom prst="rect">
            <a:avLst/>
          </a:prstGeom>
        </p:spPr>
        <p:txBody>
          <a:bodyPr/>
          <a:lstStyle/>
          <a:p>
            <a:pPr>
              <a:defRPr sz="1300"/>
            </a:pPr>
            <a:r>
              <a:t>GUION (~25 s):</a:t>
            </a:r>
          </a:p>
          <a:p>
            <a:pPr/>
            <a:endParaRPr sz="1300"/>
          </a:p>
          <a:p>
            <a:pPr>
              <a:defRPr sz="1300"/>
            </a:pPr>
            <a:r>
              <a:t>Buenos días. Soy Leandro Candau, y hoy defiendo mi Trabajo de Fin de Máster titulado A Study on Foundational Vision-Language Models for Histopathology Image Analysis.</a:t>
            </a:r>
          </a:p>
          <a:p>
            <a:pPr/>
            <a:endParaRPr sz="1300"/>
          </a:p>
          <a:p>
            <a:pPr>
              <a:defRPr sz="1300"/>
            </a:pPr>
            <a:r>
              <a:t>Ha sido dirigido por los profesores Miguel Ángel Gutiérrez Naranjo y Miguel Cárdenas Montes, a quienes agradezco su acompañamiento durante todo el proceso.</a:t>
            </a:r>
          </a:p>
          <a:p>
            <a:pPr/>
            <a:endParaRPr sz="1300"/>
          </a:p>
          <a:p>
            <a:pPr>
              <a:defRPr sz="1300"/>
            </a:pPr>
            <a:r>
              <a:t>La presentación se organiza en cuatro partes: motivación, metodología, resultados y una discusión final. Empezamos.</a:t>
            </a:r>
          </a:p>
          <a:p>
            <a:pPr/>
            <a:endParaRPr sz="1300"/>
          </a:p>
          <a:p>
            <a:pPr>
              <a:defRPr sz="1300"/>
            </a:pPr>
            <a:r>
              <a:t>━━━━━━━━━━━━━━━━━━━━━━━━━━━━━━</a:t>
            </a:r>
          </a:p>
          <a:p>
            <a:pPr/>
            <a:endParaRPr sz="1300"/>
          </a:p>
          <a:p>
            <a:pPr>
              <a:defRPr sz="1300"/>
            </a:pPr>
            <a:r>
              <a:t>NOTAS:</a:t>
            </a:r>
          </a:p>
          <a:p>
            <a:pPr/>
            <a:endParaRPr sz="1300"/>
          </a:p>
          <a:p>
            <a:pPr>
              <a:defRPr sz="1300"/>
            </a:pPr>
            <a:r>
              <a:t>Portada. Buenos días. Soy Leandro Candau, y hoy presento mi TFM: A Study on Foundational Vision-Language Models for Histopathology Image Analysis. Bajo la dirección de Miguel Ángel Gutiérrez Naranjo y Miguel Cárdenas Montes.</a:t>
            </a:r>
          </a:p>
          <a:p>
            <a:pPr/>
            <a:endParaRPr sz="1300"/>
          </a:p>
          <a:p>
            <a:pPr>
              <a:defRPr sz="1300"/>
            </a:pPr>
            <a:r>
              <a:t>Engagement: mira al tribunal, pausa breve tras el título, sonríe. No leas la portada palabra por palabra.</a:t>
            </a:r>
          </a:p>
          <a:p>
            <a:pPr>
              <a:defRPr sz="1300"/>
            </a:pPr>
            <a:r>
              <a:t>Duración: ~30 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p>
            <a:pPr>
              <a:defRPr sz="1300"/>
            </a:pPr>
            <a:r>
              <a:t>GUION (~5 s):</a:t>
            </a:r>
          </a:p>
          <a:p>
            <a:pPr/>
            <a:endParaRPr sz="1300"/>
          </a:p>
          <a:p>
            <a:pPr>
              <a:defRPr sz="1300"/>
            </a:pPr>
            <a:r>
              <a:t>Empezamos por la motivación.</a:t>
            </a:r>
          </a:p>
          <a:p>
            <a:pPr/>
            <a:endParaRPr sz="1300"/>
          </a:p>
          <a:p>
            <a:pPr>
              <a:defRPr sz="1300"/>
            </a:pPr>
            <a:r>
              <a:t>━━━━━━━━━━━━━━━━━━━━━━━━━━━━━━</a:t>
            </a:r>
          </a:p>
          <a:p>
            <a:pPr/>
            <a:endParaRPr sz="1300"/>
          </a:p>
          <a:p>
            <a:pPr>
              <a:defRPr sz="1300"/>
            </a:pPr>
            <a:r>
              <a:t>NOTAS:</a:t>
            </a:r>
          </a:p>
          <a:p>
            <a:pPr/>
            <a:endParaRPr sz="1300"/>
          </a:p>
          <a:p>
            <a:pPr>
              <a:defRPr sz="1300"/>
            </a:pPr>
            <a:r>
              <a:t>Divisor de sección 01: Motivación. Transición rápida.</a:t>
            </a:r>
          </a:p>
          <a:p>
            <a:pPr/>
            <a:endParaRPr sz="1300"/>
          </a:p>
          <a:p>
            <a:pPr>
              <a:defRPr sz="1300"/>
            </a:pPr>
            <a:r>
              <a:t>Solo dilo: «Empecemos por la motivación.»</a:t>
            </a:r>
          </a:p>
          <a:p>
            <a:pPr>
              <a:defRPr sz="1300"/>
            </a:pPr>
            <a:r>
              <a:t>Duración: ~5 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3" name="Shape 123"/>
          <p:cNvSpPr/>
          <p:nvPr>
            <p:ph type="sldImg"/>
          </p:nvPr>
        </p:nvSpPr>
        <p:spPr>
          <a:prstGeom prst="rect">
            <a:avLst/>
          </a:prstGeom>
        </p:spPr>
        <p:txBody>
          <a:bodyPr/>
          <a:lstStyle/>
          <a:p>
            <a:pPr/>
          </a:p>
        </p:txBody>
      </p:sp>
      <p:sp>
        <p:nvSpPr>
          <p:cNvPr id="124" name="Shape 124"/>
          <p:cNvSpPr/>
          <p:nvPr>
            <p:ph type="body" sz="quarter" idx="1"/>
          </p:nvPr>
        </p:nvSpPr>
        <p:spPr>
          <a:prstGeom prst="rect">
            <a:avLst/>
          </a:prstGeom>
        </p:spPr>
        <p:txBody>
          <a:bodyPr/>
          <a:lstStyle/>
          <a:p>
            <a:pPr>
              <a:defRPr sz="1300"/>
            </a:pPr>
            <a:r>
              <a:t>⚠ DELIVERY: no menciones que los números están mal — ya están corregidos (80.000 × 40.000 píxeles). No te disculpes en voz alta.</a:t>
            </a:r>
          </a:p>
          <a:p>
            <a:pPr/>
            <a:endParaRPr sz="1300"/>
          </a:p>
          <a:p>
            <a:pPr>
              <a:defRPr sz="1300"/>
            </a:pPr>
            <a:r>
              <a:t>GUION (~45 s):</a:t>
            </a:r>
          </a:p>
          <a:p>
            <a:pPr/>
            <a:endParaRPr sz="1300"/>
          </a:p>
          <a:p>
            <a:pPr>
              <a:defRPr sz="1300"/>
            </a:pPr>
            <a:r>
              <a:t>La histopatología es la disciplina que analiza tejidos a nivel microscópico para diagnosticar enfermedades. Durante décadas ha sido una tarea puramente manual, con el patólogo examinando láminas de vidrio bajo el microscopio. Hoy esas láminas se digitalizan como imágenes gigapíxel, y eso abre la puerta a que modelos de visión por computador colaboren en el proceso.</a:t>
            </a:r>
          </a:p>
          <a:p>
            <a:pPr/>
            <a:endParaRPr sz="1300"/>
          </a:p>
          <a:p>
            <a:pPr>
              <a:defRPr sz="1300"/>
            </a:pPr>
            <a:r>
              <a:t>Pero no es un dominio cualquiera. Aquí abajo veis muestras del mismo tipo de tejido tomadas en cuatro instituciones distintas. La apariencia varía mucho entre ellas: cambia la tinción, el escáner, incluso el corte del tejido. Este es el contexto en el que se enmarca nuestro estudio.</a:t>
            </a:r>
          </a:p>
          <a:p>
            <a:pPr/>
            <a:endParaRPr sz="1300"/>
          </a:p>
          <a:p>
            <a:pPr>
              <a:defRPr sz="1300"/>
            </a:pPr>
            <a:r>
              <a:t>━━━━━━━━━━━━━━━━━━━━━━━━━━━━━━</a:t>
            </a:r>
          </a:p>
          <a:p>
            <a:pPr/>
            <a:endParaRPr sz="1300"/>
          </a:p>
          <a:p>
            <a:pPr>
              <a:defRPr sz="1300"/>
            </a:pPr>
            <a:r>
              <a:t>NOTAS:</a:t>
            </a:r>
          </a:p>
          <a:p>
            <a:pPr/>
            <a:endParaRPr sz="1300"/>
          </a:p>
          <a:p>
            <a:pPr>
              <a:defRPr sz="1300"/>
            </a:pPr>
            <a:r>
              <a:t>Histopatología digital. Explica en dos frases qué es (análisis visual de tejidos por patólogos, hoy sobre WSIs digitalizadas), y por qué es un banco de pruebas exigente para modelos de visión (imágenes muy grandes, dominios distintos por órgano, variabilidad entre laboratorios).</a:t>
            </a:r>
          </a:p>
          <a:p>
            <a:pPr/>
            <a:endParaRPr sz="1300"/>
          </a:p>
          <a:p>
            <a:pPr>
              <a:defRPr sz="1300"/>
            </a:pPr>
            <a:r>
              <a:t>Engagement: menciona el paso analógico → digital como una razón por la que ML tiene ahora un rol claro.</a:t>
            </a:r>
          </a:p>
          <a:p>
            <a:pPr>
              <a:defRPr sz="1300"/>
            </a:pPr>
            <a:r>
              <a:t>Duración: ~40-50 s.</a:t>
            </a:r>
          </a:p>
          <a:p>
            <a:pPr>
              <a:defRPr sz="1300"/>
            </a:pPr>
            <a:r>
              <a:t>Evita: profundizar en detalles clínicos; el tribunal no necesita el diagnóstico paso a paso.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 name="Shape 136"/>
          <p:cNvSpPr/>
          <p:nvPr>
            <p:ph type="sldImg"/>
          </p:nvPr>
        </p:nvSpPr>
        <p:spPr>
          <a:prstGeom prst="rect">
            <a:avLst/>
          </a:prstGeom>
        </p:spPr>
        <p:txBody>
          <a:bodyPr/>
          <a:lstStyle/>
          <a:p>
            <a:pPr/>
          </a:p>
        </p:txBody>
      </p:sp>
      <p:sp>
        <p:nvSpPr>
          <p:cNvPr id="137" name="Shape 137"/>
          <p:cNvSpPr/>
          <p:nvPr>
            <p:ph type="body" sz="quarter" idx="1"/>
          </p:nvPr>
        </p:nvSpPr>
        <p:spPr>
          <a:prstGeom prst="rect">
            <a:avLst/>
          </a:prstGeom>
        </p:spPr>
        <p:txBody>
          <a:bodyPr/>
          <a:lstStyle/>
          <a:p>
            <a:pPr>
              <a:defRPr sz="1300"/>
            </a:pPr>
            <a:r>
              <a:t>GUION (~50 s):</a:t>
            </a:r>
          </a:p>
          <a:p>
            <a:pPr/>
            <a:endParaRPr sz="1300"/>
          </a:p>
          <a:p>
            <a:pPr>
              <a:defRPr sz="1300"/>
            </a:pPr>
            <a:r>
              <a:t>Cualquier pipeline de visión aplicado a histopatología tiene que lidiar con tres retos concretos.</a:t>
            </a:r>
          </a:p>
          <a:p>
            <a:pPr/>
            <a:endParaRPr sz="1300"/>
          </a:p>
          <a:p>
            <a:pPr>
              <a:defRPr sz="1300"/>
            </a:pPr>
            <a:r>
              <a:t>El primero es la escasez de etiquetas: los conjuntos abiertos con anotaciones de calidad son varios órdenes de magnitud más pequeños que los corpus generales de imagen, porque cada etiqueta requiere un patólogo experto y es cara.</a:t>
            </a:r>
          </a:p>
          <a:p>
            <a:pPr/>
            <a:endParaRPr sz="1300"/>
          </a:p>
          <a:p>
            <a:pPr>
              <a:defRPr sz="1300"/>
            </a:pPr>
            <a:r>
              <a:t>El segundo es la variabilidad de tinción. La hematoxilina-eosina cambia entre laboratorios, técnicos y protocolos.</a:t>
            </a:r>
          </a:p>
          <a:p>
            <a:pPr/>
            <a:endParaRPr sz="1300"/>
          </a:p>
          <a:p>
            <a:pPr>
              <a:defRPr sz="1300"/>
            </a:pPr>
            <a:r>
              <a:t>Y el tercero es el sesgo institucional: cada centro digitaliza con sus propios escáneres, sus propios lotes y procesos. Este trabajo se centra precisamente en ese último punto: cómo se comportan los modelos cuando cambiamos de institución.</a:t>
            </a:r>
          </a:p>
          <a:p>
            <a:pPr/>
            <a:endParaRPr sz="1300"/>
          </a:p>
          <a:p>
            <a:pPr>
              <a:defRPr sz="1300"/>
            </a:pPr>
            <a:r>
              <a:t>━━━━━━━━━━━━━━━━━━━━━━━━━━━━━━</a:t>
            </a:r>
          </a:p>
          <a:p>
            <a:pPr/>
            <a:endParaRPr sz="1300"/>
          </a:p>
          <a:p>
            <a:pPr>
              <a:defRPr sz="1300"/>
            </a:pPr>
            <a:r>
              <a:t>NOTAS:</a:t>
            </a:r>
          </a:p>
          <a:p>
            <a:pPr/>
            <a:endParaRPr sz="1300"/>
          </a:p>
          <a:p>
            <a:pPr>
              <a:defRPr sz="1300"/>
            </a:pPr>
            <a:r>
              <a:t>Retos del dominio. Tres particularidades que cualquier pipeline de visión debe contemplar:</a:t>
            </a:r>
          </a:p>
          <a:p>
            <a:pPr>
              <a:defRPr sz="1300"/>
            </a:pPr>
            <a:r>
              <a:t>1) Escasez de etiquetas (varias órdenes de magnitud menores que corpus generales).</a:t>
            </a:r>
          </a:p>
          <a:p>
            <a:pPr>
              <a:defRPr sz="1300"/>
            </a:pPr>
            <a:r>
              <a:t>2) Variabilidad de tinción H&amp;E (laboratorio, técnico, protocolo).</a:t>
            </a:r>
          </a:p>
          <a:p>
            <a:pPr>
              <a:defRPr sz="1300"/>
            </a:pPr>
            <a:r>
              <a:t>3) Sesgo institucional / desplazamiento entre instituciones.</a:t>
            </a:r>
          </a:p>
          <a:p>
            <a:pPr/>
            <a:endParaRPr sz="1300"/>
          </a:p>
          <a:p>
            <a:pPr>
              <a:defRPr sz="1300"/>
            </a:pPr>
            <a:r>
              <a:t>Señala la figura: mismo tipo de tejido en cuatro datasets se ve marcadamente diferente.</a:t>
            </a:r>
          </a:p>
          <a:p>
            <a:pPr>
              <a:defRPr sz="1300"/>
            </a:pPr>
            <a:r>
              <a:t>Engagement: apoyar el «por eso este trabajo es sobre generalización externa», no sobre in-distribution.</a:t>
            </a:r>
          </a:p>
          <a:p>
            <a:pPr>
              <a:defRPr sz="1300"/>
            </a:pPr>
            <a:r>
              <a:t>Duración: ~45-60 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4" name="Shape 174"/>
          <p:cNvSpPr/>
          <p:nvPr>
            <p:ph type="sldImg"/>
          </p:nvPr>
        </p:nvSpPr>
        <p:spPr>
          <a:prstGeom prst="rect">
            <a:avLst/>
          </a:prstGeom>
        </p:spPr>
        <p:txBody>
          <a:bodyPr/>
          <a:lstStyle/>
          <a:p>
            <a:pPr/>
          </a:p>
        </p:txBody>
      </p:sp>
      <p:sp>
        <p:nvSpPr>
          <p:cNvPr id="175" name="Shape 175"/>
          <p:cNvSpPr/>
          <p:nvPr>
            <p:ph type="body" sz="quarter" idx="1"/>
          </p:nvPr>
        </p:nvSpPr>
        <p:spPr>
          <a:prstGeom prst="rect">
            <a:avLst/>
          </a:prstGeom>
        </p:spPr>
        <p:txBody>
          <a:bodyPr/>
          <a:lstStyle/>
          <a:p>
            <a:pPr>
              <a:defRPr sz="1300"/>
            </a:pPr>
            <a:r>
              <a:t>GUION (~60s)</a:t>
            </a:r>
          </a:p>
          <a:p>
            <a:pPr>
              <a:defRPr sz="1300"/>
            </a:pPr>
            <a:r>
              <a:t>━━━━━━━━━━━━━━━━━━━━━━━━━━━━━━</a:t>
            </a:r>
          </a:p>
          <a:p>
            <a:pPr>
              <a:defRPr sz="1300"/>
            </a:pPr>
            <a:r>
              <a:t>La idea central es: preentrenar UNA vez sobre un corpus enorme, y luego REUTILIZAR esa representación. No se re-entrena desde cero para cada tarea.</a:t>
            </a:r>
          </a:p>
          <a:p>
            <a:pPr/>
            <a:endParaRPr sz="1300"/>
          </a:p>
          <a:p>
            <a:pPr>
              <a:defRPr sz="1300"/>
            </a:pPr>
            <a:r>
              <a:t>De izquierda a derecha: (1) corpus masivo — texto, imágenes, o pares. (2) Pretraining sin tarea final fija: aprende patrones generales. (3) El modelo fundacional resultante da EMBEDDINGS reutilizables. (4) Para llegar a la tarea final basta una adaptación ligera: prompt, cabeza pequeña, encoder congelado. (5) En este TFM la tarea es clasificar un parche H&amp;E como clase histopatológica.</a:t>
            </a:r>
          </a:p>
          <a:p>
            <a:pPr/>
            <a:endParaRPr sz="1300"/>
          </a:p>
          <a:p>
            <a:pPr>
              <a:defRPr sz="1300"/>
            </a:pPr>
            <a:r>
              <a:t>Los ejemplos que aparecen en el trabajo: BERT (texto), DINOv2 (imagen), CLIP y PLIP (imagen+texto).</a:t>
            </a:r>
          </a:p>
          <a:p>
            <a:pPr/>
            <a:endParaRPr sz="1300"/>
          </a:p>
          <a:p>
            <a:pPr>
              <a:defRPr sz="1300"/>
            </a:pPr>
            <a:r>
              <a:t>Por qué importa aquí: etiquetar histopatología es caro, tenemos pocos datos multi-institución, y el problema real es transferir cuando cambia la fuente.</a:t>
            </a:r>
          </a:p>
          <a:p>
            <a:pPr/>
            <a:endParaRPr sz="1300"/>
          </a:p>
          <a:p>
            <a:pPr>
              <a:defRPr sz="1300"/>
            </a:pPr>
            <a:r>
              <a:t>Cierre: NO entrenamos FMs desde cero. Medimos cuáles transfieren mejor.</a:t>
            </a:r>
          </a:p>
          <a:p>
            <a:pPr/>
            <a:endParaRPr sz="1300"/>
          </a:p>
          <a:p>
            <a:pPr>
              <a:defRPr sz="1300"/>
            </a:pPr>
            <a:r>
              <a:t>━━━━━━━━━━━━━━━━━━━━━━━━━━━━━━</a:t>
            </a:r>
          </a:p>
          <a:p>
            <a:pPr>
              <a:defRPr sz="1300"/>
            </a:pPr>
            <a:r>
              <a:t>NOTAS</a:t>
            </a:r>
          </a:p>
          <a:p>
            <a:pPr>
              <a:defRPr sz="1300"/>
            </a:pPr>
            <a:r>
              <a:t>- No entrar aquí en mecánica de CLIP: eso está en la slide del paradigma CLIP.</a:t>
            </a:r>
          </a:p>
          <a:p>
            <a:pPr>
              <a:defRPr sz="1300"/>
            </a:pPr>
            <a:r>
              <a:t>- Si preguntan "sin supervisión histopatológica": corregir a "con poca supervisión específica". PLIP se entrena con pares imagen-texto de patología (~208K), no es zero-label.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1" name="Shape 191"/>
          <p:cNvSpPr/>
          <p:nvPr>
            <p:ph type="sldImg"/>
          </p:nvPr>
        </p:nvSpPr>
        <p:spPr>
          <a:prstGeom prst="rect">
            <a:avLst/>
          </a:prstGeom>
        </p:spPr>
        <p:txBody>
          <a:bodyPr/>
          <a:lstStyle/>
          <a:p>
            <a:pPr/>
          </a:p>
        </p:txBody>
      </p:sp>
      <p:sp>
        <p:nvSpPr>
          <p:cNvPr id="192" name="Shape 192"/>
          <p:cNvSpPr/>
          <p:nvPr>
            <p:ph type="body" sz="quarter" idx="1"/>
          </p:nvPr>
        </p:nvSpPr>
        <p:spPr>
          <a:prstGeom prst="rect">
            <a:avLst/>
          </a:prstGeom>
        </p:spPr>
        <p:txBody>
          <a:bodyPr/>
          <a:lstStyle/>
          <a:p>
            <a:pPr>
              <a:defRPr sz="1300"/>
            </a:pPr>
            <a:r>
              <a:t>GUION (~40s)</a:t>
            </a:r>
          </a:p>
          <a:p>
            <a:pPr>
              <a:defRPr sz="1300"/>
            </a:pPr>
            <a:r>
              <a:t>━━━━━━━━━━━━━━━━━━━━━━━━━━━━━━</a:t>
            </a:r>
          </a:p>
          <a:p>
            <a:pPr>
              <a:defRPr sz="1300"/>
            </a:pPr>
            <a:r>
              <a:t>La slide anterior mostró qué es un modelo fundacional en general. Ahora la pregunta natural es: ¿QUÉ tipo de FM nos interesa aquí? Los que aprenden una representación conjunta de imagen y texto: los VLM.</a:t>
            </a:r>
          </a:p>
          <a:p>
            <a:pPr/>
          </a:p>
          <a:p>
            <a:pPr>
              <a:defRPr sz="1300"/>
            </a:pPr>
            <a:r>
              <a:t>Qué añade un VLM: entrena con pares imagen-texto, proyecta ambas modalidades al mismo espacio latente, y permite expresar clases mediante texto libre.</a:t>
            </a:r>
          </a:p>
          <a:p>
            <a:pPr/>
          </a:p>
          <a:p>
            <a:pPr>
              <a:defRPr sz="1300"/>
            </a:pPr>
            <a:r>
              <a:t>Por qué aquí: etiquetas histopatológicas caras + el texto puede actuar como supervisión débil + la pregunta real es si esa representación transfiere entre fuentes.</a:t>
            </a:r>
          </a:p>
          <a:p>
            <a:pPr/>
          </a:p>
          <a:p>
            <a:pPr>
              <a:defRPr sz="1300"/>
            </a:pPr>
            <a:r>
              <a:t>Cierre: a partir de este punto todo el trabajo se centra en VLMs con alineamiento imagen-texto.</a:t>
            </a:r>
          </a:p>
          <a:p>
            <a:pPr/>
          </a:p>
          <a:p>
            <a:pPr>
              <a:defRPr sz="1300"/>
            </a:pPr>
            <a:r>
              <a:t>━━━━━━━━━━━━━━━━━━━━━━━━━━━━━━</a:t>
            </a:r>
          </a:p>
          <a:p>
            <a:pPr>
              <a:defRPr sz="1300"/>
            </a:pPr>
            <a:r>
              <a:t>NOTAS</a:t>
            </a:r>
          </a:p>
          <a:p>
            <a:pPr>
              <a:defRPr sz="1300"/>
            </a:pPr>
            <a:r>
              <a:t>- NO explicar aquí InfoNCE, encoders duales, matriz coseno ni prompts en detalle. Eso viene en la slide de CLIP.</a:t>
            </a:r>
          </a:p>
          <a:p>
            <a:pPr>
              <a:defRPr sz="1300"/>
            </a:pPr>
            <a:r>
              <a:t>- Si preguntan por ejemplos: CLIP y PLIP (los usaremos como sistemas concretos).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7" name="Shape 207"/>
          <p:cNvSpPr/>
          <p:nvPr>
            <p:ph type="sldImg"/>
          </p:nvPr>
        </p:nvSpPr>
        <p:spPr>
          <a:prstGeom prst="rect">
            <a:avLst/>
          </a:prstGeom>
        </p:spPr>
        <p:txBody>
          <a:bodyPr/>
          <a:lstStyle/>
          <a:p>
            <a:pPr/>
          </a:p>
        </p:txBody>
      </p:sp>
      <p:sp>
        <p:nvSpPr>
          <p:cNvPr id="208" name="Shape 208"/>
          <p:cNvSpPr/>
          <p:nvPr>
            <p:ph type="body" sz="quarter" idx="1"/>
          </p:nvPr>
        </p:nvSpPr>
        <p:spPr>
          <a:prstGeom prst="rect">
            <a:avLst/>
          </a:prstGeom>
        </p:spPr>
        <p:txBody>
          <a:bodyPr/>
          <a:lstStyle/>
          <a:p>
            <a:pPr>
              <a:defRPr sz="1300"/>
            </a:pPr>
            <a:r>
              <a:t>GUION (~40s)</a:t>
            </a:r>
          </a:p>
          <a:p>
            <a:pPr>
              <a:defRPr sz="1300"/>
            </a:pPr>
            <a:r>
              <a:t>━━━━━━━━━━━━━━━━━━━━━━━━━━━━━━</a:t>
            </a:r>
          </a:p>
          <a:p>
            <a:pPr>
              <a:defRPr sz="1300"/>
            </a:pPr>
            <a:r>
              <a:t>Con el paradigma delimitado, planteo la pregunta que ordena todo el trabajo:</a:t>
            </a:r>
          </a:p>
          <a:p>
            <a:pPr/>
          </a:p>
          <a:p>
            <a:pPr>
              <a:defRPr sz="1300"/>
            </a:pPr>
            <a:r>
              <a:t>¿En qué medida generaliza un sistema de visión-lenguaje basado en alineamiento imagen-texto entre fuentes histopatológicas, y qué componentes explican las diferencias de rendimiento?</a:t>
            </a:r>
          </a:p>
          <a:p>
            <a:pPr/>
          </a:p>
          <a:p>
            <a:pPr>
              <a:defRPr sz="1300"/>
            </a:pPr>
            <a:r>
              <a:t>Por qué esta pregunta:</a:t>
            </a:r>
          </a:p>
          <a:p>
            <a:pPr>
              <a:defRPr sz="1300"/>
            </a:pPr>
            <a:r>
              <a:t>- Contexto: la histopatología combina datos escasos, variabilidad visual entre laboratorios y sesgo de fuente.</a:t>
            </a:r>
          </a:p>
          <a:p>
            <a:pPr>
              <a:defRPr sz="1300"/>
            </a:pPr>
            <a:r>
              <a:t>- Evaluación externa: tres datasets — NCT-CRC, Chaoyang, LungHist700.</a:t>
            </a:r>
          </a:p>
          <a:p>
            <a:pPr>
              <a:defRPr sz="1300"/>
            </a:pPr>
            <a:r>
              <a:t>- Ablación: cambiamos una variable cada vez (encoder visual, encoder de texto, prompt, normalización de tinción, cabeza de clasificación) para saber qué componente aporta o resta.</a:t>
            </a:r>
          </a:p>
          <a:p>
            <a:pPr/>
          </a:p>
          <a:p>
            <a:pPr>
              <a:defRPr sz="1300"/>
            </a:pPr>
            <a:r>
              <a:t>Cierre: toda la metodología se organiza alrededor de esta pregunta.</a:t>
            </a:r>
          </a:p>
          <a:p>
            <a:pPr/>
          </a:p>
          <a:p>
            <a:pPr>
              <a:defRPr sz="1300"/>
            </a:pPr>
            <a:r>
              <a:t>━━━━━━━━━━━━━━━━━━━━━━━━━━━━━━</a:t>
            </a:r>
          </a:p>
          <a:p>
            <a:pPr>
              <a:defRPr sz="1300"/>
            </a:pPr>
            <a:r>
              <a:t>NOTAS</a:t>
            </a:r>
          </a:p>
          <a:p>
            <a:pPr>
              <a:defRPr sz="1300"/>
            </a:pPr>
            <a:r>
              <a:t>- Decir "sistema", no "pipeline".</a:t>
            </a:r>
          </a:p>
          <a:p>
            <a:pPr>
              <a:defRPr sz="1300"/>
            </a:pPr>
            <a:r>
              <a:t>- Decir "fuentes histopatológicas", no "hospitales y laboratorios".</a:t>
            </a:r>
          </a:p>
          <a:p>
            <a:pPr>
              <a:defRPr sz="1300"/>
            </a:pPr>
            <a:r>
              <a:t>- Decir "componentes", no "decisiones de diseño".</a:t>
            </a:r>
          </a:p>
          <a:p>
            <a:pPr>
              <a:defRPr sz="1300"/>
            </a:pPr>
            <a:r>
              <a:t>- No usar el término "modelo fundacional visión-lenguaje" al hablar de la línea base: ese modelo   no lo es como bloque; los foundational son PLIP, DINOv2, BERT/BioBERT/PubMedBERT.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 name="Shape 215"/>
          <p:cNvSpPr/>
          <p:nvPr>
            <p:ph type="sldImg"/>
          </p:nvPr>
        </p:nvSpPr>
        <p:spPr>
          <a:prstGeom prst="rect">
            <a:avLst/>
          </a:prstGeom>
        </p:spPr>
        <p:txBody>
          <a:bodyPr/>
          <a:lstStyle/>
          <a:p>
            <a:pPr/>
          </a:p>
        </p:txBody>
      </p:sp>
      <p:sp>
        <p:nvSpPr>
          <p:cNvPr id="216" name="Shape 216"/>
          <p:cNvSpPr/>
          <p:nvPr>
            <p:ph type="body" sz="quarter" idx="1"/>
          </p:nvPr>
        </p:nvSpPr>
        <p:spPr>
          <a:prstGeom prst="rect">
            <a:avLst/>
          </a:prstGeom>
        </p:spPr>
        <p:txBody>
          <a:bodyPr/>
          <a:lstStyle/>
          <a:p>
            <a:pPr>
              <a:defRPr sz="1300"/>
            </a:pPr>
            <a:r>
              <a:t>GUION (~5 s):</a:t>
            </a:r>
          </a:p>
          <a:p>
            <a:pPr/>
            <a:endParaRPr sz="1300"/>
          </a:p>
          <a:p>
            <a:pPr>
              <a:defRPr sz="1300"/>
            </a:pPr>
            <a:r>
              <a:t>Pasamos ahora a la metodología.</a:t>
            </a:r>
          </a:p>
          <a:p>
            <a:pPr/>
            <a:endParaRPr sz="1300"/>
          </a:p>
          <a:p>
            <a:pPr>
              <a:defRPr sz="1300"/>
            </a:pPr>
            <a:r>
              <a:t>━━━━━━━━━━━━━━━━━━━━━━━━━━━━━━</a:t>
            </a:r>
          </a:p>
          <a:p>
            <a:pPr/>
            <a:endParaRPr sz="1300"/>
          </a:p>
          <a:p>
            <a:pPr>
              <a:defRPr sz="1300"/>
            </a:pPr>
            <a:r>
              <a:t>NOTAS:</a:t>
            </a:r>
          </a:p>
          <a:p>
            <a:pPr/>
            <a:endParaRPr sz="1300"/>
          </a:p>
          <a:p>
            <a:pPr>
              <a:defRPr sz="1300"/>
            </a:pPr>
            <a:r>
              <a:t>Divisor de sección 02: Metodología.</a:t>
            </a:r>
          </a:p>
          <a:p>
            <a:pPr/>
            <a:endParaRPr sz="1300"/>
          </a:p>
          <a:p>
            <a:pPr>
              <a:defRPr sz="1300"/>
            </a:pPr>
            <a:r>
              <a:t>«Pasamos a la metodología.»</a:t>
            </a:r>
          </a:p>
          <a:p>
            <a:pPr>
              <a:defRPr sz="1300"/>
            </a:pPr>
            <a:r>
              <a:t>Duración: ~5 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 name="Shape 228"/>
          <p:cNvSpPr/>
          <p:nvPr>
            <p:ph type="sldImg"/>
          </p:nvPr>
        </p:nvSpPr>
        <p:spPr>
          <a:prstGeom prst="rect">
            <a:avLst/>
          </a:prstGeom>
        </p:spPr>
        <p:txBody>
          <a:bodyPr/>
          <a:lstStyle/>
          <a:p>
            <a:pPr/>
          </a:p>
        </p:txBody>
      </p:sp>
      <p:sp>
        <p:nvSpPr>
          <p:cNvPr id="229" name="Shape 229"/>
          <p:cNvSpPr/>
          <p:nvPr>
            <p:ph type="body" sz="quarter" idx="1"/>
          </p:nvPr>
        </p:nvSpPr>
        <p:spPr>
          <a:prstGeom prst="rect">
            <a:avLst/>
          </a:prstGeom>
        </p:spPr>
        <p:txBody>
          <a:bodyPr/>
          <a:lstStyle/>
          <a:p>
            <a:pPr>
              <a:defRPr sz="1300"/>
            </a:pPr>
            <a:r>
              <a:t>GUION (~80 s):</a:t>
            </a:r>
          </a:p>
          <a:p>
            <a:pPr/>
            <a:endParaRPr sz="1300"/>
          </a:p>
          <a:p>
            <a:pPr>
              <a:defRPr sz="1300"/>
            </a:pPr>
            <a:r>
              <a:t>El paradigma sobre el que trabajamos es CLIP: dos codificadores en paralelo — uno de imagen y otro de texto — entrenados de forma contrastiva sobre un espacio latente compartido.</a:t>
            </a:r>
          </a:p>
          <a:p>
            <a:pPr/>
            <a:endParaRPr sz="1300"/>
          </a:p>
          <a:p>
            <a:pPr>
              <a:defRPr sz="1300"/>
            </a:pPr>
            <a:r>
              <a:t>Lo veis aquí conceptualmente. Al principio del entrenamiento — Paso 1 — las imágenes y sus descripciones están dispersas en el espacio, sin alinear. El objetivo del entrenamiento es que, después de K iteraciones — Paso K — cada imagen quede tirada hacia su descripción correspondiente y separada de las demás.</a:t>
            </a:r>
          </a:p>
          <a:p>
            <a:pPr/>
            <a:endParaRPr sz="1300"/>
          </a:p>
          <a:p>
            <a:pPr>
              <a:defRPr sz="1300"/>
            </a:pPr>
            <a:r>
              <a:t>[CLIC]</a:t>
            </a:r>
          </a:p>
          <a:p>
            <a:pPr/>
            <a:endParaRPr sz="1300"/>
          </a:p>
          <a:p>
            <a:pPr>
              <a:defRPr sz="1300"/>
            </a:pPr>
            <a:r>
              <a:t>Y esta es la forma matricial. Los pares reales de imagen-texto son la diagonal, en dorado. Los pares negativos, fuera de la diagonal, se separan. La pérdida es InfoNCE simétrica, tanto por filas como por columnas. En inferencia hacemos argmax por fila para elegir la clase predicha. Es equivalente a una clasificación zero-shot con un vocabulario definido en tiempo de inferencia.</a:t>
            </a:r>
          </a:p>
          <a:p>
            <a:pPr/>
            <a:endParaRPr sz="1300"/>
          </a:p>
          <a:p>
            <a:pPr>
              <a:defRPr sz="1300"/>
            </a:pPr>
            <a:r>
              <a:t>━━━━━━━━━━━━━━━━━━━━━━━━━━━━━━</a:t>
            </a:r>
          </a:p>
          <a:p>
            <a:pPr/>
            <a:endParaRPr sz="1300"/>
          </a:p>
          <a:p>
            <a:pPr>
              <a:defRPr sz="1300"/>
            </a:pPr>
            <a:r>
              <a:t>NOTAS:</a:t>
            </a:r>
          </a:p>
          <a:p>
            <a:pPr/>
            <a:endParaRPr sz="1300"/>
          </a:p>
          <a:p>
            <a:pPr>
              <a:defRPr sz="1300"/>
            </a:pPr>
            <a:r>
              <a:t>Paradigma CLIP. En esta diapositiva hay una animación: primero aparece el esquema Step 1 → Step K, y en un clic se revela la matriz InfoNCE de fondo.</a:t>
            </a:r>
          </a:p>
          <a:p>
            <a:pPr/>
            <a:endParaRPr sz="1300"/>
          </a:p>
          <a:p>
            <a:pPr>
              <a:defRPr sz="1300"/>
            </a:pPr>
            <a:r>
              <a:t>Paso 1: explica el diagrama de conceptual. En el estado inicial, imágenes y descripciones están dispersas en el espacio. Con entrenamiento contrastivo (InfoNCE), cada imagen «tira» de su descripción hasta que los pares reales quedan juntos y los no-pares se separan.</a:t>
            </a:r>
          </a:p>
          <a:p>
            <a:pPr/>
            <a:endParaRPr sz="1300"/>
          </a:p>
          <a:p>
            <a:pPr>
              <a:defRPr sz="1300"/>
            </a:pPr>
            <a:r>
              <a:t>Paso 2 (clic): revela la matriz. Diagonal (dorado) son pares positivos (imagen ↔ su clase); fuera de diagonal (crema) son pares negativos. Loss: InfoNCE simétrica. En inferencia: argmax por fila = clase predicha.</a:t>
            </a:r>
          </a:p>
          <a:p>
            <a:pPr/>
            <a:endParaRPr sz="1300"/>
          </a:p>
          <a:p>
            <a:pPr>
              <a:defRPr sz="1300"/>
            </a:pPr>
            <a:r>
              <a:t>Cierra con: «Es una clasificación zero-shot con vocabulario de clases; sin entrenar cabezas específicas.»</a:t>
            </a:r>
          </a:p>
          <a:p>
            <a:pPr>
              <a:defRPr sz="1300"/>
            </a:pPr>
            <a:r>
              <a:t>Engagement: aprovecha el clic como marcador de ritmo. No hables sobre la matriz sin haberla revelado.</a:t>
            </a:r>
          </a:p>
          <a:p>
            <a:pPr>
              <a:defRPr sz="1300"/>
            </a:pPr>
            <a:r>
              <a:t>Duración: ~75-90 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2" name="Shape 242"/>
          <p:cNvSpPr/>
          <p:nvPr>
            <p:ph type="sldImg"/>
          </p:nvPr>
        </p:nvSpPr>
        <p:spPr>
          <a:prstGeom prst="rect">
            <a:avLst/>
          </a:prstGeom>
        </p:spPr>
        <p:txBody>
          <a:bodyPr/>
          <a:lstStyle/>
          <a:p>
            <a:pPr/>
          </a:p>
        </p:txBody>
      </p:sp>
      <p:sp>
        <p:nvSpPr>
          <p:cNvPr id="243" name="Shape 243"/>
          <p:cNvSpPr/>
          <p:nvPr>
            <p:ph type="body" sz="quarter" idx="1"/>
          </p:nvPr>
        </p:nvSpPr>
        <p:spPr>
          <a:prstGeom prst="rect">
            <a:avLst/>
          </a:prstGeom>
        </p:spPr>
        <p:txBody>
          <a:bodyPr/>
          <a:lstStyle/>
          <a:p>
            <a:pPr>
              <a:defRPr sz="1300"/>
            </a:pPr>
            <a:r>
              <a:t>GUION (~45 s):</a:t>
            </a:r>
          </a:p>
          <a:p>
            <a:pPr/>
            <a:endParaRPr sz="1300"/>
          </a:p>
          <a:p>
            <a:pPr>
              <a:defRPr sz="1300"/>
            </a:pPr>
            <a:r>
              <a:t>Aparte del CLIP genérico existe una versión específica para patología: PLIP. Es una arquitectura CLIP-style — ViT-B/32 para imagen más un BERT para texto — pero entrenada sobre unos 208.000 pares imagen-texto extraídos de literatura médica y redes sociales científicas. Es el único modelo fundacional visión-lenguaje específico de patología públicamente disponible durante el trabajo.</a:t>
            </a:r>
          </a:p>
          <a:p>
            <a:pPr/>
            <a:endParaRPr sz="1300"/>
          </a:p>
          <a:p>
            <a:pPr>
              <a:defRPr sz="1300"/>
            </a:pPr>
            <a:r>
              <a:t>Lo utilizamos de dos formas: como referencia externa en modo zero-shot sobre los cuatro datasets, y como codificador de imagen alternativo en la RQ5, combinándolo con nuestro BERT y proyecciones entrenadas sobre LC25000.</a:t>
            </a:r>
          </a:p>
          <a:p>
            <a:pPr/>
            <a:endParaRPr sz="1300"/>
          </a:p>
          <a:p>
            <a:pPr>
              <a:defRPr sz="1300"/>
            </a:pPr>
            <a:r>
              <a:t>━━━━━━━━━━━━━━━━━━━━━━━━━━━━━━</a:t>
            </a:r>
          </a:p>
          <a:p>
            <a:pPr/>
            <a:endParaRPr sz="1300"/>
          </a:p>
          <a:p>
            <a:pPr>
              <a:defRPr sz="1300"/>
            </a:pPr>
            <a:r>
              <a:t>NOTAS:</a:t>
            </a:r>
          </a:p>
          <a:p>
            <a:pPr/>
            <a:endParaRPr sz="1300"/>
          </a:p>
          <a:p>
            <a:pPr>
              <a:defRPr sz="1300"/>
            </a:pPr>
            <a:r>
              <a:t>PLIP. Modelo CLIP-style específico de patología (Huang et al. 2023), entrenado sobre ~208K pares imagen–texto extraídos de literatura y redes sociales científicas. Es el único VLM histopatológico disponible en el momento del estudio.</a:t>
            </a:r>
          </a:p>
          <a:p>
            <a:pPr/>
            <a:endParaRPr sz="1300"/>
          </a:p>
          <a:p>
            <a:pPr>
              <a:defRPr sz="1300"/>
            </a:pPr>
            <a:r>
              <a:t>En este trabajo lo usamos de dos formas:</a:t>
            </a:r>
          </a:p>
          <a:p>
            <a:pPr>
              <a:defRPr sz="1300"/>
            </a:pPr>
            <a:r>
              <a:t>1) Zero-shot: sobre los 4 datasets, sin entrenar nada nuestro.</a:t>
            </a:r>
          </a:p>
          <a:p>
            <a:pPr>
              <a:defRPr sz="1300"/>
            </a:pPr>
            <a:r>
              <a:t>2) Como codificador de imagen alternativo en RQ5, combinado con nuestro BERT congelado y proyecciones entrenadas sobre LC25000.</a:t>
            </a:r>
          </a:p>
          <a:p>
            <a:pPr/>
            <a:endParaRPr sz="1300"/>
          </a:p>
          <a:p>
            <a:pPr>
              <a:defRPr sz="1300"/>
            </a:pPr>
            <a:r>
              <a:t>Duración: ~40-50 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255"/>
          <p:cNvSpPr/>
          <p:nvPr>
            <p:ph type="sldImg"/>
          </p:nvPr>
        </p:nvSpPr>
        <p:spPr>
          <a:prstGeom prst="rect">
            <a:avLst/>
          </a:prstGeom>
        </p:spPr>
        <p:txBody>
          <a:bodyPr/>
          <a:lstStyle/>
          <a:p>
            <a:pPr/>
          </a:p>
        </p:txBody>
      </p:sp>
      <p:sp>
        <p:nvSpPr>
          <p:cNvPr id="256" name="Shape 256"/>
          <p:cNvSpPr/>
          <p:nvPr>
            <p:ph type="body" sz="quarter" idx="1"/>
          </p:nvPr>
        </p:nvSpPr>
        <p:spPr>
          <a:prstGeom prst="rect">
            <a:avLst/>
          </a:prstGeom>
        </p:spPr>
        <p:txBody>
          <a:bodyPr/>
          <a:lstStyle/>
          <a:p>
            <a:pPr>
              <a:defRPr sz="1300"/>
            </a:pPr>
            <a:r>
              <a:t>GUION (~55 s):</a:t>
            </a:r>
          </a:p>
          <a:p>
            <a:pPr/>
            <a:endParaRPr sz="1300"/>
          </a:p>
          <a:p>
            <a:pPr>
              <a:defRPr sz="1300"/>
            </a:pPr>
            <a:r>
              <a:t>Nuestra línea base experimental es un CLIP entrenado sobre LC25000. Los codificadores están congelados: ResNet50 pre-entrenado en ImageNet para imagen, BERT-base uncased para texto. Solo entrenamos las cabezas de proyección de 256 dimensiones, una por modalidad.</a:t>
            </a:r>
          </a:p>
          <a:p>
            <a:pPr/>
            <a:endParaRPr sz="1300"/>
          </a:p>
          <a:p>
            <a:pPr>
              <a:defRPr sz="1300"/>
            </a:pPr>
            <a:r>
              <a:t>El prompt es fijo: "A histopathology image of {class}". La pérdida es InfoNCE simétrica con temperatura aprendida. Los detalles finos de optimizador y learning rate están en las notas y en el capítulo tres del trabajo, y los desarrollo con mucho gusto si el tribunal los quiere ver.</a:t>
            </a:r>
          </a:p>
          <a:p>
            <a:pPr/>
            <a:endParaRPr sz="1300"/>
          </a:p>
          <a:p>
            <a:pPr>
              <a:defRPr sz="1300"/>
            </a:pPr>
            <a:r>
              <a:t>━━━━━━━━━━━━━━━━━━━━━━━━━━━━━━</a:t>
            </a:r>
          </a:p>
          <a:p>
            <a:pPr/>
            <a:endParaRPr sz="1300"/>
          </a:p>
          <a:p>
            <a:pPr>
              <a:defRPr sz="1300"/>
            </a:pPr>
            <a:r>
              <a:t>NOTAS:</a:t>
            </a:r>
          </a:p>
          <a:p>
            <a:pPr/>
            <a:endParaRPr sz="1300"/>
          </a:p>
          <a:p>
            <a:pPr>
              <a:defRPr sz="1300"/>
            </a:pPr>
            <a:r>
              <a:t>Línea base experimental. CLIP entrenado sobre LC25000 con:</a:t>
            </a:r>
          </a:p>
          <a:p>
            <a:pPr>
              <a:defRPr sz="1300"/>
            </a:pPr>
            <a:r>
              <a:t>- Codificador de imagen: ResNet50 pre-entrenado en ImageNet, congelado.</a:t>
            </a:r>
          </a:p>
          <a:p>
            <a:pPr>
              <a:defRPr sz="1300"/>
            </a:pPr>
            <a:r>
              <a:t>- Codificador de texto: BERT-base uncased, congelado.</a:t>
            </a:r>
          </a:p>
          <a:p>
            <a:pPr>
              <a:defRPr sz="1300"/>
            </a:pPr>
            <a:r>
              <a:t>- Cabezas de proyección 256-d entrenables (una por modalidad).</a:t>
            </a:r>
          </a:p>
          <a:p>
            <a:pPr>
              <a:defRPr sz="1300"/>
            </a:pPr>
            <a:r>
              <a:t>- Prompt fijo: «A histopathology image of {class}.»</a:t>
            </a:r>
          </a:p>
          <a:p>
            <a:pPr>
              <a:defRPr sz="1300"/>
            </a:pPr>
            <a:r>
              <a:t>- Loss: InfoNCE simétrica; temperatura aprendida.</a:t>
            </a:r>
          </a:p>
          <a:p>
            <a:pPr/>
            <a:endParaRPr sz="1300"/>
          </a:p>
          <a:p>
            <a:pPr>
              <a:defRPr sz="1300"/>
            </a:pPr>
            <a:r>
              <a:t>El resto de detalles (optimizador, LR, épocas, seed, precisión float32) están en las notas y en el capítulo 3 del TFM. Si el tribunal pregunta, puedo entrar en profundidad.</a:t>
            </a:r>
          </a:p>
          <a:p>
            <a:pPr/>
            <a:endParaRPr sz="1300"/>
          </a:p>
          <a:p>
            <a:pPr>
              <a:defRPr sz="1300"/>
            </a:pPr>
            <a:r>
              <a:t>Engagement: no te enredes con hiperparámetros en la exposición; es material de preguntas.</a:t>
            </a:r>
          </a:p>
          <a:p>
            <a:pPr>
              <a:defRPr sz="1300"/>
            </a:pPr>
            <a:r>
              <a:t>Duración: ~45-60 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9" name="Shape 269"/>
          <p:cNvSpPr/>
          <p:nvPr>
            <p:ph type="sldImg"/>
          </p:nvPr>
        </p:nvSpPr>
        <p:spPr>
          <a:prstGeom prst="rect">
            <a:avLst/>
          </a:prstGeom>
        </p:spPr>
        <p:txBody>
          <a:bodyPr/>
          <a:lstStyle/>
          <a:p>
            <a:pPr/>
          </a:p>
        </p:txBody>
      </p:sp>
      <p:sp>
        <p:nvSpPr>
          <p:cNvPr id="270" name="Shape 270"/>
          <p:cNvSpPr/>
          <p:nvPr>
            <p:ph type="body" sz="quarter" idx="1"/>
          </p:nvPr>
        </p:nvSpPr>
        <p:spPr>
          <a:prstGeom prst="rect">
            <a:avLst/>
          </a:prstGeom>
        </p:spPr>
        <p:txBody>
          <a:bodyPr/>
          <a:lstStyle/>
          <a:p>
            <a:pPr>
              <a:defRPr sz="1300"/>
            </a:pPr>
            <a:r>
              <a:t>⚠ DELIVERY: NO previews los seis experimentos aquí. Muestra el timeline visual y avanza. Los detalles vienen slide-a-slide en Resultados; repetirlos ahora quema ~1,5 min.</a:t>
            </a:r>
          </a:p>
          <a:p>
            <a:pPr/>
            <a:endParaRPr sz="1300"/>
          </a:p>
          <a:p>
            <a:pPr>
              <a:defRPr sz="1300"/>
            </a:pPr>
            <a:r>
              <a:t>GUION (~60 s):</a:t>
            </a:r>
          </a:p>
          <a:p>
            <a:pPr/>
            <a:endParaRPr sz="1300"/>
          </a:p>
          <a:p>
            <a:pPr>
              <a:defRPr sz="1300"/>
            </a:pPr>
            <a:r>
              <a:t>El diseño experimental sigue el principio de una variable cada vez sobre la línea base. Aquí tenéis las seis condiciones: cabeza CLIP versus un clasificador plano de cross-entropy, PLIP zero-shot como referencia externa, normalización de tinción con Macenko, un barrido de codificadores de texto biomédicos con dos tipos de prompts, y dos alternativas de codificador de imagen — DINOv2 y PLIP.</a:t>
            </a:r>
          </a:p>
          <a:p>
            <a:pPr/>
            <a:endParaRPr sz="1300"/>
          </a:p>
          <a:p>
            <a:pPr>
              <a:defRPr sz="1300"/>
            </a:pPr>
            <a:r>
              <a:t>La evaluación externa se hace en tres datasets no vistos: NCT-CRC-HE-7K para colon similar a LC25000, Chaoyang para colon con distinta tinción y escáner, y LungHist700 para pulmón.</a:t>
            </a:r>
          </a:p>
          <a:p>
            <a:pPr/>
            <a:endParaRPr sz="1300"/>
          </a:p>
          <a:p>
            <a:pPr>
              <a:defRPr sz="1300"/>
            </a:pPr>
            <a:r>
              <a:t>Dos decisiones metodológicas importantes: usamos argmax restringido por órgano — cada dataset se compara solo contra sus clases relevantes — y reportamos por dataset, no promediado, para no ocultar cambios de régimen entre órganos.</a:t>
            </a:r>
          </a:p>
          <a:p>
            <a:pPr/>
            <a:endParaRPr sz="1300"/>
          </a:p>
          <a:p>
            <a:pPr>
              <a:defRPr sz="1300"/>
            </a:pPr>
            <a:r>
              <a:t>━━━━━━━━━━━━━━━━━━━━━━━━━━━━━━</a:t>
            </a:r>
          </a:p>
          <a:p>
            <a:pPr/>
            <a:endParaRPr sz="1300"/>
          </a:p>
          <a:p>
            <a:pPr>
              <a:defRPr sz="1300"/>
            </a:pPr>
            <a:r>
              <a:t>NOTAS:</a:t>
            </a:r>
          </a:p>
          <a:p>
            <a:pPr/>
            <a:endParaRPr sz="1300"/>
          </a:p>
          <a:p>
            <a:pPr>
              <a:defRPr sz="1300"/>
            </a:pPr>
            <a:r>
              <a:t>Diseño experimental: seis experimentos, cada uno cambia UN componente respecto a la línea base. RQ2 (cabeza CLIP vs Dense-5), PLIP zero-shot como referencia, RQ3 (Macenko), RQ4 (encoders de texto biomédicos × prompts, grid 3×2), RQ5 (encoders de imagen: DINOv2 y PLIP).</a:t>
            </a:r>
          </a:p>
          <a:p>
            <a:pPr/>
            <a:endParaRPr sz="1300"/>
          </a:p>
          <a:p>
            <a:pPr>
              <a:defRPr sz="1300"/>
            </a:pPr>
            <a:r>
              <a:t>Evaluación externa en 3 datasets no vistos:</a:t>
            </a:r>
          </a:p>
          <a:p>
            <a:pPr>
              <a:defRPr sz="1300"/>
            </a:pPr>
            <a:r>
              <a:t>- NCT-CRC (colon, estilo similar a LC25000; Kather 2019).</a:t>
            </a:r>
          </a:p>
          <a:p>
            <a:pPr>
              <a:defRPr sz="1300"/>
            </a:pPr>
            <a:r>
              <a:t>- Chaoyang (colon, tinción/escáner distintos; Zhu 2021).</a:t>
            </a:r>
          </a:p>
          <a:p>
            <a:pPr>
              <a:defRPr sz="1300"/>
            </a:pPr>
            <a:r>
              <a:t>- LungHist700 (pulmón, 20×; Reyes 2024).</a:t>
            </a:r>
          </a:p>
          <a:p>
            <a:pPr/>
            <a:endParaRPr sz="1300"/>
          </a:p>
          <a:p>
            <a:pPr>
              <a:defRPr sz="1300"/>
            </a:pPr>
            <a:r>
              <a:t>Protocolo:</a:t>
            </a:r>
          </a:p>
          <a:p>
            <a:pPr>
              <a:defRPr sz="1300"/>
            </a:pPr>
            <a:r>
              <a:t>- Argmax restringido por órgano (cada dataset compara solo contra sus clases, no las 5 completas).</a:t>
            </a:r>
          </a:p>
          <a:p>
            <a:pPr>
              <a:defRPr sz="1300"/>
            </a:pPr>
            <a:r>
              <a:t>- Reporte separado por dataset (no promediado), para no ocultar cambios de régimen entre órganos.</a:t>
            </a:r>
          </a:p>
          <a:p>
            <a:pPr/>
            <a:endParaRPr sz="1300"/>
          </a:p>
          <a:p>
            <a:pPr>
              <a:defRPr sz="1300"/>
            </a:pPr>
            <a:r>
              <a:t>Duración: ~50-70 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7" name="Shape 277"/>
          <p:cNvSpPr/>
          <p:nvPr>
            <p:ph type="sldImg"/>
          </p:nvPr>
        </p:nvSpPr>
        <p:spPr>
          <a:prstGeom prst="rect">
            <a:avLst/>
          </a:prstGeom>
        </p:spPr>
        <p:txBody>
          <a:bodyPr/>
          <a:lstStyle/>
          <a:p>
            <a:pPr/>
          </a:p>
        </p:txBody>
      </p:sp>
      <p:sp>
        <p:nvSpPr>
          <p:cNvPr id="278" name="Shape 278"/>
          <p:cNvSpPr/>
          <p:nvPr>
            <p:ph type="body" sz="quarter" idx="1"/>
          </p:nvPr>
        </p:nvSpPr>
        <p:spPr>
          <a:prstGeom prst="rect">
            <a:avLst/>
          </a:prstGeom>
        </p:spPr>
        <p:txBody>
          <a:bodyPr/>
          <a:lstStyle/>
          <a:p>
            <a:pPr>
              <a:defRPr sz="1300"/>
            </a:pPr>
            <a:r>
              <a:t>GUION (~5 s):</a:t>
            </a:r>
          </a:p>
          <a:p>
            <a:pPr/>
            <a:endParaRPr sz="1300"/>
          </a:p>
          <a:p>
            <a:pPr>
              <a:defRPr sz="1300"/>
            </a:pPr>
            <a:r>
              <a:t>Y ahora los resultados.</a:t>
            </a:r>
          </a:p>
          <a:p>
            <a:pPr/>
            <a:endParaRPr sz="1300"/>
          </a:p>
          <a:p>
            <a:pPr>
              <a:defRPr sz="1300"/>
            </a:pPr>
            <a:r>
              <a:t>━━━━━━━━━━━━━━━━━━━━━━━━━━━━━━</a:t>
            </a:r>
          </a:p>
          <a:p>
            <a:pPr/>
            <a:endParaRPr sz="1300"/>
          </a:p>
          <a:p>
            <a:pPr>
              <a:defRPr sz="1300"/>
            </a:pPr>
            <a:r>
              <a:t>NOTAS:</a:t>
            </a:r>
          </a:p>
          <a:p>
            <a:pPr/>
            <a:endParaRPr sz="1300"/>
          </a:p>
          <a:p>
            <a:pPr>
              <a:defRPr sz="1300"/>
            </a:pPr>
            <a:r>
              <a:t>Divisor de sección 03: Resultados.</a:t>
            </a:r>
          </a:p>
          <a:p>
            <a:pPr/>
            <a:endParaRPr sz="1300"/>
          </a:p>
          <a:p>
            <a:pPr>
              <a:defRPr sz="1300"/>
            </a:pPr>
            <a:r>
              <a:t>«Ahora los resultados.»</a:t>
            </a:r>
          </a:p>
          <a:p>
            <a:pPr>
              <a:defRPr sz="1300"/>
            </a:pPr>
            <a:r>
              <a:t>Duración: ~5 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4" name="Shape 294"/>
          <p:cNvSpPr/>
          <p:nvPr>
            <p:ph type="sldImg"/>
          </p:nvPr>
        </p:nvSpPr>
        <p:spPr>
          <a:prstGeom prst="rect">
            <a:avLst/>
          </a:prstGeom>
        </p:spPr>
        <p:txBody>
          <a:bodyPr/>
          <a:lstStyle/>
          <a:p>
            <a:pPr/>
          </a:p>
        </p:txBody>
      </p:sp>
      <p:sp>
        <p:nvSpPr>
          <p:cNvPr id="295" name="Shape 295"/>
          <p:cNvSpPr/>
          <p:nvPr>
            <p:ph type="body" sz="quarter" idx="1"/>
          </p:nvPr>
        </p:nvSpPr>
        <p:spPr>
          <a:prstGeom prst="rect">
            <a:avLst/>
          </a:prstGeom>
        </p:spPr>
        <p:txBody>
          <a:bodyPr/>
          <a:lstStyle/>
          <a:p>
            <a:pPr>
              <a:defRPr sz="1300"/>
            </a:pPr>
            <a:r>
              <a:t>GUION (~60 s):</a:t>
            </a:r>
          </a:p>
          <a:p>
            <a:pPr/>
            <a:endParaRPr sz="1300"/>
          </a:p>
          <a:p>
            <a:pPr>
              <a:defRPr sz="1300"/>
            </a:pPr>
            <a:r>
              <a:t>Antes de entrar en los números, una nota rápida sobre precisión. Cada re-entrenamiento con el mismo seed tiene un jitter del orden de diez a la menos tres en macro-F1. Cuando dos variantes difieren menos que eso, consideramos que empatan dentro del ruido.</a:t>
            </a:r>
          </a:p>
          <a:p>
            <a:pPr/>
            <a:endParaRPr sz="1300"/>
          </a:p>
          <a:p>
            <a:pPr>
              <a:defRPr sz="1300"/>
            </a:pPr>
            <a:r>
              <a:t>Dicho eso, aquí está el comportamiento del baseline sobre los cuatro datasets. En LC25000 saturamos: 0.996 macro-F1. En NCT tenemos transferencia razonable con 0.866. En Chaoyang cae a 0.786. Y en LungHist700 colapsa a 0.305, que está cerca del azar tres clases.</a:t>
            </a:r>
          </a:p>
          <a:p>
            <a:pPr/>
            <a:endParaRPr sz="1300"/>
          </a:p>
          <a:p>
            <a:pPr>
              <a:defRPr sz="1300"/>
            </a:pPr>
            <a:r>
              <a:t>La matriz de confusión de la derecha explica el fallo: el modelo predice casi todo como carcinoma escamoso. Es un clasificador de una sola clase disfrazado de multi-clase.</a:t>
            </a:r>
          </a:p>
          <a:p>
            <a:pPr/>
            <a:endParaRPr sz="1300"/>
          </a:p>
          <a:p>
            <a:pPr>
              <a:defRPr sz="1300"/>
            </a:pPr>
            <a:r>
              <a:t>━━━━━━━━━━━━━━━━━━━━━━━━━━━━━━</a:t>
            </a:r>
          </a:p>
          <a:p>
            <a:pPr/>
            <a:endParaRPr sz="1300"/>
          </a:p>
          <a:p>
            <a:pPr>
              <a:defRPr sz="1300"/>
            </a:pPr>
            <a:r>
              <a:t>NOTAS:</a:t>
            </a:r>
          </a:p>
          <a:p>
            <a:pPr/>
            <a:endParaRPr sz="1300"/>
          </a:p>
          <a:p>
            <a:pPr>
              <a:defRPr sz="1300"/>
            </a:pPr>
            <a:r>
              <a:t>Aclaración previa a los resultados: los números reportados en esta sección tienen un jitter de ~10⁻³ macro-F1 entre re-entrenamientos con el mismo seed 42 (procede de HuggingFace load order, cuDNN autotune, y variaciones menores del entorno Colab). Cuando dos variantes se diferencian por menos de ese orden de magnitud, consideramos que empatan dentro del ruido.</a:t>
            </a:r>
          </a:p>
          <a:p>
            <a:pPr/>
            <a:endParaRPr sz="1300"/>
          </a:p>
          <a:p>
            <a:pPr>
              <a:defRPr sz="1300"/>
            </a:pPr>
            <a:r>
              <a:t>Por consistencia, cuando una variante repite exactamente la arquitectura baseline (por ejemplo, BERT + composed en el barrido de codificadores de texto), reportamos el número canónico de la línea base y no el del re-run.</a:t>
            </a:r>
          </a:p>
          <a:p>
            <a:pPr/>
            <a:endParaRPr sz="1300"/>
          </a:p>
          <a:p>
            <a:pPr>
              <a:defRPr sz="1300"/>
            </a:pPr>
            <a:r>
              <a:t>---</a:t>
            </a:r>
          </a:p>
          <a:p>
            <a:pPr/>
            <a:endParaRPr sz="1300"/>
          </a:p>
          <a:p>
            <a:pPr>
              <a:defRPr sz="1300"/>
            </a:pPr>
            <a:r>
              <a:t>Comportamiento de la línea base. Cuatro números clave:</a:t>
            </a:r>
          </a:p>
          <a:p>
            <a:pPr>
              <a:defRPr sz="1300"/>
            </a:pPr>
            <a:r>
              <a:t>- LC25000 (in-dist): 0.996 – saturado.</a:t>
            </a:r>
          </a:p>
          <a:p>
            <a:pPr>
              <a:defRPr sz="1300"/>
            </a:pPr>
            <a:r>
              <a:t>- NCT-CRC: 0.866 – transferencia razonable.</a:t>
            </a:r>
          </a:p>
          <a:p>
            <a:pPr>
              <a:defRPr sz="1300"/>
            </a:pPr>
            <a:r>
              <a:t>- Chaoyang: 0.786 – degradación notable.</a:t>
            </a:r>
          </a:p>
          <a:p>
            <a:pPr>
              <a:defRPr sz="1300"/>
            </a:pPr>
            <a:r>
              <a:t>- LungHist700: 0.305 – colapso, cerca del azar 3-clases.</a:t>
            </a:r>
          </a:p>
          <a:p>
            <a:pPr/>
            <a:endParaRPr sz="1300"/>
          </a:p>
          <a:p>
            <a:pPr>
              <a:defRPr sz="1300"/>
            </a:pPr>
            <a:r>
              <a:t>La matriz de confusión de LungHist700 muestra el fallo mecánico: el clasificador se colapsa a una sola clase (predice casi todo como escamoso).</a:t>
            </a:r>
          </a:p>
          <a:p>
            <a:pPr/>
            <a:endParaRPr sz="1300"/>
          </a:p>
          <a:p>
            <a:pPr>
              <a:defRPr sz="1300"/>
            </a:pPr>
            <a:r>
              <a:t>Engagement: haz una pausa después de decir «0.305». Deja que aterrice antes de mostrar la matriz.</a:t>
            </a:r>
          </a:p>
          <a:p>
            <a:pPr>
              <a:defRPr sz="1300"/>
            </a:pPr>
            <a:r>
              <a:t>Duración: ~60-75 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8" name="Shape 308"/>
          <p:cNvSpPr/>
          <p:nvPr>
            <p:ph type="sldImg"/>
          </p:nvPr>
        </p:nvSpPr>
        <p:spPr>
          <a:prstGeom prst="rect">
            <a:avLst/>
          </a:prstGeom>
        </p:spPr>
        <p:txBody>
          <a:bodyPr/>
          <a:lstStyle/>
          <a:p>
            <a:pPr/>
          </a:p>
        </p:txBody>
      </p:sp>
      <p:sp>
        <p:nvSpPr>
          <p:cNvPr id="309" name="Shape 309"/>
          <p:cNvSpPr/>
          <p:nvPr>
            <p:ph type="body" sz="quarter" idx="1"/>
          </p:nvPr>
        </p:nvSpPr>
        <p:spPr>
          <a:prstGeom prst="rect">
            <a:avLst/>
          </a:prstGeom>
        </p:spPr>
        <p:txBody>
          <a:bodyPr/>
          <a:lstStyle/>
          <a:p>
            <a:pPr>
              <a:defRPr sz="1300"/>
            </a:pPr>
            <a:r>
              <a:t>GUION (~45 s):</a:t>
            </a:r>
          </a:p>
          <a:p>
            <a:pPr/>
            <a:endParaRPr sz="1300"/>
          </a:p>
          <a:p>
            <a:pPr>
              <a:defRPr sz="1300"/>
            </a:pPr>
            <a:r>
              <a:t>El colapso métrico se refleja también en el espacio latente. Aquí tenéis cuatro proyecciones UMAP compartidas del baseline, una por dataset externo.</a:t>
            </a:r>
          </a:p>
          <a:p>
            <a:pPr/>
            <a:endParaRPr sz="1300"/>
          </a:p>
          <a:p>
            <a:pPr>
              <a:defRPr sz="1300"/>
            </a:pPr>
            <a:r>
              <a:t>LC25000 y NCT co-localizan sin problema. Chaoyang deriva pero se mantiene cerca del cluster de colon. LungHist700 aterriza directamente sobre el cluster de colon adenocarcinoma — el modelo no reconoce "pulmón" como una zona propia del espacio.</a:t>
            </a:r>
          </a:p>
          <a:p>
            <a:pPr/>
            <a:endParaRPr sz="1300"/>
          </a:p>
          <a:p>
            <a:pPr>
              <a:defRPr sz="1300"/>
            </a:pPr>
            <a:r>
              <a:t>La geometría refleja la métrica: donde falla el número, falla también la estructura visual.</a:t>
            </a:r>
          </a:p>
          <a:p>
            <a:pPr/>
            <a:endParaRPr sz="1300"/>
          </a:p>
          <a:p>
            <a:pPr>
              <a:defRPr sz="1300"/>
            </a:pPr>
            <a:r>
              <a:t>━━━━━━━━━━━━━━━━━━━━━━━━━━━━━━</a:t>
            </a:r>
          </a:p>
          <a:p>
            <a:pPr/>
            <a:endParaRPr sz="1300"/>
          </a:p>
          <a:p>
            <a:pPr>
              <a:defRPr sz="1300"/>
            </a:pPr>
            <a:r>
              <a:t>NOTAS:</a:t>
            </a:r>
          </a:p>
          <a:p>
            <a:pPr/>
            <a:endParaRPr sz="1300"/>
          </a:p>
          <a:p>
            <a:pPr>
              <a:defRPr sz="1300"/>
            </a:pPr>
            <a:r>
              <a:t>Espacio latente del baseline a través del shift. Cuatro UMAP compartidos, uno por dataset externo. La animación conmuta entre el scatter y los thumbnails.</a:t>
            </a:r>
          </a:p>
          <a:p>
            <a:pPr/>
            <a:endParaRPr sz="1300"/>
          </a:p>
          <a:p>
            <a:pPr>
              <a:defRPr sz="1300"/>
            </a:pPr>
            <a:r>
              <a:t>Léase: LC25000 y NCT co-localizan (transferencia limpia). Chaoyang deriva pero permanece cerca del cluster de colon. LungHist700 aterriza en la zona del cluster de colon adenocarcinoma; el modelo no reconoce «pulmón» como un cluster distinto.</a:t>
            </a:r>
          </a:p>
          <a:p>
            <a:pPr/>
            <a:endParaRPr sz="1300"/>
          </a:p>
          <a:p>
            <a:pPr>
              <a:defRPr sz="1300"/>
            </a:pPr>
            <a:r>
              <a:t>Mensaje: la métrica no falla sola; la geometría también refleja el colapso.</a:t>
            </a:r>
          </a:p>
          <a:p>
            <a:pPr>
              <a:defRPr sz="1300"/>
            </a:pPr>
            <a:r>
              <a:t>Engagement: es una diapositiva de puente, no de resultado. Pasa rápido.</a:t>
            </a:r>
          </a:p>
          <a:p>
            <a:pPr>
              <a:defRPr sz="1300"/>
            </a:pPr>
            <a:r>
              <a:t>Duración: ~30-45 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3" name="Shape 323"/>
          <p:cNvSpPr/>
          <p:nvPr>
            <p:ph type="sldImg"/>
          </p:nvPr>
        </p:nvSpPr>
        <p:spPr>
          <a:prstGeom prst="rect">
            <a:avLst/>
          </a:prstGeom>
        </p:spPr>
        <p:txBody>
          <a:bodyPr/>
          <a:lstStyle/>
          <a:p>
            <a:pPr/>
          </a:p>
        </p:txBody>
      </p:sp>
      <p:sp>
        <p:nvSpPr>
          <p:cNvPr id="324" name="Shape 324"/>
          <p:cNvSpPr/>
          <p:nvPr>
            <p:ph type="body" sz="quarter" idx="1"/>
          </p:nvPr>
        </p:nvSpPr>
        <p:spPr>
          <a:prstGeom prst="rect">
            <a:avLst/>
          </a:prstGeom>
        </p:spPr>
        <p:txBody>
          <a:bodyPr/>
          <a:lstStyle/>
          <a:p>
            <a:pPr>
              <a:defRPr sz="1300"/>
            </a:pPr>
            <a:r>
              <a:t>GUION (~65 s):</a:t>
            </a:r>
          </a:p>
          <a:p>
            <a:pPr/>
            <a:endParaRPr sz="1300"/>
          </a:p>
          <a:p>
            <a:pPr>
              <a:defRPr sz="1300"/>
            </a:pPr>
            <a:r>
              <a:t>Empezamos con la pregunta RQ2: ¿aporta algo la cabeza CLIP en sí misma? Comparamos la misma ResNet50 con dos cabezas distintas: la coseno con temperatura propia de CLIP, y un clasificador cross-entropy plano.</a:t>
            </a:r>
          </a:p>
          <a:p>
            <a:pPr/>
            <a:endParaRPr sz="1300"/>
          </a:p>
          <a:p>
            <a:pPr>
              <a:defRPr sz="1300"/>
            </a:pPr>
            <a:r>
              <a:t>El chart de la izquierda muestra los deltas. En LC25000 empatan. En NCT plain CE queda ligeramente por encima, con menos 0.014. En Chaoyang CLIP gana 0.064 puntos. En LungHist700 CLIP gana 0.024, pero ambos siguen cerca del azar.</a:t>
            </a:r>
          </a:p>
          <a:p>
            <a:pPr/>
            <a:endParaRPr sz="1300"/>
          </a:p>
          <a:p>
            <a:pPr>
              <a:defRPr sz="1300"/>
            </a:pPr>
            <a:r>
              <a:t>Las matrices de la derecha explican dónde aparece la ventaja. En Chaoyang, el clasificador CE colapsa casi todo hacia "adenocarcinoma": solo acierta el 47 por ciento del tejido benigno. CLIP mantiene un 65 por ciento correcto en el benigno.</a:t>
            </a:r>
          </a:p>
          <a:p>
            <a:pPr/>
            <a:endParaRPr sz="1300"/>
          </a:p>
          <a:p>
            <a:pPr>
              <a:defRPr sz="1300"/>
            </a:pPr>
            <a:r>
              <a:t>La lectura: la cabeza CLIP estabiliza el clasificador bajo desplazamiento, pero es una palanca secundaria. No cambia el régimen pulmonar.</a:t>
            </a:r>
          </a:p>
          <a:p>
            <a:pPr/>
            <a:endParaRPr sz="1300"/>
          </a:p>
          <a:p>
            <a:pPr>
              <a:defRPr sz="1300"/>
            </a:pPr>
            <a:r>
              <a:t>━━━━━━━━━━━━━━━━━━━━━━━━━━━━━━</a:t>
            </a:r>
          </a:p>
          <a:p>
            <a:pPr/>
            <a:endParaRPr sz="1300"/>
          </a:p>
          <a:p>
            <a:pPr>
              <a:defRPr sz="1300"/>
            </a:pPr>
            <a:r>
              <a:t>NOTAS:</a:t>
            </a:r>
          </a:p>
          <a:p>
            <a:pPr/>
            <a:endParaRPr sz="1300"/>
          </a:p>
          <a:p>
            <a:pPr>
              <a:defRPr sz="1300"/>
            </a:pPr>
            <a:r>
              <a:t>CLIP vs clasificador CE. Misma ResNet50, solo cambia la cabeza: coseno + temperatura (CLIP) vs softmax CE (clasificador plano de 5 clases).</a:t>
            </a:r>
          </a:p>
          <a:p>
            <a:pPr/>
            <a:endParaRPr sz="1300"/>
          </a:p>
          <a:p>
            <a:pPr>
              <a:defRPr sz="1300"/>
            </a:pPr>
            <a:r>
              <a:t>Léase el chart Δ: en LC25000 (in-dist) empatan (+0.001). En NCT plain CE queda ligeramente por encima (−0.014). En Chaoyang CLIP gana +0.064. En LungHist700 CLIP gana +0.024 (pero ambos siguen cerca del azar).</a:t>
            </a:r>
          </a:p>
          <a:p>
            <a:pPr/>
            <a:endParaRPr sz="1300"/>
          </a:p>
          <a:p>
            <a:pPr>
              <a:defRPr sz="1300"/>
            </a:pPr>
            <a:r>
              <a:t>Muestra las CMs: CE convierte Chaoyang casi en «todo adenocarcinoma»; CLIP mantiene más balance (65/35 vs 47/53 en la clase benigna).</a:t>
            </a:r>
          </a:p>
          <a:p>
            <a:pPr/>
            <a:endParaRPr sz="1300"/>
          </a:p>
          <a:p>
            <a:pPr>
              <a:defRPr sz="1300"/>
            </a:pPr>
            <a:r>
              <a:t>Mensaje: la cabeza CLIP aporta robustez bajo shift, pero es una palanca secundaria. No rompe el régimen pulmonar.</a:t>
            </a:r>
          </a:p>
          <a:p>
            <a:pPr>
              <a:defRPr sz="1300"/>
            </a:pPr>
            <a:r>
              <a:t>Duración: ~50-70 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8" name="Shape 338"/>
          <p:cNvSpPr/>
          <p:nvPr>
            <p:ph type="sldImg"/>
          </p:nvPr>
        </p:nvSpPr>
        <p:spPr>
          <a:prstGeom prst="rect">
            <a:avLst/>
          </a:prstGeom>
        </p:spPr>
        <p:txBody>
          <a:bodyPr/>
          <a:lstStyle/>
          <a:p>
            <a:pPr/>
          </a:p>
        </p:txBody>
      </p:sp>
      <p:sp>
        <p:nvSpPr>
          <p:cNvPr id="339" name="Shape 339"/>
          <p:cNvSpPr/>
          <p:nvPr>
            <p:ph type="body" sz="quarter" idx="1"/>
          </p:nvPr>
        </p:nvSpPr>
        <p:spPr>
          <a:prstGeom prst="rect">
            <a:avLst/>
          </a:prstGeom>
        </p:spPr>
        <p:txBody>
          <a:bodyPr/>
          <a:lstStyle/>
          <a:p>
            <a:pPr>
              <a:defRPr sz="1300"/>
            </a:pPr>
            <a:r>
              <a:t>GUION (~50 s):</a:t>
            </a:r>
          </a:p>
          <a:p>
            <a:pPr/>
            <a:endParaRPr sz="1300"/>
          </a:p>
          <a:p>
            <a:pPr>
              <a:defRPr sz="1300"/>
            </a:pPr>
            <a:r>
              <a:t>La segunda hipótesis natural era la tinción. Vimos al principio que la apariencia del color varía muchísimo entre instituciones. Aplicamos normalización Macenko usando NCT-NORM como referencia, y proyectamos LC25000 en entrenamiento, Chaoyang y LungHist700 en inferencia al mismo espacio de color.</a:t>
            </a:r>
          </a:p>
          <a:p>
            <a:pPr/>
            <a:endParaRPr sz="1300"/>
          </a:p>
          <a:p>
            <a:pPr>
              <a:defRPr sz="1300"/>
            </a:pPr>
            <a:r>
              <a:t>Los deltas: NCT baja 0.022, Chaoyang sube 0.030, LungHist700 sube 0.020. Son movimientos marginales. La tinción explica una parte menor del shift, pero no rompe el colapso en pulmón. No era el cuello de botella.</a:t>
            </a:r>
          </a:p>
          <a:p>
            <a:pPr/>
            <a:endParaRPr sz="1300"/>
          </a:p>
          <a:p>
            <a:pPr>
              <a:defRPr sz="1300"/>
            </a:pPr>
            <a:r>
              <a:t>━━━━━━━━━━━━━━━━━━━━━━━━━━━━━━</a:t>
            </a:r>
          </a:p>
          <a:p>
            <a:pPr/>
            <a:endParaRPr sz="1300"/>
          </a:p>
          <a:p>
            <a:pPr>
              <a:defRPr sz="1300"/>
            </a:pPr>
            <a:r>
              <a:t>NOTAS:</a:t>
            </a:r>
          </a:p>
          <a:p>
            <a:pPr/>
            <a:endParaRPr sz="1300"/>
          </a:p>
          <a:p>
            <a:pPr>
              <a:defRPr sz="1300"/>
            </a:pPr>
            <a:r>
              <a:t>Normalización de tinción con Macenko. Motivación: la tinción varía dramáticamente entre datasets (mostramos los 4 métodos aplicados a la misma muestra).</a:t>
            </a:r>
          </a:p>
          <a:p>
            <a:pPr/>
            <a:endParaRPr sz="1300"/>
          </a:p>
          <a:p>
            <a:pPr>
              <a:defRPr sz="1300"/>
            </a:pPr>
            <a:r>
              <a:t>Método: estimamos las matrices de referencia sobre NCT-NORM y proyectamos LC25000 (train), Chaoyang y LungHist700 (inference) al mismo espacio de color.</a:t>
            </a:r>
          </a:p>
          <a:p>
            <a:pPr/>
            <a:endParaRPr sz="1300"/>
          </a:p>
          <a:p>
            <a:pPr>
              <a:defRPr sz="1300"/>
            </a:pPr>
            <a:r>
              <a:t>Resultado (leer del chart): NCT −0.022, Chaoyang +0.030, LungHist700 +0.020. Mejoras marginales en datos externos, ligera penalización en NCT.</a:t>
            </a:r>
          </a:p>
          <a:p>
            <a:pPr/>
            <a:endParaRPr sz="1300"/>
          </a:p>
          <a:p>
            <a:pPr>
              <a:defRPr sz="1300"/>
            </a:pPr>
            <a:r>
              <a:t>Mensaje: la tinción explica una parte menor del shift; no rompe el colapso en pulmón.</a:t>
            </a:r>
          </a:p>
          <a:p>
            <a:pPr>
              <a:defRPr sz="1300"/>
            </a:pPr>
            <a:r>
              <a:t>Duración: ~45-60 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3" name="Shape 353"/>
          <p:cNvSpPr/>
          <p:nvPr>
            <p:ph type="sldImg"/>
          </p:nvPr>
        </p:nvSpPr>
        <p:spPr>
          <a:prstGeom prst="rect">
            <a:avLst/>
          </a:prstGeom>
        </p:spPr>
        <p:txBody>
          <a:bodyPr/>
          <a:lstStyle/>
          <a:p>
            <a:pPr/>
          </a:p>
        </p:txBody>
      </p:sp>
      <p:sp>
        <p:nvSpPr>
          <p:cNvPr id="354" name="Shape 354"/>
          <p:cNvSpPr/>
          <p:nvPr>
            <p:ph type="body" sz="quarter" idx="1"/>
          </p:nvPr>
        </p:nvSpPr>
        <p:spPr>
          <a:prstGeom prst="rect">
            <a:avLst/>
          </a:prstGeom>
        </p:spPr>
        <p:txBody>
          <a:bodyPr/>
          <a:lstStyle/>
          <a:p>
            <a:pPr>
              <a:defRPr sz="1300"/>
            </a:pPr>
            <a:r>
              <a:t>⚠ DELIVERY: no digas "empeora bastante" en bloque. La MEJOR biomédica (PubMedBERT + name_only) queda -0.011 respecto al baseline en NCT. La PEOR (PubMedBERT + composed) cae -0.058. Da los dos números si necesitas rango.</a:t>
            </a:r>
          </a:p>
          <a:p>
            <a:pPr/>
            <a:endParaRPr sz="1300"/>
          </a:p>
          <a:p>
            <a:pPr>
              <a:defRPr sz="1300"/>
            </a:pPr>
            <a:r>
              <a:t>GUION (~65 s):</a:t>
            </a:r>
          </a:p>
          <a:p>
            <a:pPr/>
            <a:endParaRPr sz="1300"/>
          </a:p>
          <a:p>
            <a:pPr>
              <a:defRPr sz="1300"/>
            </a:pPr>
            <a:r>
              <a:t>La tercera línea de intervención es el codificador de texto. Probamos un grid de tres codificadores — BERT base, BioBERT y PubMedBERT — con dos prompts, "name only" y "composed". El chart de la derecha muestra los deltas frente al baseline en NCT. Todas las variantes quedan por debajo, entre menos 0.058 y cero.</a:t>
            </a:r>
          </a:p>
          <a:p>
            <a:pPr/>
            <a:endParaRPr sz="1300"/>
          </a:p>
          <a:p>
            <a:pPr>
              <a:defRPr sz="1300"/>
            </a:pPr>
            <a:r>
              <a:t>La izquierda explica por qué esta hipótesis era plausible. La tokenización de "colon adenocarcinoma" con BERT y BioBERT fragmenta el término en subpalabras — hasta siete tokens en el caso de BioBERT. PubMedBERT, que se entrenó desde cero sobre PubMed, mantiene "adenocarcinoma" como un único token. Esperábamos que esa mejor tokenización se tradujera en mejor transferencia.</a:t>
            </a:r>
          </a:p>
          <a:p>
            <a:pPr/>
            <a:endParaRPr sz="1300"/>
          </a:p>
          <a:p>
            <a:pPr>
              <a:defRPr sz="1300"/>
            </a:pPr>
            <a:r>
              <a:t>No lo hace. La mejor variante biomédica, PubMedBERT más name only, queda 0.011 por debajo del baseline. En Chaoyang empata; en LungHist700 regresa. Mejor tokenización no implica mejor transferencia.</a:t>
            </a:r>
          </a:p>
          <a:p>
            <a:pPr/>
            <a:endParaRPr sz="1300"/>
          </a:p>
          <a:p>
            <a:pPr>
              <a:defRPr sz="1300"/>
            </a:pPr>
            <a:r>
              <a:t>━━━━━━━━━━━━━━━━━━━━━━━━━━━━━━</a:t>
            </a:r>
          </a:p>
          <a:p>
            <a:pPr/>
            <a:endParaRPr sz="1300"/>
          </a:p>
          <a:p>
            <a:pPr>
              <a:defRPr sz="1300"/>
            </a:pPr>
            <a:r>
              <a:t>NOTAS:</a:t>
            </a:r>
          </a:p>
          <a:p>
            <a:pPr/>
            <a:endParaRPr sz="1300"/>
          </a:p>
          <a:p>
            <a:pPr>
              <a:defRPr sz="1300"/>
            </a:pPr>
            <a:r>
              <a:t>Los codificadores de texto biomédico no mejoran la transferencia. Grid 3×2: BERT, BioBERT, PubMedBERT × prompts «name only» y «composed».</a:t>
            </a:r>
          </a:p>
          <a:p>
            <a:pPr/>
            <a:endParaRPr sz="1300"/>
          </a:p>
          <a:p>
            <a:pPr>
              <a:defRPr sz="1300"/>
            </a:pPr>
            <a:r>
              <a:t>El chart Δ (derecha) muestra que ninguna variante supera la línea base sobre NCT; todas caen entre −0.058 y −0.003. La mejor variante biomédica es PubMedBERT + name_only, pero sigue −0.011 por debajo.</a:t>
            </a:r>
          </a:p>
          <a:p>
            <a:pPr/>
            <a:endParaRPr sz="1300"/>
          </a:p>
          <a:p>
            <a:pPr>
              <a:defRPr sz="1300"/>
            </a:pPr>
            <a:r>
              <a:t>El panel de tokenización (izquierda) explica por qué la hipótesis inicial era plausible: PubMedBERT integra «adenocarcinoma» como un solo token, mientras que BERT y BioBERT lo fragmentan. Sin embargo, la mejor tokenización no se traduce en mejor F1.</a:t>
            </a:r>
          </a:p>
          <a:p>
            <a:pPr/>
            <a:endParaRPr sz="1300"/>
          </a:p>
          <a:p>
            <a:pPr>
              <a:defRPr sz="1300"/>
            </a:pPr>
            <a:r>
              <a:t>Extensión externa (mencionar): sobre Chaoyang la mejor biomédica empata dentro del ruido; sobre LungHist700 regresa. No es un artefacto de NCT.</a:t>
            </a:r>
          </a:p>
          <a:p>
            <a:pPr/>
            <a:endParaRPr sz="1300"/>
          </a:p>
          <a:p>
            <a:pPr>
              <a:defRPr sz="1300"/>
            </a:pPr>
            <a:r>
              <a:t>Duración: ~60-75 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6" name="Shape 366"/>
          <p:cNvSpPr/>
          <p:nvPr>
            <p:ph type="sldImg"/>
          </p:nvPr>
        </p:nvSpPr>
        <p:spPr>
          <a:prstGeom prst="rect">
            <a:avLst/>
          </a:prstGeom>
        </p:spPr>
        <p:txBody>
          <a:bodyPr/>
          <a:lstStyle/>
          <a:p>
            <a:pPr/>
          </a:p>
        </p:txBody>
      </p:sp>
      <p:sp>
        <p:nvSpPr>
          <p:cNvPr id="367" name="Shape 367"/>
          <p:cNvSpPr/>
          <p:nvPr>
            <p:ph type="body" sz="quarter" idx="1"/>
          </p:nvPr>
        </p:nvSpPr>
        <p:spPr>
          <a:prstGeom prst="rect">
            <a:avLst/>
          </a:prstGeom>
        </p:spPr>
        <p:txBody>
          <a:bodyPr/>
          <a:lstStyle/>
          <a:p>
            <a:pPr>
              <a:defRPr sz="1300"/>
            </a:pPr>
            <a:r>
              <a:t>GUION (~30 s):</a:t>
            </a:r>
          </a:p>
          <a:p>
            <a:pPr/>
            <a:endParaRPr sz="1300"/>
          </a:p>
          <a:p>
            <a:pPr>
              <a:defRPr sz="1300"/>
            </a:pPr>
            <a:r>
              <a:t>Este slide resume lo que hemos visto en las tres intervenciones anteriores: preprocesado con Macenko, texto biomédico, y cabeza plana. Todas se quedan pegadas al azar tres clases en LungHist700. Ninguna cambia el régimen pulmonar.</a:t>
            </a:r>
          </a:p>
          <a:p>
            <a:pPr/>
            <a:endParaRPr sz="1300"/>
          </a:p>
          <a:p>
            <a:pPr>
              <a:defRPr sz="1300"/>
            </a:pPr>
            <a:r>
              <a:t>La única variable que nos queda por probar es el codificador visual.</a:t>
            </a:r>
          </a:p>
          <a:p>
            <a:pPr/>
            <a:endParaRPr sz="1300"/>
          </a:p>
          <a:p>
            <a:pPr>
              <a:defRPr sz="1300"/>
            </a:pPr>
            <a:r>
              <a:t>━━━━━━━━━━━━━━━━━━━━━━━━━━━━━━</a:t>
            </a:r>
          </a:p>
          <a:p>
            <a:pPr/>
            <a:endParaRPr sz="1300"/>
          </a:p>
          <a:p>
            <a:pPr>
              <a:defRPr sz="1300"/>
            </a:pPr>
            <a:r>
              <a:t>NOTAS:</a:t>
            </a:r>
          </a:p>
          <a:p>
            <a:pPr/>
            <a:endParaRPr sz="1300"/>
          </a:p>
          <a:p>
            <a:pPr>
              <a:defRPr sz="1300"/>
            </a:pPr>
            <a:r>
              <a:t>Cambio de régimen en pulmón. Cuatro variantes evaluadas sobre LungHist700: baseline (0.305), Macenko (0.325), PubMedBERT + name_only (0.279), clasificador CE (0.281). Todas se quedan pegadas al azar 3-clases (F1 ≈ 0.333).</a:t>
            </a:r>
          </a:p>
          <a:p>
            <a:pPr/>
            <a:endParaRPr sz="1300"/>
          </a:p>
          <a:p>
            <a:pPr>
              <a:defRPr sz="1300"/>
            </a:pPr>
            <a:r>
              <a:t>Bridge: preprocesado, texto y cabeza no rompen el colapso pulmonar. La siguiente variable es el codificador visual.</a:t>
            </a:r>
          </a:p>
          <a:p>
            <a:pPr/>
            <a:endParaRPr sz="1300"/>
          </a:p>
          <a:p>
            <a:pPr>
              <a:defRPr sz="1300"/>
            </a:pPr>
            <a:r>
              <a:t>Engagement: úsala como transición corta; no te enredes con los deltas exactos.</a:t>
            </a:r>
          </a:p>
          <a:p>
            <a:pPr>
              <a:defRPr sz="1300"/>
            </a:pPr>
            <a:r>
              <a:t>Duración: ~25-40 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0" name="Shape 380"/>
          <p:cNvSpPr/>
          <p:nvPr>
            <p:ph type="sldImg"/>
          </p:nvPr>
        </p:nvSpPr>
        <p:spPr>
          <a:prstGeom prst="rect">
            <a:avLst/>
          </a:prstGeom>
        </p:spPr>
        <p:txBody>
          <a:bodyPr/>
          <a:lstStyle/>
          <a:p>
            <a:pPr/>
          </a:p>
        </p:txBody>
      </p:sp>
      <p:sp>
        <p:nvSpPr>
          <p:cNvPr id="381" name="Shape 381"/>
          <p:cNvSpPr/>
          <p:nvPr>
            <p:ph type="body" sz="quarter" idx="1"/>
          </p:nvPr>
        </p:nvSpPr>
        <p:spPr>
          <a:prstGeom prst="rect">
            <a:avLst/>
          </a:prstGeom>
        </p:spPr>
        <p:txBody>
          <a:bodyPr/>
          <a:lstStyle/>
          <a:p>
            <a:pPr>
              <a:defRPr sz="1300"/>
            </a:pPr>
            <a:r>
              <a:t>⚠ DELIVERY: el último +0.096 se atribuye a la SUPERVISIÓN LC25000 sobre PLIP, NO a "modelo más complejo de visión". El paso 3 es el fine-tuning-de-cabeza sobre PLIP.</a:t>
            </a:r>
          </a:p>
          <a:p>
            <a:pPr/>
            <a:endParaRPr sz="1300"/>
          </a:p>
          <a:p>
            <a:pPr>
              <a:defRPr sz="1300"/>
            </a:pPr>
            <a:r>
              <a:t>GUION (~70 s):</a:t>
            </a:r>
          </a:p>
          <a:p>
            <a:pPr/>
            <a:endParaRPr sz="1300"/>
          </a:p>
          <a:p>
            <a:pPr>
              <a:defRPr sz="1300"/>
            </a:pPr>
            <a:r>
              <a:t>Sustituimos la ResNet50 por el ViT-B/32 de PLIP. Es un cambio controlado: mantenemos el mismo BERT congelado, los mismos prompts, las mismas cabezas de proyección CLIP, y el mismo entrenamiento sobre LC25000. Solo cambia el codificador visual.</a:t>
            </a:r>
          </a:p>
          <a:p>
            <a:pPr/>
            <a:endParaRPr sz="1300"/>
          </a:p>
          <a:p>
            <a:pPr>
              <a:defRPr sz="1300"/>
            </a:pPr>
            <a:r>
              <a:t>El resultado. En NCT subimos de 0.866 a 0.933 — 6.7 puntos. En Chaoyang, de 0.786 a 0.813. Y en LungHist700, de 0.305 a 0.640: un salto de más de treinta puntos, que más que duplica el resultado inicial.</a:t>
            </a:r>
          </a:p>
          <a:p>
            <a:pPr/>
            <a:endParaRPr sz="1300"/>
          </a:p>
          <a:p>
            <a:pPr>
              <a:defRPr sz="1300"/>
            </a:pPr>
            <a:r>
              <a:t>Este es el único cambio que cambia el régimen pulmonar. El cuello de botella era la representación visual. Ninguna otra palanca — tinción, texto, cabeza — se acerca a este orden de magnitud.</a:t>
            </a:r>
          </a:p>
          <a:p>
            <a:pPr/>
            <a:endParaRPr sz="1300"/>
          </a:p>
          <a:p>
            <a:pPr>
              <a:defRPr sz="1300"/>
            </a:pPr>
            <a:r>
              <a:t>━━━━━━━━━━━━━━━━━━━━━━━━━━━━━━</a:t>
            </a:r>
          </a:p>
          <a:p>
            <a:pPr/>
            <a:endParaRPr sz="1300"/>
          </a:p>
          <a:p>
            <a:pPr>
              <a:defRPr sz="1300"/>
            </a:pPr>
            <a:r>
              <a:t>NOTAS:</a:t>
            </a:r>
          </a:p>
          <a:p>
            <a:pPr/>
            <a:endParaRPr sz="1300"/>
          </a:p>
          <a:p>
            <a:pPr>
              <a:defRPr sz="1300"/>
            </a:pPr>
            <a:r>
              <a:t>El codificador visual como palanca dominante. Cambio controlado: sustituimos ResNet50 (ImageNet) por PLIP ViT-B/32 (OpenPath). Mantenemos: BERT congelado, prompts, cabezas de proyección CLIP, entrenamiento en LC25000.</a:t>
            </a:r>
          </a:p>
          <a:p>
            <a:pPr/>
            <a:endParaRPr sz="1300"/>
          </a:p>
          <a:p>
            <a:pPr>
              <a:defRPr sz="1300"/>
            </a:pPr>
            <a:r>
              <a:t>El chart pareado muestra el resultado en los tres datasets externos: NCT +0.067 (0.866 → 0.933), Chaoyang +0.027 (0.786 → 0.813), LungHist700 +0.335 (0.305 → 0.640).</a:t>
            </a:r>
          </a:p>
          <a:p>
            <a:pPr/>
            <a:endParaRPr sz="1300"/>
          </a:p>
          <a:p>
            <a:pPr>
              <a:defRPr sz="1300"/>
            </a:pPr>
            <a:r>
              <a:t>Mensaje: solo este cambio convierte LungHist700 de un régimen colapsado (cerca del azar 3-clases) a un clasificador que empieza a discriminar clases, aunque el 0.640 sigue lejos de cualquier uso práctico. El cuello de botella era la representación visual.</a:t>
            </a:r>
          </a:p>
          <a:p>
            <a:pPr/>
            <a:endParaRPr sz="1300"/>
          </a:p>
          <a:p>
            <a:pPr>
              <a:defRPr sz="1300"/>
            </a:pPr>
            <a:r>
              <a:t>Engagement: este es tu resultado principal. Baja el ritmo aquí. Enfatiza el 0.305 → 0.640.</a:t>
            </a:r>
          </a:p>
          <a:p>
            <a:pPr>
              <a:defRPr sz="1300"/>
            </a:pPr>
            <a:r>
              <a:t>Duración: ~60-75 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3" name="Shape 393"/>
          <p:cNvSpPr/>
          <p:nvPr>
            <p:ph type="sldImg"/>
          </p:nvPr>
        </p:nvSpPr>
        <p:spPr>
          <a:prstGeom prst="rect">
            <a:avLst/>
          </a:prstGeom>
        </p:spPr>
        <p:txBody>
          <a:bodyPr/>
          <a:lstStyle/>
          <a:p>
            <a:pPr/>
          </a:p>
        </p:txBody>
      </p:sp>
      <p:sp>
        <p:nvSpPr>
          <p:cNvPr id="394" name="Shape 394"/>
          <p:cNvSpPr/>
          <p:nvPr>
            <p:ph type="body" sz="quarter" idx="1"/>
          </p:nvPr>
        </p:nvSpPr>
        <p:spPr>
          <a:prstGeom prst="rect">
            <a:avLst/>
          </a:prstGeom>
        </p:spPr>
        <p:txBody>
          <a:bodyPr/>
          <a:lstStyle/>
          <a:p>
            <a:pPr>
              <a:defRPr sz="1300"/>
            </a:pPr>
            <a:r>
              <a:t>GUION (~65 s):</a:t>
            </a:r>
          </a:p>
          <a:p>
            <a:pPr/>
            <a:endParaRPr sz="1300"/>
          </a:p>
          <a:p>
            <a:pPr>
              <a:defRPr sz="1300"/>
            </a:pPr>
            <a:r>
              <a:t>La pregunta natural es: ¿es el pre-entrenamiento histopatológico el que da todo el salto, o hay una parte de amplitud visual general? Para descomponer, introducimos DINOv2 como control — es un ViT auto-supervisado entrenado sobre imágenes naturales, sin nada de histopatología.</a:t>
            </a:r>
          </a:p>
          <a:p>
            <a:pPr/>
            <a:endParaRPr sz="1300"/>
          </a:p>
          <a:p>
            <a:pPr>
              <a:defRPr sz="1300"/>
            </a:pPr>
            <a:r>
              <a:t>Aparece entonces una escalera de tres pasos: ResNet50 en 0.305, DINOv2 en 0.457, PLIP zero-shot en 0.544, y PLIP con LC25000 en 0.640. Tres saltos secuenciales de magnitud comparable.</a:t>
            </a:r>
          </a:p>
          <a:p>
            <a:pPr/>
            <a:endParaRPr sz="1300"/>
          </a:p>
          <a:p>
            <a:pPr>
              <a:defRPr sz="1300"/>
            </a:pPr>
            <a:r>
              <a:t>La lectura es: la amplitud visual desbloquea, y el dominio amplifica. DINOv2 separa parte del salto sin ver ninguna imagen de patología. PLIP añade el margen específico del dominio. La supervisión sobre LC25000 sobre PLIP suma el último tramo.</a:t>
            </a:r>
          </a:p>
          <a:p>
            <a:pPr/>
            <a:endParaRPr sz="1300"/>
          </a:p>
          <a:p>
            <a:pPr>
              <a:defRPr sz="1300"/>
            </a:pPr>
            <a:r>
              <a:t>Ojo: no es una descomposición factorial perfecta. PLIP es ViT-B/32 y DINOv2 es ViT-B/14, con lo cual mezclan patch size, objetivo y dominio. Es una secuencia interpretable, no un aislamiento causal.</a:t>
            </a:r>
          </a:p>
          <a:p>
            <a:pPr/>
            <a:endParaRPr sz="1300"/>
          </a:p>
          <a:p>
            <a:pPr>
              <a:defRPr sz="1300"/>
            </a:pPr>
            <a:r>
              <a:t>━━━━━━━━━━━━━━━━━━━━━━━━━━━━━━</a:t>
            </a:r>
          </a:p>
          <a:p>
            <a:pPr/>
            <a:endParaRPr sz="1300"/>
          </a:p>
          <a:p>
            <a:pPr>
              <a:defRPr sz="1300"/>
            </a:pPr>
            <a:r>
              <a:t>NOTAS:</a:t>
            </a:r>
          </a:p>
          <a:p>
            <a:pPr/>
            <a:endParaRPr sz="1300"/>
          </a:p>
          <a:p>
            <a:pPr>
              <a:defRPr sz="1300"/>
            </a:pPr>
            <a:r>
              <a:t>Descomposición de la mejora: escalera de tres pasos sobre LungHist700.</a:t>
            </a:r>
          </a:p>
          <a:p>
            <a:pPr>
              <a:defRPr sz="1300"/>
            </a:pPr>
            <a:r>
              <a:t>- 0.305 (ResNet50) → 0.457 (DINOv2 ViT-B/14): +0.152, atribuible a amplitud visual general (ViT + SSL general).</a:t>
            </a:r>
          </a:p>
          <a:p>
            <a:pPr>
              <a:defRPr sz="1300"/>
            </a:pPr>
            <a:r>
              <a:t>- 0.457 → 0.544 (PLIP zero-shot): +0.087, atribuible al preentrenamiento histopatológico.</a:t>
            </a:r>
          </a:p>
          <a:p>
            <a:pPr>
              <a:defRPr sz="1300"/>
            </a:pPr>
            <a:r>
              <a:t>- 0.544 → 0.640 (PLIP + LC25000 head): +0.096, atribuible a la supervisión sobre LC25000.</a:t>
            </a:r>
          </a:p>
          <a:p>
            <a:pPr/>
            <a:endParaRPr sz="1300"/>
          </a:p>
          <a:p>
            <a:pPr>
              <a:defRPr sz="1300"/>
            </a:pPr>
            <a:r>
              <a:t>Mensaje: la amplitud visual desbloquea; el dominio amplifica. DINOv2 separa parte del salto sin histopatología; PLIP añade el margen de dominio.</a:t>
            </a:r>
          </a:p>
          <a:p>
            <a:pPr/>
            <a:endParaRPr sz="1300"/>
          </a:p>
          <a:p>
            <a:pPr>
              <a:defRPr sz="1300"/>
            </a:pPr>
            <a:r>
              <a:t>Aclarar: no es una descomposición factorial perfecta (PLIP y DINOv2 mezclan objetivo y patch size); es una secuencia interpretable.</a:t>
            </a:r>
          </a:p>
          <a:p>
            <a:pPr>
              <a:defRPr sz="1300"/>
            </a:pPr>
            <a:r>
              <a:t>Duración: ~60-75 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6" name="Shape 406"/>
          <p:cNvSpPr/>
          <p:nvPr>
            <p:ph type="sldImg"/>
          </p:nvPr>
        </p:nvSpPr>
        <p:spPr>
          <a:prstGeom prst="rect">
            <a:avLst/>
          </a:prstGeom>
        </p:spPr>
        <p:txBody>
          <a:bodyPr/>
          <a:lstStyle/>
          <a:p>
            <a:pPr/>
          </a:p>
        </p:txBody>
      </p:sp>
      <p:sp>
        <p:nvSpPr>
          <p:cNvPr id="407" name="Shape 407"/>
          <p:cNvSpPr/>
          <p:nvPr>
            <p:ph type="body" sz="quarter" idx="1"/>
          </p:nvPr>
        </p:nvSpPr>
        <p:spPr>
          <a:prstGeom prst="rect">
            <a:avLst/>
          </a:prstGeom>
        </p:spPr>
        <p:txBody>
          <a:bodyPr/>
          <a:lstStyle/>
          <a:p>
            <a:pPr>
              <a:defRPr sz="1300"/>
            </a:pPr>
            <a:r>
              <a:t>GUION (~50 s):</a:t>
            </a:r>
          </a:p>
          <a:p>
            <a:pPr/>
            <a:endParaRPr sz="1300"/>
          </a:p>
          <a:p>
            <a:pPr>
              <a:defRPr sz="1300"/>
            </a:pPr>
            <a:r>
              <a:t>El resultado cuantitativo se refleja también en el espacio latente. Aquí tenéis los cuatro codificadores proyectados con UMAP sobre LungHist700.</a:t>
            </a:r>
          </a:p>
          <a:p>
            <a:pPr/>
            <a:endParaRPr sz="1300"/>
          </a:p>
          <a:p>
            <a:pPr>
              <a:defRPr sz="1300"/>
            </a:pPr>
            <a:r>
              <a:t>En ResNet50, los triángulos aterrizan sobre el cluster de colon: sin estructura por clase. En DINOv2 aparece una separación parcial. PLIP zero-shot recupera una región pulmonar propia. Y PLIP con LC25000 muestra subestructura por clase.</a:t>
            </a:r>
          </a:p>
          <a:p>
            <a:pPr/>
            <a:endParaRPr sz="1300"/>
          </a:p>
          <a:p>
            <a:pPr>
              <a:defRPr sz="1300"/>
            </a:pPr>
            <a:r>
              <a:t>Una advertencia importante: el UMAP no prueba el mecanismo. Muestra el patrón que la métrica resume. PLIP no solo sube en F1: recupera estructura visual útil.</a:t>
            </a:r>
          </a:p>
          <a:p>
            <a:pPr/>
            <a:endParaRPr sz="1300"/>
          </a:p>
          <a:p>
            <a:pPr>
              <a:defRPr sz="1300"/>
            </a:pPr>
            <a:r>
              <a:t>━━━━━━━━━━━━━━━━━━━━━━━━━━━━━━</a:t>
            </a:r>
          </a:p>
          <a:p>
            <a:pPr/>
            <a:endParaRPr sz="1300"/>
          </a:p>
          <a:p>
            <a:pPr>
              <a:defRPr sz="1300"/>
            </a:pPr>
            <a:r>
              <a:t>NOTAS:</a:t>
            </a:r>
          </a:p>
          <a:p>
            <a:pPr/>
            <a:endParaRPr sz="1300"/>
          </a:p>
          <a:p>
            <a:pPr>
              <a:defRPr sz="1300"/>
            </a:pPr>
            <a:r>
              <a:t>Por qué importa el codificador visual: espacio latente. Cuatro UMAP sobre LungHist700, mismo layout que la escalera.</a:t>
            </a:r>
          </a:p>
          <a:p>
            <a:pPr/>
            <a:endParaRPr sz="1300"/>
          </a:p>
          <a:p>
            <a:pPr>
              <a:defRPr sz="1300"/>
            </a:pPr>
            <a:r>
              <a:t>- ResNet50: los triángulos de LungHist700 aterrizan sobre el cluster de colon adenocarcinoma. Sin estructura por clase.</a:t>
            </a:r>
          </a:p>
          <a:p>
            <a:pPr>
              <a:defRPr sz="1300"/>
            </a:pPr>
            <a:r>
              <a:t>- DINOv2: separación parcial, F1 0.457.</a:t>
            </a:r>
          </a:p>
          <a:p>
            <a:pPr>
              <a:defRPr sz="1300"/>
            </a:pPr>
            <a:r>
              <a:t>- PLIP zero-shot: cluster propio junto al pulmón, sin subestructura, F1 0.544.</a:t>
            </a:r>
          </a:p>
          <a:p>
            <a:pPr>
              <a:defRPr sz="1300"/>
            </a:pPr>
            <a:r>
              <a:t>- PLIP + LC25000: aparece subestructura por clase, F1 0.640.</a:t>
            </a:r>
          </a:p>
          <a:p>
            <a:pPr/>
            <a:endParaRPr sz="1300"/>
          </a:p>
          <a:p>
            <a:pPr>
              <a:defRPr sz="1300"/>
            </a:pPr>
            <a:r>
              <a:t>Mensaje: el UMAP no prueba el mecanismo; muestra el patrón que la métrica resume. PLIP no solo sube F1, recupera estructura visual útil.</a:t>
            </a:r>
          </a:p>
          <a:p>
            <a:pPr/>
            <a:endParaRPr sz="1300"/>
          </a:p>
          <a:p>
            <a:pPr>
              <a:defRPr sz="1300"/>
            </a:pPr>
            <a:r>
              <a:t>Engagement: apoyo visual, no otro resultado. Mantén el ritmo.</a:t>
            </a:r>
          </a:p>
          <a:p>
            <a:pPr>
              <a:defRPr sz="1300"/>
            </a:pPr>
            <a:r>
              <a:t>Duración: ~40-55 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6" name="Shape 416"/>
          <p:cNvSpPr/>
          <p:nvPr>
            <p:ph type="sldImg"/>
          </p:nvPr>
        </p:nvSpPr>
        <p:spPr>
          <a:prstGeom prst="rect">
            <a:avLst/>
          </a:prstGeom>
        </p:spPr>
        <p:txBody>
          <a:bodyPr/>
          <a:lstStyle/>
          <a:p>
            <a:pPr/>
          </a:p>
        </p:txBody>
      </p:sp>
      <p:sp>
        <p:nvSpPr>
          <p:cNvPr id="417" name="Shape 417"/>
          <p:cNvSpPr/>
          <p:nvPr>
            <p:ph type="body" sz="quarter" idx="1"/>
          </p:nvPr>
        </p:nvSpPr>
        <p:spPr>
          <a:prstGeom prst="rect">
            <a:avLst/>
          </a:prstGeom>
        </p:spPr>
        <p:txBody>
          <a:bodyPr/>
          <a:lstStyle/>
          <a:p>
            <a:pPr>
              <a:defRPr sz="1300"/>
            </a:pPr>
            <a:r>
              <a:t>⚠ DELIVERY: reportar por órgano NO es por el desbalance del set de entrenamiento. Es porque promediar las tres externas mezclaría transferencia parcial en colon (0.79-0.87) con colapso categórico en pulmón (0.30), ocultando un cambio de régimen.</a:t>
            </a:r>
          </a:p>
          <a:p>
            <a:pPr/>
            <a:endParaRPr sz="1300"/>
          </a:p>
          <a:p>
            <a:pPr>
              <a:defRPr sz="1300"/>
            </a:pPr>
            <a:r>
              <a:t>GUION (~10 s):</a:t>
            </a:r>
          </a:p>
          <a:p>
            <a:pPr/>
            <a:endParaRPr sz="1300"/>
          </a:p>
          <a:p>
            <a:pPr>
              <a:defRPr sz="1300"/>
            </a:pPr>
            <a:r>
              <a:t>Pasamos a la discusión. La conclusión no es solo un ranking de modelos; es un estudio sobre qué tipo de representación visual transfiere.</a:t>
            </a:r>
          </a:p>
          <a:p>
            <a:pPr/>
            <a:endParaRPr sz="1300"/>
          </a:p>
          <a:p>
            <a:pPr>
              <a:defRPr sz="1300"/>
            </a:pPr>
            <a:r>
              <a:t>━━━━━━━━━━━━━━━━━━━━━━━━━━━━━━</a:t>
            </a:r>
          </a:p>
          <a:p>
            <a:pPr/>
            <a:endParaRPr sz="1300"/>
          </a:p>
          <a:p>
            <a:pPr>
              <a:defRPr sz="1300"/>
            </a:pPr>
            <a:r>
              <a:t>NOTAS:</a:t>
            </a:r>
          </a:p>
          <a:p>
            <a:pPr/>
            <a:endParaRPr sz="1300"/>
          </a:p>
          <a:p>
            <a:pPr>
              <a:defRPr sz="1300"/>
            </a:pPr>
            <a:r>
              <a:t>Divisor de sección 04: Discusión y conclusiones.</a:t>
            </a:r>
          </a:p>
          <a:p>
            <a:pPr/>
            <a:endParaRPr sz="1300"/>
          </a:p>
          <a:p>
            <a:pPr>
              <a:defRPr sz="1300"/>
            </a:pPr>
            <a:r>
              <a:t>Sube el tagline: no es solo un ranking de modelos; es un estudio sobre qué tipo de representación visual transfiere.</a:t>
            </a:r>
          </a:p>
          <a:p>
            <a:pPr>
              <a:defRPr sz="1300"/>
            </a:pPr>
            <a:r>
              <a:t>Duración: ~10 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7" name="Shape 447"/>
          <p:cNvSpPr/>
          <p:nvPr>
            <p:ph type="sldImg"/>
          </p:nvPr>
        </p:nvSpPr>
        <p:spPr>
          <a:prstGeom prst="rect">
            <a:avLst/>
          </a:prstGeom>
        </p:spPr>
        <p:txBody>
          <a:bodyPr/>
          <a:lstStyle/>
          <a:p>
            <a:pPr/>
          </a:p>
        </p:txBody>
      </p:sp>
      <p:sp>
        <p:nvSpPr>
          <p:cNvPr id="448" name="Shape 448"/>
          <p:cNvSpPr/>
          <p:nvPr>
            <p:ph type="body" sz="quarter" idx="1"/>
          </p:nvPr>
        </p:nvSpPr>
        <p:spPr>
          <a:prstGeom prst="rect">
            <a:avLst/>
          </a:prstGeom>
        </p:spPr>
        <p:txBody>
          <a:bodyPr/>
          <a:lstStyle/>
          <a:p>
            <a:pPr>
              <a:defRPr sz="1300"/>
            </a:pPr>
            <a:r>
              <a:t>⚠ DELIVERY: NO llames a tu propio modelo "bastante degenerado". Si mencionas aplicabilidad clínica, di "lejos del umbral clínico" o "no desplegable todavía". Mejor aún: no menciones aplicabilidad clínica en absoluto.</a:t>
            </a:r>
          </a:p>
          <a:p>
            <a:pPr/>
            <a:endParaRPr sz="1300"/>
          </a:p>
          <a:p>
            <a:pPr>
              <a:defRPr sz="1300"/>
            </a:pPr>
            <a:r>
              <a:t>GUION (~80 s):</a:t>
            </a:r>
          </a:p>
          <a:p>
            <a:pPr/>
            <a:endParaRPr sz="1300"/>
          </a:p>
          <a:p>
            <a:pPr>
              <a:defRPr sz="1300"/>
            </a:pPr>
            <a:r>
              <a:t>Sintetizo lo que hemos encontrado en tres tarjetas.</a:t>
            </a:r>
          </a:p>
          <a:p>
            <a:pPr/>
            <a:endParaRPr sz="1300"/>
          </a:p>
          <a:p>
            <a:pPr>
              <a:defRPr sz="1300"/>
            </a:pPr>
            <a:r>
              <a:t>Primero: el cuello de botella era visual. Normalización de tinción, codificadores de texto biomédicos, y sustituir CLIP por un clasificador cross-entropy no rompen el colapso pulmonar. El cambio de régimen aparece únicamente al cambiar la representación visual.</a:t>
            </a:r>
          </a:p>
          <a:p>
            <a:pPr/>
            <a:endParaRPr sz="1300"/>
          </a:p>
          <a:p>
            <a:pPr>
              <a:defRPr sz="1300"/>
            </a:pPr>
            <a:r>
              <a:t>Segundo: la amplitud visual desbloquea, y el dominio amplifica. DINOv2 sube LungHist700 de 0.305 a 0.457 sin haber visto histopatología. PLIP zero-shot llega a 0.544. Y PLIP más LC25000 alcanza 0.640.</a:t>
            </a:r>
          </a:p>
          <a:p>
            <a:pPr/>
            <a:endParaRPr sz="1300"/>
          </a:p>
          <a:p>
            <a:pPr>
              <a:defRPr sz="1300"/>
            </a:pPr>
            <a:r>
              <a:t>Tercero: reportar por órgano cambia la conclusión. Colon transfiere parcialmente. Pulmón colapsa. Un promedio externo ocultaría esa asimetría.</a:t>
            </a:r>
          </a:p>
          <a:p>
            <a:pPr/>
            <a:endParaRPr sz="1300"/>
          </a:p>
          <a:p>
            <a:pPr>
              <a:defRPr sz="1300"/>
            </a:pPr>
            <a:r>
              <a:t>La conclusión, bajo desplazamiento externo: no domina el texto, ni el color, ni la cabeza cross-entropy. Domina la representación visual. La amplitud general desbloquea la transferencia, y el pre-entrenamiento histopatológico aporta el mejor margen final.</a:t>
            </a:r>
          </a:p>
          <a:p>
            <a:pPr/>
            <a:endParaRPr sz="1300"/>
          </a:p>
          <a:p>
            <a:pPr>
              <a:defRPr sz="1300"/>
            </a:pPr>
            <a:r>
              <a:t>━━━━━━━━━━━━━━━━━━━━━━━━━━━━━━</a:t>
            </a:r>
          </a:p>
          <a:p>
            <a:pPr/>
            <a:endParaRPr sz="1300"/>
          </a:p>
          <a:p>
            <a:pPr>
              <a:defRPr sz="1300"/>
            </a:pPr>
            <a:r>
              <a:t>NOTAS:</a:t>
            </a:r>
          </a:p>
          <a:p>
            <a:pPr/>
            <a:endParaRPr sz="1300"/>
          </a:p>
          <a:p>
            <a:pPr>
              <a:defRPr sz="1300"/>
            </a:pPr>
            <a:r>
              <a:t>Qué explica realmente la generalización externa. Tres tarjetas + conclusión.</a:t>
            </a:r>
          </a:p>
          <a:p>
            <a:pPr/>
            <a:endParaRPr sz="1300"/>
          </a:p>
          <a:p>
            <a:pPr>
              <a:defRPr sz="1300"/>
            </a:pPr>
            <a:r>
              <a:t>1) El cuello de botella era visual: normalización de tinción, encoders biomédicos, y sustituir CLIP por un clasificador CE no rompen el colapso pulmonar. El régimen cambia solo al cambiar la representación visual.</a:t>
            </a:r>
          </a:p>
          <a:p>
            <a:pPr/>
            <a:endParaRPr sz="1300"/>
          </a:p>
          <a:p>
            <a:pPr>
              <a:defRPr sz="1300"/>
            </a:pPr>
            <a:r>
              <a:t>2) La amplitud visual desbloquea; el dominio amplifica. DINOv2 sube LungHist700 de 0.305 → 0.457 sin histopatología; PLIP zero-shot a 0.544; PLIP + LC25000 alcanza 0.640.</a:t>
            </a:r>
          </a:p>
          <a:p>
            <a:pPr/>
            <a:endParaRPr sz="1300"/>
          </a:p>
          <a:p>
            <a:pPr>
              <a:defRPr sz="1300"/>
            </a:pPr>
            <a:r>
              <a:t>3) Reportar por órgano cambia la conclusión. Colon transfiere parcialmente. Pulmón colapsa. Promediar externos ocultaría esa asimetría.</a:t>
            </a:r>
          </a:p>
          <a:p>
            <a:pPr/>
            <a:endParaRPr sz="1300"/>
          </a:p>
          <a:p>
            <a:pPr>
              <a:defRPr sz="1300"/>
            </a:pPr>
            <a:r>
              <a:t>Conclusión: bajo shift externo, no domina el texto, el color ni la cabeza CE; domina la representación visual. La amplitud general desbloquea la transferencia y el pretraining histopatológico aporta el mejor margen final.</a:t>
            </a:r>
          </a:p>
          <a:p>
            <a:pPr/>
            <a:endParaRPr sz="1300"/>
          </a:p>
          <a:p>
            <a:pPr>
              <a:defRPr sz="1300"/>
            </a:pPr>
            <a:r>
              <a:t>Engagement: este es tu momento de tesis. Habla claro y con seguridad, sin correr.</a:t>
            </a:r>
          </a:p>
          <a:p>
            <a:pPr>
              <a:defRPr sz="1300"/>
            </a:pPr>
            <a:r>
              <a:t>Duración: ~60-80 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9" name="Shape 459"/>
          <p:cNvSpPr/>
          <p:nvPr>
            <p:ph type="sldImg"/>
          </p:nvPr>
        </p:nvSpPr>
        <p:spPr>
          <a:prstGeom prst="rect">
            <a:avLst/>
          </a:prstGeom>
        </p:spPr>
        <p:txBody>
          <a:bodyPr/>
          <a:lstStyle/>
          <a:p>
            <a:pPr/>
          </a:p>
        </p:txBody>
      </p:sp>
      <p:sp>
        <p:nvSpPr>
          <p:cNvPr id="460" name="Shape 460"/>
          <p:cNvSpPr/>
          <p:nvPr>
            <p:ph type="body" sz="quarter" idx="1"/>
          </p:nvPr>
        </p:nvSpPr>
        <p:spPr>
          <a:prstGeom prst="rect">
            <a:avLst/>
          </a:prstGeom>
        </p:spPr>
        <p:txBody>
          <a:bodyPr/>
          <a:lstStyle/>
          <a:p>
            <a:pPr>
              <a:defRPr sz="1300"/>
            </a:pPr>
            <a:r>
              <a:t>GUION (~60 s):</a:t>
            </a:r>
          </a:p>
          <a:p>
            <a:pPr/>
            <a:endParaRPr sz="1300"/>
          </a:p>
          <a:p>
            <a:pPr>
              <a:defRPr sz="1300"/>
            </a:pPr>
            <a:r>
              <a:t>Quiero anticipar las limitaciones que probablemente le preocupen al tribunal.</a:t>
            </a:r>
          </a:p>
          <a:p>
            <a:pPr/>
            <a:endParaRPr sz="1300"/>
          </a:p>
          <a:p>
            <a:pPr>
              <a:defRPr sz="1300"/>
            </a:pPr>
            <a:r>
              <a:t>Primero: los codificadores están congelados. Con fine-tuning end-to-end, la palanca dominante podría cambiar.</a:t>
            </a:r>
          </a:p>
          <a:p>
            <a:pPr/>
            <a:endParaRPr sz="1300"/>
          </a:p>
          <a:p>
            <a:pPr>
              <a:defRPr sz="1300"/>
            </a:pPr>
            <a:r>
              <a:t>Segundo: LC25000 tiene inflación in-distribution — aumentos y duplicados que rondan el ideal. La evidencia fuerte del trabajo viene de los tres datasets externos.</a:t>
            </a:r>
          </a:p>
          <a:p>
            <a:pPr/>
            <a:endParaRPr sz="1300"/>
          </a:p>
          <a:p>
            <a:pPr>
              <a:defRPr sz="1300"/>
            </a:pPr>
            <a:r>
              <a:t>Tercero: PLIP y DINOv2 mezclan dominio, objetivo y patch size. El delta de 0.087 se lee como evidencia de pre-entrenamiento histopatológico, pero no es un aislamiento causal.</a:t>
            </a:r>
          </a:p>
          <a:p>
            <a:pPr/>
            <a:endParaRPr sz="1300"/>
          </a:p>
          <a:p>
            <a:pPr>
              <a:defRPr sz="1300"/>
            </a:pPr>
            <a:r>
              <a:t>Cuarto: una sola semilla por condición y N igual a 359 en LungHist700 — no tenemos intervalos de confianza sobre el salto de +0.335.</a:t>
            </a:r>
          </a:p>
          <a:p>
            <a:pPr/>
            <a:endParaRPr sz="1300"/>
          </a:p>
          <a:p>
            <a:pPr>
              <a:defRPr sz="1300"/>
            </a:pPr>
            <a:r>
              <a:t>De ahí siguen las direcciones de trabajo futuro: control factorial con mismo ViT y mismo patch size cambiando solo el dominio; comparación directa con UNI, CONCH, BiomedCLIP y MUSK; pre-entrenamiento auto-supervisado histopatológico controlado sobre TCGA; y extensión de parches aislados a WSI como secuencia de tiles.</a:t>
            </a:r>
          </a:p>
          <a:p>
            <a:pPr/>
            <a:endParaRPr sz="1300"/>
          </a:p>
          <a:p>
            <a:pPr>
              <a:defRPr sz="1300"/>
            </a:pPr>
            <a:r>
              <a:t>━━━━━━━━━━━━━━━━━━━━━━━━━━━━━━</a:t>
            </a:r>
          </a:p>
          <a:p>
            <a:pPr/>
            <a:endParaRPr sz="1300"/>
          </a:p>
          <a:p>
            <a:pPr>
              <a:defRPr sz="1300"/>
            </a:pPr>
            <a:r>
              <a:t>NOTAS:</a:t>
            </a:r>
          </a:p>
          <a:p>
            <a:pPr/>
            <a:endParaRPr sz="1300"/>
          </a:p>
          <a:p>
            <a:pPr>
              <a:defRPr sz="1300"/>
            </a:pPr>
            <a:r>
              <a:t>Limitaciones que anticipan las preguntas del tribunal:</a:t>
            </a:r>
          </a:p>
          <a:p>
            <a:pPr>
              <a:defRPr sz="1300"/>
            </a:pPr>
            <a:r>
              <a:t>- Encoders congelados: con fine-tuning end-to-end la palanca dominante podría cambiar.</a:t>
            </a:r>
          </a:p>
          <a:p>
            <a:pPr>
              <a:defRPr sz="1300"/>
            </a:pPr>
            <a:r>
              <a:t>- LC25000 infla el resultado in-distribution (aumentos y duplicados); por eso la evidencia fuerte viene de los datasets externos.</a:t>
            </a:r>
          </a:p>
          <a:p>
            <a:pPr>
              <a:defRPr sz="1300"/>
            </a:pPr>
            <a:r>
              <a:t>- PLIP vs DINOv2 no separa completamente dominio, objetivo y patch size: el +0.087 se lee como evidencia de preentrenamiento histopatológico, no como aislamiento causal.</a:t>
            </a:r>
          </a:p>
          <a:p>
            <a:pPr>
              <a:defRPr sz="1300"/>
            </a:pPr>
            <a:r>
              <a:t>- Una semilla por condición y N=359 en LungHist700: sin intervalos de confianza sobre el +0.335.</a:t>
            </a:r>
          </a:p>
          <a:p>
            <a:pPr/>
            <a:endParaRPr sz="1300"/>
          </a:p>
          <a:p>
            <a:pPr>
              <a:defRPr sz="1300"/>
            </a:pPr>
            <a:r>
              <a:t>Trabajo futuro:</a:t>
            </a:r>
          </a:p>
          <a:p>
            <a:pPr>
              <a:defRPr sz="1300"/>
            </a:pPr>
            <a:r>
              <a:t>- Control factorial: mismo ViT y patch size, distinto dominio de preentrenamiento.</a:t>
            </a:r>
          </a:p>
          <a:p>
            <a:pPr>
              <a:defRPr sz="1300"/>
            </a:pPr>
            <a:r>
              <a:t>- Comparación head-to-head con UNI, CONCH, BiomedCLIP, MUSK.</a:t>
            </a:r>
          </a:p>
          <a:p>
            <a:pPr>
              <a:defRPr sz="1300"/>
            </a:pPr>
            <a:r>
              <a:t>- SSL histopatológico controlado sobre TCGA.</a:t>
            </a:r>
          </a:p>
          <a:p>
            <a:pPr>
              <a:defRPr sz="1300"/>
            </a:pPr>
            <a:r>
              <a:t>- Extensión a WSI como secuencia de tiles.</a:t>
            </a:r>
          </a:p>
          <a:p>
            <a:pPr/>
            <a:endParaRPr sz="1300"/>
          </a:p>
          <a:p>
            <a:pPr>
              <a:defRPr sz="1300"/>
            </a:pPr>
            <a:r>
              <a:t>Engagement: anticipa; no las escondas. Si preguntas, ya está en la lista.</a:t>
            </a:r>
          </a:p>
          <a:p>
            <a:pPr>
              <a:defRPr sz="1300"/>
            </a:pPr>
            <a:r>
              <a:t>Duración: ~45-60 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4" name="Shape 464"/>
          <p:cNvSpPr/>
          <p:nvPr>
            <p:ph type="sldImg"/>
          </p:nvPr>
        </p:nvSpPr>
        <p:spPr>
          <a:prstGeom prst="rect">
            <a:avLst/>
          </a:prstGeom>
        </p:spPr>
        <p:txBody>
          <a:bodyPr/>
          <a:lstStyle/>
          <a:p>
            <a:pPr/>
          </a:p>
        </p:txBody>
      </p:sp>
      <p:sp>
        <p:nvSpPr>
          <p:cNvPr id="465" name="Shape 465"/>
          <p:cNvSpPr/>
          <p:nvPr>
            <p:ph type="body" sz="quarter" idx="1"/>
          </p:nvPr>
        </p:nvSpPr>
        <p:spPr>
          <a:prstGeom prst="rect">
            <a:avLst/>
          </a:prstGeom>
        </p:spPr>
        <p:txBody>
          <a:bodyPr/>
          <a:lstStyle/>
          <a:p>
            <a:pPr>
              <a:defRPr sz="1300"/>
            </a:pPr>
            <a:r>
              <a:t>GUION (~15 s):</a:t>
            </a:r>
          </a:p>
          <a:p>
            <a:pPr/>
            <a:endParaRPr sz="1300"/>
          </a:p>
          <a:p>
            <a:pPr>
              <a:defRPr sz="1300"/>
            </a:pPr>
            <a:r>
              <a:t>Con esto termino la exposición. Muchas gracias por su atención. Quedo abierto a las preguntas del tribunal.</a:t>
            </a:r>
          </a:p>
          <a:p>
            <a:pPr/>
            <a:endParaRPr sz="1300"/>
          </a:p>
          <a:p>
            <a:pPr>
              <a:defRPr sz="1300"/>
            </a:pPr>
            <a:r>
              <a:t>━━━━━━━━━━━━━━━━━━━━━━━━━━━━━━</a:t>
            </a:r>
          </a:p>
          <a:p>
            <a:pPr/>
            <a:endParaRPr sz="1300"/>
          </a:p>
          <a:p>
            <a:pPr>
              <a:defRPr sz="1300"/>
            </a:pPr>
            <a:r>
              <a:t>NOTAS:</a:t>
            </a:r>
          </a:p>
          <a:p>
            <a:pPr/>
            <a:endParaRPr sz="1300"/>
          </a:p>
          <a:p>
            <a:pPr>
              <a:defRPr sz="1300"/>
            </a:pPr>
            <a:r>
              <a:t>Preguntas. «Gracias, ahora abierto a preguntas del tribunal.»</a:t>
            </a:r>
          </a:p>
          <a:p>
            <a:pPr/>
            <a:endParaRPr sz="1300"/>
          </a:p>
          <a:p>
            <a:pPr>
              <a:defRPr sz="1300"/>
            </a:pPr>
            <a:r>
              <a:t>Engagement: cuerpo relajado, mira al presidente del tribunal, respira antes de responder.</a:t>
            </a:r>
          </a:p>
          <a:p>
            <a:pPr>
              <a:defRPr sz="1300"/>
            </a:pPr>
            <a:r>
              <a:t>Duración: variable.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5" name="Shape 495"/>
          <p:cNvSpPr/>
          <p:nvPr>
            <p:ph type="sldImg"/>
          </p:nvPr>
        </p:nvSpPr>
        <p:spPr>
          <a:prstGeom prst="rect">
            <a:avLst/>
          </a:prstGeom>
        </p:spPr>
        <p:txBody>
          <a:bodyPr/>
          <a:lstStyle/>
          <a:p>
            <a:pPr/>
          </a:p>
        </p:txBody>
      </p:sp>
      <p:sp>
        <p:nvSpPr>
          <p:cNvPr id="496" name="Shape 496"/>
          <p:cNvSpPr/>
          <p:nvPr>
            <p:ph type="body" sz="quarter" idx="1"/>
          </p:nvPr>
        </p:nvSpPr>
        <p:spPr>
          <a:prstGeom prst="rect">
            <a:avLst/>
          </a:prstGeom>
        </p:spPr>
        <p:txBody>
          <a:bodyPr/>
          <a:lstStyle>
            <a:lvl1pPr>
              <a:defRPr sz="1300"/>
            </a:lvl1pPr>
          </a:lstStyle>
          <a:p>
            <a:pPr/>
            <a:r>
              <a:t>BACKUP: si el tribunal pregunta "¿por qué elegiste estos modelos?". Punto clave: cada fila cambia UNA cosa. ResNet50 = baseline. DINOv2 = "ViT SSL general" (control parcial, no aísla dominio del todo). PLIP = dominio histopatológico. Los tres BERT comparten arquitectura, solo cambia el pretraining textual.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9" name="Shape 509"/>
          <p:cNvSpPr/>
          <p:nvPr>
            <p:ph type="sldImg"/>
          </p:nvPr>
        </p:nvSpPr>
        <p:spPr>
          <a:prstGeom prst="rect">
            <a:avLst/>
          </a:prstGeom>
        </p:spPr>
        <p:txBody>
          <a:bodyPr/>
          <a:lstStyle/>
          <a:p>
            <a:pPr/>
          </a:p>
        </p:txBody>
      </p:sp>
      <p:sp>
        <p:nvSpPr>
          <p:cNvPr id="510" name="Shape 510"/>
          <p:cNvSpPr/>
          <p:nvPr>
            <p:ph type="body" sz="quarter" idx="1"/>
          </p:nvPr>
        </p:nvSpPr>
        <p:spPr>
          <a:prstGeom prst="rect">
            <a:avLst/>
          </a:prstGeom>
        </p:spPr>
        <p:txBody>
          <a:bodyPr/>
          <a:lstStyle>
            <a:lvl1pPr>
              <a:defRPr sz="1300"/>
            </a:lvl1pPr>
          </a:lstStyle>
          <a:p>
            <a:pPr/>
            <a:r>
              <a:t>BACKUP: si preguntan "¿realmente demuestras que el dominio importa?". Respuesta cuidadosa: DINOv2 permite atribuir parte del salto a arquitectura+SSL (imágenes naturales, no patología). El resto — que atribuyo al dominio — sigue mezclado con objetivo contrastivo y patch size 32 vs 14. Está documentado en §5 Limitaciones.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2" name="Shape 522"/>
          <p:cNvSpPr/>
          <p:nvPr>
            <p:ph type="sldImg"/>
          </p:nvPr>
        </p:nvSpPr>
        <p:spPr>
          <a:prstGeom prst="rect">
            <a:avLst/>
          </a:prstGeom>
        </p:spPr>
        <p:txBody>
          <a:bodyPr/>
          <a:lstStyle/>
          <a:p>
            <a:pPr/>
          </a:p>
        </p:txBody>
      </p:sp>
      <p:sp>
        <p:nvSpPr>
          <p:cNvPr id="523" name="Shape 523"/>
          <p:cNvSpPr/>
          <p:nvPr>
            <p:ph type="body" sz="quarter" idx="1"/>
          </p:nvPr>
        </p:nvSpPr>
        <p:spPr>
          <a:prstGeom prst="rect">
            <a:avLst/>
          </a:prstGeom>
        </p:spPr>
        <p:txBody>
          <a:bodyPr/>
          <a:lstStyle>
            <a:lvl1pPr>
              <a:defRPr sz="1300"/>
            </a:lvl1pPr>
          </a:lstStyle>
          <a:p>
            <a:pPr/>
            <a:r>
              <a:t>BACKUP: fórmulas listas si preguntan cómo funciona Macenko. Punto clave: no es color-transfer estilo LAB; es descomposición de tinción en espacio OD. Referencia NCT-NORM elegida por ser dataset Macenko-normalizado público. Los deltas están en §4.3 del report.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5" name="Shape 535"/>
          <p:cNvSpPr/>
          <p:nvPr>
            <p:ph type="sldImg"/>
          </p:nvPr>
        </p:nvSpPr>
        <p:spPr>
          <a:prstGeom prst="rect">
            <a:avLst/>
          </a:prstGeom>
        </p:spPr>
        <p:txBody>
          <a:bodyPr/>
          <a:lstStyle/>
          <a:p>
            <a:pPr/>
          </a:p>
        </p:txBody>
      </p:sp>
      <p:sp>
        <p:nvSpPr>
          <p:cNvPr id="536" name="Shape 536"/>
          <p:cNvSpPr/>
          <p:nvPr>
            <p:ph type="body" sz="quarter" idx="1"/>
          </p:nvPr>
        </p:nvSpPr>
        <p:spPr>
          <a:prstGeom prst="rect">
            <a:avLst/>
          </a:prstGeom>
        </p:spPr>
        <p:txBody>
          <a:bodyPr/>
          <a:lstStyle>
            <a:lvl1pPr>
              <a:defRPr sz="1300"/>
            </a:lvl1pPr>
          </a:lstStyle>
          <a:p>
            <a:pPr/>
            <a:r>
              <a:t>BACKUP: si preguntan "¿por qué UMAP y no t-SNE?" o "¿esto prueba algo?". Respuesta: UMAP preserva vecindarios locales mejor que t-SNE y es más rápido; ambos darían resultados cualitativamente similares aquí. UMAP acompaña a macro-F1, no lo sustituye.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8" name="Shape 548"/>
          <p:cNvSpPr/>
          <p:nvPr>
            <p:ph type="sldImg"/>
          </p:nvPr>
        </p:nvSpPr>
        <p:spPr>
          <a:prstGeom prst="rect">
            <a:avLst/>
          </a:prstGeom>
        </p:spPr>
        <p:txBody>
          <a:bodyPr/>
          <a:lstStyle/>
          <a:p>
            <a:pPr/>
          </a:p>
        </p:txBody>
      </p:sp>
      <p:sp>
        <p:nvSpPr>
          <p:cNvPr id="549" name="Shape 549"/>
          <p:cNvSpPr/>
          <p:nvPr>
            <p:ph type="body" sz="quarter" idx="1"/>
          </p:nvPr>
        </p:nvSpPr>
        <p:spPr>
          <a:prstGeom prst="rect">
            <a:avLst/>
          </a:prstGeom>
        </p:spPr>
        <p:txBody>
          <a:bodyPr/>
          <a:lstStyle>
            <a:lvl1pPr>
              <a:defRPr sz="1300"/>
            </a:lvl1pPr>
          </a:lstStyle>
          <a:p>
            <a:pPr/>
            <a:r>
              <a:t>BACKUP: pregunta previsible: "¿no es hacer trampa restringir clases?". Respuesta: sin restricción, un dataset de solo colon podría penalizar al modelo por acertar "colon" pero predecir "lung squamous". Restringir mide exactamente lo que el dataset externo puede evaluar. El modelo sigue viendo las mismas 5 etiquetas durante train.</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0" name="Shape 560"/>
          <p:cNvSpPr/>
          <p:nvPr>
            <p:ph type="sldImg"/>
          </p:nvPr>
        </p:nvSpPr>
        <p:spPr>
          <a:prstGeom prst="rect">
            <a:avLst/>
          </a:prstGeom>
        </p:spPr>
        <p:txBody>
          <a:bodyPr/>
          <a:lstStyle/>
          <a:p>
            <a:pPr/>
          </a:p>
        </p:txBody>
      </p:sp>
      <p:sp>
        <p:nvSpPr>
          <p:cNvPr id="561" name="Shape 561"/>
          <p:cNvSpPr/>
          <p:nvPr>
            <p:ph type="body" sz="quarter" idx="1"/>
          </p:nvPr>
        </p:nvSpPr>
        <p:spPr>
          <a:prstGeom prst="rect">
            <a:avLst/>
          </a:prstGeom>
        </p:spPr>
        <p:txBody>
          <a:bodyPr/>
          <a:lstStyle>
            <a:lvl1pPr>
              <a:defRPr sz="1300"/>
            </a:lvl1pPr>
          </a:lstStyle>
          <a:p>
            <a:pPr/>
            <a:r>
              <a:t>BACKUP: si preguntan por qué no usar el text encoder de CLIP. Respuesta: para aislar el efecto del pretraining textual biomédico necesitábamos misma arquitectura y misma familia de tokenización. Cambiar a CLIP-text mezcla BPE, arquitectura ligeramente distinta y objetivo diferente. Y el caso "CLIP entero con su text encoder" ya lo evalúa PLIP zero-shot.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2" name="Shape 572"/>
          <p:cNvSpPr/>
          <p:nvPr>
            <p:ph type="sldImg"/>
          </p:nvPr>
        </p:nvSpPr>
        <p:spPr>
          <a:prstGeom prst="rect">
            <a:avLst/>
          </a:prstGeom>
        </p:spPr>
        <p:txBody>
          <a:bodyPr/>
          <a:lstStyle/>
          <a:p>
            <a:pPr/>
          </a:p>
        </p:txBody>
      </p:sp>
      <p:sp>
        <p:nvSpPr>
          <p:cNvPr id="573" name="Shape 573"/>
          <p:cNvSpPr/>
          <p:nvPr>
            <p:ph type="body" sz="quarter" idx="1"/>
          </p:nvPr>
        </p:nvSpPr>
        <p:spPr>
          <a:prstGeom prst="rect">
            <a:avLst/>
          </a:prstGeom>
        </p:spPr>
        <p:txBody>
          <a:bodyPr/>
          <a:lstStyle>
            <a:lvl1pPr>
              <a:defRPr sz="1300"/>
            </a:lvl1pPr>
          </a:lstStyle>
          <a:p>
            <a:pPr/>
            <a:r>
              <a:t>BACKUP: si preguntan por LC25000 leakage. Respuesta: sí, existe. Está documentado en §4 Limitaciones. Pero: (a) las conclusiones se apoyan en datasets externos, no en LC25000; (b) los deltas relativos entre variantes siguen siendo comparables porque todas heredan la misma fuga; (c) el +0.335 en LungHist700 es un cambio de régimen, no ruido de dataset.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rPr sz="1300"/>
              <a:t>BACKUP INDEX.</a:t>
            </a:r>
          </a:p>
          <a:p>
            <a:r>
              <a:rPr sz="1300"/>
              <a:t>Saltar aquí SOLO si necesitas orientarte durante Q&amp;A. Cada bala es una pregunta previsible; la slide correspondiente responde en &lt;30s con un ancla visual.</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11" name="Shape 611"/>
          <p:cNvSpPr/>
          <p:nvPr>
            <p:ph type="sldImg"/>
          </p:nvPr>
        </p:nvSpPr>
        <p:spPr>
          <a:prstGeom prst="rect">
            <a:avLst/>
          </a:prstGeom>
        </p:spPr>
        <p:txBody>
          <a:bodyPr/>
          <a:lstStyle/>
          <a:p>
            <a:pPr/>
          </a:p>
        </p:txBody>
      </p:sp>
      <p:sp>
        <p:nvSpPr>
          <p:cNvPr id="612" name="Shape 612"/>
          <p:cNvSpPr/>
          <p:nvPr>
            <p:ph type="body" sz="quarter" idx="1"/>
          </p:nvPr>
        </p:nvSpPr>
        <p:spPr>
          <a:prstGeom prst="rect">
            <a:avLst/>
          </a:prstGeom>
        </p:spPr>
        <p:txBody>
          <a:bodyPr/>
          <a:lstStyle>
            <a:lvl1pPr>
              <a:defRPr sz="1300"/>
            </a:lvl1pPr>
          </a:lstStyle>
          <a:p>
            <a:pPr/>
            <a:r>
              <a:t>BACKUP: pregunta previsible sobre DINOv2. Puntos clave: (1) es SSL, no ve etiquetas; (2) aprende por distillation con teacher EMA; (3) 142M imágenes naturales; (4) su papel aquí es responder "¿el salto es del dominio o del ViT?" — respuesta: parte es ViT+SSL (ResNet50→DINOv2 = +0.152 en LungHist700), parte es dominio (DINOv2→PLIP = +0.087, aún confounded).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4" name="Shape 624"/>
          <p:cNvSpPr/>
          <p:nvPr>
            <p:ph type="sldImg"/>
          </p:nvPr>
        </p:nvSpPr>
        <p:spPr>
          <a:prstGeom prst="rect">
            <a:avLst/>
          </a:prstGeom>
        </p:spPr>
        <p:txBody>
          <a:bodyPr/>
          <a:lstStyle/>
          <a:p>
            <a:pPr/>
          </a:p>
        </p:txBody>
      </p:sp>
      <p:sp>
        <p:nvSpPr>
          <p:cNvPr id="625" name="Shape 625"/>
          <p:cNvSpPr/>
          <p:nvPr>
            <p:ph type="body" sz="quarter" idx="1"/>
          </p:nvPr>
        </p:nvSpPr>
        <p:spPr>
          <a:prstGeom prst="rect">
            <a:avLst/>
          </a:prstGeom>
        </p:spPr>
        <p:txBody>
          <a:bodyPr/>
          <a:lstStyle>
            <a:lvl1pPr>
              <a:defRPr sz="1300"/>
            </a:lvl1pPr>
          </a:lstStyle>
          <a:p>
            <a:pPr/>
            <a:r>
              <a:t>BACKUP: si preguntan qué es exactamente lo que entrenamos. Respuesta en 30s: pérdida contrastiva simétrica sobre similitud coseno escalada por τ aprendida. Dos direcciones (I→T y T→I) sumadas. Diagonal = pares reales; off-diagonal = negativos del batch. Falso-negativo caveat: prompts compartidos por clase generan colisiones. Está documentado en §3.5.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0" algn="ctr">
              <a:buSzTx/>
              <a:buFontTx/>
              <a:buNone/>
              <a:defRPr>
                <a:solidFill>
                  <a:srgbClr val="888888"/>
                </a:solidFill>
              </a:defRPr>
            </a:lvl2pPr>
            <a:lvl3pPr marL="0" indent="0" algn="ctr">
              <a:buSzTx/>
              <a:buFontTx/>
              <a:buNone/>
              <a:defRPr>
                <a:solidFill>
                  <a:srgbClr val="888888"/>
                </a:solidFill>
              </a:defRPr>
            </a:lvl3pPr>
            <a:lvl4pPr marL="0" indent="0" algn="ctr">
              <a:buSzTx/>
              <a:buFontTx/>
              <a:buNone/>
              <a:defRPr>
                <a:solidFill>
                  <a:srgbClr val="888888"/>
                </a:solidFill>
              </a:defRPr>
            </a:lvl4pPr>
            <a:lvl5pPr marL="0" indent="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prstGeom prst="rect">
            <a:avLst/>
          </a:prstGeom>
        </p:spPr>
        <p:txBody>
          <a:bodyPr/>
          <a:lstStyle/>
          <a:p>
            <a:pPr/>
            <a:r>
              <a:t>Title Text</a:t>
            </a:r>
          </a:p>
        </p:txBody>
      </p:sp>
      <p:sp>
        <p:nvSpPr>
          <p:cNvPr id="21"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209"/>
          </a:xfrm>
          <a:prstGeom prst="rect">
            <a:avLst/>
          </a:prstGeom>
        </p:spPr>
        <p:txBody>
          <a:bodyPr anchor="b"/>
          <a:lstStyle>
            <a:lvl1pPr marL="0" indent="0">
              <a:spcBef>
                <a:spcPts val="400"/>
              </a:spcBef>
              <a:buSzTx/>
              <a:buFontTx/>
              <a:buNone/>
              <a:defRPr sz="2000">
                <a:solidFill>
                  <a:srgbClr val="888888"/>
                </a:solidFill>
              </a:defRPr>
            </a:lvl1pPr>
            <a:lvl2pPr marL="0" indent="0">
              <a:spcBef>
                <a:spcPts val="400"/>
              </a:spcBef>
              <a:buSzTx/>
              <a:buFontTx/>
              <a:buNone/>
              <a:defRPr sz="2000">
                <a:solidFill>
                  <a:srgbClr val="888888"/>
                </a:solidFill>
              </a:defRPr>
            </a:lvl2pPr>
            <a:lvl3pPr marL="0" indent="0">
              <a:spcBef>
                <a:spcPts val="400"/>
              </a:spcBef>
              <a:buSzTx/>
              <a:buFontTx/>
              <a:buNone/>
              <a:defRPr sz="2000">
                <a:solidFill>
                  <a:srgbClr val="888888"/>
                </a:solidFill>
              </a:defRPr>
            </a:lvl3pPr>
            <a:lvl4pPr marL="0" indent="0">
              <a:spcBef>
                <a:spcPts val="400"/>
              </a:spcBef>
              <a:buSzTx/>
              <a:buFontTx/>
              <a:buNone/>
              <a:defRPr sz="2000">
                <a:solidFill>
                  <a:srgbClr val="888888"/>
                </a:solidFill>
              </a:defRPr>
            </a:lvl4pPr>
            <a:lvl5pPr marL="0" indent="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8" indent="-320038">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0">
              <a:spcBef>
                <a:spcPts val="500"/>
              </a:spcBef>
              <a:buSzTx/>
              <a:buFontTx/>
              <a:buNone/>
              <a:defRPr b="1" sz="2400"/>
            </a:lvl2pPr>
            <a:lvl3pPr marL="0" indent="0">
              <a:spcBef>
                <a:spcPts val="500"/>
              </a:spcBef>
              <a:buSzTx/>
              <a:buFontTx/>
              <a:buNone/>
              <a:defRPr b="1" sz="2400"/>
            </a:lvl3pPr>
            <a:lvl4pPr marL="0" indent="0">
              <a:spcBef>
                <a:spcPts val="500"/>
              </a:spcBef>
              <a:buSzTx/>
              <a:buFontTx/>
              <a:buNone/>
              <a:defRPr b="1" sz="2400"/>
            </a:lvl4pPr>
            <a:lvl5pPr marL="0" indent="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1"/>
            <a:ext cx="4041775" cy="639785"/>
          </a:xfrm>
          <a:prstGeom prst="rect">
            <a:avLst/>
          </a:prstGeom>
        </p:spPr>
        <p:txBody>
          <a:bodyPr anchor="b"/>
          <a:lstStyle/>
          <a:p>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6"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8" y="1435100"/>
            <a:ext cx="3008317" cy="4691063"/>
          </a:xfrm>
          <a:prstGeom prst="rect">
            <a:avLst/>
          </a:prstGeom>
        </p:spPr>
        <p:txBody>
          <a:bodyPr/>
          <a:lstStyle/>
          <a:p>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4" cy="566738"/>
          </a:xfrm>
          <a:prstGeom prst="rect">
            <a:avLst/>
          </a:prstGeom>
        </p:spPr>
        <p:txBody>
          <a:bodyPr anchor="b"/>
          <a:lstStyle>
            <a:lvl1pPr algn="l">
              <a:defRPr b="1" sz="2000"/>
            </a:lvl1pPr>
          </a:lstStyle>
          <a:p>
            <a:pPr/>
            <a:r>
              <a:t>Title Text</a:t>
            </a:r>
          </a:p>
        </p:txBody>
      </p:sp>
      <p:sp>
        <p:nvSpPr>
          <p:cNvPr id="83" name="Body Level One…"/>
          <p:cNvSpPr txBox="1"/>
          <p:nvPr>
            <p:ph type="body" sz="quarter" idx="1"/>
          </p:nvPr>
        </p:nvSpPr>
        <p:spPr>
          <a:xfrm>
            <a:off x="1792288" y="5367337"/>
            <a:ext cx="5486404" cy="804884"/>
          </a:xfrm>
          <a:prstGeom prst="rect">
            <a:avLst/>
          </a:prstGeom>
        </p:spPr>
        <p:txBody>
          <a:bodyPr/>
          <a:lstStyle>
            <a:lvl1pPr marL="0" indent="0">
              <a:spcBef>
                <a:spcPts val="300"/>
              </a:spcBef>
              <a:buSzTx/>
              <a:buFontTx/>
              <a:buNone/>
              <a:defRPr sz="1400"/>
            </a:lvl1pPr>
            <a:lvl2pPr marL="0" indent="0">
              <a:spcBef>
                <a:spcPts val="300"/>
              </a:spcBef>
              <a:buSzTx/>
              <a:buFontTx/>
              <a:buNone/>
              <a:defRPr sz="1400"/>
            </a:lvl2pPr>
            <a:lvl3pPr marL="0" indent="0">
              <a:spcBef>
                <a:spcPts val="300"/>
              </a:spcBef>
              <a:buSzTx/>
              <a:buFontTx/>
              <a:buNone/>
              <a:defRPr sz="1400"/>
            </a:lvl3pPr>
            <a:lvl4pPr marL="0" indent="0">
              <a:spcBef>
                <a:spcPts val="300"/>
              </a:spcBef>
              <a:buSzTx/>
              <a:buFontTx/>
              <a:buNone/>
              <a:defRPr sz="1400"/>
            </a:lvl4pPr>
            <a:lvl5pPr marL="0" indent="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274638"/>
            <a:ext cx="8229600" cy="11430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normAutofit fontScale="100000" lnSpcReduction="0"/>
          </a:bodyPr>
          <a:lstStyle/>
          <a:p>
            <a:pPr/>
            <a:r>
              <a:t>Title Text</a:t>
            </a:r>
          </a:p>
        </p:txBody>
      </p:sp>
      <p:sp>
        <p:nvSpPr>
          <p:cNvPr id="3" name="Body Level One…"/>
          <p:cNvSpPr txBox="1"/>
          <p:nvPr>
            <p:ph type="body" idx="1"/>
          </p:nvPr>
        </p:nvSpPr>
        <p:spPr>
          <a:xfrm>
            <a:off x="457200" y="1600200"/>
            <a:ext cx="8229600" cy="45259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81" y="6414762"/>
            <a:ext cx="258620" cy="248302"/>
          </a:xfrm>
          <a:prstGeom prst="rect">
            <a:avLst/>
          </a:prstGeom>
          <a:ln w="12700">
            <a:miter lim="400000"/>
          </a:ln>
        </p:spPr>
        <p:txBody>
          <a:bodyPr wrap="none" lIns="45718" tIns="45718" rIns="45718" bIns="45718"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6B0F1A"/>
        </a:solidFill>
      </p:bgPr>
    </p:bg>
    <p:spTree>
      <p:nvGrpSpPr>
        <p:cNvPr id="1" name=""/>
        <p:cNvGrpSpPr/>
        <p:nvPr/>
      </p:nvGrpSpPr>
      <p:grpSpPr>
        <a:xfrm>
          <a:off x="0" y="0"/>
          <a:ext cx="0" cy="0"/>
          <a:chOff x="0" y="0"/>
          <a:chExt cx="0" cy="0"/>
        </a:xfrm>
      </p:grpSpPr>
      <p:pic>
        <p:nvPicPr>
          <p:cNvPr id="93" name="Picture 7" descr="Picture 7"/>
          <p:cNvPicPr>
            <a:picLocks noChangeAspect="1"/>
          </p:cNvPicPr>
          <p:nvPr/>
        </p:nvPicPr>
        <p:blipFill>
          <a:blip r:embed="rId3">
            <a:extLst/>
          </a:blip>
          <a:stretch>
            <a:fillRect/>
          </a:stretch>
        </p:blipFill>
        <p:spPr>
          <a:xfrm>
            <a:off x="0" y="25400"/>
            <a:ext cx="12191697" cy="6858000"/>
          </a:xfrm>
          <a:prstGeom prst="rect">
            <a:avLst/>
          </a:prstGeom>
          <a:ln w="12700">
            <a:miter lim="400000"/>
          </a:ln>
        </p:spPr>
      </p:pic>
      <p:sp>
        <p:nvSpPr>
          <p:cNvPr id="94" name="Rectangle 1"/>
          <p:cNvSpPr/>
          <p:nvPr/>
        </p:nvSpPr>
        <p:spPr>
          <a:xfrm>
            <a:off x="-1" y="5852159"/>
            <a:ext cx="12191697" cy="1005840"/>
          </a:xfrm>
          <a:prstGeom prst="rect">
            <a:avLst/>
          </a:prstGeom>
          <a:solidFill>
            <a:srgbClr val="4D0912"/>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95" name="Rectangle 2"/>
          <p:cNvSpPr/>
          <p:nvPr/>
        </p:nvSpPr>
        <p:spPr>
          <a:xfrm>
            <a:off x="0" y="2011675"/>
            <a:ext cx="457200" cy="3200425"/>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96" name="TextBox 3"/>
          <p:cNvSpPr txBox="1"/>
          <p:nvPr/>
        </p:nvSpPr>
        <p:spPr>
          <a:xfrm>
            <a:off x="1143000" y="914399"/>
            <a:ext cx="9966961" cy="3330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C9A227"/>
                </a:solidFill>
              </a:defRPr>
            </a:lvl1pPr>
          </a:lstStyle>
          <a:p>
            <a:pPr/>
            <a:r>
              <a:t>Trabajo de Fin de Máster</a:t>
            </a:r>
          </a:p>
        </p:txBody>
      </p:sp>
      <p:sp>
        <p:nvSpPr>
          <p:cNvPr id="97" name="TextBox 4"/>
          <p:cNvSpPr txBox="1"/>
          <p:nvPr/>
        </p:nvSpPr>
        <p:spPr>
          <a:xfrm>
            <a:off x="1143000" y="1463038"/>
            <a:ext cx="9966961" cy="129451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4200">
                <a:solidFill>
                  <a:srgbClr val="FFFFFF"/>
                </a:solidFill>
              </a:defRPr>
            </a:lvl1pPr>
          </a:lstStyle>
          <a:p>
            <a:pPr/>
            <a:r>
              <a:t>A Study on Foundational Vision-Language Models for Histopathology Image Analysis</a:t>
            </a:r>
          </a:p>
        </p:txBody>
      </p:sp>
      <p:sp>
        <p:nvSpPr>
          <p:cNvPr id="98" name="TextBox 5"/>
          <p:cNvSpPr txBox="1"/>
          <p:nvPr/>
        </p:nvSpPr>
        <p:spPr>
          <a:xfrm>
            <a:off x="1143000" y="4114800"/>
            <a:ext cx="9966961" cy="38537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
                <a:solidFill>
                  <a:srgbClr val="FFFFFF"/>
                </a:solidFill>
              </a:defRPr>
            </a:lvl1pPr>
          </a:lstStyle>
          <a:p>
            <a:pPr/>
            <a:r>
              <a:t>Leandro Candau Sánchez de Ybargüen</a:t>
            </a:r>
          </a:p>
        </p:txBody>
      </p:sp>
      <p:sp>
        <p:nvSpPr>
          <p:cNvPr id="99" name="TextBox 6"/>
          <p:cNvSpPr txBox="1"/>
          <p:nvPr/>
        </p:nvSpPr>
        <p:spPr>
          <a:xfrm>
            <a:off x="1143000" y="4617720"/>
            <a:ext cx="9966961" cy="8537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400">
                <a:solidFill>
                  <a:srgbClr val="FAF7F2"/>
                </a:solidFill>
              </a:defRPr>
            </a:pPr>
            <a:r>
              <a:t>Tutores:  Miguel Ángel Gutiérrez Naranjo   ·   Miguel Cárdenas Montes</a:t>
            </a:r>
          </a:p>
          <a:p>
            <a:pPr/>
            <a:r>
              <a:t>Máster Universitario en Lógica, Computación e Inteligencia Artificial</a:t>
            </a:r>
          </a:p>
          <a:p>
            <a:pPr/>
            <a:r>
              <a:t>ETSI Informática · Universidad de Sevilla · 2026</a:t>
            </a:r>
          </a:p>
        </p:txBody>
      </p:sp>
      <p:pic>
        <p:nvPicPr>
          <p:cNvPr id="100" name="Picture 8" descr="Picture 8"/>
          <p:cNvPicPr>
            <a:picLocks noChangeAspect="1"/>
          </p:cNvPicPr>
          <p:nvPr/>
        </p:nvPicPr>
        <p:blipFill>
          <a:blip r:embed="rId4">
            <a:extLst/>
          </a:blip>
          <a:stretch>
            <a:fillRect/>
          </a:stretch>
        </p:blipFill>
        <p:spPr>
          <a:xfrm>
            <a:off x="10362895" y="274320"/>
            <a:ext cx="1463062" cy="1285882"/>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4"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105"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106"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07"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defRPr>
            </a:lvl1pPr>
          </a:lstStyle>
          <a:p>
            <a:pPr/>
            <a:r>
              <a:t>01</a:t>
            </a:r>
          </a:p>
        </p:txBody>
      </p:sp>
      <p:sp>
        <p:nvSpPr>
          <p:cNvPr id="108" name="TextBox 6"/>
          <p:cNvSpPr txBox="1"/>
          <p:nvPr/>
        </p:nvSpPr>
        <p:spPr>
          <a:xfrm>
            <a:off x="1142999" y="5303520"/>
            <a:ext cx="2727331"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defRPr>
            </a:lvl1pPr>
          </a:lstStyle>
          <a:p>
            <a:pPr/>
            <a:r>
              <a:t>Motivación</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13"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1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15"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3/36</a:t>
            </a:r>
          </a:p>
        </p:txBody>
      </p:sp>
      <p:sp>
        <p:nvSpPr>
          <p:cNvPr id="116"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Histopatología Digital</a:t>
            </a:r>
          </a:p>
        </p:txBody>
      </p:sp>
      <p:sp>
        <p:nvSpPr>
          <p:cNvPr id="117"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18" name="TextBox 7"/>
          <p:cNvSpPr txBox="1"/>
          <p:nvPr/>
        </p:nvSpPr>
        <p:spPr>
          <a:xfrm>
            <a:off x="594359" y="1188719"/>
            <a:ext cx="11000235"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Herramienta de diagnóstico visual usada por patólogos sobre tejidos de distintos órganos</a:t>
            </a:r>
          </a:p>
        </p:txBody>
      </p:sp>
      <p:sp>
        <p:nvSpPr>
          <p:cNvPr id="119" name="TextBox 8"/>
          <p:cNvSpPr txBox="1"/>
          <p:nvPr/>
        </p:nvSpPr>
        <p:spPr>
          <a:xfrm>
            <a:off x="665273" y="1967842"/>
            <a:ext cx="5120641" cy="42248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defRPr>
            </a:pPr>
            <a:r>
              <a:t>¿Qué es la histopatología?</a:t>
            </a:r>
          </a:p>
          <a:p>
            <a:pPr marL="140367" indent="-140367">
              <a:buSzPct val="100000"/>
              <a:buChar char="▸"/>
              <a:defRPr b="1" sz="1600">
                <a:solidFill>
                  <a:srgbClr val="4D0912"/>
                </a:solidFill>
              </a:defRPr>
            </a:pPr>
            <a:r>
              <a:t>Histopatología</a:t>
            </a:r>
            <a:r>
              <a:rPr b="0"/>
              <a:t>: examen microscópico de tejido teñido con hematoxilina-eosina (H&amp;E).</a:t>
            </a:r>
          </a:p>
          <a:p>
            <a:pPr marL="140367" indent="-140367">
              <a:buSzPct val="100000"/>
              <a:buChar char="▸"/>
              <a:defRPr b="1" sz="1600">
                <a:solidFill>
                  <a:srgbClr val="4D0912"/>
                </a:solidFill>
              </a:defRPr>
            </a:pPr>
            <a:r>
              <a:t>Prueba de referencia clínica</a:t>
            </a:r>
            <a:r>
              <a:rPr b="0"/>
              <a:t> para el diagnóstico definitivo de la mayoría de los tipos de cáncer.</a:t>
            </a:r>
          </a:p>
          <a:p>
            <a:pPr>
              <a:defRPr b="1">
                <a:solidFill>
                  <a:srgbClr val="6B0F1A"/>
                </a:solidFill>
              </a:defRPr>
            </a:pPr>
          </a:p>
          <a:p>
            <a:pPr>
              <a:defRPr b="1">
                <a:solidFill>
                  <a:srgbClr val="6B0F1A"/>
                </a:solidFill>
              </a:defRPr>
            </a:pPr>
            <a:r>
              <a:t>¿Cómo se procesa digitalmente?</a:t>
            </a:r>
          </a:p>
          <a:p>
            <a:pPr marL="160420" indent="-160420">
              <a:buSzPct val="100000"/>
              <a:buChar char="▸"/>
              <a:defRPr sz="1600">
                <a:solidFill>
                  <a:srgbClr val="4D0912"/>
                </a:solidFill>
              </a:defRPr>
            </a:pPr>
            <a:r>
              <a:t>Las láminas se escanean a alta resolución (típicamente 20× o 40× de aumento óptico) en </a:t>
            </a:r>
            <a:r>
              <a:rPr b="1" i="1"/>
              <a:t>Whole Slide Images</a:t>
            </a:r>
            <a:r>
              <a:t> (WSIs): imágenes gigapíxel de ≈80.000 × 40.000 píxeles.</a:t>
            </a:r>
          </a:p>
          <a:p>
            <a:pPr marL="160420" indent="-160420">
              <a:buSzPct val="100000"/>
              <a:buChar char="▸"/>
              <a:defRPr sz="1600">
                <a:solidFill>
                  <a:srgbClr val="4D0912"/>
                </a:solidFill>
              </a:defRPr>
            </a:pPr>
            <a:r>
              <a:t>Los modelos de </a:t>
            </a:r>
            <a:r>
              <a:rPr b="1"/>
              <a:t>IA no procesan las láminas completas</a:t>
            </a:r>
            <a:r>
              <a:t>: se dividen en parches más pequeños que alimentan al encoder de imagen.</a:t>
            </a:r>
          </a:p>
          <a:p>
            <a:pPr>
              <a:defRPr b="1" sz="1600">
                <a:solidFill>
                  <a:srgbClr val="4D0912"/>
                </a:solidFill>
              </a:defRPr>
            </a:pPr>
          </a:p>
          <a:p>
            <a:pPr>
              <a:defRPr sz="1600">
                <a:solidFill>
                  <a:srgbClr val="4D0912"/>
                </a:solidFill>
              </a:defRPr>
            </a:pPr>
            <a:r>
              <a:t>→  Esto convierte el problema en clasificación visual de parches con etiquetas caras y contexto parcial.</a:t>
            </a:r>
          </a:p>
        </p:txBody>
      </p:sp>
      <p:pic>
        <p:nvPicPr>
          <p:cNvPr id="120" name="Picture 9" descr="Picture 9"/>
          <p:cNvPicPr>
            <a:picLocks noChangeAspect="1"/>
          </p:cNvPicPr>
          <p:nvPr/>
        </p:nvPicPr>
        <p:blipFill>
          <a:blip r:embed="rId3">
            <a:extLst/>
          </a:blip>
          <a:stretch>
            <a:fillRect/>
          </a:stretch>
        </p:blipFill>
        <p:spPr>
          <a:xfrm>
            <a:off x="6309359" y="3398537"/>
            <a:ext cx="5394965" cy="2164065"/>
          </a:xfrm>
          <a:prstGeom prst="rect">
            <a:avLst/>
          </a:prstGeom>
          <a:ln w="12700">
            <a:miter lim="400000"/>
          </a:ln>
        </p:spPr>
      </p:pic>
      <p:pic>
        <p:nvPicPr>
          <p:cNvPr id="121" name="Picture 10" descr="Picture 10"/>
          <p:cNvPicPr>
            <a:picLocks noChangeAspect="1"/>
          </p:cNvPicPr>
          <p:nvPr/>
        </p:nvPicPr>
        <p:blipFill>
          <a:blip r:embed="rId4">
            <a:extLst/>
          </a:blip>
          <a:stretch>
            <a:fillRect/>
          </a:stretch>
        </p:blipFill>
        <p:spPr>
          <a:xfrm>
            <a:off x="6150173" y="1988161"/>
            <a:ext cx="5713334" cy="3709959"/>
          </a:xfrm>
          <a:prstGeom prst="rect">
            <a:avLst/>
          </a:prstGeom>
          <a:ln w="12700">
            <a:miter lim="400000"/>
          </a:ln>
        </p:spPr>
      </p:pic>
      <p:sp>
        <p:nvSpPr>
          <p:cNvPr id="122" name="Rectangle 117"/>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xit" nodeType="clickEffect" presetSubtype="0" presetID="1" grpId="1" fill="hold">
                                  <p:stCondLst>
                                    <p:cond delay="0"/>
                                  </p:stCondLst>
                                  <p:iterate type="el" backwards="0">
                                    <p:tmAbs val="0"/>
                                  </p:iterate>
                                  <p:childTnLst>
                                    <p:set>
                                      <p:cBhvr>
                                        <p:cTn id="6" fill="hold">
                                          <p:stCondLst>
                                            <p:cond delay="0"/>
                                          </p:stCondLst>
                                        </p:cTn>
                                        <p:tgtEl>
                                          <p:spTgt spid="121"/>
                                        </p:tgtEl>
                                        <p:attrNameLst>
                                          <p:attrName>style.visibility</p:attrName>
                                        </p:attrNameLst>
                                      </p:cBhvr>
                                      <p:to>
                                        <p:strVal val="hidden"/>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12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1" grpId="1"/>
      <p:bldP build="whole" bldLvl="1" animBg="1" rev="0" advAuto="0" spid="120" grpId="2"/>
    </p:bldLst>
  </p:timing>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27"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2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29"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4/36</a:t>
            </a:r>
          </a:p>
        </p:txBody>
      </p:sp>
      <p:sp>
        <p:nvSpPr>
          <p:cNvPr id="130" name="TextBox 5"/>
          <p:cNvSpPr txBox="1"/>
          <p:nvPr/>
        </p:nvSpPr>
        <p:spPr>
          <a:xfrm>
            <a:off x="594359" y="384047"/>
            <a:ext cx="11000235" cy="485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Dificultades del procesamiento digital de muestras histopatológicas</a:t>
            </a:r>
          </a:p>
        </p:txBody>
      </p:sp>
      <p:sp>
        <p:nvSpPr>
          <p:cNvPr id="131"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32" name="TextBox 7"/>
          <p:cNvSpPr txBox="1"/>
          <p:nvPr/>
        </p:nvSpPr>
        <p:spPr>
          <a:xfrm>
            <a:off x="594359" y="1188719"/>
            <a:ext cx="11000235"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Particularidades que cualquier pipeline de visión debe contemplar</a:t>
            </a:r>
          </a:p>
        </p:txBody>
      </p:sp>
      <p:sp>
        <p:nvSpPr>
          <p:cNvPr id="133" name="TextBox 8"/>
          <p:cNvSpPr txBox="1"/>
          <p:nvPr/>
        </p:nvSpPr>
        <p:spPr>
          <a:xfrm>
            <a:off x="540035" y="1870361"/>
            <a:ext cx="6068032" cy="41303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180472" indent="-180472">
              <a:buSzPct val="100000"/>
              <a:buChar char="▸"/>
              <a:defRPr b="1">
                <a:solidFill>
                  <a:srgbClr val="4D0912"/>
                </a:solidFill>
              </a:defRPr>
            </a:pPr>
            <a:r>
              <a:t>Escasez de datos etiquetados</a:t>
            </a:r>
            <a:r>
              <a:rPr b="0"/>
              <a:t>: los conjuntos abiertos son varios órdenes de magnitud menores que los corpus generales de imagen: el etiquetado requiere patólogo experto y es caro.</a:t>
            </a:r>
          </a:p>
          <a:p>
            <a:pPr lvl="1" marL="561471" indent="-180472">
              <a:buSzPct val="100000"/>
              <a:buChar char="▸"/>
              <a:defRPr b="1">
                <a:solidFill>
                  <a:srgbClr val="4D0912"/>
                </a:solidFill>
              </a:defRPr>
            </a:pPr>
            <a:r>
              <a:t>Confidencialidad</a:t>
            </a:r>
            <a:r>
              <a:rPr b="0"/>
              <a:t>: la privacidad del paciente reduce aún más los datasets accesibles multi-institución.</a:t>
            </a:r>
          </a:p>
          <a:p>
            <a:pPr marL="180472" indent="-180472">
              <a:buSzPct val="100000"/>
              <a:buChar char="▸"/>
              <a:defRPr b="1">
                <a:solidFill>
                  <a:srgbClr val="4D0912"/>
                </a:solidFill>
              </a:defRPr>
            </a:pPr>
            <a:r>
              <a:t>Variabilidad institucional</a:t>
            </a:r>
            <a:r>
              <a:rPr b="0"/>
              <a:t>: la tinción H&amp;E depende del laboratorio, del técnico y del protocolo: cambia entre hospitales, escáneres y lotes.</a:t>
            </a:r>
          </a:p>
          <a:p>
            <a:pPr lvl="1" marL="561471" indent="-180472">
              <a:buSzPct val="100000"/>
              <a:buChar char="▸"/>
              <a:defRPr b="1">
                <a:solidFill>
                  <a:srgbClr val="4D0912"/>
                </a:solidFill>
              </a:defRPr>
            </a:pPr>
            <a:r>
              <a:t>Normalización de la tinción</a:t>
            </a:r>
            <a:r>
              <a:rPr b="0"/>
              <a:t> (stain normalization): mitigación habitual de preprocesado para atenuar esa variabilidad.</a:t>
            </a:r>
          </a:p>
          <a:p>
            <a:pPr marL="180472" indent="-180472">
              <a:buSzPct val="100000"/>
              <a:buChar char="▸"/>
              <a:defRPr>
                <a:solidFill>
                  <a:srgbClr val="4D0912"/>
                </a:solidFill>
              </a:defRPr>
            </a:pPr>
          </a:p>
          <a:p>
            <a:pPr marL="180472" indent="-180472">
              <a:buSzPct val="100000"/>
              <a:buChar char="▸"/>
              <a:defRPr>
                <a:solidFill>
                  <a:srgbClr val="4D0912"/>
                </a:solidFill>
              </a:defRPr>
            </a:pPr>
            <a:r>
              <a:t>El problema no es solo clasificar bien dentro del dataset de entrenamiento; es </a:t>
            </a:r>
            <a:r>
              <a:rPr b="1"/>
              <a:t>generalizar cuando cambia la fuente.</a:t>
            </a:r>
          </a:p>
        </p:txBody>
      </p:sp>
      <p:pic>
        <p:nvPicPr>
          <p:cNvPr id="134" name="Picture 127" descr="Picture 127"/>
          <p:cNvPicPr>
            <a:picLocks noChangeAspect="1"/>
          </p:cNvPicPr>
          <p:nvPr/>
        </p:nvPicPr>
        <p:blipFill>
          <a:blip r:embed="rId3">
            <a:extLst/>
          </a:blip>
          <a:stretch>
            <a:fillRect/>
          </a:stretch>
        </p:blipFill>
        <p:spPr>
          <a:xfrm>
            <a:off x="7191361" y="1751855"/>
            <a:ext cx="3841883" cy="4182572"/>
          </a:xfrm>
          <a:prstGeom prst="rect">
            <a:avLst/>
          </a:prstGeom>
          <a:ln w="12700">
            <a:miter lim="400000"/>
          </a:ln>
        </p:spPr>
      </p:pic>
      <p:sp>
        <p:nvSpPr>
          <p:cNvPr id="135" name="Rectangle 129"/>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40"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4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42"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5/36</a:t>
            </a:r>
          </a:p>
        </p:txBody>
      </p:sp>
      <p:sp>
        <p:nvSpPr>
          <p:cNvPr id="143" name="TextBox 136"/>
          <p:cNvSpPr txBox="1"/>
          <p:nvPr/>
        </p:nvSpPr>
        <p:spPr>
          <a:xfrm>
            <a:off x="594359" y="384047"/>
            <a:ext cx="11000235"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Modelos fundacionales</a:t>
            </a:r>
          </a:p>
        </p:txBody>
      </p:sp>
      <p:sp>
        <p:nvSpPr>
          <p:cNvPr id="144" name="Rectangle 137"/>
          <p:cNvSpPr/>
          <p:nvPr/>
        </p:nvSpPr>
        <p:spPr>
          <a:xfrm>
            <a:off x="594360" y="978408"/>
            <a:ext cx="1188720" cy="45722"/>
          </a:xfrm>
          <a:prstGeom prst="rect">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45" name="TextBox 138"/>
          <p:cNvSpPr txBox="1"/>
          <p:nvPr/>
        </p:nvSpPr>
        <p:spPr>
          <a:xfrm>
            <a:off x="594359" y="1188719"/>
            <a:ext cx="11000235" cy="396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Preentrenar una vez, reutilizar después.</a:t>
            </a:r>
          </a:p>
        </p:txBody>
      </p:sp>
      <p:sp>
        <p:nvSpPr>
          <p:cNvPr id="146" name="Rounded Rectangle 139"/>
          <p:cNvSpPr/>
          <p:nvPr/>
        </p:nvSpPr>
        <p:spPr>
          <a:xfrm>
            <a:off x="649223" y="1874517"/>
            <a:ext cx="1920241" cy="1417322"/>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47" name="TextBox 140"/>
          <p:cNvSpPr txBox="1"/>
          <p:nvPr/>
        </p:nvSpPr>
        <p:spPr>
          <a:xfrm>
            <a:off x="740662" y="1947671"/>
            <a:ext cx="1737363"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latin typeface="+mj-lt"/>
                <a:ea typeface="+mj-ea"/>
                <a:cs typeface="+mj-cs"/>
                <a:sym typeface="Helvetica"/>
              </a:defRPr>
            </a:pPr>
            <a:r>
              <a:t>Corpus masivo</a:t>
            </a:r>
          </a:p>
          <a:p>
            <a:pPr>
              <a:defRPr sz="1100">
                <a:solidFill>
                  <a:srgbClr val="3C2814"/>
                </a:solidFill>
                <a:latin typeface="+mj-lt"/>
                <a:ea typeface="+mj-ea"/>
                <a:cs typeface="+mj-cs"/>
                <a:sym typeface="Helvetica"/>
              </a:defRPr>
            </a:pPr>
            <a:r>
              <a:t>texto</a:t>
            </a:r>
          </a:p>
          <a:p>
            <a:pPr>
              <a:defRPr sz="1100">
                <a:solidFill>
                  <a:srgbClr val="3C2814"/>
                </a:solidFill>
                <a:latin typeface="+mj-lt"/>
                <a:ea typeface="+mj-ea"/>
                <a:cs typeface="+mj-cs"/>
                <a:sym typeface="Helvetica"/>
              </a:defRPr>
            </a:pPr>
            <a:r>
              <a:t>imágenes</a:t>
            </a:r>
          </a:p>
          <a:p>
            <a:pPr>
              <a:defRPr sz="1100">
                <a:solidFill>
                  <a:srgbClr val="3C2814"/>
                </a:solidFill>
                <a:latin typeface="+mj-lt"/>
                <a:ea typeface="+mj-ea"/>
                <a:cs typeface="+mj-cs"/>
                <a:sym typeface="Helvetica"/>
              </a:defRPr>
            </a:pPr>
            <a:r>
              <a:t>pares imagen–texto</a:t>
            </a:r>
          </a:p>
        </p:txBody>
      </p:sp>
      <p:sp>
        <p:nvSpPr>
          <p:cNvPr id="148" name="Right Arrow 141"/>
          <p:cNvSpPr/>
          <p:nvPr/>
        </p:nvSpPr>
        <p:spPr>
          <a:xfrm>
            <a:off x="2569464" y="2423160"/>
            <a:ext cx="320042" cy="320042"/>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49" name="Rounded Rectangle 142"/>
          <p:cNvSpPr/>
          <p:nvPr/>
        </p:nvSpPr>
        <p:spPr>
          <a:xfrm>
            <a:off x="2889504" y="1874517"/>
            <a:ext cx="1920241" cy="1417322"/>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0" name="TextBox 143"/>
          <p:cNvSpPr txBox="1"/>
          <p:nvPr/>
        </p:nvSpPr>
        <p:spPr>
          <a:xfrm>
            <a:off x="2980943" y="1947671"/>
            <a:ext cx="1737363"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latin typeface="+mj-lt"/>
                <a:ea typeface="+mj-ea"/>
                <a:cs typeface="+mj-cs"/>
                <a:sym typeface="Helvetica"/>
              </a:defRPr>
            </a:pPr>
            <a:r>
              <a:t>Pretraining</a:t>
            </a:r>
          </a:p>
          <a:p>
            <a:pPr>
              <a:defRPr sz="1100">
                <a:solidFill>
                  <a:srgbClr val="3C2814"/>
                </a:solidFill>
                <a:latin typeface="+mj-lt"/>
                <a:ea typeface="+mj-ea"/>
                <a:cs typeface="+mj-cs"/>
                <a:sym typeface="Helvetica"/>
              </a:defRPr>
            </a:pPr>
            <a:r>
              <a:t>aprende patrones</a:t>
            </a:r>
          </a:p>
          <a:p>
            <a:pPr>
              <a:defRPr sz="1100">
                <a:solidFill>
                  <a:srgbClr val="3C2814"/>
                </a:solidFill>
                <a:latin typeface="+mj-lt"/>
                <a:ea typeface="+mj-ea"/>
                <a:cs typeface="+mj-cs"/>
                <a:sym typeface="Helvetica"/>
              </a:defRPr>
            </a:pPr>
            <a:r>
              <a:t>generales sin tarea</a:t>
            </a:r>
          </a:p>
          <a:p>
            <a:pPr>
              <a:defRPr sz="1100">
                <a:solidFill>
                  <a:srgbClr val="3C2814"/>
                </a:solidFill>
                <a:latin typeface="+mj-lt"/>
                <a:ea typeface="+mj-ea"/>
                <a:cs typeface="+mj-cs"/>
                <a:sym typeface="Helvetica"/>
              </a:defRPr>
            </a:pPr>
            <a:r>
              <a:t>final fija</a:t>
            </a:r>
          </a:p>
        </p:txBody>
      </p:sp>
      <p:sp>
        <p:nvSpPr>
          <p:cNvPr id="151" name="Right Arrow 144"/>
          <p:cNvSpPr/>
          <p:nvPr/>
        </p:nvSpPr>
        <p:spPr>
          <a:xfrm>
            <a:off x="4809744" y="2423160"/>
            <a:ext cx="320042" cy="320042"/>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2" name="Rounded Rectangle 145"/>
          <p:cNvSpPr/>
          <p:nvPr/>
        </p:nvSpPr>
        <p:spPr>
          <a:xfrm>
            <a:off x="5129784" y="1874517"/>
            <a:ext cx="1920242" cy="1417322"/>
          </a:xfrm>
          <a:prstGeom prst="roundRect">
            <a:avLst>
              <a:gd name="adj" fmla="val 10000"/>
            </a:avLst>
          </a:prstGeom>
          <a:solidFill>
            <a:srgbClr val="EBD9A8"/>
          </a:solidFill>
          <a:ln w="19050">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3" name="TextBox 146"/>
          <p:cNvSpPr txBox="1"/>
          <p:nvPr/>
        </p:nvSpPr>
        <p:spPr>
          <a:xfrm>
            <a:off x="5221223" y="1947671"/>
            <a:ext cx="1737362"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latin typeface="+mj-lt"/>
                <a:ea typeface="+mj-ea"/>
                <a:cs typeface="+mj-cs"/>
                <a:sym typeface="Helvetica"/>
              </a:defRPr>
            </a:pPr>
            <a:r>
              <a:t>FM</a:t>
            </a:r>
          </a:p>
          <a:p>
            <a:pPr>
              <a:defRPr sz="1100">
                <a:solidFill>
                  <a:srgbClr val="3C2814"/>
                </a:solidFill>
                <a:latin typeface="+mj-lt"/>
                <a:ea typeface="+mj-ea"/>
                <a:cs typeface="+mj-cs"/>
                <a:sym typeface="Helvetica"/>
              </a:defRPr>
            </a:pPr>
            <a:r>
              <a:t>modelo fundacional con</a:t>
            </a:r>
          </a:p>
          <a:p>
            <a:pPr>
              <a:defRPr sz="1100">
                <a:solidFill>
                  <a:srgbClr val="3C2814"/>
                </a:solidFill>
                <a:latin typeface="+mj-lt"/>
                <a:ea typeface="+mj-ea"/>
                <a:cs typeface="+mj-cs"/>
                <a:sym typeface="Helvetica"/>
              </a:defRPr>
            </a:pPr>
            <a:r>
              <a:t>embeddings</a:t>
            </a:r>
          </a:p>
          <a:p>
            <a:pPr>
              <a:defRPr sz="1100">
                <a:solidFill>
                  <a:srgbClr val="3C2814"/>
                </a:solidFill>
                <a:latin typeface="+mj-lt"/>
                <a:ea typeface="+mj-ea"/>
                <a:cs typeface="+mj-cs"/>
                <a:sym typeface="Helvetica"/>
              </a:defRPr>
            </a:pPr>
            <a:r>
              <a:t>reutilizables</a:t>
            </a:r>
          </a:p>
        </p:txBody>
      </p:sp>
      <p:sp>
        <p:nvSpPr>
          <p:cNvPr id="154" name="Right Arrow 147"/>
          <p:cNvSpPr/>
          <p:nvPr/>
        </p:nvSpPr>
        <p:spPr>
          <a:xfrm>
            <a:off x="7050023" y="2423160"/>
            <a:ext cx="320042" cy="320042"/>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5" name="Rounded Rectangle 148"/>
          <p:cNvSpPr/>
          <p:nvPr/>
        </p:nvSpPr>
        <p:spPr>
          <a:xfrm>
            <a:off x="7370064" y="1874517"/>
            <a:ext cx="1920242" cy="1417322"/>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6" name="TextBox 149"/>
          <p:cNvSpPr txBox="1"/>
          <p:nvPr/>
        </p:nvSpPr>
        <p:spPr>
          <a:xfrm>
            <a:off x="7461504" y="1947671"/>
            <a:ext cx="1737362"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latin typeface="+mj-lt"/>
                <a:ea typeface="+mj-ea"/>
                <a:cs typeface="+mj-cs"/>
                <a:sym typeface="Helvetica"/>
              </a:defRPr>
            </a:pPr>
            <a:r>
              <a:t>Adaptación ligera</a:t>
            </a:r>
          </a:p>
          <a:p>
            <a:pPr>
              <a:defRPr sz="1100">
                <a:solidFill>
                  <a:srgbClr val="3C2814"/>
                </a:solidFill>
                <a:latin typeface="+mj-lt"/>
                <a:ea typeface="+mj-ea"/>
                <a:cs typeface="+mj-cs"/>
                <a:sym typeface="Helvetica"/>
              </a:defRPr>
            </a:pPr>
            <a:r>
              <a:t>prompt</a:t>
            </a:r>
          </a:p>
          <a:p>
            <a:pPr>
              <a:defRPr sz="1100">
                <a:solidFill>
                  <a:srgbClr val="3C2814"/>
                </a:solidFill>
                <a:latin typeface="+mj-lt"/>
                <a:ea typeface="+mj-ea"/>
                <a:cs typeface="+mj-cs"/>
                <a:sym typeface="Helvetica"/>
              </a:defRPr>
            </a:pPr>
            <a:r>
              <a:t>cabeza pequeña</a:t>
            </a:r>
          </a:p>
          <a:p>
            <a:pPr>
              <a:defRPr sz="1100">
                <a:solidFill>
                  <a:srgbClr val="3C2814"/>
                </a:solidFill>
                <a:latin typeface="+mj-lt"/>
                <a:ea typeface="+mj-ea"/>
                <a:cs typeface="+mj-cs"/>
                <a:sym typeface="Helvetica"/>
              </a:defRPr>
            </a:pPr>
            <a:r>
              <a:t>encoder congelado</a:t>
            </a:r>
          </a:p>
        </p:txBody>
      </p:sp>
      <p:sp>
        <p:nvSpPr>
          <p:cNvPr id="157" name="Right Arrow 150"/>
          <p:cNvSpPr/>
          <p:nvPr/>
        </p:nvSpPr>
        <p:spPr>
          <a:xfrm>
            <a:off x="9290304" y="2423160"/>
            <a:ext cx="320042" cy="320042"/>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8" name="Rounded Rectangle 151"/>
          <p:cNvSpPr/>
          <p:nvPr/>
        </p:nvSpPr>
        <p:spPr>
          <a:xfrm>
            <a:off x="9610342" y="1874517"/>
            <a:ext cx="1920242" cy="1417322"/>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59" name="TextBox 152"/>
          <p:cNvSpPr txBox="1"/>
          <p:nvPr/>
        </p:nvSpPr>
        <p:spPr>
          <a:xfrm>
            <a:off x="9701783" y="1920238"/>
            <a:ext cx="1737362"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b="1" sz="1300">
                <a:solidFill>
                  <a:srgbClr val="6B0F1A"/>
                </a:solidFill>
                <a:latin typeface="+mj-lt"/>
                <a:ea typeface="+mj-ea"/>
                <a:cs typeface="+mj-cs"/>
                <a:sym typeface="Helvetica"/>
              </a:defRPr>
            </a:lvl1pPr>
          </a:lstStyle>
          <a:p>
            <a:pPr/>
            <a:r>
              <a:t>Tarea final</a:t>
            </a:r>
          </a:p>
        </p:txBody>
      </p:sp>
      <p:pic>
        <p:nvPicPr>
          <p:cNvPr id="160" name="Picture 153" descr="Picture 153"/>
          <p:cNvPicPr>
            <a:picLocks noChangeAspect="1"/>
          </p:cNvPicPr>
          <p:nvPr/>
        </p:nvPicPr>
        <p:blipFill>
          <a:blip r:embed="rId3">
            <a:extLst/>
          </a:blip>
          <a:stretch>
            <a:fillRect/>
          </a:stretch>
        </p:blipFill>
        <p:spPr>
          <a:xfrm>
            <a:off x="10053828" y="2203703"/>
            <a:ext cx="1033274" cy="1033274"/>
          </a:xfrm>
          <a:prstGeom prst="rect">
            <a:avLst/>
          </a:prstGeom>
          <a:ln w="12700">
            <a:miter lim="400000"/>
          </a:ln>
        </p:spPr>
      </p:pic>
      <p:sp>
        <p:nvSpPr>
          <p:cNvPr id="161" name="TextBox 154"/>
          <p:cNvSpPr txBox="1"/>
          <p:nvPr/>
        </p:nvSpPr>
        <p:spPr>
          <a:xfrm>
            <a:off x="9427464" y="3337559"/>
            <a:ext cx="2286002" cy="36943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lgn="ctr">
              <a:defRPr sz="1100">
                <a:solidFill>
                  <a:srgbClr val="826540"/>
                </a:solidFill>
                <a:latin typeface="+mj-lt"/>
                <a:ea typeface="+mj-ea"/>
                <a:cs typeface="+mj-cs"/>
                <a:sym typeface="Helvetica"/>
              </a:defRPr>
            </a:lvl1pPr>
          </a:lstStyle>
          <a:p>
            <a:pPr/>
            <a:r>
              <a:t>parche H&amp;E → clase histopatológica</a:t>
            </a:r>
          </a:p>
        </p:txBody>
      </p:sp>
      <p:sp>
        <p:nvSpPr>
          <p:cNvPr id="162" name="TextBox 155"/>
          <p:cNvSpPr txBox="1"/>
          <p:nvPr/>
        </p:nvSpPr>
        <p:spPr>
          <a:xfrm>
            <a:off x="582770" y="4291041"/>
            <a:ext cx="5760723"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6B0F1A"/>
                </a:solidFill>
                <a:latin typeface="+mj-lt"/>
                <a:ea typeface="+mj-ea"/>
                <a:cs typeface="+mj-cs"/>
                <a:sym typeface="Helvetica"/>
              </a:defRPr>
            </a:lvl1pPr>
          </a:lstStyle>
          <a:p>
            <a:pPr/>
            <a:r>
              <a:t>Ejemplos que aparecen en el TFM</a:t>
            </a:r>
          </a:p>
        </p:txBody>
      </p:sp>
      <p:sp>
        <p:nvSpPr>
          <p:cNvPr id="163" name="Rounded Rectangle 156"/>
          <p:cNvSpPr/>
          <p:nvPr/>
        </p:nvSpPr>
        <p:spPr>
          <a:xfrm>
            <a:off x="582770" y="4702520"/>
            <a:ext cx="1463042" cy="365761"/>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64" name="TextBox 157"/>
          <p:cNvSpPr txBox="1"/>
          <p:nvPr/>
        </p:nvSpPr>
        <p:spPr>
          <a:xfrm>
            <a:off x="582770" y="4720809"/>
            <a:ext cx="1463043" cy="269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latin typeface="+mj-lt"/>
                <a:ea typeface="+mj-ea"/>
                <a:cs typeface="+mj-cs"/>
                <a:sym typeface="Helvetica"/>
              </a:defRPr>
            </a:lvl1pPr>
          </a:lstStyle>
          <a:p>
            <a:pPr/>
            <a:r>
              <a:t>BERT · texto</a:t>
            </a:r>
          </a:p>
        </p:txBody>
      </p:sp>
      <p:sp>
        <p:nvSpPr>
          <p:cNvPr id="165" name="Rounded Rectangle 158"/>
          <p:cNvSpPr/>
          <p:nvPr/>
        </p:nvSpPr>
        <p:spPr>
          <a:xfrm>
            <a:off x="2182971" y="4702520"/>
            <a:ext cx="1645922" cy="365761"/>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66" name="TextBox 159"/>
          <p:cNvSpPr txBox="1"/>
          <p:nvPr/>
        </p:nvSpPr>
        <p:spPr>
          <a:xfrm>
            <a:off x="2182970" y="4720809"/>
            <a:ext cx="1645923" cy="269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latin typeface="+mj-lt"/>
                <a:ea typeface="+mj-ea"/>
                <a:cs typeface="+mj-cs"/>
                <a:sym typeface="Helvetica"/>
              </a:defRPr>
            </a:lvl1pPr>
          </a:lstStyle>
          <a:p>
            <a:pPr/>
            <a:r>
              <a:t>DINOv2 · imagen</a:t>
            </a:r>
          </a:p>
        </p:txBody>
      </p:sp>
      <p:sp>
        <p:nvSpPr>
          <p:cNvPr id="167" name="Rounded Rectangle 160"/>
          <p:cNvSpPr/>
          <p:nvPr/>
        </p:nvSpPr>
        <p:spPr>
          <a:xfrm>
            <a:off x="3966049" y="4702520"/>
            <a:ext cx="2377442" cy="365761"/>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68" name="TextBox 161"/>
          <p:cNvSpPr txBox="1"/>
          <p:nvPr/>
        </p:nvSpPr>
        <p:spPr>
          <a:xfrm>
            <a:off x="3966050" y="4720809"/>
            <a:ext cx="2377441" cy="269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latin typeface="+mj-lt"/>
                <a:ea typeface="+mj-ea"/>
                <a:cs typeface="+mj-cs"/>
                <a:sym typeface="Helvetica"/>
              </a:defRPr>
            </a:lvl1pPr>
          </a:lstStyle>
          <a:p>
            <a:pPr/>
            <a:r>
              <a:t>CLIP / PLIP · imagen + texto</a:t>
            </a:r>
          </a:p>
        </p:txBody>
      </p:sp>
      <p:sp>
        <p:nvSpPr>
          <p:cNvPr id="169" name="TextBox 162"/>
          <p:cNvSpPr txBox="1"/>
          <p:nvPr/>
        </p:nvSpPr>
        <p:spPr>
          <a:xfrm>
            <a:off x="6663530" y="4291041"/>
            <a:ext cx="4937762"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6B0F1A"/>
                </a:solidFill>
                <a:latin typeface="+mj-lt"/>
                <a:ea typeface="+mj-ea"/>
                <a:cs typeface="+mj-cs"/>
                <a:sym typeface="Helvetica"/>
              </a:defRPr>
            </a:lvl1pPr>
          </a:lstStyle>
          <a:p>
            <a:pPr/>
            <a:r>
              <a:t>Por qué importa aquí</a:t>
            </a:r>
          </a:p>
        </p:txBody>
      </p:sp>
      <p:sp>
        <p:nvSpPr>
          <p:cNvPr id="170" name="TextBox 163"/>
          <p:cNvSpPr txBox="1"/>
          <p:nvPr/>
        </p:nvSpPr>
        <p:spPr>
          <a:xfrm>
            <a:off x="6663530" y="4629367"/>
            <a:ext cx="4937762" cy="635072"/>
          </a:xfrm>
          <a:prstGeom prst="rect">
            <a:avLst/>
          </a:prstGeom>
          <a:ln w="12700">
            <a:miter lim="400000"/>
          </a:ln>
          <a:extLst>
            <a:ext uri="{C572A759-6A51-4108-AA02-DFA0A04FC94B}">
              <ma14:wrappingTextBoxFlag xmlns:ma14="http://schemas.microsoft.com/office/mac/drawingml/2011/main" val="1"/>
            </a:ext>
          </a:extLst>
        </p:spPr>
        <p:txBody>
          <a:bodyPr lIns="27432" tIns="27432" rIns="27432" bIns="27432">
            <a:spAutoFit/>
          </a:bodyPr>
          <a:lstStyle/>
          <a:p>
            <a:pPr>
              <a:defRPr sz="1200">
                <a:solidFill>
                  <a:srgbClr val="3C2814"/>
                </a:solidFill>
                <a:latin typeface="+mj-lt"/>
                <a:ea typeface="+mj-ea"/>
                <a:cs typeface="+mj-cs"/>
                <a:sym typeface="Helvetica"/>
              </a:defRPr>
            </a:pPr>
            <a:r>
              <a:t>▸ etiquetas histopatológicas caras</a:t>
            </a:r>
          </a:p>
          <a:p>
            <a:pPr>
              <a:defRPr sz="1200">
                <a:solidFill>
                  <a:srgbClr val="3C2814"/>
                </a:solidFill>
                <a:latin typeface="+mj-lt"/>
                <a:ea typeface="+mj-ea"/>
                <a:cs typeface="+mj-cs"/>
                <a:sym typeface="Helvetica"/>
              </a:defRPr>
            </a:pPr>
            <a:r>
              <a:t>▸ datos multi-institución limitados</a:t>
            </a:r>
          </a:p>
          <a:p>
            <a:pPr>
              <a:defRPr sz="1200">
                <a:solidFill>
                  <a:srgbClr val="3C2814"/>
                </a:solidFill>
                <a:latin typeface="+mj-lt"/>
                <a:ea typeface="+mj-ea"/>
                <a:cs typeface="+mj-cs"/>
                <a:sym typeface="Helvetica"/>
              </a:defRPr>
            </a:pPr>
            <a:r>
              <a:t>▸ el reto real es transferir bajo shift</a:t>
            </a:r>
          </a:p>
        </p:txBody>
      </p:sp>
      <p:sp>
        <p:nvSpPr>
          <p:cNvPr id="171" name="TextBox 164"/>
          <p:cNvSpPr txBox="1"/>
          <p:nvPr/>
        </p:nvSpPr>
        <p:spPr>
          <a:xfrm>
            <a:off x="589533" y="5597180"/>
            <a:ext cx="11000234" cy="523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lgn="ctr">
              <a:defRPr b="1" sz="1400">
                <a:solidFill>
                  <a:srgbClr val="4D0912"/>
                </a:solidFill>
                <a:latin typeface="+mj-lt"/>
                <a:ea typeface="+mj-ea"/>
                <a:cs typeface="+mj-cs"/>
                <a:sym typeface="Helvetica"/>
              </a:defRPr>
            </a:pPr>
            <a:r>
              <a:t>En este TFM no entrenamos modelos fundacionales desde cero: medimos qué representaciones</a:t>
            </a:r>
          </a:p>
          <a:p>
            <a:pPr algn="ctr">
              <a:defRPr b="1" sz="1400">
                <a:solidFill>
                  <a:srgbClr val="4D0912"/>
                </a:solidFill>
                <a:latin typeface="+mj-lt"/>
                <a:ea typeface="+mj-ea"/>
                <a:cs typeface="+mj-cs"/>
                <a:sym typeface="Helvetica"/>
              </a:defRPr>
            </a:pPr>
            <a:r>
              <a:t>preentrenadas transfieren mejor cuando cambia la fuente histopatológica.</a:t>
            </a:r>
          </a:p>
        </p:txBody>
      </p:sp>
      <p:sp>
        <p:nvSpPr>
          <p:cNvPr id="172" name="Rectangle 165"/>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73" name="No se entrena un modelo desde cero para cada tarea: se reutiliza una representación preentrenada"/>
          <p:cNvSpPr txBox="1"/>
          <p:nvPr/>
        </p:nvSpPr>
        <p:spPr>
          <a:xfrm>
            <a:off x="558846" y="3476247"/>
            <a:ext cx="9073314" cy="3327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600">
                <a:solidFill>
                  <a:srgbClr val="4D0912"/>
                </a:solidFill>
                <a:latin typeface="+mj-lt"/>
                <a:ea typeface="+mj-ea"/>
                <a:cs typeface="+mj-cs"/>
                <a:sym typeface="Helvetica"/>
              </a:defRPr>
            </a:lvl1pPr>
          </a:lstStyle>
          <a:p>
            <a:pPr/>
            <a:r>
              <a:t>No se entrena un modelo desde cero para cada tarea: se reutiliza una representación preentrenada</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7"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78"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79"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80"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6/36</a:t>
            </a:r>
          </a:p>
        </p:txBody>
      </p:sp>
      <p:sp>
        <p:nvSpPr>
          <p:cNvPr id="181" name="Rectangle 141"/>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82" name="TextBox 185"/>
          <p:cNvSpPr txBox="1"/>
          <p:nvPr/>
        </p:nvSpPr>
        <p:spPr>
          <a:xfrm>
            <a:off x="594359" y="384047"/>
            <a:ext cx="11000234" cy="48995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2600">
                <a:solidFill>
                  <a:srgbClr val="6B0F1A"/>
                </a:solidFill>
              </a:defRPr>
            </a:lvl1pPr>
          </a:lstStyle>
          <a:p>
            <a:pPr/>
            <a:r>
              <a:t>De modelos fundacionales a visión-lenguaje</a:t>
            </a:r>
          </a:p>
        </p:txBody>
      </p:sp>
      <p:sp>
        <p:nvSpPr>
          <p:cNvPr id="183" name="TextBox 186"/>
          <p:cNvSpPr txBox="1"/>
          <p:nvPr/>
        </p:nvSpPr>
        <p:spPr>
          <a:xfrm>
            <a:off x="594359" y="1188719"/>
            <a:ext cx="11000234" cy="340183"/>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400">
                <a:solidFill>
                  <a:srgbClr val="4D0912"/>
                </a:solidFill>
              </a:defRPr>
            </a:lvl1pPr>
          </a:lstStyle>
          <a:p>
            <a:pPr/>
            <a:r>
              <a:t>La variante que nos interesa aprende una representación común para imágenes y texto.</a:t>
            </a:r>
          </a:p>
        </p:txBody>
      </p:sp>
      <p:sp>
        <p:nvSpPr>
          <p:cNvPr id="184" name="TextBox 187"/>
          <p:cNvSpPr txBox="1"/>
          <p:nvPr/>
        </p:nvSpPr>
        <p:spPr>
          <a:xfrm>
            <a:off x="594359" y="1965960"/>
            <a:ext cx="5577842" cy="33308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a:solidFill>
                  <a:srgbClr val="6B0F1A"/>
                </a:solidFill>
              </a:defRPr>
            </a:lvl1pPr>
          </a:lstStyle>
          <a:p>
            <a:pPr/>
            <a:r>
              <a:t>Qué añade un VLM</a:t>
            </a:r>
          </a:p>
        </p:txBody>
      </p:sp>
      <p:sp>
        <p:nvSpPr>
          <p:cNvPr id="185" name="TextBox 188"/>
          <p:cNvSpPr txBox="1"/>
          <p:nvPr/>
        </p:nvSpPr>
        <p:spPr>
          <a:xfrm>
            <a:off x="594359" y="2377439"/>
            <a:ext cx="5577842" cy="1041659"/>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sz="1400">
                <a:solidFill>
                  <a:srgbClr val="3C2814"/>
                </a:solidFill>
              </a:defRPr>
            </a:pPr>
            <a:r>
              <a:t>▸ Entrena con pares imagen–texto, no solo con etiquetas cerradas.</a:t>
            </a:r>
          </a:p>
          <a:p>
            <a:pPr>
              <a:defRPr sz="600">
                <a:solidFill>
                  <a:srgbClr val="3C2814"/>
                </a:solidFill>
              </a:defRPr>
            </a:pPr>
          </a:p>
          <a:p>
            <a:pPr>
              <a:defRPr sz="1400">
                <a:solidFill>
                  <a:srgbClr val="3C2814"/>
                </a:solidFill>
              </a:defRPr>
            </a:pPr>
            <a:r>
              <a:t>▸ Proyecta ambas modalidades a un espacio latente compartido.</a:t>
            </a:r>
          </a:p>
          <a:p>
            <a:pPr>
              <a:defRPr sz="600">
                <a:solidFill>
                  <a:srgbClr val="3C2814"/>
                </a:solidFill>
              </a:defRPr>
            </a:pPr>
          </a:p>
          <a:p>
            <a:pPr>
              <a:defRPr sz="1400">
                <a:solidFill>
                  <a:srgbClr val="3C2814"/>
                </a:solidFill>
              </a:defRPr>
            </a:pPr>
            <a:r>
              <a:t>▸ Permite expresar clases con texto: "a histopathology image of…"</a:t>
            </a:r>
          </a:p>
        </p:txBody>
      </p:sp>
      <p:sp>
        <p:nvSpPr>
          <p:cNvPr id="186" name="TextBox 189"/>
          <p:cNvSpPr txBox="1"/>
          <p:nvPr/>
        </p:nvSpPr>
        <p:spPr>
          <a:xfrm>
            <a:off x="6492240" y="1965960"/>
            <a:ext cx="5120641" cy="33308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a:solidFill>
                  <a:srgbClr val="6B0F1A"/>
                </a:solidFill>
              </a:defRPr>
            </a:lvl1pPr>
          </a:lstStyle>
          <a:p>
            <a:pPr/>
            <a:r>
              <a:t>Por qué importa aquí</a:t>
            </a:r>
          </a:p>
        </p:txBody>
      </p:sp>
      <p:sp>
        <p:nvSpPr>
          <p:cNvPr id="187" name="TextBox 190"/>
          <p:cNvSpPr txBox="1"/>
          <p:nvPr/>
        </p:nvSpPr>
        <p:spPr>
          <a:xfrm>
            <a:off x="6492240" y="2377439"/>
            <a:ext cx="5120641" cy="1270259"/>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sz="1400">
                <a:solidFill>
                  <a:srgbClr val="3C2814"/>
                </a:solidFill>
              </a:defRPr>
            </a:pPr>
            <a:r>
              <a:t>▸ En histopatología, las etiquetas son caras.</a:t>
            </a:r>
          </a:p>
          <a:p>
            <a:pPr>
              <a:defRPr sz="600">
                <a:solidFill>
                  <a:srgbClr val="3C2814"/>
                </a:solidFill>
              </a:defRPr>
            </a:pPr>
          </a:p>
          <a:p>
            <a:pPr>
              <a:defRPr sz="1400">
                <a:solidFill>
                  <a:srgbClr val="3C2814"/>
                </a:solidFill>
              </a:defRPr>
            </a:pPr>
            <a:r>
              <a:t>▸ El texto puede actuar como supervisión débil.</a:t>
            </a:r>
          </a:p>
          <a:p>
            <a:pPr>
              <a:defRPr sz="600">
                <a:solidFill>
                  <a:srgbClr val="3C2814"/>
                </a:solidFill>
              </a:defRPr>
            </a:pPr>
          </a:p>
          <a:p>
            <a:pPr>
              <a:defRPr sz="1400">
                <a:solidFill>
                  <a:srgbClr val="3C2814"/>
                </a:solidFill>
              </a:defRPr>
            </a:pPr>
            <a:r>
              <a:t>▸ La pregunta es si esa representación transfiere cuando cambia la fuente.</a:t>
            </a:r>
          </a:p>
        </p:txBody>
      </p:sp>
      <p:sp>
        <p:nvSpPr>
          <p:cNvPr id="188" name="TextBox 191"/>
          <p:cNvSpPr txBox="1"/>
          <p:nvPr/>
        </p:nvSpPr>
        <p:spPr>
          <a:xfrm>
            <a:off x="589533" y="5962953"/>
            <a:ext cx="11000234" cy="27799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A partir de aquí, el trabajo se centra en sistemas de visión-lenguaje basados en alineamiento imagen–texto.</a:t>
            </a:r>
          </a:p>
        </p:txBody>
      </p:sp>
      <p:sp>
        <p:nvSpPr>
          <p:cNvPr id="189" name="Rectangle 192"/>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190" name="Picture 137" descr="Picture 137"/>
          <p:cNvPicPr>
            <a:picLocks noChangeAspect="1"/>
          </p:cNvPicPr>
          <p:nvPr/>
        </p:nvPicPr>
        <p:blipFill>
          <a:blip r:embed="rId3">
            <a:extLst/>
          </a:blip>
          <a:stretch>
            <a:fillRect/>
          </a:stretch>
        </p:blipFill>
        <p:spPr>
          <a:xfrm>
            <a:off x="1489226" y="3702542"/>
            <a:ext cx="9200848" cy="214154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95"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96"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197"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Motivación   ·   7/36</a:t>
            </a:r>
          </a:p>
        </p:txBody>
      </p:sp>
      <p:sp>
        <p:nvSpPr>
          <p:cNvPr id="198" name="Rectangle 152"/>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199" name="TextBox 197"/>
          <p:cNvSpPr txBox="1"/>
          <p:nvPr/>
        </p:nvSpPr>
        <p:spPr>
          <a:xfrm>
            <a:off x="594359" y="384047"/>
            <a:ext cx="11000234" cy="48995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2600">
                <a:solidFill>
                  <a:srgbClr val="6B0F1A"/>
                </a:solidFill>
              </a:defRPr>
            </a:lvl1pPr>
          </a:lstStyle>
          <a:p>
            <a:pPr/>
            <a:r>
              <a:t>Pregunta de investigación</a:t>
            </a:r>
          </a:p>
        </p:txBody>
      </p:sp>
      <p:sp>
        <p:nvSpPr>
          <p:cNvPr id="200" name="TextBox 198"/>
          <p:cNvSpPr txBox="1"/>
          <p:nvPr/>
        </p:nvSpPr>
        <p:spPr>
          <a:xfrm>
            <a:off x="594359" y="1188719"/>
            <a:ext cx="11000234" cy="340183"/>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400">
                <a:solidFill>
                  <a:srgbClr val="4D0912"/>
                </a:solidFill>
              </a:defRPr>
            </a:lvl1pPr>
          </a:lstStyle>
          <a:p>
            <a:pPr/>
            <a:r>
              <a:t>El eje que organiza toda la metodología experimental.</a:t>
            </a:r>
          </a:p>
        </p:txBody>
      </p:sp>
      <p:sp>
        <p:nvSpPr>
          <p:cNvPr id="201" name="Rounded Rectangle 199"/>
          <p:cNvSpPr/>
          <p:nvPr/>
        </p:nvSpPr>
        <p:spPr>
          <a:xfrm>
            <a:off x="594359" y="1874518"/>
            <a:ext cx="11000233" cy="919724"/>
          </a:xfrm>
          <a:prstGeom prst="roundRect">
            <a:avLst>
              <a:gd name="adj" fmla="val 9445"/>
            </a:avLst>
          </a:prstGeom>
          <a:solidFill>
            <a:srgbClr val="F5EED8"/>
          </a:solidFill>
          <a:ln w="19050">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02" name="TextBox 200"/>
          <p:cNvSpPr txBox="1"/>
          <p:nvPr/>
        </p:nvSpPr>
        <p:spPr>
          <a:xfrm>
            <a:off x="777240" y="2011679"/>
            <a:ext cx="10634472" cy="716629"/>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p>
            <a:pPr algn="ctr">
              <a:defRPr b="1">
                <a:solidFill>
                  <a:srgbClr val="4D0912"/>
                </a:solidFill>
              </a:defRPr>
            </a:pPr>
            <a:r>
              <a:t>¿En qué medida generaliza un sistema de visión-lenguaje basado en alineamiento imagen–texto</a:t>
            </a:r>
          </a:p>
          <a:p>
            <a:pPr algn="ctr">
              <a:defRPr b="1">
                <a:solidFill>
                  <a:srgbClr val="4D0912"/>
                </a:solidFill>
              </a:defRPr>
            </a:pPr>
            <a:r>
              <a:t>entre fuentes histopatológicas, y qué componentes explican las diferencias de rendimiento?</a:t>
            </a:r>
          </a:p>
        </p:txBody>
      </p:sp>
      <p:sp>
        <p:nvSpPr>
          <p:cNvPr id="203" name="TextBox 201"/>
          <p:cNvSpPr txBox="1"/>
          <p:nvPr/>
        </p:nvSpPr>
        <p:spPr>
          <a:xfrm>
            <a:off x="594359" y="3794759"/>
            <a:ext cx="11000234" cy="333089"/>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a:solidFill>
                  <a:srgbClr val="6B0F1A"/>
                </a:solidFill>
              </a:defRPr>
            </a:lvl1pPr>
          </a:lstStyle>
          <a:p>
            <a:pPr/>
            <a:r>
              <a:t>Por qué esta pregunta:</a:t>
            </a:r>
          </a:p>
        </p:txBody>
      </p:sp>
      <p:sp>
        <p:nvSpPr>
          <p:cNvPr id="204" name="TextBox 202"/>
          <p:cNvSpPr txBox="1"/>
          <p:nvPr/>
        </p:nvSpPr>
        <p:spPr>
          <a:xfrm>
            <a:off x="594359" y="4206240"/>
            <a:ext cx="11000234" cy="1041659"/>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400">
                <a:solidFill>
                  <a:srgbClr val="6B0F1A"/>
                </a:solidFill>
              </a:defRPr>
            </a:pPr>
            <a:r>
              <a:t>▸ Contexto: </a:t>
            </a:r>
            <a:r>
              <a:rPr b="0">
                <a:solidFill>
                  <a:srgbClr val="3C2814"/>
                </a:solidFill>
              </a:rPr>
              <a:t>histopatología combina datos escasos, variabilidad visual y sesgo de fuente.</a:t>
            </a:r>
            <a:endParaRPr>
              <a:solidFill>
                <a:srgbClr val="3C2814"/>
              </a:solidFill>
            </a:endParaRPr>
          </a:p>
          <a:p>
            <a:pPr>
              <a:defRPr sz="600">
                <a:solidFill>
                  <a:srgbClr val="3C2814"/>
                </a:solidFill>
              </a:defRPr>
            </a:pPr>
          </a:p>
          <a:p>
            <a:pPr>
              <a:defRPr b="1" sz="1400">
                <a:solidFill>
                  <a:srgbClr val="6B0F1A"/>
                </a:solidFill>
              </a:defRPr>
            </a:pPr>
            <a:r>
              <a:t>▸ Evaluación externa: </a:t>
            </a:r>
            <a:r>
              <a:rPr b="0">
                <a:solidFill>
                  <a:srgbClr val="3C2814"/>
                </a:solidFill>
              </a:rPr>
              <a:t>NCT-CRC, Chaoyang y LungHist700.</a:t>
            </a:r>
            <a:endParaRPr>
              <a:solidFill>
                <a:srgbClr val="3C2814"/>
              </a:solidFill>
            </a:endParaRPr>
          </a:p>
          <a:p>
            <a:pPr>
              <a:defRPr sz="600">
                <a:solidFill>
                  <a:srgbClr val="3C2814"/>
                </a:solidFill>
              </a:defRPr>
            </a:pPr>
          </a:p>
          <a:p>
            <a:pPr>
              <a:defRPr b="1" sz="1400">
                <a:solidFill>
                  <a:srgbClr val="6B0F1A"/>
                </a:solidFill>
              </a:defRPr>
            </a:pPr>
            <a:r>
              <a:t>▸ Ablación: </a:t>
            </a:r>
            <a:r>
              <a:rPr b="0">
                <a:solidFill>
                  <a:srgbClr val="3C2814"/>
                </a:solidFill>
              </a:rPr>
              <a:t>cambiamos una variable cada vez — codificador visual, codificador de texto, prompt, normalización y cabeza de clasificación.</a:t>
            </a:r>
          </a:p>
        </p:txBody>
      </p:sp>
      <p:sp>
        <p:nvSpPr>
          <p:cNvPr id="205" name="TextBox 203"/>
          <p:cNvSpPr txBox="1"/>
          <p:nvPr/>
        </p:nvSpPr>
        <p:spPr>
          <a:xfrm>
            <a:off x="594359" y="5806440"/>
            <a:ext cx="11000234" cy="28080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400">
                <a:solidFill>
                  <a:srgbClr val="4D0912"/>
                </a:solidFill>
              </a:defRPr>
            </a:lvl1pPr>
          </a:lstStyle>
          <a:p>
            <a:pPr/>
            <a:r>
              <a:t>La metodología se organiza alrededor de esta pregunta: cambiar una variable cada vez y medir qué resiste el desplazamiento de distribución.</a:t>
            </a:r>
          </a:p>
        </p:txBody>
      </p:sp>
      <p:sp>
        <p:nvSpPr>
          <p:cNvPr id="206" name="Rectangle 204"/>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211"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212"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13"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defRPr>
            </a:lvl1pPr>
          </a:lstStyle>
          <a:p>
            <a:pPr/>
            <a:r>
              <a:t>02</a:t>
            </a:r>
          </a:p>
        </p:txBody>
      </p:sp>
      <p:sp>
        <p:nvSpPr>
          <p:cNvPr id="214" name="TextBox 6"/>
          <p:cNvSpPr txBox="1"/>
          <p:nvPr/>
        </p:nvSpPr>
        <p:spPr>
          <a:xfrm>
            <a:off x="1142999" y="5303520"/>
            <a:ext cx="3074671"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defRPr>
            </a:lvl1pPr>
          </a:lstStyle>
          <a:p>
            <a:pPr/>
            <a:r>
              <a:t>Metodología</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19"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2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21"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Metodología   ·   9/36</a:t>
            </a:r>
          </a:p>
        </p:txBody>
      </p:sp>
      <p:sp>
        <p:nvSpPr>
          <p:cNvPr id="222"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El paradigma CLIP</a:t>
            </a:r>
          </a:p>
        </p:txBody>
      </p:sp>
      <p:sp>
        <p:nvSpPr>
          <p:cNvPr id="223"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224" name="Picture 172" descr="Picture 172"/>
          <p:cNvPicPr>
            <a:picLocks noChangeAspect="1"/>
          </p:cNvPicPr>
          <p:nvPr/>
        </p:nvPicPr>
        <p:blipFill>
          <a:blip r:embed="rId3">
            <a:extLst/>
          </a:blip>
          <a:stretch>
            <a:fillRect/>
          </a:stretch>
        </p:blipFill>
        <p:spPr>
          <a:xfrm>
            <a:off x="1528063" y="1769533"/>
            <a:ext cx="9308594" cy="4608577"/>
          </a:xfrm>
          <a:prstGeom prst="rect">
            <a:avLst/>
          </a:prstGeom>
          <a:ln w="12700">
            <a:miter lim="400000"/>
          </a:ln>
        </p:spPr>
      </p:pic>
      <p:sp>
        <p:nvSpPr>
          <p:cNvPr id="225" name="TextBox 7"/>
          <p:cNvSpPr txBox="1"/>
          <p:nvPr/>
        </p:nvSpPr>
        <p:spPr>
          <a:xfrm>
            <a:off x="594359" y="1188719"/>
            <a:ext cx="11000235" cy="701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Foundational Model (FM) de aprendizaje contrastivo imagen-texto en un espacio latente compartido</a:t>
            </a:r>
          </a:p>
        </p:txBody>
      </p:sp>
      <p:sp>
        <p:nvSpPr>
          <p:cNvPr id="226" name="TextBox 8"/>
          <p:cNvSpPr txBox="1"/>
          <p:nvPr/>
        </p:nvSpPr>
        <p:spPr>
          <a:xfrm>
            <a:off x="6830568" y="1764792"/>
            <a:ext cx="3904487" cy="45211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000">
                <a:solidFill>
                  <a:srgbClr val="4D0912"/>
                </a:solidFill>
              </a:defRPr>
            </a:pPr>
            <a:r>
              <a:t>¿Por qué CLIP?</a:t>
            </a:r>
          </a:p>
          <a:p>
            <a:pPr marL="100263" indent="-100263">
              <a:buSzPct val="100000"/>
              <a:buChar char="▸"/>
              <a:defRPr sz="1000">
                <a:solidFill>
                  <a:srgbClr val="4D0912"/>
                </a:solidFill>
              </a:defRPr>
            </a:pPr>
            <a:r>
              <a:t>Aprendizaje contrastivo imagen-texto sobre pares emparejados, con una función de pérdida simétrica.</a:t>
            </a:r>
          </a:p>
          <a:p>
            <a:pPr marL="100263" indent="-100263">
              <a:buSzPct val="100000"/>
              <a:buChar char="▸"/>
              <a:defRPr sz="1000">
                <a:solidFill>
                  <a:srgbClr val="4D0912"/>
                </a:solidFill>
              </a:defRPr>
            </a:pPr>
            <a:r>
              <a:t>Clasificación de vocabulario abierto: cambias los prompts, cambias el clasificador (sin re-entrenar).</a:t>
            </a:r>
          </a:p>
          <a:p>
            <a:pPr marL="100263" indent="-100263">
              <a:buSzPct val="100000"/>
              <a:buChar char="▸"/>
              <a:defRPr sz="1000">
                <a:solidFill>
                  <a:srgbClr val="4D0912"/>
                </a:solidFill>
              </a:defRPr>
            </a:pPr>
            <a:r>
              <a:t>Paradigma adoptado por la familia de FMs de patología (PLIP, CONCH, BiomedCLIP, MUSK).</a:t>
            </a: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p>
          <a:p>
            <a:pPr>
              <a:defRPr b="1" sz="1000">
                <a:solidFill>
                  <a:srgbClr val="4D0912"/>
                </a:solidFill>
              </a:defRPr>
            </a:pPr>
            <a:r>
              <a:t>Pregunta transversal</a:t>
            </a:r>
          </a:p>
          <a:p>
            <a:pPr>
              <a:defRPr sz="1000">
                <a:solidFill>
                  <a:srgbClr val="4D0912"/>
                </a:solidFill>
              </a:defRPr>
            </a:pPr>
            <a:r>
              <a:t>¿Qué componente del pipeline CLIP aporta más, y dónde están sus límites bajo desplazamiento de distribución?</a:t>
            </a:r>
          </a:p>
        </p:txBody>
      </p:sp>
      <p:pic>
        <p:nvPicPr>
          <p:cNvPr id="227" name="Picture 173" descr="Picture 173"/>
          <p:cNvPicPr>
            <a:picLocks noChangeAspect="1"/>
          </p:cNvPicPr>
          <p:nvPr/>
        </p:nvPicPr>
        <p:blipFill>
          <a:blip r:embed="rId4">
            <a:extLst/>
          </a:blip>
          <a:stretch>
            <a:fillRect/>
          </a:stretch>
        </p:blipFill>
        <p:spPr>
          <a:xfrm>
            <a:off x="1353311" y="1769533"/>
            <a:ext cx="5353683" cy="4595065"/>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Class="entr" nodeType="clickEffect" presetSubtype="0" presetID="1" grpId="2" fill="hold">
                                  <p:stCondLst>
                                    <p:cond delay="0"/>
                                  </p:stCondLst>
                                  <p:iterate type="el" backwards="0">
                                    <p:tmAbs val="0"/>
                                  </p:iterate>
                                  <p:childTnLst>
                                    <p:set>
                                      <p:cBhvr>
                                        <p:cTn id="10" fill="hold"/>
                                        <p:tgtEl>
                                          <p:spTgt spid="2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27" grpId="2"/>
      <p:bldP build="whole" bldLvl="1" animBg="1" rev="0" advAuto="0" spid="224" grpId="1"/>
    </p:bldLst>
  </p:timing>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32"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33"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34"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Metodología   ·   10/36</a:t>
            </a:r>
          </a:p>
        </p:txBody>
      </p:sp>
      <p:sp>
        <p:nvSpPr>
          <p:cNvPr id="235"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PLIP: modelo fundacional específico de patología</a:t>
            </a:r>
          </a:p>
        </p:txBody>
      </p:sp>
      <p:sp>
        <p:nvSpPr>
          <p:cNvPr id="236"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37" name="TextBox 7"/>
          <p:cNvSpPr txBox="1"/>
          <p:nvPr/>
        </p:nvSpPr>
        <p:spPr>
          <a:xfrm>
            <a:off x="594359" y="1188719"/>
            <a:ext cx="11000235"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CLIP-style entrenado en pares imagen–texto de patología (Huang 2023)</a:t>
            </a:r>
          </a:p>
        </p:txBody>
      </p:sp>
      <p:sp>
        <p:nvSpPr>
          <p:cNvPr id="238" name="TextBox 180"/>
          <p:cNvSpPr txBox="1"/>
          <p:nvPr/>
        </p:nvSpPr>
        <p:spPr>
          <a:xfrm>
            <a:off x="431094" y="1694744"/>
            <a:ext cx="8842676" cy="167252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latin typeface="+mj-lt"/>
                <a:ea typeface="+mj-ea"/>
                <a:cs typeface="+mj-cs"/>
                <a:sym typeface="Helvetica"/>
              </a:defRPr>
            </a:pPr>
            <a:r>
              <a:t>Qué es</a:t>
            </a:r>
          </a:p>
          <a:p>
            <a:pPr marL="180472" indent="-180472">
              <a:defRPr sz="1300">
                <a:solidFill>
                  <a:srgbClr val="3C2814"/>
                </a:solidFill>
                <a:latin typeface="+mj-lt"/>
                <a:ea typeface="+mj-ea"/>
                <a:cs typeface="+mj-cs"/>
                <a:sym typeface="Helvetica"/>
              </a:defRPr>
            </a:pPr>
            <a:r>
              <a:t>▸ Modelo CLIP-style </a:t>
            </a:r>
            <a:r>
              <a:rPr b="1"/>
              <a:t>entrenado en ~208K pares imagen–texto de patología</a:t>
            </a:r>
            <a:r>
              <a:t> (OpenPath: tweets de patólogos con #GIPath, #PathTwitter, etc., + subset filtrado de LAION).</a:t>
            </a:r>
          </a:p>
          <a:p>
            <a:pPr marL="180472" indent="-180472">
              <a:defRPr sz="1300">
                <a:solidFill>
                  <a:srgbClr val="3C2814"/>
                </a:solidFill>
                <a:latin typeface="+mj-lt"/>
                <a:ea typeface="+mj-ea"/>
                <a:cs typeface="+mj-cs"/>
                <a:sym typeface="Helvetica"/>
              </a:defRPr>
            </a:pPr>
          </a:p>
          <a:p>
            <a:pPr>
              <a:defRPr b="1">
                <a:solidFill>
                  <a:srgbClr val="4D0912"/>
                </a:solidFill>
                <a:latin typeface="+mj-lt"/>
                <a:ea typeface="+mj-ea"/>
                <a:cs typeface="+mj-cs"/>
                <a:sym typeface="Helvetica"/>
              </a:defRPr>
            </a:pPr>
            <a:r>
              <a:t>Arquitectura</a:t>
            </a:r>
          </a:p>
          <a:p>
            <a:pPr marL="180472" indent="-180472">
              <a:defRPr sz="1300">
                <a:solidFill>
                  <a:srgbClr val="3C2814"/>
                </a:solidFill>
                <a:latin typeface="+mj-lt"/>
                <a:ea typeface="+mj-ea"/>
                <a:cs typeface="+mj-cs"/>
                <a:sym typeface="Helvetica"/>
              </a:defRPr>
            </a:pPr>
            <a:r>
              <a:t>▸ Arquitectura original de CLIP: </a:t>
            </a:r>
            <a:r>
              <a:rPr b="1"/>
              <a:t>ViT-B/32 (encoder de imagen) + Transformer 12-layer con tokenizer BPE (texto)</a:t>
            </a:r>
            <a:r>
              <a:t>, entrenados contrastivamente desde la inicialización de CLIP en imágenes naturales.</a:t>
            </a:r>
          </a:p>
        </p:txBody>
      </p:sp>
      <p:pic>
        <p:nvPicPr>
          <p:cNvPr id="239" name="Picture 181" descr="Picture 181"/>
          <p:cNvPicPr>
            <a:picLocks noChangeAspect="1"/>
          </p:cNvPicPr>
          <p:nvPr/>
        </p:nvPicPr>
        <p:blipFill>
          <a:blip r:embed="rId3">
            <a:extLst/>
          </a:blip>
          <a:stretch>
            <a:fillRect/>
          </a:stretch>
        </p:blipFill>
        <p:spPr>
          <a:xfrm>
            <a:off x="3759200" y="3594641"/>
            <a:ext cx="7700193" cy="2670233"/>
          </a:xfrm>
          <a:prstGeom prst="rect">
            <a:avLst/>
          </a:prstGeom>
          <a:ln w="12700">
            <a:miter lim="400000"/>
          </a:ln>
        </p:spPr>
      </p:pic>
      <p:sp>
        <p:nvSpPr>
          <p:cNvPr id="240" name="TextBox 180"/>
          <p:cNvSpPr txBox="1"/>
          <p:nvPr/>
        </p:nvSpPr>
        <p:spPr>
          <a:xfrm>
            <a:off x="431091" y="3519744"/>
            <a:ext cx="2916841" cy="179952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latin typeface="+mj-lt"/>
                <a:ea typeface="+mj-ea"/>
                <a:cs typeface="+mj-cs"/>
                <a:sym typeface="Helvetica"/>
              </a:defRPr>
            </a:pPr>
            <a:r>
              <a:t>Rol en este trabajo</a:t>
            </a:r>
          </a:p>
          <a:p>
            <a:pPr marL="180472" indent="-180472">
              <a:defRPr sz="1300">
                <a:solidFill>
                  <a:srgbClr val="3C2814"/>
                </a:solidFill>
                <a:latin typeface="+mj-lt"/>
                <a:ea typeface="+mj-ea"/>
                <a:cs typeface="+mj-cs"/>
                <a:sym typeface="Helvetica"/>
              </a:defRPr>
            </a:pPr>
            <a:r>
              <a:t>▸ </a:t>
            </a:r>
            <a:r>
              <a:rPr b="1"/>
              <a:t>Referencia zero-shot</a:t>
            </a:r>
            <a:r>
              <a:t> en los 4 datasets: evaluamos PLIP tal cual, sin entrenar nada.</a:t>
            </a:r>
          </a:p>
          <a:p>
            <a:pPr marL="180472" indent="-180472">
              <a:defRPr sz="1300">
                <a:solidFill>
                  <a:srgbClr val="3C2814"/>
                </a:solidFill>
                <a:latin typeface="+mj-lt"/>
                <a:ea typeface="+mj-ea"/>
                <a:cs typeface="+mj-cs"/>
                <a:sym typeface="Helvetica"/>
              </a:defRPr>
            </a:pPr>
            <a:r>
              <a:t>▸ </a:t>
            </a:r>
            <a:r>
              <a:rPr b="1"/>
              <a:t>Codificador de imagen alternativo</a:t>
            </a:r>
            <a:r>
              <a:t> en la comparación RQ5: usamos solo su ViT-B/32 con nuestro BERT y proyecciones entrenadas.</a:t>
            </a:r>
          </a:p>
        </p:txBody>
      </p:sp>
      <p:sp>
        <p:nvSpPr>
          <p:cNvPr id="241" name="Rectangle 184"/>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46"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47"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48"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Metodología   ·   11/36</a:t>
            </a:r>
          </a:p>
        </p:txBody>
      </p:sp>
      <p:sp>
        <p:nvSpPr>
          <p:cNvPr id="249"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Nuestra línea base experimental</a:t>
            </a:r>
          </a:p>
        </p:txBody>
      </p:sp>
      <p:sp>
        <p:nvSpPr>
          <p:cNvPr id="250"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51" name="TextBox 7"/>
          <p:cNvSpPr txBox="1"/>
          <p:nvPr/>
        </p:nvSpPr>
        <p:spPr>
          <a:xfrm>
            <a:off x="594359" y="1188719"/>
            <a:ext cx="11000235"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CLIP entrenado con ambos encoders congelados y cabezas de proyección 256-d entrenables</a:t>
            </a:r>
          </a:p>
        </p:txBody>
      </p:sp>
      <p:pic>
        <p:nvPicPr>
          <p:cNvPr id="252" name="Picture 999" descr="Picture 999"/>
          <p:cNvPicPr>
            <a:picLocks noChangeAspect="1"/>
          </p:cNvPicPr>
          <p:nvPr/>
        </p:nvPicPr>
        <p:blipFill>
          <a:blip r:embed="rId3">
            <a:extLst/>
          </a:blip>
          <a:stretch>
            <a:fillRect/>
          </a:stretch>
        </p:blipFill>
        <p:spPr>
          <a:xfrm>
            <a:off x="1036319" y="1765522"/>
            <a:ext cx="5943604" cy="3632204"/>
          </a:xfrm>
          <a:prstGeom prst="rect">
            <a:avLst/>
          </a:prstGeom>
          <a:ln w="12700">
            <a:miter lim="400000"/>
          </a:ln>
        </p:spPr>
      </p:pic>
      <p:sp>
        <p:nvSpPr>
          <p:cNvPr id="253" name="TextBox 181"/>
          <p:cNvSpPr txBox="1"/>
          <p:nvPr/>
        </p:nvSpPr>
        <p:spPr>
          <a:xfrm>
            <a:off x="7299958" y="1765523"/>
            <a:ext cx="3590076" cy="4454532"/>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defRPr b="1" sz="1700">
                <a:solidFill>
                  <a:srgbClr val="4D0912"/>
                </a:solidFill>
              </a:defRPr>
            </a:pPr>
            <a:r>
              <a:t>Datos de entrada</a:t>
            </a:r>
          </a:p>
          <a:p>
            <a:pPr marL="180472" indent="-180472">
              <a:defRPr sz="1400">
                <a:solidFill>
                  <a:srgbClr val="4D0912"/>
                </a:solidFill>
              </a:defRPr>
            </a:pPr>
            <a:r>
              <a:t>▸ </a:t>
            </a:r>
            <a:r>
              <a:rPr b="1"/>
              <a:t>Imagen: </a:t>
            </a:r>
            <a:r>
              <a:t>224 × 224 px</a:t>
            </a:r>
          </a:p>
          <a:p>
            <a:pPr marL="180472" indent="-180472">
              <a:defRPr sz="1400">
                <a:solidFill>
                  <a:srgbClr val="4D0912"/>
                </a:solidFill>
              </a:defRPr>
            </a:pPr>
            <a:r>
              <a:t>▸ </a:t>
            </a:r>
            <a:r>
              <a:rPr b="1"/>
              <a:t>Texto: </a:t>
            </a:r>
            <a:r>
              <a:t>prompt fijo, 24 tokens WordPiece</a:t>
            </a:r>
          </a:p>
          <a:p>
            <a:pPr marL="180472" indent="-180472">
              <a:defRPr sz="1400">
                <a:solidFill>
                  <a:srgbClr val="4D0912"/>
                </a:solidFill>
              </a:defRPr>
            </a:pPr>
            <a:r>
              <a:t>▸ </a:t>
            </a:r>
            <a:r>
              <a:rPr b="1"/>
              <a:t>Prompt: </a:t>
            </a:r>
            <a:r>
              <a:rPr i="1"/>
              <a:t>"A histopathology image of {class}."</a:t>
            </a:r>
          </a:p>
          <a:p>
            <a:pPr marL="180472" indent="-180472">
              <a:defRPr sz="1400">
                <a:solidFill>
                  <a:srgbClr val="4D0912"/>
                </a:solidFill>
              </a:defRPr>
            </a:pPr>
            <a:r>
              <a:t>▸ </a:t>
            </a:r>
            <a:r>
              <a:rPr b="1"/>
              <a:t>Batch: </a:t>
            </a:r>
            <a:r>
              <a:t>32 pares imagen-texto</a:t>
            </a:r>
          </a:p>
          <a:p>
            <a:pPr marL="180472" indent="-180472">
              <a:defRPr sz="1400">
                <a:solidFill>
                  <a:srgbClr val="4D0912"/>
                </a:solidFill>
              </a:defRPr>
            </a:pPr>
            <a:r>
              <a:t>▸ </a:t>
            </a:r>
            <a:r>
              <a:rPr b="1"/>
              <a:t>Datos: </a:t>
            </a:r>
            <a:r>
              <a:t>LC25000, split estratificado 80/10/10</a:t>
            </a:r>
          </a:p>
          <a:p>
            <a:pPr>
              <a:defRPr sz="1400">
                <a:solidFill>
                  <a:srgbClr val="4D0912"/>
                </a:solidFill>
              </a:defRPr>
            </a:pPr>
          </a:p>
          <a:p>
            <a:pPr>
              <a:defRPr b="1" sz="1700">
                <a:solidFill>
                  <a:srgbClr val="4D0912"/>
                </a:solidFill>
              </a:defRPr>
            </a:pPr>
            <a:r>
              <a:t>Objetivo</a:t>
            </a:r>
          </a:p>
          <a:p>
            <a:pPr marL="180472" indent="-180472">
              <a:defRPr sz="1400">
                <a:solidFill>
                  <a:srgbClr val="4D0912"/>
                </a:solidFill>
              </a:defRPr>
            </a:pPr>
            <a:r>
              <a:t>▸ </a:t>
            </a:r>
            <a:r>
              <a:rPr b="1"/>
              <a:t>Pérdida: </a:t>
            </a:r>
            <a:r>
              <a:t>InfoNCE simétrica sobre la matriz 5×5</a:t>
            </a:r>
          </a:p>
          <a:p>
            <a:pPr marL="180472" indent="-180472">
              <a:defRPr sz="1400">
                <a:solidFill>
                  <a:srgbClr val="4D0912"/>
                </a:solidFill>
              </a:defRPr>
            </a:pPr>
            <a:r>
              <a:t>▸ </a:t>
            </a:r>
            <a:r>
              <a:rPr b="1"/>
              <a:t>Temperatura: </a:t>
            </a:r>
            <a:r>
              <a:t>τ = 0.07 (entrenable)</a:t>
            </a:r>
          </a:p>
          <a:p>
            <a:pPr>
              <a:defRPr sz="1400">
                <a:solidFill>
                  <a:srgbClr val="4D0912"/>
                </a:solidFill>
              </a:defRPr>
            </a:pPr>
          </a:p>
          <a:p>
            <a:pPr>
              <a:defRPr b="1" sz="1700">
                <a:solidFill>
                  <a:srgbClr val="4D0912"/>
                </a:solidFill>
              </a:defRPr>
            </a:pPr>
            <a:r>
              <a:t>Optimización</a:t>
            </a:r>
          </a:p>
          <a:p>
            <a:pPr marL="180472" indent="-180472">
              <a:defRPr sz="1400">
                <a:solidFill>
                  <a:srgbClr val="4D0912"/>
                </a:solidFill>
              </a:defRPr>
            </a:pPr>
            <a:r>
              <a:t>▸ AdamW · LR 1×10⁻³ · weight decay 1×10⁻⁴</a:t>
            </a:r>
          </a:p>
          <a:p>
            <a:pPr marL="180472" indent="-180472">
              <a:defRPr sz="1400">
                <a:solidFill>
                  <a:srgbClr val="4D0912"/>
                </a:solidFill>
              </a:defRPr>
            </a:pPr>
            <a:r>
              <a:t>▸ Gradient clipnorm 1.0</a:t>
            </a:r>
          </a:p>
          <a:p>
            <a:pPr marL="180472" indent="-180472">
              <a:defRPr sz="1400">
                <a:solidFill>
                  <a:srgbClr val="4D0912"/>
                </a:solidFill>
              </a:defRPr>
            </a:pPr>
            <a:r>
              <a:t>▸ ReduceLROnPlateau (factor 0.5, patience 2)</a:t>
            </a:r>
          </a:p>
          <a:p>
            <a:pPr marL="180472" indent="-180472">
              <a:defRPr sz="1400">
                <a:solidFill>
                  <a:srgbClr val="4D0912"/>
                </a:solidFill>
              </a:defRPr>
            </a:pPr>
            <a:r>
              <a:t>▸ EarlyStopping (patience 5, max 30 epochs)</a:t>
            </a:r>
          </a:p>
          <a:p>
            <a:pPr marL="180472" indent="-180472">
              <a:defRPr sz="1400">
                <a:solidFill>
                  <a:srgbClr val="4D0912"/>
                </a:solidFill>
              </a:defRPr>
            </a:pPr>
            <a:r>
              <a:t>▸ Precisión float32 · seed 42</a:t>
            </a:r>
          </a:p>
        </p:txBody>
      </p:sp>
      <p:sp>
        <p:nvSpPr>
          <p:cNvPr id="254" name="Rectangle 196"/>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59"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6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61"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Metodología   ·   12/36</a:t>
            </a:r>
          </a:p>
        </p:txBody>
      </p:sp>
      <p:sp>
        <p:nvSpPr>
          <p:cNvPr id="262"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Diseño experimental: una variable cada vez</a:t>
            </a:r>
          </a:p>
        </p:txBody>
      </p:sp>
      <p:sp>
        <p:nvSpPr>
          <p:cNvPr id="263"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64" name="TextBox 7"/>
          <p:cNvSpPr txBox="1"/>
          <p:nvPr/>
        </p:nvSpPr>
        <p:spPr>
          <a:xfrm>
            <a:off x="594359" y="1188719"/>
            <a:ext cx="11000235"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Seis experimentos, cada uno cambiando un componente del pipeline base</a:t>
            </a:r>
          </a:p>
        </p:txBody>
      </p:sp>
      <p:sp>
        <p:nvSpPr>
          <p:cNvPr id="265" name="TextBox 181"/>
          <p:cNvSpPr txBox="1"/>
          <p:nvPr/>
        </p:nvSpPr>
        <p:spPr>
          <a:xfrm>
            <a:off x="629054" y="4915449"/>
            <a:ext cx="4323941" cy="1059961"/>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defRPr b="1" sz="1700">
                <a:solidFill>
                  <a:srgbClr val="4D0912"/>
                </a:solidFill>
              </a:defRPr>
            </a:pPr>
            <a:r>
              <a:t>Evaluación externa</a:t>
            </a:r>
          </a:p>
          <a:p>
            <a:pPr marL="180472" indent="-180472">
              <a:defRPr sz="1300">
                <a:solidFill>
                  <a:srgbClr val="3C2814"/>
                </a:solidFill>
              </a:defRPr>
            </a:pPr>
            <a:r>
              <a:t>▸ </a:t>
            </a:r>
            <a:r>
              <a:rPr b="1"/>
              <a:t>NCT-CRC-HE-7K</a:t>
            </a:r>
            <a:r>
              <a:t>: colon, estilo similar a LC25000 (Kather 2019)</a:t>
            </a:r>
          </a:p>
          <a:p>
            <a:pPr marL="180472" indent="-180472">
              <a:defRPr sz="1300">
                <a:solidFill>
                  <a:srgbClr val="3C2814"/>
                </a:solidFill>
              </a:defRPr>
            </a:pPr>
            <a:r>
              <a:t>▸ </a:t>
            </a:r>
            <a:r>
              <a:rPr b="1"/>
              <a:t>Chaoyang</a:t>
            </a:r>
            <a:r>
              <a:t>: colon, tinción y escáner distintos (Zhu 2021)</a:t>
            </a:r>
          </a:p>
          <a:p>
            <a:pPr marL="180472" indent="-180472">
              <a:defRPr sz="1300">
                <a:solidFill>
                  <a:srgbClr val="3C2814"/>
                </a:solidFill>
              </a:defRPr>
            </a:pPr>
            <a:r>
              <a:t>▸ </a:t>
            </a:r>
            <a:r>
              <a:rPr b="1"/>
              <a:t>LungHist700</a:t>
            </a:r>
            <a:r>
              <a:t>: pulmón, 20× (Reyes 2024)</a:t>
            </a:r>
          </a:p>
        </p:txBody>
      </p:sp>
      <p:sp>
        <p:nvSpPr>
          <p:cNvPr id="266" name="TextBox 182"/>
          <p:cNvSpPr txBox="1"/>
          <p:nvPr/>
        </p:nvSpPr>
        <p:spPr>
          <a:xfrm>
            <a:off x="6435496" y="4915449"/>
            <a:ext cx="5114750" cy="122027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4D0912"/>
                </a:solidFill>
              </a:defRPr>
            </a:pPr>
            <a:r>
              <a:t>Protocolo</a:t>
            </a:r>
          </a:p>
          <a:p>
            <a:pPr marL="180472" indent="-180472">
              <a:defRPr sz="1300">
                <a:solidFill>
                  <a:srgbClr val="3C2814"/>
                </a:solidFill>
              </a:defRPr>
            </a:pPr>
            <a:r>
              <a:t>▸ </a:t>
            </a:r>
            <a:r>
              <a:rPr b="1"/>
              <a:t>Argmax restringido</a:t>
            </a:r>
            <a:r>
              <a:t>: cada dataset compara solo contra sus clases (no las 5 completas): evita penalizar clases ausentes.</a:t>
            </a:r>
          </a:p>
          <a:p>
            <a:pPr marL="180472" indent="-180472">
              <a:defRPr sz="1300">
                <a:solidFill>
                  <a:srgbClr val="3C2814"/>
                </a:solidFill>
              </a:defRPr>
            </a:pPr>
            <a:r>
              <a:t>▸ </a:t>
            </a:r>
            <a:r>
              <a:rPr b="1"/>
              <a:t>Reporte por órgano</a:t>
            </a:r>
            <a:r>
              <a:t>: colon y pulmón separados, no promediados: evita ocultar cambios de régimen entre órganos.</a:t>
            </a:r>
          </a:p>
        </p:txBody>
      </p:sp>
      <p:pic>
        <p:nvPicPr>
          <p:cNvPr id="267" name="Picture 183" descr="Picture 183"/>
          <p:cNvPicPr>
            <a:picLocks noChangeAspect="1"/>
          </p:cNvPicPr>
          <p:nvPr/>
        </p:nvPicPr>
        <p:blipFill>
          <a:blip r:embed="rId3">
            <a:extLst/>
          </a:blip>
          <a:stretch>
            <a:fillRect/>
          </a:stretch>
        </p:blipFill>
        <p:spPr>
          <a:xfrm>
            <a:off x="608076" y="1737360"/>
            <a:ext cx="10972801" cy="2821579"/>
          </a:xfrm>
          <a:prstGeom prst="rect">
            <a:avLst/>
          </a:prstGeom>
          <a:ln w="12700">
            <a:miter lim="400000"/>
          </a:ln>
        </p:spPr>
      </p:pic>
      <p:sp>
        <p:nvSpPr>
          <p:cNvPr id="268" name="Rectangle 209"/>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2"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273"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274"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75"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defRPr>
            </a:lvl1pPr>
          </a:lstStyle>
          <a:p>
            <a:pPr/>
            <a:r>
              <a:t>03</a:t>
            </a:r>
          </a:p>
        </p:txBody>
      </p:sp>
      <p:sp>
        <p:nvSpPr>
          <p:cNvPr id="276" name="TextBox 6"/>
          <p:cNvSpPr txBox="1"/>
          <p:nvPr/>
        </p:nvSpPr>
        <p:spPr>
          <a:xfrm>
            <a:off x="1142999" y="5303520"/>
            <a:ext cx="2639200"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defRPr>
            </a:lvl1pPr>
          </a:lstStyle>
          <a:p>
            <a:pPr/>
            <a:r>
              <a:t>Resultados</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281"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14/36</a:t>
            </a:r>
          </a:p>
        </p:txBody>
      </p:sp>
      <p:sp>
        <p:nvSpPr>
          <p:cNvPr id="282" name="Rectangle"/>
          <p:cNvSpPr/>
          <p:nvPr/>
        </p:nvSpPr>
        <p:spPr>
          <a:xfrm>
            <a:off x="792471" y="2177024"/>
            <a:ext cx="4451306" cy="3096284"/>
          </a:xfrm>
          <a:prstGeom prst="rect">
            <a:avLst/>
          </a:prstGeom>
          <a:solidFill>
            <a:srgbClr val="F5EED8"/>
          </a:solidFill>
          <a:ln w="12700">
            <a:miter lim="400000"/>
          </a:ln>
        </p:spPr>
        <p:txBody>
          <a:bodyPr lIns="45718" tIns="45718" rIns="45718" bIns="45718" anchor="ctr"/>
          <a:lstStyle/>
          <a:p>
            <a:pPr algn="ctr">
              <a:defRPr>
                <a:solidFill>
                  <a:srgbClr val="FFFFFF"/>
                </a:solidFill>
              </a:defRPr>
            </a:pPr>
          </a:p>
        </p:txBody>
      </p:sp>
      <p:sp>
        <p:nvSpPr>
          <p:cNvPr id="283" name="Rectangle 219"/>
          <p:cNvSpPr/>
          <p:nvPr/>
        </p:nvSpPr>
        <p:spPr>
          <a:xfrm>
            <a:off x="548639" y="1024127"/>
            <a:ext cx="1097282" cy="36588"/>
          </a:xfrm>
          <a:prstGeom prst="rect">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284" name="TextBox 220"/>
          <p:cNvSpPr txBox="1"/>
          <p:nvPr/>
        </p:nvSpPr>
        <p:spPr>
          <a:xfrm>
            <a:off x="594358" y="384047"/>
            <a:ext cx="6074564" cy="5486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2600">
                <a:solidFill>
                  <a:srgbClr val="6B0F1A"/>
                </a:solidFill>
                <a:latin typeface="+mj-lt"/>
                <a:ea typeface="+mj-ea"/>
                <a:cs typeface="+mj-cs"/>
                <a:sym typeface="Helvetica"/>
              </a:defRPr>
            </a:lvl1pPr>
          </a:lstStyle>
          <a:p>
            <a:pPr/>
            <a:r>
              <a:t>Comportamiento de la línea base</a:t>
            </a:r>
          </a:p>
        </p:txBody>
      </p:sp>
      <p:sp>
        <p:nvSpPr>
          <p:cNvPr id="285" name="TextBox 221"/>
          <p:cNvSpPr txBox="1"/>
          <p:nvPr/>
        </p:nvSpPr>
        <p:spPr>
          <a:xfrm>
            <a:off x="594358" y="1188719"/>
            <a:ext cx="10567127"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Satura in-distribution pero colapsa a una sola clase en generalización con dataset de pulmón</a:t>
            </a:r>
          </a:p>
        </p:txBody>
      </p:sp>
      <p:sp>
        <p:nvSpPr>
          <p:cNvPr id="286" name="TextBox 222"/>
          <p:cNvSpPr txBox="1"/>
          <p:nvPr/>
        </p:nvSpPr>
        <p:spPr>
          <a:xfrm>
            <a:off x="963565" y="2279292"/>
            <a:ext cx="1991950" cy="12344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lgn="ctr">
              <a:defRPr b="1" sz="1500">
                <a:solidFill>
                  <a:srgbClr val="4D0912"/>
                </a:solidFill>
                <a:latin typeface="+mj-lt"/>
                <a:ea typeface="+mj-ea"/>
                <a:cs typeface="+mj-cs"/>
                <a:sym typeface="Helvetica"/>
              </a:defRPr>
            </a:pPr>
            <a:r>
              <a:t>LC25000 (in-dist)</a:t>
            </a:r>
          </a:p>
          <a:p>
            <a:pPr algn="ctr">
              <a:defRPr b="1" sz="4800">
                <a:solidFill>
                  <a:srgbClr val="4D0912"/>
                </a:solidFill>
                <a:latin typeface="+mj-lt"/>
                <a:ea typeface="+mj-ea"/>
                <a:cs typeface="+mj-cs"/>
                <a:sym typeface="Helvetica"/>
              </a:defRPr>
            </a:pPr>
            <a:r>
              <a:t>0.996</a:t>
            </a:r>
          </a:p>
          <a:p>
            <a:pPr algn="ctr">
              <a:defRPr sz="1200">
                <a:solidFill>
                  <a:srgbClr val="3C2814"/>
                </a:solidFill>
                <a:latin typeface="+mj-lt"/>
                <a:ea typeface="+mj-ea"/>
                <a:cs typeface="+mj-cs"/>
                <a:sym typeface="Helvetica"/>
              </a:defRPr>
            </a:pPr>
            <a:r>
              <a:t>macro-F1</a:t>
            </a:r>
          </a:p>
        </p:txBody>
      </p:sp>
      <p:pic>
        <p:nvPicPr>
          <p:cNvPr id="287" name="Picture 235" descr="Picture 235"/>
          <p:cNvPicPr>
            <a:picLocks noChangeAspect="1"/>
          </p:cNvPicPr>
          <p:nvPr/>
        </p:nvPicPr>
        <p:blipFill>
          <a:blip r:embed="rId3">
            <a:extLst/>
          </a:blip>
          <a:stretch>
            <a:fillRect/>
          </a:stretch>
        </p:blipFill>
        <p:spPr>
          <a:xfrm>
            <a:off x="7099630" y="1898288"/>
            <a:ext cx="3313524" cy="3653753"/>
          </a:xfrm>
          <a:prstGeom prst="rect">
            <a:avLst/>
          </a:prstGeom>
          <a:ln w="12700">
            <a:miter lim="400000"/>
          </a:ln>
        </p:spPr>
      </p:pic>
      <p:sp>
        <p:nvSpPr>
          <p:cNvPr id="288" name="TextBox 225"/>
          <p:cNvSpPr txBox="1"/>
          <p:nvPr/>
        </p:nvSpPr>
        <p:spPr>
          <a:xfrm>
            <a:off x="6474095" y="5559547"/>
            <a:ext cx="4564590" cy="4470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i="1" sz="1200">
                <a:solidFill>
                  <a:srgbClr val="4D0912"/>
                </a:solidFill>
                <a:latin typeface="+mj-lt"/>
                <a:ea typeface="+mj-ea"/>
                <a:cs typeface="+mj-cs"/>
                <a:sym typeface="Helvetica"/>
              </a:defRPr>
            </a:pPr>
            <a:r>
              <a:t>Matriz de confusión (normalizada) sobre LungHist700. </a:t>
            </a:r>
          </a:p>
          <a:p>
            <a:pPr algn="ctr">
              <a:defRPr i="1" sz="1200">
                <a:solidFill>
                  <a:srgbClr val="4D0912"/>
                </a:solidFill>
                <a:latin typeface="+mj-lt"/>
                <a:ea typeface="+mj-ea"/>
                <a:cs typeface="+mj-cs"/>
                <a:sym typeface="Helvetica"/>
              </a:defRPr>
            </a:pPr>
            <a:r>
              <a:t>La línea base asigna ~84% a la clase «squamous cell carcinoma»</a:t>
            </a:r>
          </a:p>
        </p:txBody>
      </p:sp>
      <p:sp>
        <p:nvSpPr>
          <p:cNvPr id="289" name="TextBox 226"/>
          <p:cNvSpPr txBox="1"/>
          <p:nvPr/>
        </p:nvSpPr>
        <p:spPr>
          <a:xfrm>
            <a:off x="507169" y="6085840"/>
            <a:ext cx="9793345" cy="3327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b="1" sz="1600">
                <a:solidFill>
                  <a:srgbClr val="4D0912"/>
                </a:solidFill>
                <a:latin typeface="+mj-lt"/>
                <a:ea typeface="+mj-ea"/>
                <a:cs typeface="+mj-cs"/>
                <a:sym typeface="Helvetica"/>
              </a:defRPr>
            </a:lvl1pPr>
          </a:lstStyle>
          <a:p>
            <a:pPr/>
            <a:r>
              <a:t>→  LC25000 saturado escondía el fallo: en pulmón la línea base es un clasificador de una sola clase.</a:t>
            </a:r>
          </a:p>
        </p:txBody>
      </p:sp>
      <p:sp>
        <p:nvSpPr>
          <p:cNvPr id="290" name="TextBox 222"/>
          <p:cNvSpPr txBox="1"/>
          <p:nvPr/>
        </p:nvSpPr>
        <p:spPr>
          <a:xfrm>
            <a:off x="3142475" y="2279292"/>
            <a:ext cx="1823399"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latin typeface="+mj-lt"/>
                <a:ea typeface="+mj-ea"/>
                <a:cs typeface="+mj-cs"/>
                <a:sym typeface="Helvetica"/>
              </a:defRPr>
            </a:pPr>
            <a:r>
              <a:t>NCT-CRC</a:t>
            </a:r>
          </a:p>
          <a:p>
            <a:pPr algn="ctr">
              <a:defRPr b="1" sz="4800">
                <a:solidFill>
                  <a:srgbClr val="4D0912"/>
                </a:solidFill>
                <a:latin typeface="+mj-lt"/>
                <a:ea typeface="+mj-ea"/>
                <a:cs typeface="+mj-cs"/>
                <a:sym typeface="Helvetica"/>
              </a:defRPr>
            </a:pPr>
            <a:r>
              <a:t>0.866</a:t>
            </a:r>
          </a:p>
          <a:p>
            <a:pPr algn="ctr">
              <a:defRPr i="1" sz="1200">
                <a:solidFill>
                  <a:srgbClr val="3C2814"/>
                </a:solidFill>
                <a:latin typeface="+mj-lt"/>
                <a:ea typeface="+mj-ea"/>
                <a:cs typeface="+mj-cs"/>
                <a:sym typeface="Helvetica"/>
              </a:defRPr>
            </a:pPr>
            <a:r>
              <a:t>colon, muestras similares</a:t>
            </a:r>
          </a:p>
        </p:txBody>
      </p:sp>
      <p:sp>
        <p:nvSpPr>
          <p:cNvPr id="291" name="TextBox 223"/>
          <p:cNvSpPr txBox="1"/>
          <p:nvPr/>
        </p:nvSpPr>
        <p:spPr>
          <a:xfrm>
            <a:off x="1068895" y="3894730"/>
            <a:ext cx="1781281"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latin typeface="+mj-lt"/>
                <a:ea typeface="+mj-ea"/>
                <a:cs typeface="+mj-cs"/>
                <a:sym typeface="Helvetica"/>
              </a:defRPr>
            </a:pPr>
            <a:r>
              <a:t>Chaoyang</a:t>
            </a:r>
          </a:p>
          <a:p>
            <a:pPr algn="ctr">
              <a:defRPr b="1" sz="4800">
                <a:solidFill>
                  <a:srgbClr val="4D0912"/>
                </a:solidFill>
                <a:latin typeface="+mj-lt"/>
                <a:ea typeface="+mj-ea"/>
                <a:cs typeface="+mj-cs"/>
                <a:sym typeface="Helvetica"/>
              </a:defRPr>
            </a:pPr>
            <a:r>
              <a:t>0.786</a:t>
            </a:r>
          </a:p>
          <a:p>
            <a:pPr algn="ctr">
              <a:defRPr i="1" sz="1200">
                <a:solidFill>
                  <a:srgbClr val="3C2814"/>
                </a:solidFill>
                <a:latin typeface="+mj-lt"/>
                <a:ea typeface="+mj-ea"/>
                <a:cs typeface="+mj-cs"/>
                <a:sym typeface="Helvetica"/>
              </a:defRPr>
            </a:pPr>
            <a:r>
              <a:t>colon, muestras distintas</a:t>
            </a:r>
          </a:p>
        </p:txBody>
      </p:sp>
      <p:sp>
        <p:nvSpPr>
          <p:cNvPr id="292" name="TextBox 224"/>
          <p:cNvSpPr txBox="1"/>
          <p:nvPr/>
        </p:nvSpPr>
        <p:spPr>
          <a:xfrm>
            <a:off x="3193706" y="3894730"/>
            <a:ext cx="1720931"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latin typeface="+mj-lt"/>
                <a:ea typeface="+mj-ea"/>
                <a:cs typeface="+mj-cs"/>
                <a:sym typeface="Helvetica"/>
              </a:defRPr>
            </a:pPr>
            <a:r>
              <a:t>LungHist700</a:t>
            </a:r>
          </a:p>
          <a:p>
            <a:pPr algn="ctr">
              <a:defRPr b="1" sz="4800">
                <a:solidFill>
                  <a:srgbClr val="A50F15"/>
                </a:solidFill>
                <a:latin typeface="+mj-lt"/>
                <a:ea typeface="+mj-ea"/>
                <a:cs typeface="+mj-cs"/>
                <a:sym typeface="Helvetica"/>
              </a:defRPr>
            </a:pPr>
            <a:r>
              <a:t>0.305</a:t>
            </a:r>
          </a:p>
          <a:p>
            <a:pPr algn="ctr">
              <a:defRPr i="1" sz="1200">
                <a:solidFill>
                  <a:srgbClr val="3C2814"/>
                </a:solidFill>
                <a:latin typeface="+mj-lt"/>
                <a:ea typeface="+mj-ea"/>
                <a:cs typeface="+mj-cs"/>
                <a:sym typeface="Helvetica"/>
              </a:defRPr>
            </a:pPr>
            <a:r>
              <a:t>pulmón, ≈ azar 3-clases</a:t>
            </a:r>
          </a:p>
        </p:txBody>
      </p:sp>
      <p:sp>
        <p:nvSpPr>
          <p:cNvPr id="293"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7"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98"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99"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00"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15/36</a:t>
            </a:r>
          </a:p>
        </p:txBody>
      </p:sp>
      <p:sp>
        <p:nvSpPr>
          <p:cNvPr id="301"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El espacio latente de la línea base a través del shift</a:t>
            </a:r>
          </a:p>
        </p:txBody>
      </p:sp>
      <p:sp>
        <p:nvSpPr>
          <p:cNvPr id="302"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03" name="TextBox 221"/>
          <p:cNvSpPr txBox="1"/>
          <p:nvPr/>
        </p:nvSpPr>
        <p:spPr>
          <a:xfrm>
            <a:off x="594358" y="1188719"/>
            <a:ext cx="10537733"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In-distribution saturada; los clusters se degradan progresivamente conforme aumenta el shift</a:t>
            </a:r>
          </a:p>
        </p:txBody>
      </p:sp>
      <p:sp>
        <p:nvSpPr>
          <p:cNvPr id="304" name="TextBox 223"/>
          <p:cNvSpPr txBox="1"/>
          <p:nvPr/>
        </p:nvSpPr>
        <p:spPr>
          <a:xfrm>
            <a:off x="581658" y="5398348"/>
            <a:ext cx="10835724" cy="650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4D0912"/>
                </a:solidFill>
                <a:latin typeface="+mj-lt"/>
                <a:ea typeface="+mj-ea"/>
                <a:cs typeface="+mj-cs"/>
                <a:sym typeface="Helvetica"/>
              </a:defRPr>
            </a:lvl1pPr>
          </a:lstStyle>
          <a:p>
            <a:pPr/>
            <a:r>
              <a:t>LC25000 y NCT se co-localizan. Chaoyang diverge en un espacio cercano. LungHist700 aterriza en zona separada de las clases originales.</a:t>
            </a:r>
          </a:p>
        </p:txBody>
      </p:sp>
      <p:pic>
        <p:nvPicPr>
          <p:cNvPr id="305" name="Picture 243" descr="Picture 243"/>
          <p:cNvPicPr>
            <a:picLocks noChangeAspect="1"/>
          </p:cNvPicPr>
          <p:nvPr/>
        </p:nvPicPr>
        <p:blipFill>
          <a:blip r:embed="rId3">
            <a:extLst/>
          </a:blip>
          <a:stretch>
            <a:fillRect/>
          </a:stretch>
        </p:blipFill>
        <p:spPr>
          <a:xfrm>
            <a:off x="491086" y="2261384"/>
            <a:ext cx="10835724" cy="2646144"/>
          </a:xfrm>
          <a:prstGeom prst="rect">
            <a:avLst/>
          </a:prstGeom>
          <a:ln w="12700">
            <a:miter lim="400000"/>
          </a:ln>
        </p:spPr>
      </p:pic>
      <p:pic>
        <p:nvPicPr>
          <p:cNvPr id="306" name="Picture 244" descr="Picture 244"/>
          <p:cNvPicPr>
            <a:picLocks noChangeAspect="1"/>
          </p:cNvPicPr>
          <p:nvPr/>
        </p:nvPicPr>
        <p:blipFill>
          <a:blip r:embed="rId4">
            <a:extLst/>
          </a:blip>
          <a:stretch>
            <a:fillRect/>
          </a:stretch>
        </p:blipFill>
        <p:spPr>
          <a:xfrm>
            <a:off x="491086" y="2261384"/>
            <a:ext cx="10835724" cy="2646144"/>
          </a:xfrm>
          <a:prstGeom prst="rect">
            <a:avLst/>
          </a:prstGeom>
          <a:ln w="12700">
            <a:miter lim="400000"/>
          </a:ln>
        </p:spPr>
      </p:pic>
      <p:sp>
        <p:nvSpPr>
          <p:cNvPr id="307" name="Rectangle 245"/>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306"/>
                                        </p:tgtEl>
                                        <p:attrNameLst>
                                          <p:attrName>style.visibility</p:attrName>
                                        </p:attrNameLst>
                                      </p:cBhvr>
                                      <p:to>
                                        <p:strVal val="visible"/>
                                      </p:to>
                                    </p:set>
                                  </p:childTnLst>
                                </p:cTn>
                              </p:par>
                            </p:childTnLst>
                          </p:cTn>
                        </p:par>
                        <p:par>
                          <p:cTn id="7" fill="hold">
                            <p:stCondLst>
                              <p:cond delay="0"/>
                            </p:stCondLst>
                            <p:childTnLst>
                              <p:par>
                                <p:cTn id="8" presetClass="exit" nodeType="afterEffect" presetSubtype="0" presetID="1" grpId="2" fill="hold">
                                  <p:stCondLst>
                                    <p:cond delay="0"/>
                                  </p:stCondLst>
                                  <p:iterate type="el" backwards="0">
                                    <p:tmAbs val="0"/>
                                  </p:iterate>
                                  <p:childTnLst>
                                    <p:set>
                                      <p:cBhvr>
                                        <p:cTn id="9" fill="hold">
                                          <p:stCondLst>
                                            <p:cond delay="0"/>
                                          </p:stCondLst>
                                        </p:cTn>
                                        <p:tgtEl>
                                          <p:spTgt spid="30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305" grpId="2"/>
      <p:bldP build="whole" bldLvl="1" animBg="1" rev="0" advAuto="0" spid="306" grpId="1"/>
    </p:bldLst>
  </p:timing>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1"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12"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13"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14"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16/36</a:t>
            </a:r>
          </a:p>
        </p:txBody>
      </p:sp>
      <p:sp>
        <p:nvSpPr>
          <p:cNvPr id="315"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CLIP vs clasificador CE: misma ResNet50, distinta cabeza</a:t>
            </a:r>
          </a:p>
        </p:txBody>
      </p:sp>
      <p:sp>
        <p:nvSpPr>
          <p:cNvPr id="316"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17" name="TextBox 7"/>
          <p:cNvSpPr txBox="1"/>
          <p:nvPr/>
        </p:nvSpPr>
        <p:spPr>
          <a:xfrm>
            <a:off x="594358" y="1188719"/>
            <a:ext cx="11564027"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La ventaja de CLIP no aparece en el cambio fácil (NCT); aparece bajo un shift más fuerte (Chaoyang)</a:t>
            </a:r>
          </a:p>
        </p:txBody>
      </p:sp>
      <p:pic>
        <p:nvPicPr>
          <p:cNvPr id="318" name="Picture 256" descr="Picture 256"/>
          <p:cNvPicPr>
            <a:picLocks noChangeAspect="1"/>
          </p:cNvPicPr>
          <p:nvPr/>
        </p:nvPicPr>
        <p:blipFill>
          <a:blip r:embed="rId3">
            <a:extLst/>
          </a:blip>
          <a:stretch>
            <a:fillRect/>
          </a:stretch>
        </p:blipFill>
        <p:spPr>
          <a:xfrm>
            <a:off x="568959" y="2098899"/>
            <a:ext cx="5486402" cy="3000378"/>
          </a:xfrm>
          <a:prstGeom prst="rect">
            <a:avLst/>
          </a:prstGeom>
          <a:ln w="12700">
            <a:miter lim="400000"/>
          </a:ln>
        </p:spPr>
      </p:pic>
      <p:pic>
        <p:nvPicPr>
          <p:cNvPr id="319" name="Picture 260" descr="Picture 260"/>
          <p:cNvPicPr>
            <a:picLocks noChangeAspect="1"/>
          </p:cNvPicPr>
          <p:nvPr/>
        </p:nvPicPr>
        <p:blipFill>
          <a:blip r:embed="rId4">
            <a:extLst/>
          </a:blip>
          <a:stretch>
            <a:fillRect/>
          </a:stretch>
        </p:blipFill>
        <p:spPr>
          <a:xfrm>
            <a:off x="6311391" y="2098899"/>
            <a:ext cx="5257804" cy="2842312"/>
          </a:xfrm>
          <a:prstGeom prst="rect">
            <a:avLst/>
          </a:prstGeom>
          <a:ln w="12700">
            <a:miter lim="400000"/>
          </a:ln>
        </p:spPr>
      </p:pic>
      <p:sp>
        <p:nvSpPr>
          <p:cNvPr id="320" name="TextBox 258"/>
          <p:cNvSpPr txBox="1"/>
          <p:nvPr/>
        </p:nvSpPr>
        <p:spPr>
          <a:xfrm>
            <a:off x="6357108" y="5014107"/>
            <a:ext cx="5166367" cy="497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i="1" sz="1300">
                <a:solidFill>
                  <a:srgbClr val="826540"/>
                </a:solidFill>
                <a:latin typeface="+mj-lt"/>
                <a:ea typeface="+mj-ea"/>
                <a:cs typeface="+mj-cs"/>
                <a:sym typeface="Helvetica"/>
              </a:defRPr>
            </a:lvl1pPr>
          </a:lstStyle>
          <a:p>
            <a:pPr/>
            <a:r>
              <a:t>CE convierte Chaoyang casi en "todo adenocarcinoma"; CLIP mantiene más balance.</a:t>
            </a:r>
          </a:p>
        </p:txBody>
      </p:sp>
      <p:sp>
        <p:nvSpPr>
          <p:cNvPr id="321" name="TextBox 259"/>
          <p:cNvSpPr txBox="1"/>
          <p:nvPr/>
        </p:nvSpPr>
        <p:spPr>
          <a:xfrm>
            <a:off x="635253" y="5635738"/>
            <a:ext cx="10908794" cy="320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La cabeza CLIP estabiliza bajo shift, pero es una palanca secundaria: el colapso pulmonar sigue cerca del azar.</a:t>
            </a:r>
          </a:p>
        </p:txBody>
      </p:sp>
      <p:sp>
        <p:nvSpPr>
          <p:cNvPr id="322" name="Rectangle 257"/>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27"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2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29"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17/36</a:t>
            </a:r>
          </a:p>
        </p:txBody>
      </p:sp>
      <p:sp>
        <p:nvSpPr>
          <p:cNvPr id="330"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31" name="TextBox 253"/>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Normalización de tinción (Macenko)</a:t>
            </a:r>
          </a:p>
        </p:txBody>
      </p:sp>
      <p:sp>
        <p:nvSpPr>
          <p:cNvPr id="332" name="TextBox 254"/>
          <p:cNvSpPr txBox="1"/>
          <p:nvPr/>
        </p:nvSpPr>
        <p:spPr>
          <a:xfrm>
            <a:off x="594359" y="1188719"/>
            <a:ext cx="11000235"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Alinear el color apenas mueve el resultado</a:t>
            </a:r>
          </a:p>
        </p:txBody>
      </p:sp>
      <p:sp>
        <p:nvSpPr>
          <p:cNvPr id="333" name="TextBox 256"/>
          <p:cNvSpPr txBox="1"/>
          <p:nvPr/>
        </p:nvSpPr>
        <p:spPr>
          <a:xfrm>
            <a:off x="640071" y="5872731"/>
            <a:ext cx="3840496" cy="269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latin typeface="+mj-lt"/>
                <a:ea typeface="+mj-ea"/>
                <a:cs typeface="+mj-cs"/>
                <a:sym typeface="Helvetica"/>
              </a:defRPr>
            </a:lvl1pPr>
          </a:lstStyle>
          <a:p>
            <a:pPr/>
            <a:r>
              <a:t>Misma muestra bajo 4 métodos de normalización</a:t>
            </a:r>
          </a:p>
        </p:txBody>
      </p:sp>
      <p:pic>
        <p:nvPicPr>
          <p:cNvPr id="334" name="Picture 257" descr="Picture 257"/>
          <p:cNvPicPr>
            <a:picLocks noChangeAspect="1"/>
          </p:cNvPicPr>
          <p:nvPr/>
        </p:nvPicPr>
        <p:blipFill>
          <a:blip r:embed="rId3">
            <a:extLst/>
          </a:blip>
          <a:stretch>
            <a:fillRect/>
          </a:stretch>
        </p:blipFill>
        <p:spPr>
          <a:xfrm>
            <a:off x="4978400" y="1748027"/>
            <a:ext cx="6675120" cy="2066546"/>
          </a:xfrm>
          <a:prstGeom prst="rect">
            <a:avLst/>
          </a:prstGeom>
          <a:ln w="12700">
            <a:miter lim="400000"/>
          </a:ln>
        </p:spPr>
      </p:pic>
      <p:sp>
        <p:nvSpPr>
          <p:cNvPr id="335" name="TextBox 258"/>
          <p:cNvSpPr txBox="1"/>
          <p:nvPr/>
        </p:nvSpPr>
        <p:spPr>
          <a:xfrm>
            <a:off x="4988557" y="3926437"/>
            <a:ext cx="6400812" cy="14491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defRPr>
            </a:pPr>
            <a:r>
              <a:t>Método</a:t>
            </a:r>
          </a:p>
          <a:p>
            <a:pPr>
              <a:defRPr sz="1400">
                <a:solidFill>
                  <a:srgbClr val="3C2814"/>
                </a:solidFill>
              </a:defRPr>
            </a:pPr>
            <a:r>
              <a:t>Macenko usa NCT-NORM como referencia. NCT ya llega normalizado; Chaoyang y LungHist700 se transforman en inferencia.</a:t>
            </a:r>
          </a:p>
          <a:p>
            <a:pPr>
              <a:defRPr sz="1300">
                <a:solidFill>
                  <a:srgbClr val="3C2814"/>
                </a:solidFill>
              </a:defRPr>
            </a:pPr>
          </a:p>
          <a:p>
            <a:pPr>
              <a:defRPr b="1" sz="1600">
                <a:solidFill>
                  <a:srgbClr val="4D0912"/>
                </a:solidFill>
              </a:defRPr>
            </a:pPr>
            <a:r>
              <a:t>Resultado</a:t>
            </a:r>
          </a:p>
          <a:p>
            <a:pPr>
              <a:defRPr sz="1400">
                <a:solidFill>
                  <a:srgbClr val="3C2814"/>
                </a:solidFill>
              </a:defRPr>
            </a:pPr>
            <a:r>
              <a:t>La tinción explica una parte menor del shift; no rompe el colapso en pulmón.</a:t>
            </a:r>
          </a:p>
        </p:txBody>
      </p:sp>
      <p:pic>
        <p:nvPicPr>
          <p:cNvPr id="336" name="Picture 260" descr="Picture 260"/>
          <p:cNvPicPr>
            <a:picLocks noChangeAspect="1"/>
          </p:cNvPicPr>
          <p:nvPr/>
        </p:nvPicPr>
        <p:blipFill>
          <a:blip r:embed="rId4">
            <a:extLst/>
          </a:blip>
          <a:stretch>
            <a:fillRect/>
          </a:stretch>
        </p:blipFill>
        <p:spPr>
          <a:xfrm>
            <a:off x="594359" y="1589033"/>
            <a:ext cx="3931924" cy="4320793"/>
          </a:xfrm>
          <a:prstGeom prst="rect">
            <a:avLst/>
          </a:prstGeom>
          <a:ln w="12700">
            <a:miter lim="400000"/>
          </a:ln>
        </p:spPr>
      </p:pic>
      <p:sp>
        <p:nvSpPr>
          <p:cNvPr id="337" name="Rectangle 269"/>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1"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42"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43"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44"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18/36</a:t>
            </a:r>
          </a:p>
        </p:txBody>
      </p:sp>
      <p:sp>
        <p:nvSpPr>
          <p:cNvPr id="345" name="TextBox 5"/>
          <p:cNvSpPr txBox="1"/>
          <p:nvPr/>
        </p:nvSpPr>
        <p:spPr>
          <a:xfrm>
            <a:off x="594359" y="384047"/>
            <a:ext cx="11000235" cy="1005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Los codificadores de texto biomédico no mejoran la transferencia</a:t>
            </a:r>
          </a:p>
        </p:txBody>
      </p:sp>
      <p:sp>
        <p:nvSpPr>
          <p:cNvPr id="346"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47" name="TextBox 281"/>
          <p:cNvSpPr txBox="1"/>
          <p:nvPr/>
        </p:nvSpPr>
        <p:spPr>
          <a:xfrm>
            <a:off x="594359" y="1188719"/>
            <a:ext cx="11000235"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i="1" sz="1400">
                <a:solidFill>
                  <a:srgbClr val="4D0912"/>
                </a:solidFill>
                <a:latin typeface="+mj-lt"/>
                <a:ea typeface="+mj-ea"/>
                <a:cs typeface="+mj-cs"/>
                <a:sym typeface="Helvetica"/>
              </a:defRPr>
            </a:lvl1pPr>
          </a:lstStyle>
          <a:p>
            <a:pPr/>
            <a:r>
              <a:t>Por qué podía ayudar</a:t>
            </a:r>
          </a:p>
        </p:txBody>
      </p:sp>
      <p:sp>
        <p:nvSpPr>
          <p:cNvPr id="348" name="TextBox 282"/>
          <p:cNvSpPr txBox="1"/>
          <p:nvPr/>
        </p:nvSpPr>
        <p:spPr>
          <a:xfrm>
            <a:off x="5239506" y="1417319"/>
            <a:ext cx="6309371"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i="1" sz="1400">
                <a:solidFill>
                  <a:srgbClr val="826540"/>
                </a:solidFill>
              </a:defRPr>
            </a:lvl1pPr>
          </a:lstStyle>
          <a:p>
            <a:pPr/>
            <a:r>
              <a:t>Qué pasó</a:t>
            </a:r>
          </a:p>
        </p:txBody>
      </p:sp>
      <p:pic>
        <p:nvPicPr>
          <p:cNvPr id="349" name="Picture 283" descr="Picture 283"/>
          <p:cNvPicPr>
            <a:picLocks noChangeAspect="1"/>
          </p:cNvPicPr>
          <p:nvPr/>
        </p:nvPicPr>
        <p:blipFill>
          <a:blip r:embed="rId3">
            <a:extLst/>
          </a:blip>
          <a:stretch>
            <a:fillRect/>
          </a:stretch>
        </p:blipFill>
        <p:spPr>
          <a:xfrm>
            <a:off x="594359" y="1737360"/>
            <a:ext cx="4114802" cy="3653660"/>
          </a:xfrm>
          <a:prstGeom prst="rect">
            <a:avLst/>
          </a:prstGeom>
          <a:ln w="12700">
            <a:miter lim="400000"/>
          </a:ln>
        </p:spPr>
      </p:pic>
      <p:pic>
        <p:nvPicPr>
          <p:cNvPr id="350" name="Picture 284" descr="Picture 284"/>
          <p:cNvPicPr>
            <a:picLocks noChangeAspect="1"/>
          </p:cNvPicPr>
          <p:nvPr/>
        </p:nvPicPr>
        <p:blipFill>
          <a:blip r:embed="rId4">
            <a:extLst/>
          </a:blip>
          <a:stretch>
            <a:fillRect/>
          </a:stretch>
        </p:blipFill>
        <p:spPr>
          <a:xfrm>
            <a:off x="5193791" y="1737360"/>
            <a:ext cx="6400804" cy="3486152"/>
          </a:xfrm>
          <a:prstGeom prst="rect">
            <a:avLst/>
          </a:prstGeom>
          <a:ln w="12700">
            <a:miter lim="400000"/>
          </a:ln>
        </p:spPr>
      </p:pic>
      <p:sp>
        <p:nvSpPr>
          <p:cNvPr id="351" name="TextBox 285"/>
          <p:cNvSpPr txBox="1"/>
          <p:nvPr/>
        </p:nvSpPr>
        <p:spPr>
          <a:xfrm>
            <a:off x="640079" y="5528178"/>
            <a:ext cx="10908794" cy="506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Mejor tokenización no implica mejor transferencia: todas las variantes quedan por debajo de la línea base en NCT; en Chaoyang empatan y en LungHist700 regresan.</a:t>
            </a:r>
          </a:p>
        </p:txBody>
      </p:sp>
      <p:sp>
        <p:nvSpPr>
          <p:cNvPr id="352" name="Rectangle 281"/>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57"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5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59"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19/36</a:t>
            </a:r>
          </a:p>
        </p:txBody>
      </p:sp>
      <p:sp>
        <p:nvSpPr>
          <p:cNvPr id="360"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El cambio de régimen en pulmón</a:t>
            </a:r>
          </a:p>
        </p:txBody>
      </p:sp>
      <p:sp>
        <p:nvSpPr>
          <p:cNvPr id="361"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62" name="TextBox 11"/>
          <p:cNvSpPr txBox="1"/>
          <p:nvPr/>
        </p:nvSpPr>
        <p:spPr>
          <a:xfrm>
            <a:off x="4167547" y="5989320"/>
            <a:ext cx="3826427" cy="300590"/>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b="1" sz="1600">
                <a:solidFill>
                  <a:srgbClr val="4D0912"/>
                </a:solidFill>
              </a:defRPr>
            </a:lvl1pPr>
          </a:lstStyle>
          <a:p>
            <a:pPr/>
            <a:r>
              <a:t>La siguiente variable es el codificador visual.</a:t>
            </a:r>
          </a:p>
        </p:txBody>
      </p:sp>
      <p:sp>
        <p:nvSpPr>
          <p:cNvPr id="363" name="TextBox 278"/>
          <p:cNvSpPr txBox="1"/>
          <p:nvPr/>
        </p:nvSpPr>
        <p:spPr>
          <a:xfrm>
            <a:off x="594358" y="1188719"/>
            <a:ext cx="6598749"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Preprocesado, texto y cabeza no rompen el azar 3-clases</a:t>
            </a:r>
          </a:p>
        </p:txBody>
      </p:sp>
      <p:pic>
        <p:nvPicPr>
          <p:cNvPr id="364" name="Picture 279" descr="Picture 279"/>
          <p:cNvPicPr>
            <a:picLocks noChangeAspect="1"/>
          </p:cNvPicPr>
          <p:nvPr/>
        </p:nvPicPr>
        <p:blipFill>
          <a:blip r:embed="rId3">
            <a:extLst/>
          </a:blip>
          <a:stretch>
            <a:fillRect/>
          </a:stretch>
        </p:blipFill>
        <p:spPr>
          <a:xfrm>
            <a:off x="1065274" y="1920238"/>
            <a:ext cx="10058404" cy="3741990"/>
          </a:xfrm>
          <a:prstGeom prst="rect">
            <a:avLst/>
          </a:prstGeom>
          <a:ln w="12700">
            <a:miter lim="400000"/>
          </a:ln>
        </p:spPr>
      </p:pic>
      <p:sp>
        <p:nvSpPr>
          <p:cNvPr id="365" name="Rectangle 291"/>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70"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7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72"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20/36</a:t>
            </a:r>
          </a:p>
        </p:txBody>
      </p:sp>
      <p:sp>
        <p:nvSpPr>
          <p:cNvPr id="373"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El codificador visual como palanca dominante</a:t>
            </a:r>
          </a:p>
        </p:txBody>
      </p:sp>
      <p:sp>
        <p:nvSpPr>
          <p:cNvPr id="374"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375" name="Picture 287" descr="Picture 287"/>
          <p:cNvPicPr>
            <a:picLocks noChangeAspect="1"/>
          </p:cNvPicPr>
          <p:nvPr/>
        </p:nvPicPr>
        <p:blipFill>
          <a:blip r:embed="rId3">
            <a:extLst/>
          </a:blip>
          <a:stretch>
            <a:fillRect/>
          </a:stretch>
        </p:blipFill>
        <p:spPr>
          <a:xfrm>
            <a:off x="1746248" y="3042304"/>
            <a:ext cx="8686804" cy="2686881"/>
          </a:xfrm>
          <a:prstGeom prst="rect">
            <a:avLst/>
          </a:prstGeom>
          <a:ln w="12700">
            <a:miter lim="400000"/>
          </a:ln>
        </p:spPr>
      </p:pic>
      <p:sp>
        <p:nvSpPr>
          <p:cNvPr id="376" name="TextBox 288"/>
          <p:cNvSpPr txBox="1"/>
          <p:nvPr/>
        </p:nvSpPr>
        <p:spPr>
          <a:xfrm>
            <a:off x="774448" y="5764769"/>
            <a:ext cx="10630405" cy="554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600">
                <a:solidFill>
                  <a:srgbClr val="4D0912"/>
                </a:solidFill>
              </a:defRPr>
            </a:lvl1pPr>
          </a:lstStyle>
          <a:p>
            <a:pPr/>
            <a:r>
              <a:t>El colapso en LungHist700 no se corrige con tinción, texto biomédico ni cabeza CE; cambia de régimen al sustituir el codificador visual.</a:t>
            </a:r>
          </a:p>
        </p:txBody>
      </p:sp>
      <p:sp>
        <p:nvSpPr>
          <p:cNvPr id="377" name="TextBox 221"/>
          <p:cNvSpPr txBox="1"/>
          <p:nvPr/>
        </p:nvSpPr>
        <p:spPr>
          <a:xfrm>
            <a:off x="594358" y="1188719"/>
            <a:ext cx="5413085"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El cuello de botella era la representación visual</a:t>
            </a:r>
          </a:p>
        </p:txBody>
      </p:sp>
      <p:sp>
        <p:nvSpPr>
          <p:cNvPr id="378" name="TextBox 182"/>
          <p:cNvSpPr txBox="1"/>
          <p:nvPr/>
        </p:nvSpPr>
        <p:spPr>
          <a:xfrm>
            <a:off x="6195466" y="1690129"/>
            <a:ext cx="5413084" cy="1062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defRPr>
            </a:pPr>
            <a:r>
              <a:t>Resultado</a:t>
            </a:r>
          </a:p>
          <a:p>
            <a:pPr marL="130341" indent="-130341">
              <a:buSzPct val="100000"/>
              <a:buChar char="▸"/>
              <a:defRPr sz="1600">
                <a:solidFill>
                  <a:srgbClr val="3C2814"/>
                </a:solidFill>
              </a:defRPr>
            </a:pPr>
            <a:r>
              <a:t>El codificador visual de PLIP mejora los tres datasets externos.</a:t>
            </a:r>
          </a:p>
          <a:p>
            <a:pPr marL="130341" indent="-130341">
              <a:buSzPct val="100000"/>
              <a:buChar char="▸"/>
              <a:defRPr sz="1600">
                <a:solidFill>
                  <a:srgbClr val="3C2814"/>
                </a:solidFill>
              </a:defRPr>
            </a:pPr>
            <a:r>
              <a:t>El salto crítico aparece en LungHist700, donde la línea base colapsaba.</a:t>
            </a:r>
          </a:p>
        </p:txBody>
      </p:sp>
      <p:sp>
        <p:nvSpPr>
          <p:cNvPr id="379" name="TextBox 182"/>
          <p:cNvSpPr txBox="1"/>
          <p:nvPr/>
        </p:nvSpPr>
        <p:spPr>
          <a:xfrm>
            <a:off x="611442" y="1690129"/>
            <a:ext cx="5114751" cy="1062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defRPr>
            </a:pPr>
            <a:r>
              <a:t>Cambio controlado</a:t>
            </a:r>
          </a:p>
          <a:p>
            <a:pPr marL="130341" indent="-130341">
              <a:buSzPct val="100000"/>
              <a:buChar char="▸"/>
              <a:defRPr sz="1600">
                <a:solidFill>
                  <a:srgbClr val="4D0912"/>
                </a:solidFill>
              </a:defRPr>
            </a:pPr>
            <a:r>
              <a:t>Manteniendo:</a:t>
            </a:r>
            <a:r>
              <a:rPr b="1"/>
              <a:t> </a:t>
            </a:r>
            <a:r>
              <a:t>mismo BERT, mismos prompts, cabezas de proyección CLIP y entrenamiento en LC25000.</a:t>
            </a:r>
          </a:p>
          <a:p>
            <a:pPr marL="130341" indent="-130341">
              <a:buSzPct val="100000"/>
              <a:buChar char="▸"/>
              <a:defRPr sz="1600">
                <a:solidFill>
                  <a:srgbClr val="4D0912"/>
                </a:solidFill>
              </a:defRPr>
            </a:pPr>
            <a:r>
              <a:t>Cambio: ResNet50 (ImageNet) → PLIP ViT-B/32 (OpenPath)</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3"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84"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85"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86"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21/36</a:t>
            </a:r>
          </a:p>
        </p:txBody>
      </p:sp>
      <p:sp>
        <p:nvSpPr>
          <p:cNvPr id="387"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Descomposición de la mejora: una escalera de 3 pasos</a:t>
            </a:r>
          </a:p>
        </p:txBody>
      </p:sp>
      <p:sp>
        <p:nvSpPr>
          <p:cNvPr id="388"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89" name="TextBox 7"/>
          <p:cNvSpPr txBox="1"/>
          <p:nvPr/>
        </p:nvSpPr>
        <p:spPr>
          <a:xfrm>
            <a:off x="594358" y="1188719"/>
            <a:ext cx="5963625"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400">
                <a:solidFill>
                  <a:srgbClr val="4D0912"/>
                </a:solidFill>
                <a:latin typeface="+mj-lt"/>
                <a:ea typeface="+mj-ea"/>
                <a:cs typeface="+mj-cs"/>
                <a:sym typeface="Helvetica"/>
              </a:defRPr>
            </a:lvl1pPr>
          </a:lstStyle>
          <a:p>
            <a:pPr/>
            <a:r>
              <a:t>La amplitud visual desbloquea; el dominio amplifica.</a:t>
            </a:r>
          </a:p>
        </p:txBody>
      </p:sp>
      <p:sp>
        <p:nvSpPr>
          <p:cNvPr id="390" name="TextBox 9"/>
          <p:cNvSpPr txBox="1"/>
          <p:nvPr/>
        </p:nvSpPr>
        <p:spPr>
          <a:xfrm>
            <a:off x="603248" y="5853927"/>
            <a:ext cx="10972804" cy="5093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400">
                <a:solidFill>
                  <a:srgbClr val="4D0912"/>
                </a:solidFill>
              </a:defRPr>
            </a:lvl1pPr>
          </a:lstStyle>
          <a:p>
            <a:pPr/>
            <a:r>
              <a:t>DINOv2 separa parte del salto sin histopatología; PLIP añade el margen de dominio. La descomposición es parcial, no una descomposición factorial perfecta.</a:t>
            </a:r>
          </a:p>
        </p:txBody>
      </p:sp>
      <p:graphicFrame>
        <p:nvGraphicFramePr>
          <p:cNvPr id="391" name="Table 10"/>
          <p:cNvGraphicFramePr/>
          <p:nvPr/>
        </p:nvGraphicFramePr>
        <p:xfrm>
          <a:off x="535940" y="1820676"/>
          <a:ext cx="5921227" cy="2926085"/>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829792"/>
                <a:gridCol w="1028173"/>
                <a:gridCol w="1024165"/>
                <a:gridCol w="1023094"/>
                <a:gridCol w="1016000"/>
              </a:tblGrid>
              <a:tr h="585216">
                <a:tc>
                  <a:txBody>
                    <a:bodyPr/>
                    <a:lstStyle/>
                    <a:p>
                      <a:pPr algn="ctr">
                        <a:defRPr b="0" sz="1800">
                          <a:solidFill>
                            <a:srgbClr val="000000"/>
                          </a:solidFill>
                        </a:defRPr>
                      </a:pPr>
                      <a:r>
                        <a:rPr b="1" sz="1400">
                          <a:solidFill>
                            <a:srgbClr val="FFFFFF"/>
                          </a:solidFill>
                          <a:latin typeface="+mn-lt"/>
                          <a:ea typeface="+mn-ea"/>
                          <a:cs typeface="+mn-cs"/>
                        </a:rPr>
                        <a:t>Condición</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LC25000</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NCT</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Chaoyang</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LungHist700</a:t>
                      </a:r>
                    </a:p>
                  </a:txBody>
                  <a:tcPr marL="45720" marR="45720" marT="45720" marB="45720" anchor="ctr" anchorCtr="0" horzOverflow="overflow">
                    <a:solidFill>
                      <a:srgbClr val="6B0F1A"/>
                    </a:solidFill>
                  </a:tcPr>
                </a:tc>
              </a:tr>
              <a:tr h="585216">
                <a:tc>
                  <a:txBody>
                    <a:bodyPr/>
                    <a:lstStyle/>
                    <a:p>
                      <a:pPr algn="l">
                        <a:defRPr sz="1400">
                          <a:solidFill>
                            <a:srgbClr val="333333"/>
                          </a:solidFill>
                          <a:latin typeface="+mn-lt"/>
                          <a:ea typeface="+mn-ea"/>
                          <a:cs typeface="+mn-cs"/>
                        </a:defRPr>
                      </a:pPr>
                      <a:r>
                        <a:t>ResNet50</a:t>
                      </a:r>
                    </a:p>
                    <a:p>
                      <a:pPr algn="l">
                        <a:defRPr sz="1400">
                          <a:solidFill>
                            <a:srgbClr val="333333"/>
                          </a:solidFill>
                          <a:latin typeface="+mn-lt"/>
                          <a:ea typeface="+mn-ea"/>
                          <a:cs typeface="+mn-cs"/>
                        </a:defRPr>
                      </a:pPr>
                      <a:r>
                        <a:t>(ImageNet, baseline)</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0.996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0.866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0.786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0.305</a:t>
                      </a:r>
                    </a:p>
                  </a:txBody>
                  <a:tcPr marL="45720" marR="45720" marT="45720" marB="45720" anchor="ctr" anchorCtr="0" horzOverflow="overflow">
                    <a:solidFill>
                      <a:srgbClr val="FFFFFF"/>
                    </a:solidFill>
                  </a:tcPr>
                </a:tc>
              </a:tr>
              <a:tr h="585216">
                <a:tc>
                  <a:txBody>
                    <a:bodyPr/>
                    <a:lstStyle/>
                    <a:p>
                      <a:pPr algn="l">
                        <a:defRPr sz="1400">
                          <a:solidFill>
                            <a:srgbClr val="333333"/>
                          </a:solidFill>
                          <a:latin typeface="+mn-lt"/>
                          <a:ea typeface="+mn-ea"/>
                          <a:cs typeface="+mn-cs"/>
                        </a:defRPr>
                      </a:pPr>
                      <a:r>
                        <a:t>DINOv2 ViT-B/14</a:t>
                      </a:r>
                    </a:p>
                    <a:p>
                      <a:pPr algn="l">
                        <a:defRPr sz="1400">
                          <a:solidFill>
                            <a:srgbClr val="333333"/>
                          </a:solidFill>
                          <a:latin typeface="+mn-lt"/>
                          <a:ea typeface="+mn-ea"/>
                          <a:cs typeface="+mn-cs"/>
                        </a:defRPr>
                      </a:pPr>
                      <a:r>
                        <a:t>(SSL general)</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0.989</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0.855</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0.776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0.457</a:t>
                      </a:r>
                    </a:p>
                  </a:txBody>
                  <a:tcPr marL="45720" marR="45720" marT="45720" marB="45720" anchor="ctr" anchorCtr="0" horzOverflow="overflow">
                    <a:solidFill>
                      <a:srgbClr val="FFFFFF"/>
                    </a:solidFill>
                  </a:tcPr>
                </a:tc>
              </a:tr>
              <a:tr h="585216">
                <a:tc>
                  <a:txBody>
                    <a:bodyPr/>
                    <a:lstStyle/>
                    <a:p>
                      <a:pPr algn="l">
                        <a:defRPr sz="1400">
                          <a:solidFill>
                            <a:srgbClr val="333333"/>
                          </a:solidFill>
                          <a:latin typeface="+mn-lt"/>
                          <a:ea typeface="+mn-ea"/>
                          <a:cs typeface="+mn-cs"/>
                        </a:defRPr>
                      </a:pPr>
                      <a:r>
                        <a:t>PLIP zero-shot </a:t>
                      </a:r>
                    </a:p>
                    <a:p>
                      <a:pPr algn="l">
                        <a:defRPr sz="1400">
                          <a:solidFill>
                            <a:srgbClr val="333333"/>
                          </a:solidFill>
                          <a:latin typeface="+mn-lt"/>
                          <a:ea typeface="+mn-ea"/>
                          <a:cs typeface="+mn-cs"/>
                        </a:defRPr>
                      </a:pPr>
                      <a:r>
                        <a:t>(sin entrenamiento en LC25000)</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0.700</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0.661</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0.731</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0.544</a:t>
                      </a:r>
                    </a:p>
                  </a:txBody>
                  <a:tcPr marL="45720" marR="45720" marT="45720" marB="45720" anchor="ctr" anchorCtr="0" horzOverflow="overflow">
                    <a:solidFill>
                      <a:srgbClr val="FFFFFF"/>
                    </a:solidFill>
                  </a:tcPr>
                </a:tc>
              </a:tr>
              <a:tr h="585216">
                <a:tc>
                  <a:txBody>
                    <a:bodyPr/>
                    <a:lstStyle/>
                    <a:p>
                      <a:pPr algn="l">
                        <a:defRPr sz="1800"/>
                      </a:pPr>
                      <a:r>
                        <a:rPr sz="1400">
                          <a:solidFill>
                            <a:srgbClr val="333333"/>
                          </a:solidFill>
                          <a:latin typeface="+mn-lt"/>
                          <a:ea typeface="+mn-ea"/>
                          <a:cs typeface="+mn-cs"/>
                        </a:rPr>
                        <a:t>PLIP ViT-B/32 + (entrenamiento en LC25000)</a:t>
                      </a:r>
                    </a:p>
                  </a:txBody>
                  <a:tcPr marL="45720" marR="45720" marT="45720" marB="45720" anchor="t" anchorCtr="0" horzOverflow="overflow">
                    <a:solidFill>
                      <a:srgbClr val="FFFFFF"/>
                    </a:solidFill>
                  </a:tcPr>
                </a:tc>
                <a:tc>
                  <a:txBody>
                    <a:bodyPr/>
                    <a:lstStyle/>
                    <a:p>
                      <a:pPr algn="ctr">
                        <a:defRPr sz="1800"/>
                      </a:pPr>
                      <a:r>
                        <a:rPr b="1" sz="1400">
                          <a:solidFill>
                            <a:srgbClr val="333333"/>
                          </a:solidFill>
                          <a:latin typeface="+mn-lt"/>
                          <a:ea typeface="+mn-ea"/>
                          <a:cs typeface="+mn-cs"/>
                        </a:rPr>
                        <a:t>0.996</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0.933</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0.813</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0.640</a:t>
                      </a:r>
                    </a:p>
                  </a:txBody>
                  <a:tcPr marL="45720" marR="45720" marT="45720" marB="45720" anchor="ctr" anchorCtr="0" horzOverflow="overflow">
                    <a:solidFill>
                      <a:srgbClr val="FFFFFF"/>
                    </a:solidFill>
                  </a:tcPr>
                </a:tc>
              </a:tr>
            </a:tbl>
          </a:graphicData>
        </a:graphic>
      </p:graphicFrame>
      <p:pic>
        <p:nvPicPr>
          <p:cNvPr id="392" name="Picture 297" descr="Picture 297"/>
          <p:cNvPicPr>
            <a:picLocks noChangeAspect="1"/>
          </p:cNvPicPr>
          <p:nvPr/>
        </p:nvPicPr>
        <p:blipFill>
          <a:blip r:embed="rId3">
            <a:extLst/>
          </a:blip>
          <a:stretch>
            <a:fillRect/>
          </a:stretch>
        </p:blipFill>
        <p:spPr>
          <a:xfrm>
            <a:off x="6466683" y="1820676"/>
            <a:ext cx="5303526" cy="3724884"/>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97"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39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399"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Resultados   ·   22/36</a:t>
            </a:r>
          </a:p>
        </p:txBody>
      </p:sp>
      <p:sp>
        <p:nvSpPr>
          <p:cNvPr id="400"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Por qué importa el codificador visual</a:t>
            </a:r>
          </a:p>
        </p:txBody>
      </p:sp>
      <p:sp>
        <p:nvSpPr>
          <p:cNvPr id="401"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02" name="TextBox 8"/>
          <p:cNvSpPr txBox="1"/>
          <p:nvPr/>
        </p:nvSpPr>
        <p:spPr>
          <a:xfrm>
            <a:off x="603504" y="5172788"/>
            <a:ext cx="10972801" cy="117259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400">
                <a:solidFill>
                  <a:srgbClr val="4D0912"/>
                </a:solidFill>
              </a:defRPr>
            </a:pPr>
            <a:r>
              <a:t>ResNet50:  sin estructura por clase.</a:t>
            </a:r>
          </a:p>
          <a:p>
            <a:pPr>
              <a:defRPr sz="1400">
                <a:solidFill>
                  <a:srgbClr val="4D0912"/>
                </a:solidFill>
              </a:defRPr>
            </a:pPr>
            <a:r>
              <a:t>DINOv2:  separación parcial.</a:t>
            </a:r>
          </a:p>
          <a:p>
            <a:pPr>
              <a:defRPr sz="1400">
                <a:solidFill>
                  <a:srgbClr val="4D0912"/>
                </a:solidFill>
              </a:defRPr>
            </a:pPr>
            <a:r>
              <a:t>PLIP zero-shot:  región pulmonar propia.</a:t>
            </a:r>
          </a:p>
          <a:p>
            <a:pPr>
              <a:defRPr sz="1400">
                <a:solidFill>
                  <a:srgbClr val="4D0912"/>
                </a:solidFill>
              </a:defRPr>
            </a:pPr>
            <a:r>
              <a:t>PLIP + LC25000:  subestructura por clase.</a:t>
            </a:r>
          </a:p>
          <a:p>
            <a:pPr>
              <a:defRPr b="1" sz="1300">
                <a:solidFill>
                  <a:srgbClr val="4D0912"/>
                </a:solidFill>
              </a:defRPr>
            </a:pPr>
            <a:r>
              <a:t>El UMAP no prueba el mecanismo, pero sí muestra el patrón que la métrica resume: PLIP no solo sube F1; recupera estructura visual útil.</a:t>
            </a:r>
          </a:p>
        </p:txBody>
      </p:sp>
      <p:pic>
        <p:nvPicPr>
          <p:cNvPr id="403" name="Picture 327" descr="Picture 327"/>
          <p:cNvPicPr>
            <a:picLocks noChangeAspect="1"/>
          </p:cNvPicPr>
          <p:nvPr/>
        </p:nvPicPr>
        <p:blipFill>
          <a:blip r:embed="rId3">
            <a:extLst/>
          </a:blip>
          <a:stretch>
            <a:fillRect/>
          </a:stretch>
        </p:blipFill>
        <p:spPr>
          <a:xfrm>
            <a:off x="603504" y="1737360"/>
            <a:ext cx="10972801" cy="3014805"/>
          </a:xfrm>
          <a:prstGeom prst="rect">
            <a:avLst/>
          </a:prstGeom>
          <a:ln w="12700">
            <a:miter lim="400000"/>
          </a:ln>
        </p:spPr>
      </p:pic>
      <p:sp>
        <p:nvSpPr>
          <p:cNvPr id="404" name="TextBox 327"/>
          <p:cNvSpPr txBox="1"/>
          <p:nvPr/>
        </p:nvSpPr>
        <p:spPr>
          <a:xfrm>
            <a:off x="4286113" y="4843603"/>
            <a:ext cx="3589294" cy="280796"/>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i="1" sz="1400">
                <a:solidFill>
                  <a:srgbClr val="3C2814"/>
                </a:solidFill>
              </a:defRPr>
            </a:lvl1pPr>
          </a:lstStyle>
          <a:p>
            <a:pPr/>
            <a:r>
              <a:t>círculos = LC25000    ·    triángulos = LungHist700</a:t>
            </a:r>
          </a:p>
        </p:txBody>
      </p:sp>
      <p:sp>
        <p:nvSpPr>
          <p:cNvPr id="405" name="TextBox 327"/>
          <p:cNvSpPr txBox="1"/>
          <p:nvPr/>
        </p:nvSpPr>
        <p:spPr>
          <a:xfrm>
            <a:off x="594359" y="1188719"/>
            <a:ext cx="11000235"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El espacio latente refleja el resultado cuantitativo</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9"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pic>
        <p:nvPicPr>
          <p:cNvPr id="410"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411"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12"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defRPr>
            </a:lvl1pPr>
          </a:lstStyle>
          <a:p>
            <a:pPr/>
            <a:r>
              <a:t>04</a:t>
            </a:r>
          </a:p>
        </p:txBody>
      </p:sp>
      <p:sp>
        <p:nvSpPr>
          <p:cNvPr id="413" name="TextBox 5"/>
          <p:cNvSpPr txBox="1"/>
          <p:nvPr/>
        </p:nvSpPr>
        <p:spPr>
          <a:xfrm>
            <a:off x="1142999" y="4846320"/>
            <a:ext cx="731001" cy="300590"/>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600">
                <a:solidFill>
                  <a:srgbClr val="C9A227"/>
                </a:solidFill>
              </a:defRPr>
            </a:lvl1pPr>
          </a:lstStyle>
          <a:p>
            <a:pPr/>
            <a:r>
              <a:t>Sección</a:t>
            </a:r>
          </a:p>
        </p:txBody>
      </p:sp>
      <p:sp>
        <p:nvSpPr>
          <p:cNvPr id="414" name="TextBox 6"/>
          <p:cNvSpPr txBox="1"/>
          <p:nvPr/>
        </p:nvSpPr>
        <p:spPr>
          <a:xfrm>
            <a:off x="1142980" y="5303520"/>
            <a:ext cx="5795003"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defRPr>
            </a:lvl1pPr>
          </a:lstStyle>
          <a:p>
            <a:pPr/>
            <a:r>
              <a:t>Discusión y conclusiones</a:t>
            </a:r>
          </a:p>
        </p:txBody>
      </p:sp>
      <p:sp>
        <p:nvSpPr>
          <p:cNvPr id="415" name="TextBox 334"/>
          <p:cNvSpPr txBox="1"/>
          <p:nvPr/>
        </p:nvSpPr>
        <p:spPr>
          <a:xfrm>
            <a:off x="1014712" y="5927340"/>
            <a:ext cx="10543887" cy="370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FFFFFF"/>
                </a:solidFill>
                <a:latin typeface="+mj-lt"/>
                <a:ea typeface="+mj-ea"/>
                <a:cs typeface="+mj-cs"/>
                <a:sym typeface="Helvetica"/>
              </a:defRPr>
            </a:lvl1pPr>
          </a:lstStyle>
          <a:p>
            <a:pPr/>
            <a:r>
              <a:t>No es solo un ranking de modelos: es un estudio sobre qué tipo de representación visual transfiere.</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20"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2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422"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Discusión y conclusiones   ·   24/36</a:t>
            </a:r>
          </a:p>
        </p:txBody>
      </p:sp>
      <p:sp>
        <p:nvSpPr>
          <p:cNvPr id="423" name="TextBox 5"/>
          <p:cNvSpPr txBox="1"/>
          <p:nvPr/>
        </p:nvSpPr>
        <p:spPr>
          <a:xfrm>
            <a:off x="594358" y="384046"/>
            <a:ext cx="11002979"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latin typeface="+mj-lt"/>
                <a:ea typeface="+mj-ea"/>
                <a:cs typeface="+mj-cs"/>
                <a:sym typeface="Helvetica"/>
              </a:defRPr>
            </a:lvl1pPr>
          </a:lstStyle>
          <a:p>
            <a:pPr/>
            <a:r>
              <a:t>Qué explica realmente la generalización externa</a:t>
            </a:r>
          </a:p>
        </p:txBody>
      </p:sp>
      <p:sp>
        <p:nvSpPr>
          <p:cNvPr id="424"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25" name="Rounded Rectangle 341"/>
          <p:cNvSpPr/>
          <p:nvPr/>
        </p:nvSpPr>
        <p:spPr>
          <a:xfrm>
            <a:off x="594359" y="1463038"/>
            <a:ext cx="3453387"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latin typeface="+mj-lt"/>
                <a:ea typeface="+mj-ea"/>
                <a:cs typeface="+mj-cs"/>
                <a:sym typeface="Helvetica"/>
              </a:defRPr>
            </a:pPr>
          </a:p>
        </p:txBody>
      </p:sp>
      <p:grpSp>
        <p:nvGrpSpPr>
          <p:cNvPr id="428" name="Oval 342"/>
          <p:cNvGrpSpPr/>
          <p:nvPr/>
        </p:nvGrpSpPr>
        <p:grpSpPr>
          <a:xfrm>
            <a:off x="1978150" y="1691638"/>
            <a:ext cx="685806" cy="685807"/>
            <a:chOff x="0" y="0"/>
            <a:chExt cx="685805" cy="685806"/>
          </a:xfrm>
        </p:grpSpPr>
        <p:sp>
          <p:nvSpPr>
            <p:cNvPr id="426" name="Circle"/>
            <p:cNvSpPr/>
            <p:nvPr/>
          </p:nvSpPr>
          <p:spPr>
            <a:xfrm>
              <a:off x="0" y="0"/>
              <a:ext cx="685806" cy="685807"/>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latin typeface="+mj-lt"/>
                  <a:ea typeface="+mj-ea"/>
                  <a:cs typeface="+mj-cs"/>
                  <a:sym typeface="Helvetica"/>
                </a:defRPr>
              </a:pPr>
            </a:p>
          </p:txBody>
        </p:sp>
        <p:sp>
          <p:nvSpPr>
            <p:cNvPr id="427" name="1"/>
            <p:cNvSpPr txBox="1"/>
            <p:nvPr/>
          </p:nvSpPr>
          <p:spPr>
            <a:xfrm>
              <a:off x="150915" y="81280"/>
              <a:ext cx="383974"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latin typeface="+mj-lt"/>
                  <a:ea typeface="+mj-ea"/>
                  <a:cs typeface="+mj-cs"/>
                  <a:sym typeface="Helvetica"/>
                </a:defRPr>
              </a:lvl1pPr>
            </a:lstStyle>
            <a:p>
              <a:pPr/>
              <a:r>
                <a:t>1</a:t>
              </a:r>
            </a:p>
          </p:txBody>
        </p:sp>
      </p:grpSp>
      <p:sp>
        <p:nvSpPr>
          <p:cNvPr id="429" name="TextBox 343"/>
          <p:cNvSpPr txBox="1"/>
          <p:nvPr/>
        </p:nvSpPr>
        <p:spPr>
          <a:xfrm>
            <a:off x="822957" y="2560321"/>
            <a:ext cx="2996191" cy="320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El cuello de botella era visual</a:t>
            </a:r>
          </a:p>
        </p:txBody>
      </p:sp>
      <p:sp>
        <p:nvSpPr>
          <p:cNvPr id="430" name="Rectangle 344"/>
          <p:cNvSpPr/>
          <p:nvPr/>
        </p:nvSpPr>
        <p:spPr>
          <a:xfrm>
            <a:off x="1680971" y="3383279"/>
            <a:ext cx="1280165" cy="45724"/>
          </a:xfrm>
          <a:prstGeom prst="rect">
            <a:avLst/>
          </a:prstGeom>
          <a:solidFill>
            <a:srgbClr val="C6A046"/>
          </a:solidFill>
          <a:ln w="12700">
            <a:miter lim="400000"/>
          </a:ln>
        </p:spPr>
        <p:txBody>
          <a:bodyPr lIns="45718" tIns="45718" rIns="45718" bIns="45718" anchor="ctr"/>
          <a:lstStyle/>
          <a:p>
            <a:pPr algn="ctr">
              <a:defRPr>
                <a:solidFill>
                  <a:srgbClr val="FFFFFF"/>
                </a:solidFill>
                <a:latin typeface="+mj-lt"/>
                <a:ea typeface="+mj-ea"/>
                <a:cs typeface="+mj-cs"/>
                <a:sym typeface="Helvetica"/>
              </a:defRPr>
            </a:pPr>
          </a:p>
        </p:txBody>
      </p:sp>
      <p:sp>
        <p:nvSpPr>
          <p:cNvPr id="431" name="TextBox 345"/>
          <p:cNvSpPr txBox="1"/>
          <p:nvPr/>
        </p:nvSpPr>
        <p:spPr>
          <a:xfrm>
            <a:off x="868680" y="3566159"/>
            <a:ext cx="2904746" cy="1423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defRPr>
            </a:lvl1pPr>
          </a:lstStyle>
          <a:p>
            <a:pPr/>
            <a:r>
              <a:t>Normalización de tinción, codificadores de texto biomédicos y sustituir CLIP por un clasificador CE no rompen el colapso pulmonar. El cambio de régimen aparece al cambiar el codificador visual.</a:t>
            </a:r>
          </a:p>
        </p:txBody>
      </p:sp>
      <p:sp>
        <p:nvSpPr>
          <p:cNvPr id="432" name="Rounded Rectangle 346"/>
          <p:cNvSpPr/>
          <p:nvPr/>
        </p:nvSpPr>
        <p:spPr>
          <a:xfrm>
            <a:off x="4367784" y="1463038"/>
            <a:ext cx="3453388"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latin typeface="+mj-lt"/>
                <a:ea typeface="+mj-ea"/>
                <a:cs typeface="+mj-cs"/>
                <a:sym typeface="Helvetica"/>
              </a:defRPr>
            </a:pPr>
          </a:p>
        </p:txBody>
      </p:sp>
      <p:grpSp>
        <p:nvGrpSpPr>
          <p:cNvPr id="435" name="Oval 347"/>
          <p:cNvGrpSpPr/>
          <p:nvPr/>
        </p:nvGrpSpPr>
        <p:grpSpPr>
          <a:xfrm>
            <a:off x="5751576" y="1691638"/>
            <a:ext cx="685807" cy="685807"/>
            <a:chOff x="0" y="0"/>
            <a:chExt cx="685806" cy="685806"/>
          </a:xfrm>
        </p:grpSpPr>
        <p:sp>
          <p:nvSpPr>
            <p:cNvPr id="433" name="Circle"/>
            <p:cNvSpPr/>
            <p:nvPr/>
          </p:nvSpPr>
          <p:spPr>
            <a:xfrm>
              <a:off x="0" y="0"/>
              <a:ext cx="685807" cy="685807"/>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latin typeface="+mj-lt"/>
                  <a:ea typeface="+mj-ea"/>
                  <a:cs typeface="+mj-cs"/>
                  <a:sym typeface="Helvetica"/>
                </a:defRPr>
              </a:pPr>
            </a:p>
          </p:txBody>
        </p:sp>
        <p:sp>
          <p:nvSpPr>
            <p:cNvPr id="434" name="2"/>
            <p:cNvSpPr txBox="1"/>
            <p:nvPr/>
          </p:nvSpPr>
          <p:spPr>
            <a:xfrm>
              <a:off x="150915" y="81280"/>
              <a:ext cx="383975"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latin typeface="+mj-lt"/>
                  <a:ea typeface="+mj-ea"/>
                  <a:cs typeface="+mj-cs"/>
                  <a:sym typeface="Helvetica"/>
                </a:defRPr>
              </a:lvl1pPr>
            </a:lstStyle>
            <a:p>
              <a:pPr/>
              <a:r>
                <a:t>2</a:t>
              </a:r>
            </a:p>
          </p:txBody>
        </p:sp>
      </p:grpSp>
      <p:sp>
        <p:nvSpPr>
          <p:cNvPr id="436" name="TextBox 348"/>
          <p:cNvSpPr txBox="1"/>
          <p:nvPr/>
        </p:nvSpPr>
        <p:spPr>
          <a:xfrm>
            <a:off x="4596384" y="2560321"/>
            <a:ext cx="2996188"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La amplitud visual desbloquea; el dominio amplifica</a:t>
            </a:r>
          </a:p>
        </p:txBody>
      </p:sp>
      <p:sp>
        <p:nvSpPr>
          <p:cNvPr id="437" name="Rectangle 349"/>
          <p:cNvSpPr/>
          <p:nvPr/>
        </p:nvSpPr>
        <p:spPr>
          <a:xfrm>
            <a:off x="5454396" y="3383279"/>
            <a:ext cx="1280164" cy="45724"/>
          </a:xfrm>
          <a:prstGeom prst="rect">
            <a:avLst/>
          </a:prstGeom>
          <a:solidFill>
            <a:srgbClr val="C6A046"/>
          </a:solidFill>
          <a:ln w="12700">
            <a:miter lim="400000"/>
          </a:ln>
        </p:spPr>
        <p:txBody>
          <a:bodyPr lIns="45718" tIns="45718" rIns="45718" bIns="45718" anchor="ctr"/>
          <a:lstStyle/>
          <a:p>
            <a:pPr algn="ctr">
              <a:defRPr>
                <a:solidFill>
                  <a:srgbClr val="FFFFFF"/>
                </a:solidFill>
                <a:latin typeface="+mj-lt"/>
                <a:ea typeface="+mj-ea"/>
                <a:cs typeface="+mj-cs"/>
                <a:sym typeface="Helvetica"/>
              </a:defRPr>
            </a:pPr>
          </a:p>
        </p:txBody>
      </p:sp>
      <p:sp>
        <p:nvSpPr>
          <p:cNvPr id="438" name="TextBox 350"/>
          <p:cNvSpPr txBox="1"/>
          <p:nvPr/>
        </p:nvSpPr>
        <p:spPr>
          <a:xfrm>
            <a:off x="4642103" y="3566159"/>
            <a:ext cx="2904748" cy="95842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latin typeface="+mj-lt"/>
                <a:ea typeface="+mj-ea"/>
                <a:cs typeface="+mj-cs"/>
                <a:sym typeface="Helvetica"/>
              </a:defRPr>
            </a:lvl1pPr>
          </a:lstStyle>
          <a:p>
            <a:pPr/>
            <a:r>
              <a:t>DINOv2 sube LungHist700 de 0.305 → 0.457 sin histopatología. PLIP zero-shot sube a 0.544. PLIP + LC25000 alcanza 0.640.</a:t>
            </a:r>
          </a:p>
        </p:txBody>
      </p:sp>
      <p:sp>
        <p:nvSpPr>
          <p:cNvPr id="439" name="Rounded Rectangle 351"/>
          <p:cNvSpPr/>
          <p:nvPr/>
        </p:nvSpPr>
        <p:spPr>
          <a:xfrm>
            <a:off x="8141206" y="1463038"/>
            <a:ext cx="3453388"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latin typeface="+mj-lt"/>
                <a:ea typeface="+mj-ea"/>
                <a:cs typeface="+mj-cs"/>
                <a:sym typeface="Helvetica"/>
              </a:defRPr>
            </a:pPr>
          </a:p>
        </p:txBody>
      </p:sp>
      <p:grpSp>
        <p:nvGrpSpPr>
          <p:cNvPr id="442" name="Oval 352"/>
          <p:cNvGrpSpPr/>
          <p:nvPr/>
        </p:nvGrpSpPr>
        <p:grpSpPr>
          <a:xfrm>
            <a:off x="9525000" y="1691638"/>
            <a:ext cx="685800" cy="685807"/>
            <a:chOff x="0" y="0"/>
            <a:chExt cx="685800" cy="685806"/>
          </a:xfrm>
        </p:grpSpPr>
        <p:sp>
          <p:nvSpPr>
            <p:cNvPr id="440" name="Circle"/>
            <p:cNvSpPr/>
            <p:nvPr/>
          </p:nvSpPr>
          <p:spPr>
            <a:xfrm>
              <a:off x="0" y="0"/>
              <a:ext cx="685800" cy="685807"/>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latin typeface="+mj-lt"/>
                  <a:ea typeface="+mj-ea"/>
                  <a:cs typeface="+mj-cs"/>
                  <a:sym typeface="Helvetica"/>
                </a:defRPr>
              </a:pPr>
            </a:p>
          </p:txBody>
        </p:sp>
        <p:sp>
          <p:nvSpPr>
            <p:cNvPr id="441" name="3"/>
            <p:cNvSpPr txBox="1"/>
            <p:nvPr/>
          </p:nvSpPr>
          <p:spPr>
            <a:xfrm>
              <a:off x="150913" y="81280"/>
              <a:ext cx="383975"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latin typeface="+mj-lt"/>
                  <a:ea typeface="+mj-ea"/>
                  <a:cs typeface="+mj-cs"/>
                  <a:sym typeface="Helvetica"/>
                </a:defRPr>
              </a:lvl1pPr>
            </a:lstStyle>
            <a:p>
              <a:pPr/>
              <a:r>
                <a:t>3</a:t>
              </a:r>
            </a:p>
          </p:txBody>
        </p:sp>
      </p:grpSp>
      <p:sp>
        <p:nvSpPr>
          <p:cNvPr id="443" name="TextBox 353"/>
          <p:cNvSpPr txBox="1"/>
          <p:nvPr/>
        </p:nvSpPr>
        <p:spPr>
          <a:xfrm>
            <a:off x="8369806" y="2560321"/>
            <a:ext cx="2996189"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Reportar por órgano cambia la conclusión</a:t>
            </a:r>
          </a:p>
        </p:txBody>
      </p:sp>
      <p:sp>
        <p:nvSpPr>
          <p:cNvPr id="444" name="Rectangle 354"/>
          <p:cNvSpPr/>
          <p:nvPr/>
        </p:nvSpPr>
        <p:spPr>
          <a:xfrm>
            <a:off x="9227818" y="3383279"/>
            <a:ext cx="1280164" cy="45724"/>
          </a:xfrm>
          <a:prstGeom prst="rect">
            <a:avLst/>
          </a:prstGeom>
          <a:solidFill>
            <a:srgbClr val="C6A046"/>
          </a:solidFill>
          <a:ln w="12700">
            <a:miter lim="400000"/>
          </a:ln>
        </p:spPr>
        <p:txBody>
          <a:bodyPr lIns="45718" tIns="45718" rIns="45718" bIns="45718" anchor="ctr"/>
          <a:lstStyle/>
          <a:p>
            <a:pPr algn="ctr">
              <a:defRPr>
                <a:solidFill>
                  <a:srgbClr val="FFFFFF"/>
                </a:solidFill>
                <a:latin typeface="+mj-lt"/>
                <a:ea typeface="+mj-ea"/>
                <a:cs typeface="+mj-cs"/>
                <a:sym typeface="Helvetica"/>
              </a:defRPr>
            </a:pPr>
          </a:p>
        </p:txBody>
      </p:sp>
      <p:sp>
        <p:nvSpPr>
          <p:cNvPr id="445" name="TextBox 355"/>
          <p:cNvSpPr txBox="1"/>
          <p:nvPr/>
        </p:nvSpPr>
        <p:spPr>
          <a:xfrm>
            <a:off x="8415525" y="3566159"/>
            <a:ext cx="2904748" cy="955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latin typeface="+mj-lt"/>
                <a:ea typeface="+mj-ea"/>
                <a:cs typeface="+mj-cs"/>
                <a:sym typeface="Helvetica"/>
              </a:defRPr>
            </a:lvl1pPr>
          </a:lstStyle>
          <a:p>
            <a:pPr/>
            <a:r>
              <a:t>Colon transfiere parcialmente. Pulmón colapsa. Promediar los datasets externos ocultaría esa asimetría.</a:t>
            </a:r>
          </a:p>
        </p:txBody>
      </p:sp>
      <p:sp>
        <p:nvSpPr>
          <p:cNvPr id="446" name="TextBox 356"/>
          <p:cNvSpPr txBox="1"/>
          <p:nvPr/>
        </p:nvSpPr>
        <p:spPr>
          <a:xfrm>
            <a:off x="640079" y="5577840"/>
            <a:ext cx="10908794" cy="5093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4D0912"/>
                </a:solidFill>
              </a:defRPr>
            </a:lvl1pPr>
          </a:lstStyle>
          <a:p>
            <a:pPr/>
            <a:r>
              <a:t>Conclusión: bajo shift externo, no domina el texto, el color ni la cabeza CE; domina la representación visual. La amplitud general desbloquea la transferencia y el pretraining histopatológico aporta el mejor margen final.</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0"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51"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52"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453"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Discusión y conclusiones   ·   25/36</a:t>
            </a:r>
          </a:p>
        </p:txBody>
      </p:sp>
      <p:sp>
        <p:nvSpPr>
          <p:cNvPr id="454" name="TextBox 5"/>
          <p:cNvSpPr txBox="1"/>
          <p:nvPr/>
        </p:nvSpPr>
        <p:spPr>
          <a:xfrm>
            <a:off x="594359" y="384047"/>
            <a:ext cx="11000235"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r>
              <a:t>Limitaciones y trabajo futuro</a:t>
            </a:r>
          </a:p>
        </p:txBody>
      </p:sp>
      <p:sp>
        <p:nvSpPr>
          <p:cNvPr id="455"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56" name="TextBox 7"/>
          <p:cNvSpPr txBox="1"/>
          <p:nvPr/>
        </p:nvSpPr>
        <p:spPr>
          <a:xfrm>
            <a:off x="594358" y="1338580"/>
            <a:ext cx="5395369" cy="4180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900">
                <a:solidFill>
                  <a:srgbClr val="4D0912"/>
                </a:solidFill>
                <a:latin typeface="+mj-lt"/>
                <a:ea typeface="+mj-ea"/>
                <a:cs typeface="+mj-cs"/>
                <a:sym typeface="Helvetica"/>
              </a:defRPr>
            </a:pPr>
            <a:r>
              <a:t>Limitaciones</a:t>
            </a:r>
          </a:p>
          <a:p>
            <a:pPr>
              <a:defRPr sz="1900">
                <a:solidFill>
                  <a:srgbClr val="4D0912"/>
                </a:solidFill>
                <a:latin typeface="+mj-lt"/>
                <a:ea typeface="+mj-ea"/>
                <a:cs typeface="+mj-cs"/>
                <a:sym typeface="Helvetica"/>
              </a:defRPr>
            </a:pPr>
          </a:p>
          <a:p>
            <a:pPr>
              <a:defRPr sz="1900">
                <a:solidFill>
                  <a:srgbClr val="4D0912"/>
                </a:solidFill>
                <a:latin typeface="+mj-lt"/>
                <a:ea typeface="+mj-ea"/>
                <a:cs typeface="+mj-cs"/>
                <a:sym typeface="Helvetica"/>
              </a:defRPr>
            </a:pPr>
            <a:r>
              <a:t>▸ Encoders congelados: con fine-tuning end-to-end, la palanca dominante podría cambiar.</a:t>
            </a:r>
          </a:p>
          <a:p>
            <a:pPr>
              <a:defRPr sz="1900">
                <a:solidFill>
                  <a:srgbClr val="4D0912"/>
                </a:solidFill>
                <a:latin typeface="+mj-lt"/>
                <a:ea typeface="+mj-ea"/>
                <a:cs typeface="+mj-cs"/>
                <a:sym typeface="Helvetica"/>
              </a:defRPr>
            </a:pPr>
            <a:r>
              <a:t>▸ LC25000 infla el resultado in-distribution (aumentos y duplicados); la evidencia fuerte viene de los datasets externos.</a:t>
            </a:r>
          </a:p>
          <a:p>
            <a:pPr>
              <a:defRPr sz="1900">
                <a:solidFill>
                  <a:srgbClr val="4D0912"/>
                </a:solidFill>
                <a:latin typeface="+mj-lt"/>
                <a:ea typeface="+mj-ea"/>
                <a:cs typeface="+mj-cs"/>
                <a:sym typeface="Helvetica"/>
              </a:defRPr>
            </a:pPr>
            <a:r>
              <a:t>▸ PLIP vs DINOv2 no separa completamente dominio, objetivo y patch size: el +0.087 se lee como evidencia de preentrenamiento histopatológico, no como aislamiento causal.</a:t>
            </a:r>
          </a:p>
          <a:p>
            <a:pPr>
              <a:defRPr sz="1900">
                <a:solidFill>
                  <a:srgbClr val="4D0912"/>
                </a:solidFill>
                <a:latin typeface="+mj-lt"/>
                <a:ea typeface="+mj-ea"/>
                <a:cs typeface="+mj-cs"/>
                <a:sym typeface="Helvetica"/>
              </a:defRPr>
            </a:pPr>
            <a:r>
              <a:t>▸ Una semilla por condición y N=359 en LungHist700: sin intervalos de confianza sobre el +0.335.</a:t>
            </a:r>
          </a:p>
        </p:txBody>
      </p:sp>
      <p:sp>
        <p:nvSpPr>
          <p:cNvPr id="457" name="TextBox 8"/>
          <p:cNvSpPr txBox="1"/>
          <p:nvPr/>
        </p:nvSpPr>
        <p:spPr>
          <a:xfrm>
            <a:off x="6446518" y="1330960"/>
            <a:ext cx="5212096" cy="3164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6B0F1A"/>
                </a:solidFill>
                <a:latin typeface="+mj-lt"/>
                <a:ea typeface="+mj-ea"/>
                <a:cs typeface="+mj-cs"/>
                <a:sym typeface="Helvetica"/>
              </a:defRPr>
            </a:pPr>
            <a:r>
              <a:t>Trabajo futuro</a:t>
            </a:r>
          </a:p>
          <a:p>
            <a:pPr>
              <a:defRPr>
                <a:solidFill>
                  <a:srgbClr val="4D0912"/>
                </a:solidFill>
                <a:latin typeface="+mj-lt"/>
                <a:ea typeface="+mj-ea"/>
                <a:cs typeface="+mj-cs"/>
                <a:sym typeface="Helvetica"/>
              </a:defRPr>
            </a:pPr>
          </a:p>
          <a:p>
            <a:pPr>
              <a:defRPr>
                <a:solidFill>
                  <a:srgbClr val="4D0912"/>
                </a:solidFill>
                <a:latin typeface="+mj-lt"/>
                <a:ea typeface="+mj-ea"/>
                <a:cs typeface="+mj-cs"/>
                <a:sym typeface="Helvetica"/>
              </a:defRPr>
            </a:pPr>
            <a:r>
              <a:t>▸ Control factorial: mismo ViT y patch size, distinto dominio de preentrenamiento.</a:t>
            </a:r>
          </a:p>
          <a:p>
            <a:pPr>
              <a:defRPr>
                <a:solidFill>
                  <a:srgbClr val="4D0912"/>
                </a:solidFill>
                <a:latin typeface="+mj-lt"/>
                <a:ea typeface="+mj-ea"/>
                <a:cs typeface="+mj-cs"/>
                <a:sym typeface="Helvetica"/>
              </a:defRPr>
            </a:pPr>
            <a:r>
              <a:t>▸ Comparación head-to-head con UNI, CONCH, BiomedCLIP y MUSK.</a:t>
            </a:r>
          </a:p>
          <a:p>
            <a:pPr>
              <a:defRPr>
                <a:solidFill>
                  <a:srgbClr val="4D0912"/>
                </a:solidFill>
                <a:latin typeface="+mj-lt"/>
                <a:ea typeface="+mj-ea"/>
                <a:cs typeface="+mj-cs"/>
                <a:sym typeface="Helvetica"/>
              </a:defRPr>
            </a:pPr>
            <a:r>
              <a:t>▸ Preentrenamiento autosupervisado histopatológico controlado (por ejemplo, sobre TCGA).</a:t>
            </a:r>
          </a:p>
          <a:p>
            <a:pPr>
              <a:defRPr>
                <a:solidFill>
                  <a:srgbClr val="4D0912"/>
                </a:solidFill>
                <a:latin typeface="+mj-lt"/>
                <a:ea typeface="+mj-ea"/>
                <a:cs typeface="+mj-cs"/>
                <a:sym typeface="Helvetica"/>
              </a:defRPr>
            </a:pPr>
            <a:r>
              <a:t>▸ Pasar de parches aislados a WSI como secuencia de tiles.</a:t>
            </a:r>
          </a:p>
        </p:txBody>
      </p:sp>
      <p:sp>
        <p:nvSpPr>
          <p:cNvPr id="458" name="Rectangle 371"/>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6B0F1A"/>
        </a:solidFill>
      </p:bgPr>
    </p:bg>
    <p:spTree>
      <p:nvGrpSpPr>
        <p:cNvPr id="1" name=""/>
        <p:cNvGrpSpPr/>
        <p:nvPr/>
      </p:nvGrpSpPr>
      <p:grpSpPr>
        <a:xfrm>
          <a:off x="0" y="0"/>
          <a:ext cx="0" cy="0"/>
          <a:chOff x="0" y="0"/>
          <a:chExt cx="0" cy="0"/>
        </a:xfrm>
      </p:grpSpPr>
      <p:pic>
        <p:nvPicPr>
          <p:cNvPr id="462" name="Picture 4" descr="Picture 4"/>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463" name="TextBox 1"/>
          <p:cNvSpPr txBox="1"/>
          <p:nvPr/>
        </p:nvSpPr>
        <p:spPr>
          <a:xfrm>
            <a:off x="39516" y="2925385"/>
            <a:ext cx="12100268" cy="100722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7200">
                <a:solidFill>
                  <a:srgbClr val="FFFFFF"/>
                </a:solidFill>
              </a:defRPr>
            </a:lvl1pPr>
          </a:lstStyle>
          <a:p>
            <a:pPr/>
            <a:r>
              <a:t>Preguntas</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86"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87"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488"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28/36</a:t>
            </a:r>
          </a:p>
        </p:txBody>
      </p:sp>
      <p:sp>
        <p:nvSpPr>
          <p:cNvPr id="489"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90" name="TextBox 276"/>
          <p:cNvSpPr txBox="1"/>
          <p:nvPr/>
        </p:nvSpPr>
        <p:spPr>
          <a:xfrm>
            <a:off x="640079" y="384048"/>
            <a:ext cx="10908794"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¿Qué rol cumple cada modelo en el experimento?</a:t>
            </a:r>
          </a:p>
        </p:txBody>
      </p:sp>
      <p:sp>
        <p:nvSpPr>
          <p:cNvPr id="491" name="TextBox 277"/>
          <p:cNvSpPr txBox="1"/>
          <p:nvPr/>
        </p:nvSpPr>
        <p:spPr>
          <a:xfrm>
            <a:off x="640079" y="1188720"/>
            <a:ext cx="10908794" cy="396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Cada modelo entra para aislar UNA variable del pipeline base, no como comparación genérica.</a:t>
            </a:r>
          </a:p>
        </p:txBody>
      </p:sp>
      <p:graphicFrame>
        <p:nvGraphicFramePr>
          <p:cNvPr id="492" name="Table 278"/>
          <p:cNvGraphicFramePr/>
          <p:nvPr/>
        </p:nvGraphicFramePr>
        <p:xfrm>
          <a:off x="320040" y="1828800"/>
          <a:ext cx="11521438" cy="3566160"/>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875583"/>
                <a:gridCol w="1339702"/>
                <a:gridCol w="1607642"/>
                <a:gridCol w="3483226"/>
                <a:gridCol w="3215285"/>
              </a:tblGrid>
              <a:tr h="509450">
                <a:tc>
                  <a:txBody>
                    <a:bodyPr/>
                    <a:lstStyle/>
                    <a:p>
                      <a:pPr>
                        <a:defRPr b="0" sz="1800">
                          <a:solidFill>
                            <a:srgbClr val="000000"/>
                          </a:solidFill>
                        </a:defRPr>
                      </a:pPr>
                      <a:r>
                        <a:rPr b="1" sz="1200">
                          <a:solidFill>
                            <a:srgbClr val="FFFFFF"/>
                          </a:solidFill>
                          <a:sym typeface="Helvetica"/>
                        </a:rPr>
                        <a:t>Modelo</a:t>
                      </a:r>
                    </a:p>
                  </a:txBody>
                  <a:tcPr marL="27432" marR="27432" marT="27432" marB="27432" anchor="t" anchorCtr="0" horzOverflow="overflow">
                    <a:solidFill>
                      <a:srgbClr val="4D0912"/>
                    </a:solidFill>
                  </a:tcPr>
                </a:tc>
                <a:tc>
                  <a:txBody>
                    <a:bodyPr/>
                    <a:lstStyle/>
                    <a:p>
                      <a:pPr>
                        <a:defRPr b="0" sz="1800">
                          <a:solidFill>
                            <a:srgbClr val="000000"/>
                          </a:solidFill>
                        </a:defRPr>
                      </a:pPr>
                      <a:r>
                        <a:rPr b="1" sz="1200">
                          <a:solidFill>
                            <a:srgbClr val="FFFFFF"/>
                          </a:solidFill>
                          <a:sym typeface="Helvetica"/>
                        </a:rPr>
                        <a:t>Modalidad</a:t>
                      </a:r>
                    </a:p>
                  </a:txBody>
                  <a:tcPr marL="27432" marR="27432" marT="27432" marB="27432" anchor="t" anchorCtr="0" horzOverflow="overflow">
                    <a:solidFill>
                      <a:srgbClr val="4D0912"/>
                    </a:solidFill>
                  </a:tcPr>
                </a:tc>
                <a:tc>
                  <a:txBody>
                    <a:bodyPr/>
                    <a:lstStyle/>
                    <a:p>
                      <a:pPr>
                        <a:defRPr b="0" sz="1800">
                          <a:solidFill>
                            <a:srgbClr val="000000"/>
                          </a:solidFill>
                        </a:defRPr>
                      </a:pPr>
                      <a:r>
                        <a:rPr b="1" sz="1200">
                          <a:solidFill>
                            <a:srgbClr val="FFFFFF"/>
                          </a:solidFill>
                          <a:sym typeface="Helvetica"/>
                        </a:rPr>
                        <a:t>Arquitectura</a:t>
                      </a:r>
                    </a:p>
                  </a:txBody>
                  <a:tcPr marL="27432" marR="27432" marT="27432" marB="27432" anchor="t" anchorCtr="0" horzOverflow="overflow">
                    <a:solidFill>
                      <a:srgbClr val="4D0912"/>
                    </a:solidFill>
                  </a:tcPr>
                </a:tc>
                <a:tc>
                  <a:txBody>
                    <a:bodyPr/>
                    <a:lstStyle/>
                    <a:p>
                      <a:pPr>
                        <a:defRPr b="0" sz="1800">
                          <a:solidFill>
                            <a:srgbClr val="000000"/>
                          </a:solidFill>
                        </a:defRPr>
                      </a:pPr>
                      <a:r>
                        <a:rPr b="1" sz="1200">
                          <a:solidFill>
                            <a:srgbClr val="FFFFFF"/>
                          </a:solidFill>
                          <a:sym typeface="Helvetica"/>
                        </a:rPr>
                        <a:t>Pretraining</a:t>
                      </a:r>
                    </a:p>
                  </a:txBody>
                  <a:tcPr marL="27432" marR="27432" marT="27432" marB="27432" anchor="t" anchorCtr="0" horzOverflow="overflow">
                    <a:solidFill>
                      <a:srgbClr val="4D0912"/>
                    </a:solidFill>
                  </a:tcPr>
                </a:tc>
                <a:tc>
                  <a:txBody>
                    <a:bodyPr/>
                    <a:lstStyle/>
                    <a:p>
                      <a:pPr>
                        <a:defRPr b="0" sz="1800">
                          <a:solidFill>
                            <a:srgbClr val="000000"/>
                          </a:solidFill>
                        </a:defRPr>
                      </a:pPr>
                      <a:r>
                        <a:rPr b="1" sz="1200">
                          <a:solidFill>
                            <a:srgbClr val="FFFFFF"/>
                          </a:solidFill>
                          <a:sym typeface="Helvetica"/>
                        </a:rPr>
                        <a:t>Rol en el TFM</a:t>
                      </a:r>
                    </a:p>
                  </a:txBody>
                  <a:tcPr marL="27432" marR="27432" marT="27432" marB="27432" anchor="t" anchorCtr="0" horzOverflow="overflow">
                    <a:solidFill>
                      <a:srgbClr val="4D0912"/>
                    </a:solidFill>
                  </a:tcPr>
                </a:tc>
              </a:tr>
              <a:tr h="509450">
                <a:tc>
                  <a:txBody>
                    <a:bodyPr/>
                    <a:lstStyle/>
                    <a:p>
                      <a:pPr>
                        <a:defRPr sz="1800"/>
                      </a:pPr>
                      <a:r>
                        <a:rPr sz="1200">
                          <a:solidFill>
                            <a:srgbClr val="3C2814"/>
                          </a:solidFill>
                          <a:sym typeface="Helvetica"/>
                        </a:rPr>
                        <a:t>ResNet50</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Imagen</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CNN</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ImageNet supervisado</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baseline visual</a:t>
                      </a:r>
                    </a:p>
                  </a:txBody>
                  <a:tcPr marL="27432" marR="27432" marT="27432" marB="27432" anchor="t" anchorCtr="0" horzOverflow="overflow">
                    <a:solidFill>
                      <a:srgbClr val="F5EED8"/>
                    </a:solidFill>
                  </a:tcPr>
                </a:tc>
              </a:tr>
              <a:tr h="509450">
                <a:tc>
                  <a:txBody>
                    <a:bodyPr/>
                    <a:lstStyle/>
                    <a:p>
                      <a:pPr>
                        <a:defRPr sz="1800"/>
                      </a:pPr>
                      <a:r>
                        <a:rPr sz="1200">
                          <a:solidFill>
                            <a:srgbClr val="3C2814"/>
                          </a:solidFill>
                          <a:sym typeface="Helvetica"/>
                        </a:rPr>
                        <a:t>DINOv2 ViT-B/14</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Imagen</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ViT</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SSL general, imágenes naturales</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control parcial (ViT sin dominio)</a:t>
                      </a:r>
                    </a:p>
                  </a:txBody>
                  <a:tcPr marL="27432" marR="27432" marT="27432" marB="27432" anchor="t" anchorCtr="0" horzOverflow="overflow">
                    <a:solidFill>
                      <a:srgbClr val="FFFCF3"/>
                    </a:solidFill>
                  </a:tcPr>
                </a:tc>
              </a:tr>
              <a:tr h="509450">
                <a:tc>
                  <a:txBody>
                    <a:bodyPr/>
                    <a:lstStyle/>
                    <a:p>
                      <a:pPr>
                        <a:defRPr sz="1800"/>
                      </a:pPr>
                      <a:r>
                        <a:rPr sz="1200">
                          <a:solidFill>
                            <a:srgbClr val="3C2814"/>
                          </a:solidFill>
                          <a:sym typeface="Helvetica"/>
                        </a:rPr>
                        <a:t>PLIP ViT-B/32</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Imagen</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ViT</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CLIP-style en histopatología</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encoder visual principal</a:t>
                      </a:r>
                    </a:p>
                  </a:txBody>
                  <a:tcPr marL="27432" marR="27432" marT="27432" marB="27432" anchor="t" anchorCtr="0" horzOverflow="overflow">
                    <a:solidFill>
                      <a:srgbClr val="F5EED8"/>
                    </a:solidFill>
                  </a:tcPr>
                </a:tc>
              </a:tr>
              <a:tr h="509450">
                <a:tc>
                  <a:txBody>
                    <a:bodyPr/>
                    <a:lstStyle/>
                    <a:p>
                      <a:pPr>
                        <a:defRPr sz="1800"/>
                      </a:pPr>
                      <a:r>
                        <a:rPr sz="1200">
                          <a:solidFill>
                            <a:srgbClr val="3C2814"/>
                          </a:solidFill>
                          <a:sym typeface="Helvetica"/>
                        </a:rPr>
                        <a:t>BERT</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Texto</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Transformer</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texto general (Wiki + BookCorpus)</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baseline textual</a:t>
                      </a:r>
                    </a:p>
                  </a:txBody>
                  <a:tcPr marL="27432" marR="27432" marT="27432" marB="27432" anchor="t" anchorCtr="0" horzOverflow="overflow">
                    <a:solidFill>
                      <a:srgbClr val="FFFCF3"/>
                    </a:solidFill>
                  </a:tcPr>
                </a:tc>
              </a:tr>
              <a:tr h="509450">
                <a:tc>
                  <a:txBody>
                    <a:bodyPr/>
                    <a:lstStyle/>
                    <a:p>
                      <a:pPr>
                        <a:defRPr sz="1800"/>
                      </a:pPr>
                      <a:r>
                        <a:rPr sz="1200">
                          <a:solidFill>
                            <a:srgbClr val="3C2814"/>
                          </a:solidFill>
                          <a:sym typeface="Helvetica"/>
                        </a:rPr>
                        <a:t>BioBERT</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Texto</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Transformer</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PubMed/PMC, continúa BERT</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texto biomédico (mismo vocab)</a:t>
                      </a:r>
                    </a:p>
                  </a:txBody>
                  <a:tcPr marL="27432" marR="27432" marT="27432" marB="27432" anchor="t" anchorCtr="0" horzOverflow="overflow">
                    <a:solidFill>
                      <a:srgbClr val="F5EED8"/>
                    </a:solidFill>
                  </a:tcPr>
                </a:tc>
              </a:tr>
              <a:tr h="509453">
                <a:tc>
                  <a:txBody>
                    <a:bodyPr/>
                    <a:lstStyle/>
                    <a:p>
                      <a:pPr>
                        <a:defRPr sz="1800"/>
                      </a:pPr>
                      <a:r>
                        <a:rPr sz="1200">
                          <a:solidFill>
                            <a:srgbClr val="3C2814"/>
                          </a:solidFill>
                          <a:sym typeface="Helvetica"/>
                        </a:rPr>
                        <a:t>PubMedBERT</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Texto</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Transformer</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PubMed/PMC desde cero</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texto biomédico + vocab propio</a:t>
                      </a:r>
                    </a:p>
                  </a:txBody>
                  <a:tcPr marL="27432" marR="27432" marT="27432" marB="27432" anchor="t" anchorCtr="0" horzOverflow="overflow">
                    <a:solidFill>
                      <a:srgbClr val="FFFCF3"/>
                    </a:solidFill>
                  </a:tcPr>
                </a:tc>
              </a:tr>
            </a:tbl>
          </a:graphicData>
        </a:graphic>
      </p:graphicFrame>
      <p:sp>
        <p:nvSpPr>
          <p:cNvPr id="493" name="TextBox 279"/>
          <p:cNvSpPr txBox="1"/>
          <p:nvPr/>
        </p:nvSpPr>
        <p:spPr>
          <a:xfrm>
            <a:off x="640079" y="5669280"/>
            <a:ext cx="10908794" cy="320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La comparación no es "modelo A vs modelo B" genérica: cada uno aisla una variable del pipeline base.</a:t>
            </a:r>
          </a:p>
        </p:txBody>
      </p:sp>
      <p:sp>
        <p:nvSpPr>
          <p:cNvPr id="494" name="Rectangle 280"/>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99"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0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01"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29/36</a:t>
            </a:r>
          </a:p>
        </p:txBody>
      </p:sp>
      <p:sp>
        <p:nvSpPr>
          <p:cNvPr id="502"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03" name="TextBox 276"/>
          <p:cNvSpPr txBox="1"/>
          <p:nvPr/>
        </p:nvSpPr>
        <p:spPr>
          <a:xfrm>
            <a:off x="640079" y="384048"/>
            <a:ext cx="10908794"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¿Qué aísla realmente DINOv2?</a:t>
            </a:r>
          </a:p>
        </p:txBody>
      </p:sp>
      <p:sp>
        <p:nvSpPr>
          <p:cNvPr id="504" name="TextBox 277"/>
          <p:cNvSpPr txBox="1"/>
          <p:nvPr/>
        </p:nvSpPr>
        <p:spPr>
          <a:xfrm>
            <a:off x="640079" y="1188720"/>
            <a:ext cx="10908794" cy="396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defRPr sz="1400">
                <a:solidFill>
                  <a:srgbClr val="4D0912"/>
                </a:solidFill>
                <a:latin typeface="+mn-lt"/>
                <a:ea typeface="+mn-ea"/>
                <a:cs typeface="+mn-cs"/>
              </a:defRPr>
            </a:pPr>
            <a:r>
              <a:t>DINOv2 permite una descomposición parcial, no causal perfecta.</a:t>
            </a:r>
          </a:p>
        </p:txBody>
      </p:sp>
      <p:graphicFrame>
        <p:nvGraphicFramePr>
          <p:cNvPr id="505" name="Table 278"/>
          <p:cNvGraphicFramePr/>
          <p:nvPr/>
        </p:nvGraphicFramePr>
        <p:xfrm>
          <a:off x="594359" y="1828800"/>
          <a:ext cx="10972801" cy="2103122"/>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371600"/>
                <a:gridCol w="2194560"/>
                <a:gridCol w="3566159"/>
                <a:gridCol w="2468880"/>
                <a:gridCol w="1371600"/>
              </a:tblGrid>
              <a:tr h="525780">
                <a:tc>
                  <a:txBody>
                    <a:bodyPr/>
                    <a:lstStyle/>
                    <a:p>
                      <a:pPr>
                        <a:defRPr b="0" sz="1800">
                          <a:solidFill>
                            <a:srgbClr val="000000"/>
                          </a:solidFill>
                        </a:defRPr>
                      </a:pPr>
                      <a:r>
                        <a:rPr b="1" sz="1300">
                          <a:solidFill>
                            <a:srgbClr val="FFFFFF"/>
                          </a:solidFill>
                          <a:sym typeface="Helvetica"/>
                        </a:rPr>
                        <a:t>Encoder</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Arquitectura</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Objetivo pretraining</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Dominio</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Patch size</a:t>
                      </a:r>
                    </a:p>
                  </a:txBody>
                  <a:tcPr marL="27432" marR="27432" marT="27432" marB="27432" anchor="t" anchorCtr="0" horzOverflow="overflow">
                    <a:solidFill>
                      <a:srgbClr val="4D0912"/>
                    </a:solidFill>
                  </a:tcPr>
                </a:tc>
              </a:tr>
              <a:tr h="525780">
                <a:tc>
                  <a:txBody>
                    <a:bodyPr/>
                    <a:lstStyle/>
                    <a:p>
                      <a:pPr>
                        <a:defRPr sz="1800"/>
                      </a:pPr>
                      <a:r>
                        <a:rPr sz="1300">
                          <a:solidFill>
                            <a:srgbClr val="3C2814"/>
                          </a:solidFill>
                          <a:sym typeface="Helvetica"/>
                        </a:rPr>
                        <a:t>ResNet50</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CNN (50 layers)</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Supervisado (ImageNet)</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imágenes naturales</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convolucional</a:t>
                      </a:r>
                    </a:p>
                  </a:txBody>
                  <a:tcPr marL="27432" marR="27432" marT="27432" marB="27432" anchor="t" anchorCtr="0" horzOverflow="overflow">
                    <a:solidFill>
                      <a:srgbClr val="F5EED8"/>
                    </a:solidFill>
                  </a:tcPr>
                </a:tc>
              </a:tr>
              <a:tr h="525780">
                <a:tc>
                  <a:txBody>
                    <a:bodyPr/>
                    <a:lstStyle/>
                    <a:p>
                      <a:pPr>
                        <a:defRPr sz="1800"/>
                      </a:pPr>
                      <a:r>
                        <a:rPr sz="1300">
                          <a:solidFill>
                            <a:srgbClr val="3C2814"/>
                          </a:solidFill>
                          <a:sym typeface="Helvetica"/>
                        </a:rPr>
                        <a:t>DINOv2</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ViT-B/14</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Self-supervised distillation</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imágenes naturales</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14</a:t>
                      </a:r>
                    </a:p>
                  </a:txBody>
                  <a:tcPr marL="27432" marR="27432" marT="27432" marB="27432" anchor="t" anchorCtr="0" horzOverflow="overflow">
                    <a:solidFill>
                      <a:srgbClr val="FFFCF3"/>
                    </a:solidFill>
                  </a:tcPr>
                </a:tc>
              </a:tr>
              <a:tr h="525780">
                <a:tc>
                  <a:txBody>
                    <a:bodyPr/>
                    <a:lstStyle/>
                    <a:p>
                      <a:pPr>
                        <a:defRPr sz="1800"/>
                      </a:pPr>
                      <a:r>
                        <a:rPr sz="1300">
                          <a:solidFill>
                            <a:srgbClr val="3C2814"/>
                          </a:solidFill>
                          <a:sym typeface="Helvetica"/>
                        </a:rPr>
                        <a:t>PLIP</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ViT-B/32</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Contrastivo imagen-texto</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histopatología</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32</a:t>
                      </a:r>
                    </a:p>
                  </a:txBody>
                  <a:tcPr marL="27432" marR="27432" marT="27432" marB="27432" anchor="t" anchorCtr="0" horzOverflow="overflow">
                    <a:solidFill>
                      <a:srgbClr val="F5EED8"/>
                    </a:solidFill>
                  </a:tcPr>
                </a:tc>
              </a:tr>
            </a:tbl>
          </a:graphicData>
        </a:graphic>
      </p:graphicFrame>
      <p:sp>
        <p:nvSpPr>
          <p:cNvPr id="506" name="TextBox 279"/>
          <p:cNvSpPr txBox="1"/>
          <p:nvPr/>
        </p:nvSpPr>
        <p:spPr>
          <a:xfrm>
            <a:off x="640079" y="4160521"/>
            <a:ext cx="10881361" cy="9778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500">
                <a:solidFill>
                  <a:srgbClr val="6B0F1A"/>
                </a:solidFill>
                <a:latin typeface="+mj-lt"/>
                <a:ea typeface="+mj-ea"/>
                <a:cs typeface="+mj-cs"/>
                <a:sym typeface="Helvetica"/>
              </a:defRPr>
            </a:pPr>
            <a:r>
              <a:t>Al pasar de ResNet50 a PLIP cambian TRES cosas a la vez:</a:t>
            </a:r>
          </a:p>
          <a:p>
            <a:pPr>
              <a:defRPr sz="1400">
                <a:solidFill>
                  <a:srgbClr val="3C2814"/>
                </a:solidFill>
                <a:latin typeface="+mj-lt"/>
                <a:ea typeface="+mj-ea"/>
                <a:cs typeface="+mj-cs"/>
                <a:sym typeface="Helvetica"/>
              </a:defRPr>
            </a:pPr>
            <a:r>
              <a:t>▸ Familia arquitectónica (CNN → ViT)</a:t>
            </a:r>
          </a:p>
          <a:p>
            <a:pPr>
              <a:defRPr sz="1400">
                <a:solidFill>
                  <a:srgbClr val="3C2814"/>
                </a:solidFill>
                <a:latin typeface="+mj-lt"/>
                <a:ea typeface="+mj-ea"/>
                <a:cs typeface="+mj-cs"/>
                <a:sym typeface="Helvetica"/>
              </a:defRPr>
            </a:pPr>
            <a:r>
              <a:t>▸ Objetivo de pretraining (supervisado → contrastivo)</a:t>
            </a:r>
          </a:p>
          <a:p>
            <a:pPr>
              <a:defRPr sz="1400">
                <a:solidFill>
                  <a:srgbClr val="3C2814"/>
                </a:solidFill>
                <a:latin typeface="+mj-lt"/>
                <a:ea typeface="+mj-ea"/>
                <a:cs typeface="+mj-cs"/>
                <a:sym typeface="Helvetica"/>
              </a:defRPr>
            </a:pPr>
            <a:r>
              <a:t>▸ Dominio de los datos (natural → histopatología)</a:t>
            </a:r>
          </a:p>
        </p:txBody>
      </p:sp>
      <p:sp>
        <p:nvSpPr>
          <p:cNvPr id="507" name="TextBox 280"/>
          <p:cNvSpPr txBox="1"/>
          <p:nvPr/>
        </p:nvSpPr>
        <p:spPr>
          <a:xfrm>
            <a:off x="640079" y="5669280"/>
            <a:ext cx="10908794" cy="320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DINOv2 separa la parte "ViT + SSL general" del salto; objetivo y patch size siguen confundidos con dominio.</a:t>
            </a:r>
          </a:p>
        </p:txBody>
      </p:sp>
      <p:sp>
        <p:nvSpPr>
          <p:cNvPr id="508" name="Rectangle 281"/>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13"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1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15"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30/36</a:t>
            </a:r>
          </a:p>
        </p:txBody>
      </p:sp>
      <p:sp>
        <p:nvSpPr>
          <p:cNvPr id="516"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17" name="TextBox 276"/>
          <p:cNvSpPr txBox="1"/>
          <p:nvPr/>
        </p:nvSpPr>
        <p:spPr>
          <a:xfrm>
            <a:off x="640079" y="384047"/>
            <a:ext cx="10908794" cy="1005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¿Cómo funciona Macenko?</a:t>
            </a:r>
          </a:p>
        </p:txBody>
      </p:sp>
      <p:sp>
        <p:nvSpPr>
          <p:cNvPr id="518" name="TextBox 277"/>
          <p:cNvSpPr txBox="1"/>
          <p:nvPr/>
        </p:nvSpPr>
        <p:spPr>
          <a:xfrm>
            <a:off x="640079" y="1188719"/>
            <a:ext cx="10908794" cy="701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Aprende vectores H&amp;E del input, conserva concentraciones, re-renderiza con paleta de referencia.</a:t>
            </a:r>
          </a:p>
        </p:txBody>
      </p:sp>
      <p:sp>
        <p:nvSpPr>
          <p:cNvPr id="519" name="TextBox 278"/>
          <p:cNvSpPr txBox="1"/>
          <p:nvPr/>
        </p:nvSpPr>
        <p:spPr>
          <a:xfrm>
            <a:off x="640078" y="1783079"/>
            <a:ext cx="5669284" cy="297772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Procedimiento (4 pasos)</a:t>
            </a:r>
          </a:p>
          <a:p>
            <a:pPr>
              <a:defRPr sz="800">
                <a:solidFill>
                  <a:srgbClr val="3C2814"/>
                </a:solidFill>
                <a:latin typeface="+mj-lt"/>
                <a:ea typeface="+mj-ea"/>
                <a:cs typeface="+mj-cs"/>
                <a:sym typeface="Helvetica"/>
              </a:defRPr>
            </a:pPr>
          </a:p>
          <a:p>
            <a:pPr>
              <a:defRPr b="1" sz="1400">
                <a:solidFill>
                  <a:srgbClr val="3C2814"/>
                </a:solidFill>
                <a:latin typeface="+mj-lt"/>
                <a:ea typeface="+mj-ea"/>
                <a:cs typeface="+mj-cs"/>
                <a:sym typeface="Helvetica"/>
              </a:defRPr>
            </a:pPr>
            <a:r>
              <a:t>1. Convertir RGB → densidad óptica (OD):</a:t>
            </a:r>
          </a:p>
          <a:p>
            <a:pPr>
              <a:defRPr i="1" sz="1400">
                <a:solidFill>
                  <a:srgbClr val="3C2814"/>
                </a:solidFill>
                <a:latin typeface="+mj-lt"/>
                <a:ea typeface="+mj-ea"/>
                <a:cs typeface="+mj-cs"/>
                <a:sym typeface="Helvetica"/>
              </a:defRPr>
            </a:pPr>
            <a:r>
              <a:t>     OD = − log₁₀( (I + 1) / I₀ ),   I₀ = 255</a:t>
            </a:r>
          </a:p>
          <a:p>
            <a:pPr>
              <a:defRPr sz="800">
                <a:solidFill>
                  <a:srgbClr val="3C2814"/>
                </a:solidFill>
                <a:latin typeface="+mj-lt"/>
                <a:ea typeface="+mj-ea"/>
                <a:cs typeface="+mj-cs"/>
                <a:sym typeface="Helvetica"/>
              </a:defRPr>
            </a:pPr>
          </a:p>
          <a:p>
            <a:pPr>
              <a:defRPr b="1" sz="1400">
                <a:solidFill>
                  <a:srgbClr val="3C2814"/>
                </a:solidFill>
                <a:latin typeface="+mj-lt"/>
                <a:ea typeface="+mj-ea"/>
                <a:cs typeface="+mj-cs"/>
                <a:sym typeface="Helvetica"/>
              </a:defRPr>
            </a:pPr>
            <a:r>
              <a:t>2. Descomponer contribución de tinciones:</a:t>
            </a:r>
          </a:p>
          <a:p>
            <a:pPr>
              <a:defRPr i="1" sz="1400">
                <a:solidFill>
                  <a:srgbClr val="3C2814"/>
                </a:solidFill>
                <a:latin typeface="+mj-lt"/>
                <a:ea typeface="+mj-ea"/>
                <a:cs typeface="+mj-cs"/>
                <a:sym typeface="Helvetica"/>
              </a:defRPr>
            </a:pPr>
            <a:r>
              <a:t>     OD = S · C</a:t>
            </a:r>
          </a:p>
          <a:p>
            <a:pPr>
              <a:defRPr sz="1200">
                <a:solidFill>
                  <a:srgbClr val="826540"/>
                </a:solidFill>
                <a:latin typeface="+mj-lt"/>
                <a:ea typeface="+mj-ea"/>
                <a:cs typeface="+mj-cs"/>
                <a:sym typeface="Helvetica"/>
              </a:defRPr>
            </a:pPr>
            <a:r>
              <a:t>     S: vectores stain (H, E),  C: concentraciones</a:t>
            </a:r>
          </a:p>
          <a:p>
            <a:pPr>
              <a:defRPr sz="800">
                <a:solidFill>
                  <a:srgbClr val="3C2814"/>
                </a:solidFill>
                <a:latin typeface="+mj-lt"/>
                <a:ea typeface="+mj-ea"/>
                <a:cs typeface="+mj-cs"/>
                <a:sym typeface="Helvetica"/>
              </a:defRPr>
            </a:pPr>
          </a:p>
          <a:p>
            <a:pPr>
              <a:defRPr b="1" sz="1400">
                <a:solidFill>
                  <a:srgbClr val="3C2814"/>
                </a:solidFill>
                <a:latin typeface="+mj-lt"/>
                <a:ea typeface="+mj-ea"/>
                <a:cs typeface="+mj-cs"/>
                <a:sym typeface="Helvetica"/>
              </a:defRPr>
            </a:pPr>
            <a:r>
              <a:t>3. Estimar concentraciones vía pseudo-inversa:</a:t>
            </a:r>
          </a:p>
          <a:p>
            <a:pPr>
              <a:defRPr i="1" sz="1400">
                <a:solidFill>
                  <a:srgbClr val="3C2814"/>
                </a:solidFill>
                <a:latin typeface="+mj-lt"/>
                <a:ea typeface="+mj-ea"/>
                <a:cs typeface="+mj-cs"/>
                <a:sym typeface="Helvetica"/>
              </a:defRPr>
            </a:pPr>
            <a:r>
              <a:t>     C = S⁺ · OD</a:t>
            </a:r>
          </a:p>
          <a:p>
            <a:pPr>
              <a:defRPr sz="800">
                <a:solidFill>
                  <a:srgbClr val="3C2814"/>
                </a:solidFill>
                <a:latin typeface="+mj-lt"/>
                <a:ea typeface="+mj-ea"/>
                <a:cs typeface="+mj-cs"/>
                <a:sym typeface="Helvetica"/>
              </a:defRPr>
            </a:pPr>
          </a:p>
          <a:p>
            <a:pPr>
              <a:defRPr b="1" sz="1400">
                <a:solidFill>
                  <a:srgbClr val="3C2814"/>
                </a:solidFill>
                <a:latin typeface="+mj-lt"/>
                <a:ea typeface="+mj-ea"/>
                <a:cs typeface="+mj-cs"/>
                <a:sym typeface="Helvetica"/>
              </a:defRPr>
            </a:pPr>
            <a:r>
              <a:t>4. Re-renderizar con matriz de referencia:</a:t>
            </a:r>
          </a:p>
          <a:p>
            <a:pPr>
              <a:defRPr i="1" sz="1400">
                <a:solidFill>
                  <a:srgbClr val="3C2814"/>
                </a:solidFill>
                <a:latin typeface="+mj-lt"/>
                <a:ea typeface="+mj-ea"/>
                <a:cs typeface="+mj-cs"/>
                <a:sym typeface="Helvetica"/>
              </a:defRPr>
            </a:pPr>
            <a:r>
              <a:t>     OD′ = S_ref · C</a:t>
            </a:r>
          </a:p>
          <a:p>
            <a:pPr>
              <a:defRPr i="1" sz="1400">
                <a:solidFill>
                  <a:srgbClr val="3C2814"/>
                </a:solidFill>
                <a:latin typeface="+mj-lt"/>
                <a:ea typeface="+mj-ea"/>
                <a:cs typeface="+mj-cs"/>
                <a:sym typeface="Helvetica"/>
              </a:defRPr>
            </a:pPr>
            <a:r>
              <a:t>     I′  = I₀ · 10^(−OD′)</a:t>
            </a:r>
          </a:p>
        </p:txBody>
      </p:sp>
      <p:sp>
        <p:nvSpPr>
          <p:cNvPr id="520" name="TextBox 279"/>
          <p:cNvSpPr txBox="1"/>
          <p:nvPr/>
        </p:nvSpPr>
        <p:spPr>
          <a:xfrm>
            <a:off x="6629399" y="1783079"/>
            <a:ext cx="5029203" cy="26249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Intuición</a:t>
            </a:r>
          </a:p>
          <a:p>
            <a:pPr>
              <a:defRPr sz="800">
                <a:solidFill>
                  <a:srgbClr val="3C2814"/>
                </a:solidFill>
                <a:latin typeface="+mj-lt"/>
                <a:ea typeface="+mj-ea"/>
                <a:cs typeface="+mj-cs"/>
                <a:sym typeface="Helvetica"/>
              </a:defRPr>
            </a:pPr>
          </a:p>
          <a:p>
            <a:pPr>
              <a:defRPr sz="1300">
                <a:solidFill>
                  <a:srgbClr val="3C2814"/>
                </a:solidFill>
                <a:latin typeface="+mj-lt"/>
                <a:ea typeface="+mj-ea"/>
                <a:cs typeface="+mj-cs"/>
                <a:sym typeface="Helvetica"/>
              </a:defRPr>
            </a:pPr>
            <a:r>
              <a:t>▸ El input tiene su propia paleta H&amp;E aprendida por SVD sobre OD.</a:t>
            </a:r>
          </a:p>
          <a:p>
            <a:pPr>
              <a:defRPr sz="1300">
                <a:solidFill>
                  <a:srgbClr val="3C2814"/>
                </a:solidFill>
                <a:latin typeface="+mj-lt"/>
                <a:ea typeface="+mj-ea"/>
                <a:cs typeface="+mj-cs"/>
                <a:sym typeface="Helvetica"/>
              </a:defRPr>
            </a:pPr>
            <a:r>
              <a:t>▸ Las concentraciones (cuánta hematoxilina, cuánta eosina) se preservan.</a:t>
            </a:r>
          </a:p>
          <a:p>
            <a:pPr>
              <a:defRPr sz="1300">
                <a:solidFill>
                  <a:srgbClr val="3C2814"/>
                </a:solidFill>
                <a:latin typeface="+mj-lt"/>
                <a:ea typeface="+mj-ea"/>
                <a:cs typeface="+mj-cs"/>
                <a:sym typeface="Helvetica"/>
              </a:defRPr>
            </a:pPr>
            <a:r>
              <a:t>▸ Solo la paleta cambia a la del referente.</a:t>
            </a:r>
          </a:p>
          <a:p>
            <a:pPr>
              <a:defRPr sz="800">
                <a:solidFill>
                  <a:srgbClr val="3C2814"/>
                </a:solidFill>
                <a:latin typeface="+mj-lt"/>
                <a:ea typeface="+mj-ea"/>
                <a:cs typeface="+mj-cs"/>
                <a:sym typeface="Helvetica"/>
              </a:defRPr>
            </a:pPr>
          </a:p>
          <a:p>
            <a:pPr>
              <a:defRPr b="1" sz="1700">
                <a:solidFill>
                  <a:srgbClr val="6B0F1A"/>
                </a:solidFill>
                <a:latin typeface="+mj-lt"/>
                <a:ea typeface="+mj-ea"/>
                <a:cs typeface="+mj-cs"/>
                <a:sym typeface="Helvetica"/>
              </a:defRPr>
            </a:pPr>
            <a:r>
              <a:t>Resultado en este TFM</a:t>
            </a:r>
          </a:p>
          <a:p>
            <a:pPr>
              <a:defRPr sz="800">
                <a:solidFill>
                  <a:srgbClr val="3C2814"/>
                </a:solidFill>
                <a:latin typeface="+mj-lt"/>
                <a:ea typeface="+mj-ea"/>
                <a:cs typeface="+mj-cs"/>
                <a:sym typeface="Helvetica"/>
              </a:defRPr>
            </a:pPr>
          </a:p>
          <a:p>
            <a:pPr>
              <a:defRPr sz="1300">
                <a:solidFill>
                  <a:srgbClr val="3C2814"/>
                </a:solidFill>
                <a:latin typeface="+mj-lt"/>
                <a:ea typeface="+mj-ea"/>
                <a:cs typeface="+mj-cs"/>
                <a:sym typeface="Helvetica"/>
              </a:defRPr>
            </a:pPr>
            <a:r>
              <a:t>▸ NCT: −0.022 (penaliza: ya venía Macenko-normalizado)</a:t>
            </a:r>
          </a:p>
          <a:p>
            <a:pPr>
              <a:defRPr sz="1300">
                <a:solidFill>
                  <a:srgbClr val="3C2814"/>
                </a:solidFill>
                <a:latin typeface="+mj-lt"/>
                <a:ea typeface="+mj-ea"/>
                <a:cs typeface="+mj-cs"/>
                <a:sym typeface="Helvetica"/>
              </a:defRPr>
            </a:pPr>
            <a:r>
              <a:t>▸ Chaoyang: +0.030</a:t>
            </a:r>
          </a:p>
          <a:p>
            <a:pPr>
              <a:defRPr sz="1300">
                <a:solidFill>
                  <a:srgbClr val="3C2814"/>
                </a:solidFill>
                <a:latin typeface="+mj-lt"/>
                <a:ea typeface="+mj-ea"/>
                <a:cs typeface="+mj-cs"/>
                <a:sym typeface="Helvetica"/>
              </a:defRPr>
            </a:pPr>
            <a:r>
              <a:t>▸ LungHist700: +0.020 (no rompe el colapso pulmonar)</a:t>
            </a:r>
          </a:p>
        </p:txBody>
      </p:sp>
      <p:sp>
        <p:nvSpPr>
          <p:cNvPr id="521" name="TextBox 280"/>
          <p:cNvSpPr txBox="1"/>
          <p:nvPr/>
        </p:nvSpPr>
        <p:spPr>
          <a:xfrm>
            <a:off x="640079" y="5989321"/>
            <a:ext cx="10908794" cy="320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Macenko ayuda algo en Chaoyang y LungHist700, penaliza NCT, y no cambia el régimen dominante.</a:t>
            </a: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26"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27"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28"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31/36</a:t>
            </a:r>
          </a:p>
        </p:txBody>
      </p:sp>
      <p:sp>
        <p:nvSpPr>
          <p:cNvPr id="529"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30" name="TextBox 276"/>
          <p:cNvSpPr txBox="1"/>
          <p:nvPr/>
        </p:nvSpPr>
        <p:spPr>
          <a:xfrm>
            <a:off x="640079" y="384048"/>
            <a:ext cx="10908794"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¿Qué muestra UMAP y qué no muestra?</a:t>
            </a:r>
          </a:p>
        </p:txBody>
      </p:sp>
      <p:sp>
        <p:nvSpPr>
          <p:cNvPr id="531" name="TextBox 277"/>
          <p:cNvSpPr txBox="1"/>
          <p:nvPr/>
        </p:nvSpPr>
        <p:spPr>
          <a:xfrm>
            <a:off x="640079" y="1188720"/>
            <a:ext cx="10908794" cy="396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Proyección a 2D que preserva vecindarios locales; NO reemplaza a macro-F1.</a:t>
            </a:r>
          </a:p>
        </p:txBody>
      </p:sp>
      <p:sp>
        <p:nvSpPr>
          <p:cNvPr id="532" name="TextBox 278"/>
          <p:cNvSpPr txBox="1"/>
          <p:nvPr/>
        </p:nvSpPr>
        <p:spPr>
          <a:xfrm>
            <a:off x="640078" y="1828800"/>
            <a:ext cx="5669284" cy="26249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Qué hacemos</a:t>
            </a:r>
          </a:p>
          <a:p>
            <a:pPr>
              <a:defRPr sz="800">
                <a:solidFill>
                  <a:srgbClr val="3C2814"/>
                </a:solidFill>
                <a:latin typeface="+mj-lt"/>
                <a:ea typeface="+mj-ea"/>
                <a:cs typeface="+mj-cs"/>
                <a:sym typeface="Helvetica"/>
              </a:defRPr>
            </a:pPr>
          </a:p>
          <a:p>
            <a:pPr>
              <a:defRPr sz="1300">
                <a:solidFill>
                  <a:srgbClr val="3C2814"/>
                </a:solidFill>
                <a:latin typeface="+mj-lt"/>
                <a:ea typeface="+mj-ea"/>
                <a:cs typeface="+mj-cs"/>
                <a:sym typeface="Helvetica"/>
              </a:defRPr>
            </a:pPr>
            <a:r>
              <a:t>▸ Proyectamos embeddings de la cabeza de proyección (256-d, L2-normalizados) a 2D.</a:t>
            </a:r>
          </a:p>
          <a:p>
            <a:pPr>
              <a:defRPr sz="1300">
                <a:solidFill>
                  <a:srgbClr val="3C2814"/>
                </a:solidFill>
                <a:latin typeface="+mj-lt"/>
                <a:ea typeface="+mj-ea"/>
                <a:cs typeface="+mj-cs"/>
                <a:sym typeface="Helvetica"/>
              </a:defRPr>
            </a:pPr>
            <a:r>
              <a:t>▸ Ajustamos UMAP sobre el conjunto combinado LC25000 + externo, no por dataset.</a:t>
            </a:r>
          </a:p>
          <a:p>
            <a:pPr>
              <a:defRPr sz="800">
                <a:solidFill>
                  <a:srgbClr val="3C2814"/>
                </a:solidFill>
                <a:latin typeface="+mj-lt"/>
                <a:ea typeface="+mj-ea"/>
                <a:cs typeface="+mj-cs"/>
                <a:sym typeface="Helvetica"/>
              </a:defRPr>
            </a:pPr>
          </a:p>
          <a:p>
            <a:pPr>
              <a:defRPr b="1" sz="1700">
                <a:solidFill>
                  <a:srgbClr val="6B0F1A"/>
                </a:solidFill>
                <a:latin typeface="+mj-lt"/>
                <a:ea typeface="+mj-ea"/>
                <a:cs typeface="+mj-cs"/>
                <a:sym typeface="Helvetica"/>
              </a:defRPr>
            </a:pPr>
            <a:r>
              <a:t>Parámetros</a:t>
            </a:r>
          </a:p>
          <a:p>
            <a:pPr>
              <a:defRPr sz="800">
                <a:solidFill>
                  <a:srgbClr val="3C2814"/>
                </a:solidFill>
                <a:latin typeface="+mj-lt"/>
                <a:ea typeface="+mj-ea"/>
                <a:cs typeface="+mj-cs"/>
                <a:sym typeface="Helvetica"/>
              </a:defRPr>
            </a:pPr>
          </a:p>
          <a:p>
            <a:pPr>
              <a:defRPr sz="1300">
                <a:solidFill>
                  <a:srgbClr val="3C2814"/>
                </a:solidFill>
                <a:latin typeface="+mj-lt"/>
                <a:ea typeface="+mj-ea"/>
                <a:cs typeface="+mj-cs"/>
                <a:sym typeface="Helvetica"/>
              </a:defRPr>
            </a:pPr>
            <a:r>
              <a:t>▸ n_neighbors = 15</a:t>
            </a:r>
          </a:p>
          <a:p>
            <a:pPr>
              <a:defRPr sz="1300">
                <a:solidFill>
                  <a:srgbClr val="3C2814"/>
                </a:solidFill>
                <a:latin typeface="+mj-lt"/>
                <a:ea typeface="+mj-ea"/>
                <a:cs typeface="+mj-cs"/>
                <a:sym typeface="Helvetica"/>
              </a:defRPr>
            </a:pPr>
            <a:r>
              <a:t>▸ min_dist = 0.1</a:t>
            </a:r>
          </a:p>
          <a:p>
            <a:pPr>
              <a:defRPr sz="1300">
                <a:solidFill>
                  <a:srgbClr val="3C2814"/>
                </a:solidFill>
                <a:latin typeface="+mj-lt"/>
                <a:ea typeface="+mj-ea"/>
                <a:cs typeface="+mj-cs"/>
                <a:sym typeface="Helvetica"/>
              </a:defRPr>
            </a:pPr>
            <a:r>
              <a:t>▸ metric = cosine  (embeddings L2-normalizados)</a:t>
            </a:r>
          </a:p>
          <a:p>
            <a:pPr>
              <a:defRPr sz="1300">
                <a:solidFill>
                  <a:srgbClr val="3C2814"/>
                </a:solidFill>
                <a:latin typeface="+mj-lt"/>
                <a:ea typeface="+mj-ea"/>
                <a:cs typeface="+mj-cs"/>
                <a:sym typeface="Helvetica"/>
              </a:defRPr>
            </a:pPr>
            <a:r>
              <a:t>▸ Círculos = LC25000 (in-dist)  · Triángulos = dataset externo</a:t>
            </a:r>
          </a:p>
        </p:txBody>
      </p:sp>
      <p:sp>
        <p:nvSpPr>
          <p:cNvPr id="533" name="TextBox 279"/>
          <p:cNvSpPr txBox="1"/>
          <p:nvPr/>
        </p:nvSpPr>
        <p:spPr>
          <a:xfrm>
            <a:off x="6629399" y="1828800"/>
            <a:ext cx="5029203" cy="282495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Lo que sí muestra</a:t>
            </a:r>
          </a:p>
          <a:p>
            <a:pPr>
              <a:defRPr sz="800">
                <a:solidFill>
                  <a:srgbClr val="3C2814"/>
                </a:solidFill>
                <a:latin typeface="+mj-lt"/>
                <a:ea typeface="+mj-ea"/>
                <a:cs typeface="+mj-cs"/>
                <a:sym typeface="Helvetica"/>
              </a:defRPr>
            </a:pPr>
          </a:p>
          <a:p>
            <a:pPr>
              <a:defRPr sz="1300">
                <a:solidFill>
                  <a:srgbClr val="3C2814"/>
                </a:solidFill>
                <a:latin typeface="+mj-lt"/>
                <a:ea typeface="+mj-ea"/>
                <a:cs typeface="+mj-cs"/>
                <a:sym typeface="Helvetica"/>
              </a:defRPr>
            </a:pPr>
            <a:r>
              <a:t>▸ Si los clusters externos se solapan con los in-dist correctos, la representación transfiere.</a:t>
            </a:r>
          </a:p>
          <a:p>
            <a:pPr>
              <a:defRPr sz="1300">
                <a:solidFill>
                  <a:srgbClr val="3C2814"/>
                </a:solidFill>
                <a:latin typeface="+mj-lt"/>
                <a:ea typeface="+mj-ea"/>
                <a:cs typeface="+mj-cs"/>
                <a:sym typeface="Helvetica"/>
              </a:defRPr>
            </a:pPr>
            <a:r>
              <a:t>▸ Los patrones de solapamiento son consistentes con los aciertos y colapsos de macro-F1.</a:t>
            </a:r>
          </a:p>
          <a:p>
            <a:pPr>
              <a:defRPr sz="800">
                <a:solidFill>
                  <a:srgbClr val="3C2814"/>
                </a:solidFill>
                <a:latin typeface="+mj-lt"/>
                <a:ea typeface="+mj-ea"/>
                <a:cs typeface="+mj-cs"/>
                <a:sym typeface="Helvetica"/>
              </a:defRPr>
            </a:pPr>
          </a:p>
          <a:p>
            <a:pPr>
              <a:defRPr b="1" sz="1700">
                <a:solidFill>
                  <a:srgbClr val="6B0F1A"/>
                </a:solidFill>
                <a:latin typeface="+mj-lt"/>
                <a:ea typeface="+mj-ea"/>
                <a:cs typeface="+mj-cs"/>
                <a:sym typeface="Helvetica"/>
              </a:defRPr>
            </a:pPr>
            <a:r>
              <a:t>Lo que NO muestra</a:t>
            </a:r>
          </a:p>
          <a:p>
            <a:pPr>
              <a:defRPr sz="800">
                <a:solidFill>
                  <a:srgbClr val="3C2814"/>
                </a:solidFill>
                <a:latin typeface="+mj-lt"/>
                <a:ea typeface="+mj-ea"/>
                <a:cs typeface="+mj-cs"/>
                <a:sym typeface="Helvetica"/>
              </a:defRPr>
            </a:pPr>
          </a:p>
          <a:p>
            <a:pPr>
              <a:defRPr sz="1300">
                <a:solidFill>
                  <a:srgbClr val="3C2814"/>
                </a:solidFill>
                <a:latin typeface="+mj-lt"/>
                <a:ea typeface="+mj-ea"/>
                <a:cs typeface="+mj-cs"/>
                <a:sym typeface="Helvetica"/>
              </a:defRPr>
            </a:pPr>
            <a:r>
              <a:t>▸ Distancias globales entre clusters no son interpretables como similitudes reales.</a:t>
            </a:r>
          </a:p>
          <a:p>
            <a:pPr>
              <a:defRPr sz="1300">
                <a:solidFill>
                  <a:srgbClr val="3C2814"/>
                </a:solidFill>
                <a:latin typeface="+mj-lt"/>
                <a:ea typeface="+mj-ea"/>
                <a:cs typeface="+mj-cs"/>
                <a:sym typeface="Helvetica"/>
              </a:defRPr>
            </a:pPr>
            <a:r>
              <a:t>▸ No prueba el mecanismo subyacente.</a:t>
            </a:r>
          </a:p>
          <a:p>
            <a:pPr>
              <a:defRPr sz="1300">
                <a:solidFill>
                  <a:srgbClr val="3C2814"/>
                </a:solidFill>
                <a:latin typeface="+mj-lt"/>
                <a:ea typeface="+mj-ea"/>
                <a:cs typeface="+mj-cs"/>
                <a:sym typeface="Helvetica"/>
              </a:defRPr>
            </a:pPr>
            <a:r>
              <a:t>▸ Es aleatorio en la orientación absoluta; solo la topología relativa importa.</a:t>
            </a:r>
          </a:p>
        </p:txBody>
      </p:sp>
      <p:sp>
        <p:nvSpPr>
          <p:cNvPr id="534" name="TextBox 280"/>
          <p:cNvSpPr txBox="1"/>
          <p:nvPr/>
        </p:nvSpPr>
        <p:spPr>
          <a:xfrm>
            <a:off x="640079" y="5806441"/>
            <a:ext cx="10908794" cy="320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UMAP no prueba el mecanismo; comprueba que la geometría del espacio latente es consistente con la métrica.</a:t>
            </a: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39"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4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41"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32/36</a:t>
            </a:r>
          </a:p>
        </p:txBody>
      </p:sp>
      <p:sp>
        <p:nvSpPr>
          <p:cNvPr id="542"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43" name="TextBox 276"/>
          <p:cNvSpPr txBox="1"/>
          <p:nvPr/>
        </p:nvSpPr>
        <p:spPr>
          <a:xfrm>
            <a:off x="640079" y="384048"/>
            <a:ext cx="10908794"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¿Por qué restringir el argmax por órgano?</a:t>
            </a:r>
          </a:p>
        </p:txBody>
      </p:sp>
      <p:sp>
        <p:nvSpPr>
          <p:cNvPr id="544" name="TextBox 277"/>
          <p:cNvSpPr txBox="1"/>
          <p:nvPr/>
        </p:nvSpPr>
        <p:spPr>
          <a:xfrm>
            <a:off x="640079" y="1188719"/>
            <a:ext cx="10908794" cy="701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defRPr sz="1400">
                <a:solidFill>
                  <a:srgbClr val="4D0912"/>
                </a:solidFill>
                <a:latin typeface="+mn-lt"/>
                <a:ea typeface="+mn-ea"/>
                <a:cs typeface="+mn-cs"/>
              </a:defRPr>
            </a:pPr>
            <a:r>
              <a:t>Los datasets externos contienen solo un subconjunto de las 5 clases LC25000.</a:t>
            </a:r>
          </a:p>
        </p:txBody>
      </p:sp>
      <p:graphicFrame>
        <p:nvGraphicFramePr>
          <p:cNvPr id="545" name="Table 278"/>
          <p:cNvGraphicFramePr/>
          <p:nvPr/>
        </p:nvGraphicFramePr>
        <p:xfrm>
          <a:off x="594359" y="1920238"/>
          <a:ext cx="10972800" cy="2011683"/>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2194559"/>
                <a:gridCol w="3762102"/>
                <a:gridCol w="5016137"/>
              </a:tblGrid>
              <a:tr h="502919">
                <a:tc>
                  <a:txBody>
                    <a:bodyPr/>
                    <a:lstStyle/>
                    <a:p>
                      <a:pPr>
                        <a:defRPr b="0" sz="1800">
                          <a:solidFill>
                            <a:srgbClr val="000000"/>
                          </a:solidFill>
                        </a:defRPr>
                      </a:pPr>
                      <a:r>
                        <a:rPr b="1" sz="1300">
                          <a:solidFill>
                            <a:srgbClr val="FFFFFF"/>
                          </a:solidFill>
                          <a:sym typeface="Helvetica"/>
                        </a:rPr>
                        <a:t>Dataset</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Clases del baseline (LC25000)</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Clases evaluadas</a:t>
                      </a:r>
                    </a:p>
                  </a:txBody>
                  <a:tcPr marL="27432" marR="27432" marT="27432" marB="27432" anchor="t" anchorCtr="0" horzOverflow="overflow">
                    <a:solidFill>
                      <a:srgbClr val="4D0912"/>
                    </a:solidFill>
                  </a:tcPr>
                </a:tc>
              </a:tr>
              <a:tr h="502919">
                <a:tc>
                  <a:txBody>
                    <a:bodyPr/>
                    <a:lstStyle/>
                    <a:p>
                      <a:pPr>
                        <a:defRPr sz="1800"/>
                      </a:pPr>
                      <a:r>
                        <a:rPr sz="1300">
                          <a:solidFill>
                            <a:srgbClr val="3C2814"/>
                          </a:solidFill>
                          <a:sym typeface="Helvetica"/>
                        </a:rPr>
                        <a:t>NCT-CRC-HE-7K</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5 (colon + pulmón)</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benign colon · colon adenocarcinoma</a:t>
                      </a:r>
                    </a:p>
                  </a:txBody>
                  <a:tcPr marL="27432" marR="27432" marT="27432" marB="27432" anchor="t" anchorCtr="0" horzOverflow="overflow">
                    <a:solidFill>
                      <a:srgbClr val="F5EED8"/>
                    </a:solidFill>
                  </a:tcPr>
                </a:tc>
              </a:tr>
              <a:tr h="502919">
                <a:tc>
                  <a:txBody>
                    <a:bodyPr/>
                    <a:lstStyle/>
                    <a:p>
                      <a:pPr>
                        <a:defRPr sz="1800"/>
                      </a:pPr>
                      <a:r>
                        <a:rPr sz="1300">
                          <a:solidFill>
                            <a:srgbClr val="3C2814"/>
                          </a:solidFill>
                          <a:sym typeface="Helvetica"/>
                        </a:rPr>
                        <a:t>Chaoyang</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5 (colon + pulmón)</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colon normal · colon adenocarcinoma</a:t>
                      </a:r>
                    </a:p>
                  </a:txBody>
                  <a:tcPr marL="27432" marR="27432" marT="27432" marB="27432" anchor="t" anchorCtr="0" horzOverflow="overflow">
                    <a:solidFill>
                      <a:srgbClr val="FFFCF3"/>
                    </a:solidFill>
                  </a:tcPr>
                </a:tc>
              </a:tr>
              <a:tr h="502919">
                <a:tc>
                  <a:txBody>
                    <a:bodyPr/>
                    <a:lstStyle/>
                    <a:p>
                      <a:pPr>
                        <a:defRPr sz="1800"/>
                      </a:pPr>
                      <a:r>
                        <a:rPr sz="1300">
                          <a:solidFill>
                            <a:srgbClr val="3C2814"/>
                          </a:solidFill>
                          <a:sym typeface="Helvetica"/>
                        </a:rPr>
                        <a:t>LungHist700</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5 (colon + pulmón)</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lung benign · lung adenoc. · lung squamous</a:t>
                      </a:r>
                    </a:p>
                  </a:txBody>
                  <a:tcPr marL="27432" marR="27432" marT="27432" marB="27432" anchor="t" anchorCtr="0" horzOverflow="overflow">
                    <a:solidFill>
                      <a:srgbClr val="F5EED8"/>
                    </a:solidFill>
                  </a:tcPr>
                </a:tc>
              </a:tr>
            </a:tbl>
          </a:graphicData>
        </a:graphic>
      </p:graphicFrame>
      <p:sp>
        <p:nvSpPr>
          <p:cNvPr id="546" name="TextBox 279"/>
          <p:cNvSpPr txBox="1"/>
          <p:nvPr/>
        </p:nvSpPr>
        <p:spPr>
          <a:xfrm>
            <a:off x="640079" y="4160521"/>
            <a:ext cx="10881361" cy="10032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Cómo se implementa</a:t>
            </a:r>
          </a:p>
          <a:p>
            <a:pPr>
              <a:defRPr sz="1400">
                <a:solidFill>
                  <a:srgbClr val="3C2814"/>
                </a:solidFill>
                <a:latin typeface="+mj-lt"/>
                <a:ea typeface="+mj-ea"/>
                <a:cs typeface="+mj-cs"/>
                <a:sym typeface="Helvetica"/>
              </a:defRPr>
            </a:pPr>
            <a:r>
              <a:t>▸ Se calcula cosine(embedding_imagen, embedding_prompt) para las 5 clases.</a:t>
            </a:r>
          </a:p>
          <a:p>
            <a:pPr>
              <a:defRPr sz="1400">
                <a:solidFill>
                  <a:srgbClr val="3C2814"/>
                </a:solidFill>
                <a:latin typeface="+mj-lt"/>
                <a:ea typeface="+mj-ea"/>
                <a:cs typeface="+mj-cs"/>
                <a:sym typeface="Helvetica"/>
              </a:defRPr>
            </a:pPr>
            <a:r>
              <a:t>▸ Se recorta el vector a las clases del órgano correspondiente ANTES del argmax.</a:t>
            </a:r>
          </a:p>
          <a:p>
            <a:pPr>
              <a:defRPr sz="1400">
                <a:solidFill>
                  <a:srgbClr val="3C2814"/>
                </a:solidFill>
                <a:latin typeface="+mj-lt"/>
                <a:ea typeface="+mj-ea"/>
                <a:cs typeface="+mj-cs"/>
                <a:sym typeface="Helvetica"/>
              </a:defRPr>
            </a:pPr>
            <a:r>
              <a:t>▸ El modelo nunca ve las etiquetas externas; solo se restringe la evaluación.</a:t>
            </a:r>
          </a:p>
        </p:txBody>
      </p:sp>
      <p:sp>
        <p:nvSpPr>
          <p:cNvPr id="547" name="TextBox 280"/>
          <p:cNvSpPr txBox="1"/>
          <p:nvPr/>
        </p:nvSpPr>
        <p:spPr>
          <a:xfrm>
            <a:off x="640079" y="5806441"/>
            <a:ext cx="10908794" cy="320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Protocolo mide DISCRIMINACIÓN dentro del órgano, no detección abierta multi-órgano.</a:t>
            </a: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1"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52"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53"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54"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33/36</a:t>
            </a:r>
          </a:p>
        </p:txBody>
      </p:sp>
      <p:sp>
        <p:nvSpPr>
          <p:cNvPr id="555"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56" name="TextBox 276"/>
          <p:cNvSpPr txBox="1"/>
          <p:nvPr/>
        </p:nvSpPr>
        <p:spPr>
          <a:xfrm>
            <a:off x="640079" y="384048"/>
            <a:ext cx="10908794"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¿Por qué BERT y no el text encoder de CLIP?</a:t>
            </a:r>
          </a:p>
        </p:txBody>
      </p:sp>
      <p:sp>
        <p:nvSpPr>
          <p:cNvPr id="557" name="TextBox 277"/>
          <p:cNvSpPr txBox="1"/>
          <p:nvPr/>
        </p:nvSpPr>
        <p:spPr>
          <a:xfrm>
            <a:off x="640079" y="1188720"/>
            <a:ext cx="10908794" cy="396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Aislamos vocabulario y dominio del texto, no la arquitectura completa.</a:t>
            </a:r>
          </a:p>
        </p:txBody>
      </p:sp>
      <p:sp>
        <p:nvSpPr>
          <p:cNvPr id="558" name="TextBox 278"/>
          <p:cNvSpPr txBox="1"/>
          <p:nvPr/>
        </p:nvSpPr>
        <p:spPr>
          <a:xfrm>
            <a:off x="640079" y="1874518"/>
            <a:ext cx="10881361" cy="242315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Aislamiento de variables</a:t>
            </a:r>
          </a:p>
          <a:p>
            <a:pPr>
              <a:defRPr sz="1400">
                <a:solidFill>
                  <a:srgbClr val="3C2814"/>
                </a:solidFill>
                <a:latin typeface="+mj-lt"/>
                <a:ea typeface="+mj-ea"/>
                <a:cs typeface="+mj-cs"/>
                <a:sym typeface="Helvetica"/>
              </a:defRPr>
            </a:pPr>
            <a:r>
              <a:t>▸ BERT, BioBERT y PubMedBERT comparten arquitectura base (12 layers, 768-d).</a:t>
            </a:r>
          </a:p>
          <a:p>
            <a:pPr>
              <a:defRPr sz="1400">
                <a:solidFill>
                  <a:srgbClr val="3C2814"/>
                </a:solidFill>
                <a:latin typeface="+mj-lt"/>
                <a:ea typeface="+mj-ea"/>
                <a:cs typeface="+mj-cs"/>
                <a:sym typeface="Helvetica"/>
              </a:defRPr>
            </a:pPr>
            <a:r>
              <a:t>▸ Lo único que cambia entre los tres es el pretraining textual y el vocabulario.</a:t>
            </a:r>
          </a:p>
          <a:p>
            <a:pPr>
              <a:defRPr sz="800">
                <a:solidFill>
                  <a:srgbClr val="3C2814"/>
                </a:solidFill>
                <a:latin typeface="+mj-lt"/>
                <a:ea typeface="+mj-ea"/>
                <a:cs typeface="+mj-cs"/>
                <a:sym typeface="Helvetica"/>
              </a:defRPr>
            </a:pPr>
          </a:p>
          <a:p>
            <a:pPr>
              <a:defRPr b="1" sz="1700">
                <a:solidFill>
                  <a:srgbClr val="6B0F1A"/>
                </a:solidFill>
                <a:latin typeface="+mj-lt"/>
                <a:ea typeface="+mj-ea"/>
                <a:cs typeface="+mj-cs"/>
                <a:sym typeface="Helvetica"/>
              </a:defRPr>
            </a:pPr>
            <a:r>
              <a:t>Con CLIP-text hubiera cambiado demasiado a la vez</a:t>
            </a:r>
          </a:p>
          <a:p>
            <a:pPr>
              <a:defRPr sz="1400">
                <a:solidFill>
                  <a:srgbClr val="3C2814"/>
                </a:solidFill>
                <a:latin typeface="+mj-lt"/>
                <a:ea typeface="+mj-ea"/>
                <a:cs typeface="+mj-cs"/>
                <a:sym typeface="Helvetica"/>
              </a:defRPr>
            </a:pPr>
            <a:r>
              <a:t>▸ Tokenización BPE vs WordPiece.</a:t>
            </a:r>
          </a:p>
          <a:p>
            <a:pPr>
              <a:defRPr sz="1400">
                <a:solidFill>
                  <a:srgbClr val="3C2814"/>
                </a:solidFill>
                <a:latin typeface="+mj-lt"/>
                <a:ea typeface="+mj-ea"/>
                <a:cs typeface="+mj-cs"/>
                <a:sym typeface="Helvetica"/>
              </a:defRPr>
            </a:pPr>
            <a:r>
              <a:t>▸ Token especial [EOS] vs [CLS] para agregación de secuencia.</a:t>
            </a:r>
          </a:p>
          <a:p>
            <a:pPr>
              <a:defRPr sz="1400">
                <a:solidFill>
                  <a:srgbClr val="3C2814"/>
                </a:solidFill>
                <a:latin typeface="+mj-lt"/>
                <a:ea typeface="+mj-ea"/>
                <a:cs typeface="+mj-cs"/>
                <a:sym typeface="Helvetica"/>
              </a:defRPr>
            </a:pPr>
            <a:r>
              <a:t>▸ Objetivo de pretraining y datos completamente distintos.</a:t>
            </a:r>
          </a:p>
          <a:p>
            <a:pPr>
              <a:defRPr sz="800">
                <a:solidFill>
                  <a:srgbClr val="3C2814"/>
                </a:solidFill>
                <a:latin typeface="+mj-lt"/>
                <a:ea typeface="+mj-ea"/>
                <a:cs typeface="+mj-cs"/>
                <a:sym typeface="Helvetica"/>
              </a:defRPr>
            </a:pPr>
          </a:p>
          <a:p>
            <a:pPr>
              <a:defRPr b="1" sz="1700">
                <a:solidFill>
                  <a:srgbClr val="6B0F1A"/>
                </a:solidFill>
                <a:latin typeface="+mj-lt"/>
                <a:ea typeface="+mj-ea"/>
                <a:cs typeface="+mj-cs"/>
                <a:sym typeface="Helvetica"/>
              </a:defRPr>
            </a:pPr>
            <a:r>
              <a:t>CLIP-family completo ya está cubierto</a:t>
            </a:r>
          </a:p>
          <a:p>
            <a:pPr>
              <a:defRPr sz="1400">
                <a:solidFill>
                  <a:srgbClr val="3C2814"/>
                </a:solidFill>
                <a:latin typeface="+mj-lt"/>
                <a:ea typeface="+mj-ea"/>
                <a:cs typeface="+mj-cs"/>
                <a:sym typeface="Helvetica"/>
              </a:defRPr>
            </a:pPr>
            <a:r>
              <a:t>▸ PLIP zero-shot evalúa el modelo CLIP-family entero, con sus dos encoders originales.</a:t>
            </a:r>
          </a:p>
        </p:txBody>
      </p:sp>
      <p:graphicFrame>
        <p:nvGraphicFramePr>
          <p:cNvPr id="560" name="Table 559"/>
          <p:cNvGraphicFramePr>
            <a:graphicFrameLocks noGrp="1"/>
          </p:cNvGraphicFramePr>
          <p:nvPr/>
        </p:nvGraphicFramePr>
        <p:xfrm>
          <a:off x="594360" y="5257800"/>
          <a:ext cx="11000232" cy="1051560"/>
        </p:xfrm>
        <a:graphic>
          <a:graphicData uri="http://schemas.openxmlformats.org/drawingml/2006/table">
            <a:tbl>
              <a:tblPr firstRow="1" bandRow="1">
                <a:tableStyleId>{5C22544A-7EE6-4342-B048-85BDC9FD1C3A}</a:tableStyleId>
              </a:tblPr>
              <a:tblGrid>
                <a:gridCol w="2743200"/>
                <a:gridCol w="5330952"/>
                <a:gridCol w="2926080"/>
              </a:tblGrid>
              <a:tr h="350520">
                <a:tc>
                  <a:txBody>
                    <a:bodyPr lIns="73152" rIns="73152" tIns="27432" bIns="27432" wrap="square"/>
                    <a:lstStyle/>
                    <a:p>
                      <a:pPr>
                        <a:defRPr b="1" sz="1200">
                          <a:solidFill>
                            <a:srgbClr val="FFFFFF"/>
                          </a:solidFill>
                          <a:latin typeface="+mn-lt"/>
                          <a:ea typeface="+mn-ea"/>
                          <a:cs typeface="+mn-cs"/>
                        </a:defRPr>
                      </a:pPr>
                      <a:r>
                        <a:t>Opción</a:t>
                      </a:r>
                    </a:p>
                  </a:txBody>
                  <a:tcPr>
                    <a:solidFill>
                      <a:srgbClr val="4D0912"/>
                    </a:solidFill>
                  </a:tcPr>
                </a:tc>
                <a:tc>
                  <a:txBody>
                    <a:bodyPr lIns="73152" rIns="73152" tIns="27432" bIns="27432" wrap="square"/>
                    <a:lstStyle/>
                    <a:p>
                      <a:pPr>
                        <a:defRPr b="1" sz="1200">
                          <a:solidFill>
                            <a:srgbClr val="FFFFFF"/>
                          </a:solidFill>
                          <a:latin typeface="+mn-lt"/>
                          <a:ea typeface="+mn-ea"/>
                          <a:cs typeface="+mn-cs"/>
                        </a:defRPr>
                      </a:pPr>
                      <a:r>
                        <a:t>Qué cambia</a:t>
                      </a:r>
                    </a:p>
                  </a:txBody>
                  <a:tcPr>
                    <a:solidFill>
                      <a:srgbClr val="4D0912"/>
                    </a:solidFill>
                  </a:tcPr>
                </a:tc>
                <a:tc>
                  <a:txBody>
                    <a:bodyPr lIns="73152" rIns="73152" tIns="27432" bIns="27432" wrap="square"/>
                    <a:lstStyle/>
                    <a:p>
                      <a:pPr>
                        <a:defRPr b="1" sz="1200">
                          <a:solidFill>
                            <a:srgbClr val="FFFFFF"/>
                          </a:solidFill>
                          <a:latin typeface="+mn-lt"/>
                          <a:ea typeface="+mn-ea"/>
                          <a:cs typeface="+mn-cs"/>
                        </a:defRPr>
                      </a:pPr>
                      <a:r>
                        <a:t>Problema</a:t>
                      </a:r>
                    </a:p>
                  </a:txBody>
                  <a:tcPr>
                    <a:solidFill>
                      <a:srgbClr val="4D0912"/>
                    </a:solidFill>
                  </a:tcPr>
                </a:tc>
              </a:tr>
              <a:tr h="350520">
                <a:tc>
                  <a:txBody>
                    <a:bodyPr lIns="73152" rIns="73152" tIns="27432" bIns="27432" wrap="square"/>
                    <a:lstStyle/>
                    <a:p>
                      <a:pPr>
                        <a:defRPr sz="1200">
                          <a:solidFill>
                            <a:srgbClr val="3C2814"/>
                          </a:solidFill>
                          <a:latin typeface="+mn-lt"/>
                          <a:ea typeface="+mn-ea"/>
                          <a:cs typeface="+mn-cs"/>
                        </a:defRPr>
                      </a:pPr>
                      <a:r>
                        <a:t>BERT → BioBERT/PubMedBERT</a:t>
                      </a:r>
                    </a:p>
                  </a:txBody>
                  <a:tcPr>
                    <a:solidFill>
                      <a:srgbClr val="F5EED8"/>
                    </a:solidFill>
                  </a:tcPr>
                </a:tc>
                <a:tc>
                  <a:txBody>
                    <a:bodyPr lIns="73152" rIns="73152" tIns="27432" bIns="27432" wrap="square"/>
                    <a:lstStyle/>
                    <a:p>
                      <a:pPr>
                        <a:defRPr sz="1200">
                          <a:solidFill>
                            <a:srgbClr val="3C2814"/>
                          </a:solidFill>
                          <a:latin typeface="+mn-lt"/>
                          <a:ea typeface="+mn-ea"/>
                          <a:cs typeface="+mn-cs"/>
                        </a:defRPr>
                      </a:pPr>
                      <a:r>
                        <a:t>dominio / vocabulario</a:t>
                      </a:r>
                    </a:p>
                  </a:txBody>
                  <a:tcPr>
                    <a:solidFill>
                      <a:srgbClr val="F5EED8"/>
                    </a:solidFill>
                  </a:tcPr>
                </a:tc>
                <a:tc>
                  <a:txBody>
                    <a:bodyPr lIns="73152" rIns="73152" tIns="27432" bIns="27432" wrap="square"/>
                    <a:lstStyle/>
                    <a:p>
                      <a:pPr>
                        <a:defRPr sz="1200">
                          <a:solidFill>
                            <a:srgbClr val="3C2814"/>
                          </a:solidFill>
                          <a:latin typeface="+mn-lt"/>
                          <a:ea typeface="+mn-ea"/>
                          <a:cs typeface="+mn-cs"/>
                        </a:defRPr>
                      </a:pPr>
                      <a:r>
                        <a:t>comparación limpia</a:t>
                      </a:r>
                    </a:p>
                  </a:txBody>
                  <a:tcPr>
                    <a:solidFill>
                      <a:srgbClr val="F5EED8"/>
                    </a:solidFill>
                  </a:tcPr>
                </a:tc>
              </a:tr>
              <a:tr h="350520">
                <a:tc>
                  <a:txBody>
                    <a:bodyPr lIns="73152" rIns="73152" tIns="27432" bIns="27432" wrap="square"/>
                    <a:lstStyle/>
                    <a:p>
                      <a:pPr>
                        <a:defRPr sz="1200">
                          <a:solidFill>
                            <a:srgbClr val="3C2814"/>
                          </a:solidFill>
                          <a:latin typeface="+mn-lt"/>
                          <a:ea typeface="+mn-ea"/>
                          <a:cs typeface="+mn-cs"/>
                        </a:defRPr>
                      </a:pPr>
                      <a:r>
                        <a:t>BERT → CLIP-text</a:t>
                      </a:r>
                    </a:p>
                  </a:txBody>
                  <a:tcPr>
                    <a:solidFill>
                      <a:srgbClr val="FFFCF3"/>
                    </a:solidFill>
                  </a:tcPr>
                </a:tc>
                <a:tc>
                  <a:txBody>
                    <a:bodyPr lIns="73152" rIns="73152" tIns="27432" bIns="27432" wrap="square"/>
                    <a:lstStyle/>
                    <a:p>
                      <a:pPr>
                        <a:defRPr sz="1200">
                          <a:solidFill>
                            <a:srgbClr val="3C2814"/>
                          </a:solidFill>
                          <a:latin typeface="+mn-lt"/>
                          <a:ea typeface="+mn-ea"/>
                          <a:cs typeface="+mn-cs"/>
                        </a:defRPr>
                      </a:pPr>
                      <a:r>
                        <a:t>arquitectura + tokenizer + pooling + dominio</a:t>
                      </a:r>
                    </a:p>
                  </a:txBody>
                  <a:tcPr>
                    <a:solidFill>
                      <a:srgbClr val="FFFCF3"/>
                    </a:solidFill>
                  </a:tcPr>
                </a:tc>
                <a:tc>
                  <a:txBody>
                    <a:bodyPr lIns="73152" rIns="73152" tIns="27432" bIns="27432" wrap="square"/>
                    <a:lstStyle/>
                    <a:p>
                      <a:pPr>
                        <a:defRPr sz="1200">
                          <a:solidFill>
                            <a:srgbClr val="3C2814"/>
                          </a:solidFill>
                          <a:latin typeface="+mn-lt"/>
                          <a:ea typeface="+mn-ea"/>
                          <a:cs typeface="+mn-cs"/>
                        </a:defRPr>
                      </a:pPr>
                      <a:r>
                        <a:t>comparación sucia</a:t>
                      </a:r>
                    </a:p>
                  </a:txBody>
                  <a:tcPr>
                    <a:solidFill>
                      <a:srgbClr val="FFFCF3"/>
                    </a:solidFill>
                  </a:tcPr>
                </a:tc>
              </a:tr>
            </a:tbl>
          </a:graphicData>
        </a:graphic>
      </p:graphicFrame>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3"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64"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65"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566"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34/36</a:t>
            </a:r>
          </a:p>
        </p:txBody>
      </p:sp>
      <p:sp>
        <p:nvSpPr>
          <p:cNvPr id="567"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568" name="TextBox 276"/>
          <p:cNvSpPr txBox="1"/>
          <p:nvPr/>
        </p:nvSpPr>
        <p:spPr>
          <a:xfrm>
            <a:off x="640079" y="384048"/>
            <a:ext cx="10908794"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¿La fuga de LC25000 invalida las conclusiones?</a:t>
            </a:r>
          </a:p>
        </p:txBody>
      </p:sp>
      <p:sp>
        <p:nvSpPr>
          <p:cNvPr id="569" name="TextBox 277"/>
          <p:cNvSpPr txBox="1"/>
          <p:nvPr/>
        </p:nvSpPr>
        <p:spPr>
          <a:xfrm>
            <a:off x="640079" y="1188720"/>
            <a:ext cx="10908794" cy="396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defRPr sz="1400">
                <a:solidFill>
                  <a:srgbClr val="4D0912"/>
                </a:solidFill>
                <a:latin typeface="+mn-lt"/>
                <a:ea typeface="+mn-ea"/>
                <a:cs typeface="+mn-cs"/>
              </a:defRPr>
            </a:pPr>
            <a:r>
              <a:t>Invalida una lectura fuerte del 0.996; no invalida los resultados externos.</a:t>
            </a:r>
          </a:p>
        </p:txBody>
      </p:sp>
      <p:sp>
        <p:nvSpPr>
          <p:cNvPr id="570" name="TextBox 278"/>
          <p:cNvSpPr txBox="1"/>
          <p:nvPr/>
        </p:nvSpPr>
        <p:spPr>
          <a:xfrm>
            <a:off x="640079" y="1828800"/>
            <a:ext cx="10881361" cy="23884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Qué fuga hay</a:t>
            </a:r>
          </a:p>
          <a:p>
            <a:pPr>
              <a:defRPr sz="1400">
                <a:solidFill>
                  <a:srgbClr val="3C2814"/>
                </a:solidFill>
                <a:latin typeface="+mj-lt"/>
                <a:ea typeface="+mj-ea"/>
                <a:cs typeface="+mj-cs"/>
                <a:sym typeface="Helvetica"/>
              </a:defRPr>
            </a:pPr>
            <a:r>
              <a:t>▸ LC25000 se construyó con aumentación (rotaciones, reflejos) sobre imágenes fuente.</a:t>
            </a:r>
          </a:p>
          <a:p>
            <a:pPr>
              <a:defRPr sz="1400">
                <a:solidFill>
                  <a:srgbClr val="3C2814"/>
                </a:solidFill>
                <a:latin typeface="+mj-lt"/>
                <a:ea typeface="+mj-ea"/>
                <a:cs typeface="+mj-cs"/>
                <a:sym typeface="Helvetica"/>
              </a:defRPr>
            </a:pPr>
            <a:r>
              <a:t>▸ Sin deduplicación por hash, imágenes casi idénticas caen a ambos lados del split.</a:t>
            </a:r>
          </a:p>
          <a:p>
            <a:pPr>
              <a:defRPr sz="1400">
                <a:solidFill>
                  <a:srgbClr val="3C2814"/>
                </a:solidFill>
                <a:latin typeface="+mj-lt"/>
                <a:ea typeface="+mj-ea"/>
                <a:cs typeface="+mj-cs"/>
                <a:sym typeface="Helvetica"/>
              </a:defRPr>
            </a:pPr>
            <a:r>
              <a:t>▸ Aplicamos dedup por byte-hash pero el efecto in-dist sigue inflado.</a:t>
            </a:r>
          </a:p>
          <a:p>
            <a:pPr>
              <a:defRPr sz="800">
                <a:solidFill>
                  <a:srgbClr val="3C2814"/>
                </a:solidFill>
                <a:latin typeface="+mj-lt"/>
                <a:ea typeface="+mj-ea"/>
                <a:cs typeface="+mj-cs"/>
                <a:sym typeface="Helvetica"/>
              </a:defRPr>
            </a:pPr>
          </a:p>
          <a:p>
            <a:pPr>
              <a:defRPr b="1" sz="1700">
                <a:solidFill>
                  <a:srgbClr val="6B0F1A"/>
                </a:solidFill>
                <a:latin typeface="+mj-lt"/>
                <a:ea typeface="+mj-ea"/>
                <a:cs typeface="+mj-cs"/>
                <a:sym typeface="Helvetica"/>
              </a:defRPr>
            </a:pPr>
            <a:r>
              <a:t>Qué implica</a:t>
            </a:r>
          </a:p>
          <a:p>
            <a:pPr>
              <a:defRPr sz="1400">
                <a:solidFill>
                  <a:srgbClr val="3C2814"/>
                </a:solidFill>
                <a:latin typeface="+mj-lt"/>
                <a:ea typeface="+mj-ea"/>
                <a:cs typeface="+mj-cs"/>
                <a:sym typeface="Helvetica"/>
              </a:defRPr>
            </a:pPr>
            <a:r>
              <a:t>▸ 0.996 in-distribution NO es evidencia de calidad clínica; refleja también la fuga.</a:t>
            </a:r>
          </a:p>
          <a:p>
            <a:pPr>
              <a:defRPr sz="1400">
                <a:solidFill>
                  <a:srgbClr val="3C2814"/>
                </a:solidFill>
                <a:latin typeface="+mj-lt"/>
                <a:ea typeface="+mj-ea"/>
                <a:cs typeface="+mj-cs"/>
                <a:sym typeface="Helvetica"/>
              </a:defRPr>
            </a:pPr>
            <a:r>
              <a:t>▸ Las conclusiones del TFM descansan en la evaluación EXTERNA (NCT, Chaoyang, LungHist700).</a:t>
            </a:r>
          </a:p>
          <a:p>
            <a:pPr>
              <a:defRPr sz="1400">
                <a:solidFill>
                  <a:srgbClr val="3C2814"/>
                </a:solidFill>
                <a:latin typeface="+mj-lt"/>
                <a:ea typeface="+mj-ea"/>
                <a:cs typeface="+mj-cs"/>
                <a:sym typeface="Helvetica"/>
              </a:defRPr>
            </a:pPr>
            <a:r>
              <a:t>▸ Los datasets externos no comparten imágenes fuente con LC25000: la fuga no los alcanza.</a:t>
            </a:r>
          </a:p>
          <a:p>
            <a:pPr>
              <a:defRPr sz="800">
                <a:solidFill>
                  <a:srgbClr val="3C2814"/>
                </a:solidFill>
                <a:latin typeface="+mj-lt"/>
                <a:ea typeface="+mj-ea"/>
                <a:cs typeface="+mj-cs"/>
                <a:sym typeface="Helvetica"/>
              </a:defRPr>
            </a:pPr>
          </a:p>
          <a:p>
            <a:pPr>
              <a:defRPr sz="1400">
                <a:solidFill>
                  <a:srgbClr val="3C2814"/>
                </a:solidFill>
                <a:latin typeface="+mj-lt"/>
                <a:ea typeface="+mj-ea"/>
                <a:cs typeface="+mj-cs"/>
                <a:sym typeface="Helvetica"/>
              </a:defRPr>
            </a:pPr>
            <a:r>
              <a:t>▸ La comparación relativa (Δ entre variantes) sigue siendo válida in-dist porque todas heredan la misma fuga.</a:t>
            </a:r>
          </a:p>
        </p:txBody>
      </p:sp>
      <p:sp>
        <p:nvSpPr>
          <p:cNvPr id="571" name="TextBox 279"/>
          <p:cNvSpPr txBox="1"/>
          <p:nvPr/>
        </p:nvSpPr>
        <p:spPr>
          <a:xfrm>
            <a:off x="640079" y="6080760"/>
            <a:ext cx="10908794" cy="320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La fuga acota qué se puede afirmar sobre 0.996; no toca los +0.335 externos.</a:t>
            </a: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8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86"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87"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488"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27/36</a:t>
            </a:r>
          </a:p>
        </p:txBody>
      </p:sp>
      <p:sp>
        <p:nvSpPr>
          <p:cNvPr id="489"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494" name="Rectangle 280"/>
          <p:cNvSpPr/>
          <p:nvPr/>
        </p:nvSpPr>
        <p:spPr>
          <a:xfrm>
            <a:off x="594359" y="6355079"/>
            <a:ext cx="11000235" cy="18290"/>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j-lt"/>
                <a:ea typeface="+mj-ea"/>
                <a:cs typeface="+mj-cs"/>
                <a:sym typeface="Helvetica"/>
              </a:defRPr>
            </a:pPr>
          </a:p>
        </p:txBody>
      </p:sp>
      <p:sp>
        <p:nvSpPr>
          <p:cNvPr id="495" name="TextBox 494"/>
          <p:cNvSpPr txBox="1"/>
          <p:nvPr/>
        </p:nvSpPr>
        <p:spPr>
          <a:xfrm>
            <a:off x="594360" y="384048"/>
            <a:ext cx="11000232" cy="548640"/>
          </a:xfrm>
          <a:prstGeom prst="rect">
            <a:avLst/>
          </a:prstGeom>
          <a:noFill/>
        </p:spPr>
        <p:txBody>
          <a:bodyPr wrap="square" lIns="45720" rIns="45720">
            <a:spAutoFit/>
          </a:bodyPr>
          <a:lstStyle/>
          <a:p>
            <a:pPr>
              <a:defRPr b="1" sz="2600">
                <a:solidFill>
                  <a:srgbClr val="6B0F1A"/>
                </a:solidFill>
                <a:latin typeface="+mn-lt"/>
                <a:ea typeface="+mn-ea"/>
                <a:cs typeface="+mn-cs"/>
              </a:defRPr>
            </a:pPr>
            <a:r>
              <a:t>Backup — preguntas previsibles</a:t>
            </a:r>
          </a:p>
        </p:txBody>
      </p:sp>
      <p:sp>
        <p:nvSpPr>
          <p:cNvPr id="496" name="TextBox 495"/>
          <p:cNvSpPr txBox="1"/>
          <p:nvPr/>
        </p:nvSpPr>
        <p:spPr>
          <a:xfrm>
            <a:off x="594360" y="1188720"/>
            <a:ext cx="11000232" cy="457200"/>
          </a:xfrm>
          <a:prstGeom prst="rect">
            <a:avLst/>
          </a:prstGeom>
          <a:noFill/>
        </p:spPr>
        <p:txBody>
          <a:bodyPr wrap="square" lIns="45720" rIns="45720">
            <a:spAutoFit/>
          </a:bodyPr>
          <a:lstStyle/>
          <a:p>
            <a:pPr>
              <a:defRPr sz="1400">
                <a:solidFill>
                  <a:srgbClr val="4D0912"/>
                </a:solidFill>
                <a:latin typeface="+mn-lt"/>
                <a:ea typeface="+mn-ea"/>
                <a:cs typeface="+mn-cs"/>
              </a:defRPr>
            </a:pPr>
            <a:r>
              <a:t>Slides adicionales para responder objeciones metodológicas típicas.</a:t>
            </a:r>
          </a:p>
        </p:txBody>
      </p:sp>
      <p:sp>
        <p:nvSpPr>
          <p:cNvPr id="497" name="TextBox 496"/>
          <p:cNvSpPr txBox="1"/>
          <p:nvPr/>
        </p:nvSpPr>
        <p:spPr>
          <a:xfrm>
            <a:off x="594360" y="1920240"/>
            <a:ext cx="5577840" cy="3840480"/>
          </a:xfrm>
          <a:prstGeom prst="rect">
            <a:avLst/>
          </a:prstGeom>
          <a:noFill/>
        </p:spPr>
        <p:txBody>
          <a:bodyPr wrap="square" lIns="45720" rIns="45720">
            <a:spAutoFit/>
          </a:bodyPr>
          <a:lstStyle/>
          <a:p>
            <a:pPr>
              <a:defRPr sz="1500">
                <a:solidFill>
                  <a:srgbClr val="3C2814"/>
                </a:solidFill>
                <a:latin typeface="+mn-lt"/>
                <a:ea typeface="+mn-ea"/>
                <a:cs typeface="+mn-cs"/>
              </a:defRPr>
            </a:pPr>
            <a:r>
              <a:t>▸  ¿Qué rol cumple cada modelo en el experimento?   →  S28</a:t>
            </a:r>
          </a:p>
          <a:p>
            <a:pPr>
              <a:defRPr sz="800">
                <a:solidFill>
                  <a:srgbClr val="3C2814"/>
                </a:solidFill>
                <a:latin typeface="+mn-lt"/>
                <a:ea typeface="+mn-ea"/>
                <a:cs typeface="+mn-cs"/>
              </a:defRPr>
            </a:pPr>
          </a:p>
          <a:p>
            <a:pPr>
              <a:defRPr sz="1500">
                <a:solidFill>
                  <a:srgbClr val="3C2814"/>
                </a:solidFill>
                <a:latin typeface="+mn-lt"/>
                <a:ea typeface="+mn-ea"/>
                <a:cs typeface="+mn-cs"/>
              </a:defRPr>
            </a:pPr>
            <a:r>
              <a:t>▸  ¿Qué aísla realmente DINOv2?   →  S29</a:t>
            </a:r>
          </a:p>
          <a:p>
            <a:pPr>
              <a:defRPr sz="800">
                <a:solidFill>
                  <a:srgbClr val="3C2814"/>
                </a:solidFill>
                <a:latin typeface="+mn-lt"/>
                <a:ea typeface="+mn-ea"/>
                <a:cs typeface="+mn-cs"/>
              </a:defRPr>
            </a:pPr>
          </a:p>
          <a:p>
            <a:pPr>
              <a:defRPr sz="1500">
                <a:solidFill>
                  <a:srgbClr val="3C2814"/>
                </a:solidFill>
                <a:latin typeface="+mn-lt"/>
                <a:ea typeface="+mn-ea"/>
                <a:cs typeface="+mn-cs"/>
              </a:defRPr>
            </a:pPr>
            <a:r>
              <a:t>▸  ¿Cómo funciona Macenko?   →  S30</a:t>
            </a:r>
          </a:p>
          <a:p>
            <a:pPr>
              <a:defRPr sz="800">
                <a:solidFill>
                  <a:srgbClr val="3C2814"/>
                </a:solidFill>
                <a:latin typeface="+mn-lt"/>
                <a:ea typeface="+mn-ea"/>
                <a:cs typeface="+mn-cs"/>
              </a:defRPr>
            </a:pPr>
          </a:p>
          <a:p>
            <a:pPr>
              <a:defRPr sz="1500">
                <a:solidFill>
                  <a:srgbClr val="3C2814"/>
                </a:solidFill>
                <a:latin typeface="+mn-lt"/>
                <a:ea typeface="+mn-ea"/>
                <a:cs typeface="+mn-cs"/>
              </a:defRPr>
            </a:pPr>
            <a:r>
              <a:t>▸  ¿Qué muestra UMAP y qué no muestra?   →  S31</a:t>
            </a:r>
          </a:p>
          <a:p>
            <a:pPr>
              <a:defRPr sz="800">
                <a:solidFill>
                  <a:srgbClr val="3C2814"/>
                </a:solidFill>
                <a:latin typeface="+mn-lt"/>
                <a:ea typeface="+mn-ea"/>
                <a:cs typeface="+mn-cs"/>
              </a:defRPr>
            </a:pPr>
          </a:p>
          <a:p>
            <a:pPr>
              <a:defRPr sz="1500">
                <a:solidFill>
                  <a:srgbClr val="3C2814"/>
                </a:solidFill>
                <a:latin typeface="+mn-lt"/>
                <a:ea typeface="+mn-ea"/>
                <a:cs typeface="+mn-cs"/>
              </a:defRPr>
            </a:pPr>
            <a:r>
              <a:t>▸  ¿Por qué restringir el argmax por órgano?   →  S32</a:t>
            </a:r>
          </a:p>
        </p:txBody>
      </p:sp>
      <p:sp>
        <p:nvSpPr>
          <p:cNvPr id="498" name="TextBox 497"/>
          <p:cNvSpPr txBox="1"/>
          <p:nvPr/>
        </p:nvSpPr>
        <p:spPr>
          <a:xfrm>
            <a:off x="6400800" y="1920240"/>
            <a:ext cx="5212080" cy="3840480"/>
          </a:xfrm>
          <a:prstGeom prst="rect">
            <a:avLst/>
          </a:prstGeom>
          <a:noFill/>
        </p:spPr>
        <p:txBody>
          <a:bodyPr wrap="square" lIns="45720" rIns="45720">
            <a:spAutoFit/>
          </a:bodyPr>
          <a:lstStyle/>
          <a:p>
            <a:pPr>
              <a:defRPr sz="1500">
                <a:solidFill>
                  <a:srgbClr val="3C2814"/>
                </a:solidFill>
                <a:latin typeface="+mn-lt"/>
                <a:ea typeface="+mn-ea"/>
                <a:cs typeface="+mn-cs"/>
              </a:defRPr>
            </a:pPr>
            <a:r>
              <a:t>▸  ¿Por qué BERT y no el text encoder de CLIP?   →  S33</a:t>
            </a:r>
          </a:p>
          <a:p>
            <a:pPr>
              <a:defRPr sz="800">
                <a:solidFill>
                  <a:srgbClr val="3C2814"/>
                </a:solidFill>
                <a:latin typeface="+mn-lt"/>
                <a:ea typeface="+mn-ea"/>
                <a:cs typeface="+mn-cs"/>
              </a:defRPr>
            </a:pPr>
          </a:p>
          <a:p>
            <a:pPr>
              <a:defRPr sz="1500">
                <a:solidFill>
                  <a:srgbClr val="3C2814"/>
                </a:solidFill>
                <a:latin typeface="+mn-lt"/>
                <a:ea typeface="+mn-ea"/>
                <a:cs typeface="+mn-cs"/>
              </a:defRPr>
            </a:pPr>
            <a:r>
              <a:t>▸  ¿La fuga de LC25000 invalida las conclusiones?   →  S34</a:t>
            </a:r>
          </a:p>
          <a:p>
            <a:pPr>
              <a:defRPr sz="800">
                <a:solidFill>
                  <a:srgbClr val="3C2814"/>
                </a:solidFill>
                <a:latin typeface="+mn-lt"/>
                <a:ea typeface="+mn-ea"/>
                <a:cs typeface="+mn-cs"/>
              </a:defRPr>
            </a:pPr>
          </a:p>
          <a:p>
            <a:pPr>
              <a:defRPr sz="1500">
                <a:solidFill>
                  <a:srgbClr val="3C2814"/>
                </a:solidFill>
                <a:latin typeface="+mn-lt"/>
                <a:ea typeface="+mn-ea"/>
                <a:cs typeface="+mn-cs"/>
              </a:defRPr>
            </a:pPr>
            <a:r>
              <a:t>▸  ¿Qué aporta DINOv2 como control?   →  S35</a:t>
            </a:r>
          </a:p>
          <a:p>
            <a:pPr>
              <a:defRPr sz="800">
                <a:solidFill>
                  <a:srgbClr val="3C2814"/>
                </a:solidFill>
                <a:latin typeface="+mn-lt"/>
                <a:ea typeface="+mn-ea"/>
                <a:cs typeface="+mn-cs"/>
              </a:defRPr>
            </a:pPr>
          </a:p>
          <a:p>
            <a:pPr>
              <a:defRPr sz="1500">
                <a:solidFill>
                  <a:srgbClr val="3C2814"/>
                </a:solidFill>
                <a:latin typeface="+mn-lt"/>
                <a:ea typeface="+mn-ea"/>
                <a:cs typeface="+mn-cs"/>
              </a:defRPr>
            </a:pPr>
            <a:r>
              <a:t>▸  ¿Qué optimiza exactamente InfoNCE?   →  S36</a:t>
            </a:r>
          </a:p>
        </p:txBody>
      </p:sp>
      <p:sp>
        <p:nvSpPr>
          <p:cNvPr id="499" name="TextBox 498"/>
          <p:cNvSpPr txBox="1"/>
          <p:nvPr/>
        </p:nvSpPr>
        <p:spPr>
          <a:xfrm>
            <a:off x="594360" y="5669280"/>
            <a:ext cx="11000232" cy="640080"/>
          </a:xfrm>
          <a:prstGeom prst="rect">
            <a:avLst/>
          </a:prstGeom>
          <a:noFill/>
        </p:spPr>
        <p:txBody>
          <a:bodyPr wrap="square" lIns="45720" rIns="45720">
            <a:spAutoFit/>
          </a:bodyPr>
          <a:lstStyle/>
          <a:p>
            <a:pPr algn="ctr">
              <a:defRPr b="1" sz="1300">
                <a:solidFill>
                  <a:srgbClr val="4D0912"/>
                </a:solidFill>
                <a:latin typeface="+mn-lt"/>
                <a:ea typeface="+mn-ea"/>
                <a:cs typeface="+mn-cs"/>
              </a:defRPr>
            </a:pPr>
            <a:r>
              <a:t>Estas slides no forman parte de la defensa cronometrada: sólo se navegan si el tribunal las provoca.</a:t>
            </a:r>
          </a:p>
        </p:txBody>
      </p:sp>
      <p:sp>
        <p:nvSpPr>
          <p:cNvPr id="500" name="Rectangle 499"/>
          <p:cNvSpPr/>
          <p:nvPr/>
        </p:nvSpPr>
        <p:spPr>
          <a:xfrm>
            <a:off x="594360" y="6355080"/>
            <a:ext cx="11000232" cy="18288"/>
          </a:xfrm>
          <a:prstGeom prst="rect">
            <a:avLst/>
          </a:prstGeom>
          <a:solidFill>
            <a:srgbClr val="E5D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1"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02"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03"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604"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35/36</a:t>
            </a:r>
          </a:p>
        </p:txBody>
      </p:sp>
      <p:sp>
        <p:nvSpPr>
          <p:cNvPr id="605"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06" name="TextBox 276"/>
          <p:cNvSpPr txBox="1"/>
          <p:nvPr/>
        </p:nvSpPr>
        <p:spPr>
          <a:xfrm>
            <a:off x="640079" y="384048"/>
            <a:ext cx="10908794"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¿Qué aporta DINOv2 como control?</a:t>
            </a:r>
          </a:p>
        </p:txBody>
      </p:sp>
      <p:sp>
        <p:nvSpPr>
          <p:cNvPr id="607" name="TextBox 277"/>
          <p:cNvSpPr txBox="1"/>
          <p:nvPr/>
        </p:nvSpPr>
        <p:spPr>
          <a:xfrm>
            <a:off x="640079" y="1188720"/>
            <a:ext cx="10908794" cy="396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Self-supervised distillation sobre 142M imágenes curadas, sin etiquetas (Oquab 2024).</a:t>
            </a:r>
          </a:p>
        </p:txBody>
      </p:sp>
      <p:sp>
        <p:nvSpPr>
          <p:cNvPr id="608" name="TextBox 278"/>
          <p:cNvSpPr txBox="1"/>
          <p:nvPr/>
        </p:nvSpPr>
        <p:spPr>
          <a:xfrm>
            <a:off x="640078" y="1874518"/>
            <a:ext cx="5669284" cy="208956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Cómo aprende sin labels</a:t>
            </a:r>
          </a:p>
          <a:p>
            <a:pPr>
              <a:defRPr sz="1400">
                <a:solidFill>
                  <a:srgbClr val="3C2814"/>
                </a:solidFill>
                <a:latin typeface="+mj-lt"/>
                <a:ea typeface="+mj-ea"/>
                <a:cs typeface="+mj-cs"/>
                <a:sym typeface="Helvetica"/>
              </a:defRPr>
            </a:pPr>
            <a:r>
              <a:t>▸ Un student aprende a predecir la salida de un teacher.</a:t>
            </a:r>
          </a:p>
          <a:p>
            <a:pPr>
              <a:defRPr sz="1400">
                <a:solidFill>
                  <a:srgbClr val="3C2814"/>
                </a:solidFill>
                <a:latin typeface="+mj-lt"/>
                <a:ea typeface="+mj-ea"/>
                <a:cs typeface="+mj-cs"/>
                <a:sym typeface="Helvetica"/>
              </a:defRPr>
            </a:pPr>
            <a:r>
              <a:t>▸ El teacher es un EMA (media móvil exponencial) de los pesos del student.</a:t>
            </a:r>
          </a:p>
          <a:p>
            <a:pPr>
              <a:defRPr sz="1400">
                <a:solidFill>
                  <a:srgbClr val="3C2814"/>
                </a:solidFill>
                <a:latin typeface="+mj-lt"/>
                <a:ea typeface="+mj-ea"/>
                <a:cs typeface="+mj-cs"/>
                <a:sym typeface="Helvetica"/>
              </a:defRPr>
            </a:pPr>
            <a:r>
              <a:t>▸ Multi-crop: al student le llegan crops locales pequeños; al teacher, crops globales grandes.</a:t>
            </a:r>
          </a:p>
          <a:p>
            <a:pPr>
              <a:defRPr sz="1400">
                <a:solidFill>
                  <a:srgbClr val="3C2814"/>
                </a:solidFill>
                <a:latin typeface="+mj-lt"/>
                <a:ea typeface="+mj-ea"/>
                <a:cs typeface="+mj-cs"/>
                <a:sym typeface="Helvetica"/>
              </a:defRPr>
            </a:pPr>
            <a:r>
              <a:t>▸ Objetivo: la representación de un crop local debe coincidir con la del global correspondiente.</a:t>
            </a:r>
          </a:p>
          <a:p>
            <a:pPr>
              <a:defRPr sz="1400">
                <a:solidFill>
                  <a:srgbClr val="3C2814"/>
                </a:solidFill>
                <a:latin typeface="+mj-lt"/>
                <a:ea typeface="+mj-ea"/>
                <a:cs typeface="+mj-cs"/>
                <a:sym typeface="Helvetica"/>
              </a:defRPr>
            </a:pPr>
            <a:r>
              <a:t>▸ NO usa negativos explícitos ni pares imagen-texto.</a:t>
            </a:r>
          </a:p>
        </p:txBody>
      </p:sp>
      <p:sp>
        <p:nvSpPr>
          <p:cNvPr id="609" name="TextBox 279"/>
          <p:cNvSpPr txBox="1"/>
          <p:nvPr/>
        </p:nvSpPr>
        <p:spPr>
          <a:xfrm>
            <a:off x="6629399" y="1874518"/>
            <a:ext cx="5029203" cy="203876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Escala y arquitectura</a:t>
            </a:r>
          </a:p>
          <a:p>
            <a:pPr>
              <a:defRPr sz="1400">
                <a:solidFill>
                  <a:srgbClr val="3C2814"/>
                </a:solidFill>
                <a:latin typeface="+mj-lt"/>
                <a:ea typeface="+mj-ea"/>
                <a:cs typeface="+mj-cs"/>
                <a:sym typeface="Helvetica"/>
              </a:defRPr>
            </a:pPr>
            <a:r>
              <a:t>▸ Backbone: ViT-B/14 en la variante que usamos.</a:t>
            </a:r>
          </a:p>
          <a:p>
            <a:pPr>
              <a:defRPr sz="1400">
                <a:solidFill>
                  <a:srgbClr val="3C2814"/>
                </a:solidFill>
                <a:latin typeface="+mj-lt"/>
                <a:ea typeface="+mj-ea"/>
                <a:cs typeface="+mj-cs"/>
                <a:sym typeface="Helvetica"/>
              </a:defRPr>
            </a:pPr>
            <a:r>
              <a:t>▸ Dataset: LVD-142M (142 millones de imágenes curadas).</a:t>
            </a:r>
          </a:p>
          <a:p>
            <a:pPr>
              <a:defRPr sz="1400">
                <a:solidFill>
                  <a:srgbClr val="3C2814"/>
                </a:solidFill>
                <a:latin typeface="+mj-lt"/>
                <a:ea typeface="+mj-ea"/>
                <a:cs typeface="+mj-cs"/>
                <a:sym typeface="Helvetica"/>
              </a:defRPr>
            </a:pPr>
            <a:r>
              <a:t>▸ Imágenes naturales, NO histopatología.</a:t>
            </a:r>
          </a:p>
          <a:p>
            <a:pPr>
              <a:defRPr sz="800">
                <a:solidFill>
                  <a:srgbClr val="3C2814"/>
                </a:solidFill>
                <a:latin typeface="+mj-lt"/>
                <a:ea typeface="+mj-ea"/>
                <a:cs typeface="+mj-cs"/>
                <a:sym typeface="Helvetica"/>
              </a:defRPr>
            </a:pPr>
          </a:p>
          <a:p>
            <a:pPr>
              <a:defRPr b="1" sz="1700">
                <a:solidFill>
                  <a:srgbClr val="6B0F1A"/>
                </a:solidFill>
                <a:latin typeface="+mj-lt"/>
                <a:ea typeface="+mj-ea"/>
                <a:cs typeface="+mj-cs"/>
                <a:sym typeface="Helvetica"/>
              </a:defRPr>
            </a:pPr>
            <a:r>
              <a:t>Rol en el TFM</a:t>
            </a:r>
          </a:p>
          <a:p>
            <a:pPr>
              <a:defRPr sz="1400">
                <a:solidFill>
                  <a:srgbClr val="3C2814"/>
                </a:solidFill>
                <a:latin typeface="+mj-lt"/>
                <a:ea typeface="+mj-ea"/>
                <a:cs typeface="+mj-cs"/>
                <a:sym typeface="Helvetica"/>
              </a:defRPr>
            </a:pPr>
            <a:r>
              <a:t>▸ Control "ViT + SSL en imágenes generales" en RQ5.</a:t>
            </a:r>
          </a:p>
          <a:p>
            <a:pPr>
              <a:defRPr sz="1400">
                <a:solidFill>
                  <a:srgbClr val="3C2814"/>
                </a:solidFill>
                <a:latin typeface="+mj-lt"/>
                <a:ea typeface="+mj-ea"/>
                <a:cs typeface="+mj-cs"/>
                <a:sym typeface="Helvetica"/>
              </a:defRPr>
            </a:pPr>
            <a:r>
              <a:t>▸ Nos permite separar el salto atribuible a arquitectura+SSL general del salto atribuible al dominio patológico (PLIP).</a:t>
            </a:r>
          </a:p>
        </p:txBody>
      </p:sp>
      <p:sp>
        <p:nvSpPr>
          <p:cNvPr id="610" name="TextBox 280"/>
          <p:cNvSpPr txBox="1"/>
          <p:nvPr/>
        </p:nvSpPr>
        <p:spPr>
          <a:xfrm>
            <a:off x="640079" y="5897880"/>
            <a:ext cx="10908794" cy="320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DINOv2 aporta representaciones potentes sin dominio médico; sirve para descomponer parcialmente el salto.</a:t>
            </a: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14"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15" name="Rectangle 2"/>
          <p:cNvSpPr/>
          <p:nvPr/>
        </p:nvSpPr>
        <p:spPr>
          <a:xfrm>
            <a:off x="-1" y="6812280"/>
            <a:ext cx="12191697" cy="36598"/>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16"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Leandro Candau  ·  TFM: Foundational VLMs para histopatología</a:t>
            </a:r>
          </a:p>
        </p:txBody>
      </p:sp>
      <p:sp>
        <p:nvSpPr>
          <p:cNvPr id="617" name="TextBox 4"/>
          <p:cNvSpPr txBox="1"/>
          <p:nvPr/>
        </p:nvSpPr>
        <p:spPr>
          <a:xfrm>
            <a:off x="8579814" y="6492240"/>
            <a:ext cx="3017543"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defRPr>
            </a:lvl1pPr>
          </a:lstStyle>
          <a:p>
            <a:pPr/>
            <a:r>
              <a:t>BACKUP · 36/36</a:t>
            </a:r>
          </a:p>
        </p:txBody>
      </p:sp>
      <p:sp>
        <p:nvSpPr>
          <p:cNvPr id="618" name="Rectangle 6"/>
          <p:cNvSpPr/>
          <p:nvPr/>
        </p:nvSpPr>
        <p:spPr>
          <a:xfrm>
            <a:off x="548639" y="1024127"/>
            <a:ext cx="1097282" cy="36598"/>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619" name="TextBox 276"/>
          <p:cNvSpPr txBox="1"/>
          <p:nvPr/>
        </p:nvSpPr>
        <p:spPr>
          <a:xfrm>
            <a:off x="640079" y="384048"/>
            <a:ext cx="10908794"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600">
                <a:solidFill>
                  <a:srgbClr val="6B0F1A"/>
                </a:solidFill>
                <a:latin typeface="+mj-lt"/>
                <a:ea typeface="+mj-ea"/>
                <a:cs typeface="+mj-cs"/>
                <a:sym typeface="Helvetica"/>
              </a:defRPr>
            </a:lvl1pPr>
          </a:lstStyle>
          <a:p>
            <a:pPr>
              <a:defRPr b="1" sz="2600">
                <a:solidFill>
                  <a:srgbClr val="6B0F1A"/>
                </a:solidFill>
                <a:latin typeface="+mn-lt"/>
                <a:ea typeface="+mn-ea"/>
                <a:cs typeface="+mn-cs"/>
              </a:defRPr>
            </a:pPr>
            <a:r>
              <a:t>¿Qué optimiza exactamente InfoNCE?</a:t>
            </a:r>
          </a:p>
        </p:txBody>
      </p:sp>
      <p:sp>
        <p:nvSpPr>
          <p:cNvPr id="620" name="TextBox 277"/>
          <p:cNvSpPr txBox="1"/>
          <p:nvPr/>
        </p:nvSpPr>
        <p:spPr>
          <a:xfrm>
            <a:off x="640079" y="1188720"/>
            <a:ext cx="10908794" cy="396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400">
                <a:solidFill>
                  <a:srgbClr val="4D0912"/>
                </a:solidFill>
                <a:latin typeface="+mj-lt"/>
                <a:ea typeface="+mj-ea"/>
                <a:cs typeface="+mj-cs"/>
                <a:sym typeface="Helvetica"/>
              </a:defRPr>
            </a:lvl1pPr>
          </a:lstStyle>
          <a:p>
            <a:pPr/>
            <a:r>
              <a:t>El objetivo contrastivo que optimizamos entre imagen y texto en cada batch (Oord 2018).</a:t>
            </a:r>
          </a:p>
        </p:txBody>
      </p:sp>
      <p:sp>
        <p:nvSpPr>
          <p:cNvPr id="621" name="TextBox 278"/>
          <p:cNvSpPr txBox="1"/>
          <p:nvPr/>
        </p:nvSpPr>
        <p:spPr>
          <a:xfrm>
            <a:off x="640078" y="1828800"/>
            <a:ext cx="5669284" cy="257466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Definición</a:t>
            </a:r>
          </a:p>
          <a:p>
            <a:pPr>
              <a:defRPr sz="800">
                <a:solidFill>
                  <a:srgbClr val="3C2814"/>
                </a:solidFill>
                <a:latin typeface="+mj-lt"/>
                <a:ea typeface="+mj-ea"/>
                <a:cs typeface="+mj-cs"/>
                <a:sym typeface="Helvetica"/>
              </a:defRPr>
            </a:pPr>
          </a:p>
          <a:p>
            <a:pPr>
              <a:defRPr b="1" sz="1400">
                <a:solidFill>
                  <a:srgbClr val="3C2814"/>
                </a:solidFill>
                <a:latin typeface="+mj-lt"/>
                <a:ea typeface="+mj-ea"/>
                <a:cs typeface="+mj-cs"/>
                <a:sym typeface="Helvetica"/>
              </a:defRPr>
            </a:pPr>
            <a:r>
              <a:t>Similitud escalada por temperatura:</a:t>
            </a:r>
          </a:p>
          <a:p>
            <a:pPr>
              <a:defRPr i="1" sz="1400">
                <a:solidFill>
                  <a:srgbClr val="3C2814"/>
                </a:solidFill>
                <a:latin typeface="+mj-lt"/>
                <a:ea typeface="+mj-ea"/>
                <a:cs typeface="+mj-cs"/>
                <a:sym typeface="Helvetica"/>
              </a:defRPr>
            </a:pPr>
            <a:r>
              <a:t>   sᵢⱼ = (vᵢ · tⱼ) / τ</a:t>
            </a:r>
          </a:p>
          <a:p>
            <a:pPr>
              <a:defRPr sz="800">
                <a:solidFill>
                  <a:srgbClr val="3C2814"/>
                </a:solidFill>
                <a:latin typeface="+mj-lt"/>
                <a:ea typeface="+mj-ea"/>
                <a:cs typeface="+mj-cs"/>
                <a:sym typeface="Helvetica"/>
              </a:defRPr>
            </a:pPr>
          </a:p>
          <a:p>
            <a:pPr>
              <a:defRPr b="1" sz="1400">
                <a:solidFill>
                  <a:srgbClr val="3C2814"/>
                </a:solidFill>
                <a:latin typeface="+mj-lt"/>
                <a:ea typeface="+mj-ea"/>
                <a:cs typeface="+mj-cs"/>
                <a:sym typeface="Helvetica"/>
              </a:defRPr>
            </a:pPr>
            <a:r>
              <a:t>Loss imagen → texto:</a:t>
            </a:r>
          </a:p>
          <a:p>
            <a:pPr>
              <a:defRPr i="1" sz="1300">
                <a:solidFill>
                  <a:srgbClr val="3C2814"/>
                </a:solidFill>
                <a:latin typeface="+mj-lt"/>
                <a:ea typeface="+mj-ea"/>
                <a:cs typeface="+mj-cs"/>
                <a:sym typeface="Helvetica"/>
              </a:defRPr>
            </a:pPr>
            <a:r>
              <a:t>   L_{I→T} = − (1/N) Σᵢ log[ exp(sᵢᵢ) / Σⱼ exp(sᵢⱼ) ]</a:t>
            </a:r>
          </a:p>
          <a:p>
            <a:pPr>
              <a:defRPr sz="800">
                <a:solidFill>
                  <a:srgbClr val="3C2814"/>
                </a:solidFill>
                <a:latin typeface="+mj-lt"/>
                <a:ea typeface="+mj-ea"/>
                <a:cs typeface="+mj-cs"/>
                <a:sym typeface="Helvetica"/>
              </a:defRPr>
            </a:pPr>
          </a:p>
          <a:p>
            <a:pPr>
              <a:defRPr b="1" sz="1400">
                <a:solidFill>
                  <a:srgbClr val="3C2814"/>
                </a:solidFill>
                <a:latin typeface="+mj-lt"/>
                <a:ea typeface="+mj-ea"/>
                <a:cs typeface="+mj-cs"/>
                <a:sym typeface="Helvetica"/>
              </a:defRPr>
            </a:pPr>
            <a:r>
              <a:t>Loss texto → imagen (análoga):</a:t>
            </a:r>
          </a:p>
          <a:p>
            <a:pPr>
              <a:defRPr i="1" sz="1300">
                <a:solidFill>
                  <a:srgbClr val="3C2814"/>
                </a:solidFill>
                <a:latin typeface="+mj-lt"/>
                <a:ea typeface="+mj-ea"/>
                <a:cs typeface="+mj-cs"/>
                <a:sym typeface="Helvetica"/>
              </a:defRPr>
            </a:pPr>
            <a:r>
              <a:t>   L_{T→I} = − (1/N) Σᵢ log[ exp(sᵢᵢ) / Σⱼ exp(sⱼᵢ) ]</a:t>
            </a:r>
          </a:p>
          <a:p>
            <a:pPr>
              <a:defRPr sz="800">
                <a:solidFill>
                  <a:srgbClr val="3C2814"/>
                </a:solidFill>
                <a:latin typeface="+mj-lt"/>
                <a:ea typeface="+mj-ea"/>
                <a:cs typeface="+mj-cs"/>
                <a:sym typeface="Helvetica"/>
              </a:defRPr>
            </a:pPr>
          </a:p>
          <a:p>
            <a:pPr>
              <a:defRPr b="1" sz="1400">
                <a:solidFill>
                  <a:srgbClr val="3C2814"/>
                </a:solidFill>
                <a:latin typeface="+mj-lt"/>
                <a:ea typeface="+mj-ea"/>
                <a:cs typeface="+mj-cs"/>
                <a:sym typeface="Helvetica"/>
              </a:defRPr>
            </a:pPr>
            <a:r>
              <a:t>Total simétrico:</a:t>
            </a:r>
          </a:p>
          <a:p>
            <a:pPr>
              <a:defRPr i="1" sz="1400">
                <a:solidFill>
                  <a:srgbClr val="3C2814"/>
                </a:solidFill>
                <a:latin typeface="+mj-lt"/>
                <a:ea typeface="+mj-ea"/>
                <a:cs typeface="+mj-cs"/>
                <a:sym typeface="Helvetica"/>
              </a:defRPr>
            </a:pPr>
            <a:r>
              <a:t>   L = ½ (L_{I→T} + L_{T→I})</a:t>
            </a:r>
          </a:p>
        </p:txBody>
      </p:sp>
      <p:sp>
        <p:nvSpPr>
          <p:cNvPr id="622" name="TextBox 279"/>
          <p:cNvSpPr txBox="1"/>
          <p:nvPr/>
        </p:nvSpPr>
        <p:spPr>
          <a:xfrm>
            <a:off x="6629399" y="1828800"/>
            <a:ext cx="5029203" cy="33361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6B0F1A"/>
                </a:solidFill>
                <a:latin typeface="+mj-lt"/>
                <a:ea typeface="+mj-ea"/>
                <a:cs typeface="+mj-cs"/>
                <a:sym typeface="Helvetica"/>
              </a:defRPr>
            </a:pPr>
            <a:r>
              <a:t>Intuición</a:t>
            </a:r>
          </a:p>
          <a:p>
            <a:pPr>
              <a:defRPr sz="1300">
                <a:solidFill>
                  <a:srgbClr val="3C2814"/>
                </a:solidFill>
                <a:latin typeface="+mj-lt"/>
                <a:ea typeface="+mj-ea"/>
                <a:cs typeface="+mj-cs"/>
                <a:sym typeface="Helvetica"/>
              </a:defRPr>
            </a:pPr>
            <a:r>
              <a:t>▸ Cada fila del batch es una imagen contra TODOS los textos: la diagonal son pares correctos.</a:t>
            </a:r>
          </a:p>
          <a:p>
            <a:pPr>
              <a:defRPr sz="1300">
                <a:solidFill>
                  <a:srgbClr val="3C2814"/>
                </a:solidFill>
                <a:latin typeface="+mj-lt"/>
                <a:ea typeface="+mj-ea"/>
                <a:cs typeface="+mj-cs"/>
                <a:sym typeface="Helvetica"/>
              </a:defRPr>
            </a:pPr>
            <a:r>
              <a:t>▸ El softmax fuerza a la diagonal a dominar sobre los negativos in-batch.</a:t>
            </a:r>
          </a:p>
          <a:p>
            <a:pPr>
              <a:defRPr sz="1300">
                <a:solidFill>
                  <a:srgbClr val="3C2814"/>
                </a:solidFill>
                <a:latin typeface="+mj-lt"/>
                <a:ea typeface="+mj-ea"/>
                <a:cs typeface="+mj-cs"/>
                <a:sym typeface="Helvetica"/>
              </a:defRPr>
            </a:pPr>
            <a:r>
              <a:t>▸ La temperatura τ controla la nitidez del softmax: menor τ = distinción más marcada, gradientes mayores.</a:t>
            </a:r>
          </a:p>
          <a:p>
            <a:pPr>
              <a:defRPr sz="1300">
                <a:solidFill>
                  <a:srgbClr val="3C2814"/>
                </a:solidFill>
                <a:latin typeface="+mj-lt"/>
                <a:ea typeface="+mj-ea"/>
                <a:cs typeface="+mj-cs"/>
                <a:sym typeface="Helvetica"/>
              </a:defRPr>
            </a:pPr>
            <a:r>
              <a:t>▸ τ se aprende como logit_scale = log(1/τ), acotada por seguridad numérica.</a:t>
            </a:r>
          </a:p>
          <a:p>
            <a:pPr>
              <a:defRPr sz="800">
                <a:solidFill>
                  <a:srgbClr val="3C2814"/>
                </a:solidFill>
                <a:latin typeface="+mj-lt"/>
                <a:ea typeface="+mj-ea"/>
                <a:cs typeface="+mj-cs"/>
                <a:sym typeface="Helvetica"/>
              </a:defRPr>
            </a:pPr>
          </a:p>
          <a:p>
            <a:pPr>
              <a:defRPr b="1" sz="1700">
                <a:solidFill>
                  <a:srgbClr val="6B0F1A"/>
                </a:solidFill>
                <a:latin typeface="+mj-lt"/>
                <a:ea typeface="+mj-ea"/>
                <a:cs typeface="+mj-cs"/>
                <a:sym typeface="Helvetica"/>
              </a:defRPr>
            </a:pPr>
            <a:r>
              <a:t>Caveat</a:t>
            </a:r>
          </a:p>
          <a:p>
            <a:pPr>
              <a:defRPr sz="1300">
                <a:solidFill>
                  <a:srgbClr val="3C2814"/>
                </a:solidFill>
                <a:latin typeface="+mj-lt"/>
                <a:ea typeface="+mj-ea"/>
                <a:cs typeface="+mj-cs"/>
                <a:sym typeface="Helvetica"/>
              </a:defRPr>
            </a:pPr>
            <a:r>
              <a:t>▸ Con prompts COMPARTIDOS por clase (5 clases, muchas imágenes por clase), aparecen falsos negativos:</a:t>
            </a:r>
          </a:p>
          <a:p>
            <a:pPr>
              <a:defRPr sz="1200">
                <a:solidFill>
                  <a:srgbClr val="826540"/>
                </a:solidFill>
                <a:latin typeface="+mj-lt"/>
                <a:ea typeface="+mj-ea"/>
                <a:cs typeface="+mj-cs"/>
                <a:sym typeface="Helvetica"/>
              </a:defRPr>
            </a:pPr>
            <a:r>
              <a:t>   varias imágenes del mismo tipo tratan el prompt de la otra como "negativo".</a:t>
            </a:r>
          </a:p>
          <a:p>
            <a:pPr>
              <a:defRPr sz="1300">
                <a:solidFill>
                  <a:srgbClr val="3C2814"/>
                </a:solidFill>
                <a:latin typeface="+mj-lt"/>
                <a:ea typeface="+mj-ea"/>
                <a:cs typeface="+mj-cs"/>
                <a:sym typeface="Helvetica"/>
              </a:defRPr>
            </a:pPr>
            <a:r>
              <a:t>▸ Documentado en 3.5 del report.</a:t>
            </a:r>
          </a:p>
        </p:txBody>
      </p:sp>
      <p:sp>
        <p:nvSpPr>
          <p:cNvPr id="623" name="TextBox 280"/>
          <p:cNvSpPr txBox="1"/>
          <p:nvPr/>
        </p:nvSpPr>
        <p:spPr>
          <a:xfrm>
            <a:off x="640079" y="5897880"/>
            <a:ext cx="10908794" cy="320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j-lt"/>
                <a:ea typeface="+mj-ea"/>
                <a:cs typeface="+mj-cs"/>
                <a:sym typeface="Helvetica"/>
              </a:defRPr>
            </a:lvl1pPr>
          </a:lstStyle>
          <a:p>
            <a:pPr/>
            <a:r>
              <a:t>InfoNCE empuja la diagonal (pares reales) por encima de las off-diagonales (falsos-negativos in-batch).</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