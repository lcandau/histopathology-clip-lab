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90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1" name="Shape 91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11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9" name="Shape 11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1400"/>
              <a:t>Histopatología digital. Explica en dos frases qué es (análisis visual de tejidos por patólogos, hoy sobre WSIs digitalizadas), y por qué es un banco de pruebas exigente para modelos de visión (imágenes muy grandes, dominios distintos por órgano, variabilidad entre laboratorios).</a:t>
            </a:r>
          </a:p>
          <a:p/>
          <a:p>
            <a:r>
              <a:rPr sz="1400"/>
              <a:t>Engagement: menciona el paso analógico → digital como una razón por la que ML tiene ahora un rol claro.</a:t>
            </a:r>
          </a:p>
          <a:p>
            <a:r>
              <a:rPr sz="1400"/>
              <a:t>Duración: ~40-50 s.</a:t>
            </a:r>
          </a:p>
          <a:p>
            <a:r>
              <a:rPr sz="1400"/>
              <a:t>Evita: profundizar en detalles clínicos; el tribunal no necesita el diagnóstico paso a paso.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1" name="Shape 13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1400"/>
              <a:t>Retos del dominio. Tres particularidades que cualquier pipeline de visión debe contemplar:</a:t>
            </a:r>
          </a:p>
          <a:p>
            <a:r>
              <a:rPr sz="1400"/>
              <a:t>1) Escasez de etiquetas (varias órdenes de magnitud menores que corpus generales).</a:t>
            </a:r>
          </a:p>
          <a:p>
            <a:r>
              <a:rPr sz="1400"/>
              <a:t>2) Variabilidad de tinción H&amp;E (laboratorio, técnico, protocolo).</a:t>
            </a:r>
          </a:p>
          <a:p>
            <a:r>
              <a:rPr sz="1400"/>
              <a:t>3) Sesgo institucional / desplazamiento entre instituciones.</a:t>
            </a:r>
          </a:p>
          <a:p/>
          <a:p>
            <a:r>
              <a:rPr sz="1400"/>
              <a:t>Señala la figura: mismo tipo de tejido en cuatro datasets se ve marcadamente diferente.</a:t>
            </a:r>
          </a:p>
          <a:p>
            <a:r>
              <a:rPr sz="1400"/>
              <a:t>Engagement: apoyar el «por eso este trabajo es sobre generalización externa», no sobre in-distribution.</a:t>
            </a:r>
          </a:p>
          <a:p>
            <a:r>
              <a:rPr sz="1400"/>
              <a:t>Duración: ~45-60 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14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3" name="Shape 14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1400"/>
              <a:t>Modelos fundacionales visión-lenguaje. Idea: se pre-entrenan en corpus enormes de pares imagen–texto (CLIP: ~400 M pares), y el texto actúa como supervisión débil. Ventaja: se transfieren a dominios especializados sin volver a etiquetar imágenes.</a:t>
            </a:r>
          </a:p>
          <a:p/>
          <a:p>
            <a:r>
              <a:rPr sz="1400"/>
              <a:t>Motivo para elegirlos aquí: mitigan la escasez de etiquetas y traen «conocimiento previo» del mundo real.</a:t>
            </a:r>
          </a:p>
          <a:p>
            <a:r>
              <a:rPr sz="1400"/>
              <a:t>Engagement: distingue en voz alta «modelo fundacional» de «modelo específico»; el tribunal puede no tener claro el término.</a:t>
            </a:r>
          </a:p>
          <a:p>
            <a:r>
              <a:rPr sz="1400"/>
              <a:t>Duración: ~45-60 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15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4" name="Shape 15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1400"/>
              <a:t>Pregunta central. Léela literal: ¿en qué medida generaliza un modelo fundacional visión-lenguaje entre instituciones histopatológicas cuando cambiamos un componente cada vez?</a:t>
            </a:r>
          </a:p>
          <a:p/>
          <a:p>
            <a:r>
              <a:rPr sz="1400"/>
              <a:t>El «contrato experimental»: una variable cada vez, evaluación externa por órgano, no promediada.</a:t>
            </a:r>
          </a:p>
          <a:p>
            <a:r>
              <a:rPr sz="1400"/>
              <a:t>Engagement: haz una pausa larga tras la pregunta; deja que asiente.</a:t>
            </a:r>
          </a:p>
          <a:p>
            <a:r>
              <a:rPr sz="1400"/>
              <a:t>Duración: ~30-45 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17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3" name="Shape 17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1400"/>
              <a:t>Paradigma CLIP. En esta diapositiva hay una animación: primero aparece el esquema Step 1 → Step K, y en un clic se revela la matriz InfoNCE de fondo.</a:t>
            </a:r>
          </a:p>
          <a:p/>
          <a:p>
            <a:r>
              <a:rPr sz="1400"/>
              <a:t>Paso 1: explica el diagrama de conceptual. En el estado inicial, imágenes y descripciones están dispersas en el espacio. Con entrenamiento contrastivo (InfoNCE), cada imagen «tira» de su descripción hasta que los pares reales quedan juntos y los no-pares se separan.</a:t>
            </a:r>
          </a:p>
          <a:p/>
          <a:p>
            <a:r>
              <a:rPr sz="1400"/>
              <a:t>Paso 2 (clic): revela la matriz. Diagonal (dorado) son pares positivos (imagen ↔ su clase); fuera de diagonal (crema) son pares negativos. Loss: InfoNCE simétrica. En inferencia: argmax por fila = clase predicha.</a:t>
            </a:r>
          </a:p>
          <a:p/>
          <a:p>
            <a:r>
              <a:rPr sz="1400"/>
              <a:t>Cierra con: «Es una clasificación zero-shot con vocabulario de clases; sin entrenar cabezas específicas.»</a:t>
            </a:r>
          </a:p>
          <a:p>
            <a:r>
              <a:rPr sz="1400"/>
              <a:t>Engagement: aprovecha el clic como marcador de ritmo. No hables sobre la matriz sin haberla revelado.</a:t>
            </a:r>
          </a:p>
          <a:p>
            <a:r>
              <a:rPr sz="1400"/>
              <a:t>Duración: ~75-90 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18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6" name="Shape 18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1400"/>
              <a:t>PLIP. Modelo CLIP-style específico de patología (Huang et al. 2023), entrenado sobre ~208K pares imagen–texto extraídos de literatura y redes sociales científicas. Es el único VLM histopatológico disponible en el momento del estudio.</a:t>
            </a:r>
          </a:p>
          <a:p/>
          <a:p>
            <a:r>
              <a:rPr sz="1400"/>
              <a:t>En este trabajo lo usamos de dos formas:</a:t>
            </a:r>
          </a:p>
          <a:p>
            <a:r>
              <a:rPr sz="1400"/>
              <a:t>1) Zero-shot: sobre los 4 datasets, sin entrenar nada nuestro.</a:t>
            </a:r>
          </a:p>
          <a:p>
            <a:r>
              <a:rPr sz="1400"/>
              <a:t>2) Como codificador de imagen alternativo en RQ5, combinado con nuestro BERT congelado y proyecciones entrenadas sobre LC25000.</a:t>
            </a:r>
          </a:p>
          <a:p/>
          <a:p>
            <a:r>
              <a:rPr sz="1400"/>
              <a:t>Duración: ~40-50 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19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8" name="Shape 19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1400"/>
              <a:t>Línea base experimental. CLIP entrenado sobre LC25000 con:</a:t>
            </a:r>
          </a:p>
          <a:p>
            <a:r>
              <a:rPr sz="1400"/>
              <a:t>- Codificador de imagen: ResNet50 pre-entrenado en ImageNet, congelado.</a:t>
            </a:r>
          </a:p>
          <a:p>
            <a:r>
              <a:rPr sz="1400"/>
              <a:t>- Codificador de texto: BERT-base uncased, congelado.</a:t>
            </a:r>
          </a:p>
          <a:p>
            <a:r>
              <a:rPr sz="1400"/>
              <a:t>- Cabezas de proyección 256-d entrenables (una por modalidad).</a:t>
            </a:r>
          </a:p>
          <a:p>
            <a:r>
              <a:rPr sz="1400"/>
              <a:t>- Prompt fijo: «A histopathology image of {class}.»</a:t>
            </a:r>
          </a:p>
          <a:p>
            <a:r>
              <a:rPr sz="1400"/>
              <a:t>- Loss: InfoNCE simétrica; temperatura aprendida.</a:t>
            </a:r>
          </a:p>
          <a:p/>
          <a:p>
            <a:r>
              <a:rPr sz="1400"/>
              <a:t>El resto de detalles (optimizador, LR, épocas, seed, precisión float32) están en las notas y en el capítulo 3 del TFM. Si el tribunal pregunta, puedo entrar en profundidad.</a:t>
            </a:r>
          </a:p>
          <a:p/>
          <a:p>
            <a:r>
              <a:rPr sz="1400"/>
              <a:t>Engagement: no te enredes con hiperparámetros en la exposición; es material de preguntas.</a:t>
            </a:r>
          </a:p>
          <a:p>
            <a:r>
              <a:rPr sz="1400"/>
              <a:t>Duración: ~45-60 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21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1" name="Shape 21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1400"/>
              <a:t>Diseño experimental: seis experimentos, cada uno cambia UN componente respecto a la línea base. RQ2 (cabeza CLIP vs Dense-5), PLIP zero-shot como referencia, RQ3 (Macenko), RQ4 (encoders de texto biomédicos × prompts, grid 3×2), RQ5 (encoders de imagen: DINOv2 y PLIP).</a:t>
            </a:r>
          </a:p>
          <a:p/>
          <a:p>
            <a:r>
              <a:rPr sz="1400"/>
              <a:t>Evaluación externa en 3 datasets no vistos:</a:t>
            </a:r>
          </a:p>
          <a:p>
            <a:r>
              <a:rPr sz="1400"/>
              <a:t>- NCT-CRC (colon, estilo similar a LC25000; Kather 2019).</a:t>
            </a:r>
          </a:p>
          <a:p>
            <a:r>
              <a:rPr sz="1400"/>
              <a:t>- Chaoyang (colon, tinción/escáner distintos; Zhu 2021).</a:t>
            </a:r>
          </a:p>
          <a:p>
            <a:r>
              <a:rPr sz="1400"/>
              <a:t>- LungHist700 (pulmón, 20×; Reyes 2024).</a:t>
            </a:r>
          </a:p>
          <a:p/>
          <a:p>
            <a:r>
              <a:rPr sz="1400"/>
              <a:t>Protocolo:</a:t>
            </a:r>
          </a:p>
          <a:p>
            <a:r>
              <a:rPr sz="1400"/>
              <a:t>- Argmax restringido por órgano (cada dataset compara solo contra sus clases, no las 5 completas).</a:t>
            </a:r>
          </a:p>
          <a:p>
            <a:r>
              <a:rPr sz="1400"/>
              <a:t>- Reporte separado por dataset (no promediado), para no ocultar cambios de régimen entre órganos.</a:t>
            </a:r>
          </a:p>
          <a:p/>
          <a:p>
            <a:r>
              <a:rPr sz="1400"/>
              <a:t>Duración: ~50-70 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4" name="Shape 2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1400"/>
              <a:t>Aclaración previa a los resultados: los números reportados en esta sección tienen un jitter de ~10⁻³ macro-F1 entre re-entrenamientos con el mismo seed 42 (procede de HuggingFace load order, cuDNN autotune, y variaciones menores del entorno Colab). Cuando dos variantes se diferencian por menos de ese orden de magnitud, consideramos que empatan dentro del ruido.</a:t>
            </a:r>
          </a:p>
          <a:p/>
          <a:p>
            <a:r>
              <a:rPr sz="1400"/>
              <a:t>Por consistencia, cuando una variante repite exactamente la arquitectura baseline (por ejemplo, BERT + composed en el barrido de codificadores de texto), reportamos el número canónico de la línea base y no el del re-run.</a:t>
            </a:r>
          </a:p>
          <a:p/>
          <a:p>
            <a:r>
              <a:rPr sz="1400"/>
              <a:t>---</a:t>
            </a:r>
          </a:p>
          <a:p/>
          <a:p>
            <a:r>
              <a:rPr sz="1400"/>
              <a:t>Comportamiento de la línea base. Cuatro números clave:</a:t>
            </a:r>
          </a:p>
          <a:p>
            <a:r>
              <a:rPr sz="1400"/>
              <a:t>- LC25000 (in-dist): 0.996 – saturado.</a:t>
            </a:r>
          </a:p>
          <a:p>
            <a:r>
              <a:rPr sz="1400"/>
              <a:t>- NCT-CRC: 0.866 – transferencia razonable.</a:t>
            </a:r>
          </a:p>
          <a:p>
            <a:r>
              <a:rPr sz="1400"/>
              <a:t>- Chaoyang: 0.786 – degradación notable.</a:t>
            </a:r>
          </a:p>
          <a:p>
            <a:r>
              <a:rPr sz="1400"/>
              <a:t>- LungHist700: 0.305 – colapso, cerca del azar 3-clases.</a:t>
            </a:r>
          </a:p>
          <a:p/>
          <a:p>
            <a:r>
              <a:rPr sz="1400"/>
              <a:t>La matriz de confusión de LungHist700 muestra el fallo mecánico: el clasificador se colapsa a una sola clase (predice casi todo como escamoso).</a:t>
            </a:r>
          </a:p>
          <a:p/>
          <a:p>
            <a:r>
              <a:rPr sz="1400"/>
              <a:t>Engagement: haz una pausa después de decir «0.305». Deja que aterrice antes de mostrar la matriz.</a:t>
            </a:r>
          </a:p>
          <a:p>
            <a:r>
              <a:rPr sz="1400"/>
              <a:t>Duración: ~60-75 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Portada. Buenos días. Soy Leandro Candau, y hoy presento mi TFM: A Study on Foundational Vision-Language Models for Histopathology Image Analysis. Bajo la dirección de Miguel Ángel Gutiérrez Naranjo y Miguel Cárdenas Montes.</a:t>
            </a:r>
          </a:p>
          <a:p/>
          <a:p>
            <a:r>
              <a:rPr sz="1400"/>
              <a:t>Engagement: mira al tribunal, pausa breve tras el título, sonríe. No leas la portada palabra por palabra.</a:t>
            </a:r>
          </a:p>
          <a:p>
            <a:r>
              <a:rPr sz="1400"/>
              <a:t>Duración: ~30 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Divisor de sección 01: Motivación. Transición rápida.</a:t>
            </a:r>
          </a:p>
          <a:p/>
          <a:p>
            <a:r>
              <a:rPr sz="1400"/>
              <a:t>Solo dilo: «Empecemos por la motivación.»</a:t>
            </a:r>
          </a:p>
          <a:p>
            <a:r>
              <a:rPr sz="1400"/>
              <a:t>Duración: ~5 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Divisor de sección 02: Metodología.</a:t>
            </a:r>
          </a:p>
          <a:p/>
          <a:p>
            <a:r>
              <a:rPr sz="1400"/>
              <a:t>«Pasamos a la metodología.»</a:t>
            </a:r>
          </a:p>
          <a:p>
            <a:r>
              <a:rPr sz="1400"/>
              <a:t>Duración: ~5 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Divisor de sección 03: Resultados.</a:t>
            </a:r>
          </a:p>
          <a:p/>
          <a:p>
            <a:r>
              <a:rPr sz="1400"/>
              <a:t>«Ahora los resultados.»</a:t>
            </a:r>
          </a:p>
          <a:p>
            <a:r>
              <a:rPr sz="1400"/>
              <a:t>Duración: ~5 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Espacio latente del baseline a través del shift. Cuatro UMAP compartidos, uno por dataset externo. La animación conmuta entre el scatter y los thumbnails.</a:t>
            </a:r>
          </a:p>
          <a:p/>
          <a:p>
            <a:r>
              <a:rPr sz="1400"/>
              <a:t>Léase: LC25000 y NCT co-localizan (transferencia limpia). Chaoyang deriva pero permanece cerca del cluster de colon. LungHist700 aterriza en la zona del cluster de colon adenocarcinoma; el modelo no reconoce «pulmón» como un cluster distinto.</a:t>
            </a:r>
          </a:p>
          <a:p/>
          <a:p>
            <a:r>
              <a:rPr sz="1400"/>
              <a:t>Mensaje: la métrica no falla sola; la geometría también refleja el colapso.</a:t>
            </a:r>
          </a:p>
          <a:p>
            <a:r>
              <a:rPr sz="1400"/>
              <a:t>Engagement: es una diapositiva de puente, no de resultado. Pasa rápido.</a:t>
            </a:r>
          </a:p>
          <a:p>
            <a:r>
              <a:rPr sz="1400"/>
              <a:t>Duración: ~30-45 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CLIP vs clasificador CE. Misma ResNet50, solo cambia la cabeza: coseno + temperatura (CLIP) vs softmax CE (clasificador plano de 5 clases).</a:t>
            </a:r>
          </a:p>
          <a:p/>
          <a:p>
            <a:r>
              <a:rPr sz="1400"/>
              <a:t>Léase el chart Δ: en LC25000 (in-dist) empatan (+0.001). En NCT plain CE queda ligeramente por encima (−0.014). En Chaoyang CLIP gana +0.064. En LungHist700 CLIP gana +0.024 (pero ambos siguen cerca del azar).</a:t>
            </a:r>
          </a:p>
          <a:p/>
          <a:p>
            <a:r>
              <a:rPr sz="1400"/>
              <a:t>Muestra las CMs: CE convierte Chaoyang casi en «todo adenocarcinoma»; CLIP mantiene más balance (65/35 vs 47/53 en la clase benigna).</a:t>
            </a:r>
          </a:p>
          <a:p/>
          <a:p>
            <a:r>
              <a:rPr sz="1400"/>
              <a:t>Mensaje: la cabeza CLIP aporta robustez bajo shift, pero es una palanca secundaria. No rompe el régimen pulmonar.</a:t>
            </a:r>
          </a:p>
          <a:p>
            <a:r>
              <a:rPr sz="1400"/>
              <a:t>Duración: ~50-70 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Normalización de tinción con Macenko. Motivación: la tinción varía dramáticamente entre datasets (mostramos los 4 métodos aplicados a la misma muestra).</a:t>
            </a:r>
          </a:p>
          <a:p/>
          <a:p>
            <a:r>
              <a:rPr sz="1400"/>
              <a:t>Método: estimamos las matrices de referencia sobre NCT-NORM y proyectamos LC25000 (train), Chaoyang y LungHist700 (inference) al mismo espacio de color.</a:t>
            </a:r>
          </a:p>
          <a:p/>
          <a:p>
            <a:r>
              <a:rPr sz="1400"/>
              <a:t>Resultado (leer del chart): NCT −0.022, Chaoyang +0.030, LungHist700 +0.020. Mejoras marginales en datos externos, ligera penalización en NCT.</a:t>
            </a:r>
          </a:p>
          <a:p/>
          <a:p>
            <a:r>
              <a:rPr sz="1400"/>
              <a:t>Mensaje: la tinción explica una parte menor del shift; no rompe el colapso en pulmón.</a:t>
            </a:r>
          </a:p>
          <a:p>
            <a:r>
              <a:rPr sz="1400"/>
              <a:t>Duración: ~45-60 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Los codificadores de texto biomédico no mejoran la transferencia. Grid 3×2: BERT, BioBERT, PubMedBERT × prompts «name only» y «composed».</a:t>
            </a:r>
          </a:p>
          <a:p/>
          <a:p>
            <a:r>
              <a:rPr sz="1400"/>
              <a:t>El chart Δ (derecha) muestra que ninguna variante supera la línea base sobre NCT; todas caen entre −0.058 y −0.003. La mejor variante biomédica es PubMedBERT + name_only, pero sigue −0.011 por debajo.</a:t>
            </a:r>
          </a:p>
          <a:p/>
          <a:p>
            <a:r>
              <a:rPr sz="1400"/>
              <a:t>El panel de tokenización (izquierda) explica por qué la hipótesis inicial era plausible: PubMedBERT integra «adenocarcinoma» como un solo token, mientras que BERT y BioBERT lo fragmentan. Sin embargo, la mejor tokenización no se traduce en mejor F1.</a:t>
            </a:r>
          </a:p>
          <a:p/>
          <a:p>
            <a:r>
              <a:rPr sz="1400"/>
              <a:t>Extensión externa (mencionar): sobre Chaoyang la mejor biomédica empata dentro del ruido; sobre LungHist700 regresa. No es un artefacto de NCT.</a:t>
            </a:r>
          </a:p>
          <a:p/>
          <a:p>
            <a:r>
              <a:rPr sz="1400"/>
              <a:t>Duración: ~60-75 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Cambio de régimen en pulmón. Cuatro variantes evaluadas sobre LungHist700: baseline (0.305), Macenko (0.325), PubMedBERT + name_only (0.279), clasificador CE (0.281). Todas se quedan pegadas al azar 3-clases (F1 ≈ 0.333).</a:t>
            </a:r>
          </a:p>
          <a:p/>
          <a:p>
            <a:r>
              <a:rPr sz="1400"/>
              <a:t>Bridge: preprocesado, texto y cabeza no rompen el colapso pulmonar. La siguiente variable es el codificador visual.</a:t>
            </a:r>
          </a:p>
          <a:p/>
          <a:p>
            <a:r>
              <a:rPr sz="1400"/>
              <a:t>Engagement: úsala como transición corta; no te enredes con los deltas exactos.</a:t>
            </a:r>
          </a:p>
          <a:p>
            <a:r>
              <a:rPr sz="1400"/>
              <a:t>Duración: ~25-40 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El codificador visual como palanca dominante. Cambio controlado: sustituimos ResNet50 (ImageNet) por PLIP ViT-B/32 (OpenPath). Mantenemos: BERT congelado, prompts, cabezas de proyección CLIP, entrenamiento en LC25000.</a:t>
            </a:r>
          </a:p>
          <a:p/>
          <a:p>
            <a:r>
              <a:rPr sz="1400"/>
              <a:t>El chart pareado muestra el resultado en los tres datasets externos: NCT +0.067 (0.866 → 0.933), Chaoyang +0.027 (0.786 → 0.813), LungHist700 +0.335 (0.305 → 0.640).</a:t>
            </a:r>
          </a:p>
          <a:p/>
          <a:p>
            <a:r>
              <a:rPr sz="1400"/>
              <a:t>Mensaje: solo este cambio convierte LungHist700 de predictor degenerado (cerca del azar 3-clases) a clasificador funcional. El cuello de botella era la representación visual.</a:t>
            </a:r>
          </a:p>
          <a:p/>
          <a:p>
            <a:r>
              <a:rPr sz="1400"/>
              <a:t>Engagement: este es tu resultado principal. Baja el ritmo aquí. Enfatiza el 0.305 → 0.640.</a:t>
            </a:r>
          </a:p>
          <a:p>
            <a:r>
              <a:rPr sz="1400"/>
              <a:t>Duración: ~60-75 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Descomposición de la mejora: escalera de tres pasos sobre LungHist700.</a:t>
            </a:r>
          </a:p>
          <a:p>
            <a:r>
              <a:rPr sz="1400"/>
              <a:t>- 0.305 (ResNet50) → 0.457 (DINOv2 ViT-B/14): +0.152, atribuible a amplitud visual general (ViT + SSL general).</a:t>
            </a:r>
          </a:p>
          <a:p>
            <a:r>
              <a:rPr sz="1400"/>
              <a:t>- 0.457 → 0.544 (PLIP zero-shot): +0.087, atribuible al preentrenamiento histopatológico.</a:t>
            </a:r>
          </a:p>
          <a:p>
            <a:r>
              <a:rPr sz="1400"/>
              <a:t>- 0.544 → 0.640 (PLIP + LC25000 head): +0.096, atribuible a la supervisión sobre LC25000.</a:t>
            </a:r>
          </a:p>
          <a:p/>
          <a:p>
            <a:r>
              <a:rPr sz="1400"/>
              <a:t>Mensaje: la amplitud visual desbloquea; el dominio amplifica. DINOv2 separa parte del salto sin histopatología; PLIP añade el margen de dominio.</a:t>
            </a:r>
          </a:p>
          <a:p/>
          <a:p>
            <a:r>
              <a:rPr sz="1400"/>
              <a:t>Aclarar: no es una descomposición factorial perfecta (PLIP y DINOv2 mezclan objetivo y patch size); es una secuencia interpretable.</a:t>
            </a:r>
          </a:p>
          <a:p>
            <a:r>
              <a:rPr sz="1400"/>
              <a:t>Duración: ~60-75 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Por qué importa el codificador visual: espacio latente. Cuatro UMAP sobre LungHist700, mismo layout que la escalera.</a:t>
            </a:r>
          </a:p>
          <a:p/>
          <a:p>
            <a:r>
              <a:rPr sz="1400"/>
              <a:t>- ResNet50: los triángulos de LungHist700 aterrizan sobre el cluster de colon adenocarcinoma. Sin estructura por clase.</a:t>
            </a:r>
          </a:p>
          <a:p>
            <a:r>
              <a:rPr sz="1400"/>
              <a:t>- DINOv2: separación parcial, F1 0.457.</a:t>
            </a:r>
          </a:p>
          <a:p>
            <a:r>
              <a:rPr sz="1400"/>
              <a:t>- PLIP zero-shot: cluster propio junto al pulmón, sin subestructura, F1 0.544.</a:t>
            </a:r>
          </a:p>
          <a:p>
            <a:r>
              <a:rPr sz="1400"/>
              <a:t>- PLIP + LC25000: aparece subestructura por clase, F1 0.640.</a:t>
            </a:r>
          </a:p>
          <a:p/>
          <a:p>
            <a:r>
              <a:rPr sz="1400"/>
              <a:t>Mensaje: el UMAP no prueba el mecanismo; muestra el patrón que la métrica resume. PLIP no solo sube F1, recupera estructura visual útil.</a:t>
            </a:r>
          </a:p>
          <a:p/>
          <a:p>
            <a:r>
              <a:rPr sz="1400"/>
              <a:t>Engagement: apoyo visual, no otro resultado. Mantén el ritmo.</a:t>
            </a:r>
          </a:p>
          <a:p>
            <a:r>
              <a:rPr sz="1400"/>
              <a:t>Duración: ~40-55 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Divisor de sección 04: Discusión y conclusiones.</a:t>
            </a:r>
          </a:p>
          <a:p/>
          <a:p>
            <a:r>
              <a:rPr sz="1400"/>
              <a:t>Sube el tagline: no es solo un ranking de modelos; es un estudio sobre qué tipo de representación visual transfiere.</a:t>
            </a:r>
          </a:p>
          <a:p>
            <a:r>
              <a:rPr sz="1400"/>
              <a:t>Duración: ~10 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Qué explica realmente la generalización externa. Tres tarjetas + conclusión.</a:t>
            </a:r>
          </a:p>
          <a:p/>
          <a:p>
            <a:r>
              <a:rPr sz="1400"/>
              <a:t>1) El cuello de botella era visual: normalización de tinción, encoders biomédicos, y sustituir CLIP por un clasificador CE no rompen el colapso pulmonar. El régimen cambia solo al cambiar la representación visual.</a:t>
            </a:r>
          </a:p>
          <a:p/>
          <a:p>
            <a:r>
              <a:rPr sz="1400"/>
              <a:t>2) La amplitud visual desbloquea; el dominio amplifica. DINOv2 sube LungHist700 de 0.305 → 0.457 sin histopatología; PLIP zero-shot a 0.544; PLIP + LC25000 alcanza 0.640.</a:t>
            </a:r>
          </a:p>
          <a:p/>
          <a:p>
            <a:r>
              <a:rPr sz="1400"/>
              <a:t>3) Reportar por órgano cambia la conclusión. Colon transfiere parcialmente. Pulmón colapsa. Promediar externos ocultaría esa asimetría.</a:t>
            </a:r>
          </a:p>
          <a:p/>
          <a:p>
            <a:r>
              <a:rPr sz="1400"/>
              <a:t>Conclusión: bajo shift externo, no domina el texto, el color ni la cabeza CE; domina la representación visual. La amplitud general desbloquea la transferencia y el pretraining histopatológico aporta el mejor margen final.</a:t>
            </a:r>
          </a:p>
          <a:p/>
          <a:p>
            <a:r>
              <a:rPr sz="1400"/>
              <a:t>Engagement: este es tu momento de tesis. Habla claro y con seguridad, sin correr.</a:t>
            </a:r>
          </a:p>
          <a:p>
            <a:r>
              <a:rPr sz="1400"/>
              <a:t>Duración: ~60-80 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Limitaciones que anticipan las preguntas del tribunal:</a:t>
            </a:r>
          </a:p>
          <a:p>
            <a:r>
              <a:rPr sz="1400"/>
              <a:t>- Encoders congelados: con fine-tuning end-to-end la palanca dominante podría cambiar.</a:t>
            </a:r>
          </a:p>
          <a:p>
            <a:r>
              <a:rPr sz="1400"/>
              <a:t>- LC25000 infla el resultado in-distribution (aumentos y duplicados); por eso la evidencia fuerte viene de los datasets externos.</a:t>
            </a:r>
          </a:p>
          <a:p>
            <a:r>
              <a:rPr sz="1400"/>
              <a:t>- PLIP vs DINOv2 no separa completamente dominio, objetivo y patch size: el +0.087 se lee como evidencia de preentrenamiento histopatológico, no como aislamiento causal.</a:t>
            </a:r>
          </a:p>
          <a:p>
            <a:r>
              <a:rPr sz="1400"/>
              <a:t>- Una semilla por condición y N=359 en LungHist700: sin intervalos de confianza sobre el +0.335.</a:t>
            </a:r>
          </a:p>
          <a:p/>
          <a:p>
            <a:r>
              <a:rPr sz="1400"/>
              <a:t>Trabajo futuro:</a:t>
            </a:r>
          </a:p>
          <a:p>
            <a:r>
              <a:rPr sz="1400"/>
              <a:t>- Control factorial: mismo ViT y patch size, distinto dominio de preentrenamiento.</a:t>
            </a:r>
          </a:p>
          <a:p>
            <a:r>
              <a:rPr sz="1400"/>
              <a:t>- Comparación head-to-head con UNI, CONCH, BiomedCLIP, MUSK.</a:t>
            </a:r>
          </a:p>
          <a:p>
            <a:r>
              <a:rPr sz="1400"/>
              <a:t>- SSL histopatológico controlado sobre TCGA.</a:t>
            </a:r>
          </a:p>
          <a:p>
            <a:r>
              <a:rPr sz="1400"/>
              <a:t>- Extensión a WSI como secuencia de tiles.</a:t>
            </a:r>
          </a:p>
          <a:p/>
          <a:p>
            <a:r>
              <a:rPr sz="1400"/>
              <a:t>Engagement: anticipa; no las escondas. Si preguntas, ya está en la lista.</a:t>
            </a:r>
          </a:p>
          <a:p>
            <a:r>
              <a:rPr sz="1400"/>
              <a:t>Duración: ~45-60 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rPr sz="1400"/>
              <a:t>Preguntas. «Gracias, ahora abierto a preguntas del tribunal.»</a:t>
            </a:r>
          </a:p>
          <a:p/>
          <a:p>
            <a:r>
              <a:rPr sz="1400"/>
              <a:t>Engagement: cuerpo relajado, mira al presidente del tribunal, respira antes de responder.</a:t>
            </a:r>
          </a:p>
          <a:p>
            <a:r>
              <a:rPr sz="1400"/>
              <a:t>Duración: variable.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207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83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4" cy="80488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6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2540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Rectangle 1"/>
          <p:cNvSpPr/>
          <p:nvPr/>
        </p:nvSpPr>
        <p:spPr>
          <a:xfrm>
            <a:off x="-1" y="5852159"/>
            <a:ext cx="12191697" cy="1005840"/>
          </a:xfrm>
          <a:prstGeom prst="rect">
            <a:avLst/>
          </a:prstGeom>
          <a:solidFill>
            <a:srgbClr val="4D091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0" y="2011675"/>
            <a:ext cx="457200" cy="3200423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TextBox 3"/>
          <p:cNvSpPr txBox="1"/>
          <p:nvPr/>
        </p:nvSpPr>
        <p:spPr>
          <a:xfrm>
            <a:off x="1143000" y="914399"/>
            <a:ext cx="996696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C9A227"/>
                </a:solidFill>
              </a:defRPr>
            </a:lvl1pPr>
          </a:lstStyle>
          <a:p>
            <a:pPr/>
            <a:r>
              <a:t>Trabajo de Fin de Máster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143000" y="1463038"/>
            <a:ext cx="9966961" cy="1294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4200">
                <a:solidFill>
                  <a:srgbClr val="FFFFFF"/>
                </a:solidFill>
              </a:defRPr>
            </a:lvl1pPr>
          </a:lstStyle>
          <a:p>
            <a:pPr/>
            <a:r>
              <a:t>A Study on Foundational Vision-Language Models for Histopathology Image Analysis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1143000" y="4114800"/>
            <a:ext cx="9966961" cy="38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FFFFFF"/>
                </a:solidFill>
              </a:defRPr>
            </a:lvl1pPr>
          </a:lstStyle>
          <a:p>
            <a:pPr/>
            <a:r>
              <a:t>Leandro Candau Sánchez de Ybargüen</a:t>
            </a:r>
          </a:p>
        </p:txBody>
      </p:sp>
      <p:sp>
        <p:nvSpPr>
          <p:cNvPr id="99" name="TextBox 6"/>
          <p:cNvSpPr txBox="1"/>
          <p:nvPr/>
        </p:nvSpPr>
        <p:spPr>
          <a:xfrm>
            <a:off x="1143000" y="4617720"/>
            <a:ext cx="9966961" cy="8537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400">
                <a:solidFill>
                  <a:srgbClr val="FAF7F2"/>
                </a:solidFill>
              </a:defRPr>
            </a:pPr>
            <a:r>
              <a:t>Tutores:  Miguel Ángel Gutiérrez Naranjo   ·   Miguel Cárdenas Montes</a:t>
            </a:r>
          </a:p>
          <a:p>
            <a:pPr/>
            <a:r>
              <a:t>Máster Universitario en Lógica, Computación e Inteligencia Artificial</a:t>
            </a:r>
          </a:p>
          <a:p>
            <a:pPr/>
            <a:r>
              <a:t>ETSI Informática · Universidad de Sevilla · 2026</a:t>
            </a:r>
          </a:p>
        </p:txBody>
      </p:sp>
      <p:pic>
        <p:nvPicPr>
          <p:cNvPr id="100" name="Picture 8" descr="Picture 8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362895" y="274320"/>
            <a:ext cx="1463060" cy="12858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03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4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5" name="TextBox 4"/>
          <p:cNvSpPr txBox="1"/>
          <p:nvPr/>
        </p:nvSpPr>
        <p:spPr>
          <a:xfrm>
            <a:off x="1142986" y="1920236"/>
            <a:ext cx="4023390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06" name="TextBox 6"/>
          <p:cNvSpPr txBox="1"/>
          <p:nvPr/>
        </p:nvSpPr>
        <p:spPr>
          <a:xfrm>
            <a:off x="1142999" y="5303520"/>
            <a:ext cx="2727331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</a:defRPr>
            </a:lvl1pPr>
          </a:lstStyle>
          <a:p>
            <a:pPr/>
            <a:r>
              <a:t>Motivación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0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11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Motivación   ·   3/25</a:t>
            </a:r>
          </a:p>
        </p:txBody>
      </p:sp>
      <p:sp>
        <p:nvSpPr>
          <p:cNvPr id="112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Histopatología Digital</a:t>
            </a:r>
          </a:p>
        </p:txBody>
      </p:sp>
      <p:sp>
        <p:nvSpPr>
          <p:cNvPr id="113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Herramienta de diagnóstico visual usada por patólogos sobre tejidos de distintos órganos</a:t>
            </a:r>
          </a:p>
        </p:txBody>
      </p:sp>
      <p:sp>
        <p:nvSpPr>
          <p:cNvPr id="115" name="TextBox 8"/>
          <p:cNvSpPr txBox="1"/>
          <p:nvPr/>
        </p:nvSpPr>
        <p:spPr>
          <a:xfrm>
            <a:off x="665273" y="1967842"/>
            <a:ext cx="5120641" cy="42248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4D0912"/>
                </a:solidFill>
              </a:defRPr>
            </a:pPr>
            <a:r>
              <a:t>¿Qué es la histopatología?</a:t>
            </a:r>
          </a:p>
          <a:p>
            <a:pPr marL="140367" indent="-140367">
              <a:buSzPct val="100000"/>
              <a:buChar char="▸"/>
              <a:defRPr b="1" sz="1600">
                <a:solidFill>
                  <a:srgbClr val="4D0912"/>
                </a:solidFill>
              </a:defRPr>
            </a:pPr>
            <a:r>
              <a:t>Histopatología</a:t>
            </a:r>
            <a:r>
              <a:rPr b="0"/>
              <a:t>: examen microscópico de tejido teñido con hematoxilina-eosina (H&amp;E).</a:t>
            </a:r>
          </a:p>
          <a:p>
            <a:pPr marL="140367" indent="-140367">
              <a:buSzPct val="100000"/>
              <a:buChar char="▸"/>
              <a:defRPr b="1" sz="1600">
                <a:solidFill>
                  <a:srgbClr val="4D0912"/>
                </a:solidFill>
              </a:defRPr>
            </a:pPr>
            <a:r>
              <a:t>Prueba de referencia clínica</a:t>
            </a:r>
            <a:r>
              <a:rPr b="0"/>
              <a:t> para el diagnóstico definitivo de la mayoría de los tipos de cáncer.</a:t>
            </a:r>
          </a:p>
          <a:p>
            <a:pPr>
              <a:defRPr b="1">
                <a:solidFill>
                  <a:srgbClr val="6B0F1A"/>
                </a:solidFill>
              </a:defRPr>
            </a:pPr>
          </a:p>
          <a:p>
            <a:pPr>
              <a:defRPr b="1">
                <a:solidFill>
                  <a:srgbClr val="6B0F1A"/>
                </a:solidFill>
              </a:defRPr>
            </a:pPr>
            <a:r>
              <a:t>¿Cómo se procesa digitalmente?</a:t>
            </a:r>
          </a:p>
          <a:p>
            <a:pPr marL="160420" indent="-160420">
              <a:buSzPct val="100000"/>
              <a:buChar char="▸"/>
              <a:defRPr sz="1600">
                <a:solidFill>
                  <a:srgbClr val="4D0912"/>
                </a:solidFill>
              </a:defRPr>
            </a:pPr>
            <a:r>
              <a:t>Las láminas se escanean a alta resolución (típicamente 20× o 40× de aumento óptico) en </a:t>
            </a:r>
            <a:r>
              <a:rPr b="1" i="1"/>
              <a:t>Whole Slide Images</a:t>
            </a:r>
            <a:r>
              <a:t> (WSIs): imágenes gigapíxel de ≈100.000 × 100.000 píxeles.</a:t>
            </a:r>
          </a:p>
          <a:p>
            <a:pPr marL="160420" indent="-160420">
              <a:buSzPct val="100000"/>
              <a:buChar char="▸"/>
              <a:defRPr sz="1600">
                <a:solidFill>
                  <a:srgbClr val="4D0912"/>
                </a:solidFill>
              </a:defRPr>
            </a:pPr>
            <a:r>
              <a:t>Los modelos de </a:t>
            </a:r>
            <a:r>
              <a:rPr b="1"/>
              <a:t>IA no procesan las láminas completas</a:t>
            </a:r>
            <a:r>
              <a:t>: se dividen en parches más pequeños que alimentan al encoder de imagen.</a:t>
            </a:r>
          </a:p>
          <a:p>
            <a:pPr>
              <a:defRPr b="1" sz="1600">
                <a:solidFill>
                  <a:srgbClr val="4D0912"/>
                </a:solidFill>
              </a:defRPr>
            </a:pPr>
          </a:p>
          <a:p>
            <a:pPr>
              <a:defRPr sz="1600">
                <a:solidFill>
                  <a:srgbClr val="4D0912"/>
                </a:solidFill>
              </a:defRPr>
            </a:pPr>
            <a:r>
              <a:t>→  Esto convierte el problema en clasificación visual de parches con etiquetas caras y contexto parcial.</a:t>
            </a:r>
          </a:p>
        </p:txBody>
      </p:sp>
      <p:pic>
        <p:nvPicPr>
          <p:cNvPr id="116" name="Picture 9" descr="Picture 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59" y="3398537"/>
            <a:ext cx="5394965" cy="21640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Picture 10" descr="Picture 1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150173" y="1988161"/>
            <a:ext cx="5713334" cy="37099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xit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17" grpId="1"/>
      <p:bldP build="whole" bldLvl="1" animBg="1" rev="0" advAuto="0" spid="116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3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24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Motivación   ·   4/25</a:t>
            </a:r>
          </a:p>
        </p:txBody>
      </p:sp>
      <p:sp>
        <p:nvSpPr>
          <p:cNvPr id="125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Dificultades del procesamiento digital de muestras histopatológicas</a:t>
            </a:r>
          </a:p>
        </p:txBody>
      </p:sp>
      <p:sp>
        <p:nvSpPr>
          <p:cNvPr id="126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TextBox 7"/>
          <p:cNvSpPr txBox="1"/>
          <p:nvPr/>
        </p:nvSpPr>
        <p:spPr>
          <a:xfrm>
            <a:off x="594359" y="1280160"/>
            <a:ext cx="10972801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Particularidades que cualquier pipeline de visión debe contemplar</a:t>
            </a:r>
          </a:p>
        </p:txBody>
      </p:sp>
      <p:sp>
        <p:nvSpPr>
          <p:cNvPr id="128" name="TextBox 8"/>
          <p:cNvSpPr txBox="1"/>
          <p:nvPr/>
        </p:nvSpPr>
        <p:spPr>
          <a:xfrm>
            <a:off x="540035" y="1870361"/>
            <a:ext cx="6068032" cy="4130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Escasez de datos etiquetados</a:t>
            </a:r>
            <a:r>
              <a:rPr b="0"/>
              <a:t>: los conjuntos abiertos son varios órdenes de magnitud menores que los corpus generales de imagen: el etiquetado requiere patólogo experto y es caro.</a:t>
            </a:r>
          </a:p>
          <a:p>
            <a:pPr lvl="1" marL="561471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Confidencialidad</a:t>
            </a:r>
            <a:r>
              <a:rPr b="0"/>
              <a:t>: la privacidad del paciente reduce aún más los datasets accesibles multi-institución.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Variabilidad institucional</a:t>
            </a:r>
            <a:r>
              <a:rPr b="0"/>
              <a:t>: la tinción H&amp;E depende del laboratorio, del técnico y del protocolo: cambia entre hospitales, escáneres y lotes.</a:t>
            </a:r>
          </a:p>
          <a:p>
            <a:pPr lvl="1" marL="561471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Normalización de la tinción</a:t>
            </a:r>
            <a:r>
              <a:rPr b="0"/>
              <a:t> (stain normalization): mitigación habitual de preprocesado para atenuar esa variabilidad.</a:t>
            </a:r>
          </a:p>
          <a:p>
            <a:pPr marL="180472" indent="-180472">
              <a:buSzPct val="100000"/>
              <a:buChar char="▸"/>
              <a:defRPr>
                <a:solidFill>
                  <a:srgbClr val="4D0912"/>
                </a:solidFill>
              </a:defRPr>
            </a:pPr>
          </a:p>
          <a:p>
            <a:pPr marL="180472" indent="-180472">
              <a:buSzPct val="100000"/>
              <a:buChar char="▸"/>
              <a:defRPr>
                <a:solidFill>
                  <a:srgbClr val="4D0912"/>
                </a:solidFill>
              </a:defRPr>
            </a:pPr>
            <a:r>
              <a:t>El problema no es solo clasificar bien dentro del dataset de entrenamiento; es </a:t>
            </a:r>
            <a:r>
              <a:rPr b="1"/>
              <a:t>generalizar cuando cambia la fuente.</a:t>
            </a:r>
          </a:p>
        </p:txBody>
      </p:sp>
      <p:pic>
        <p:nvPicPr>
          <p:cNvPr id="129" name="Picture 127" descr="Picture 12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91361" y="1751855"/>
            <a:ext cx="3841883" cy="418257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4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36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Motivación   ·   5/25</a:t>
            </a:r>
          </a:p>
        </p:txBody>
      </p:sp>
      <p:sp>
        <p:nvSpPr>
          <p:cNvPr id="137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Modelos fundacionales visión-lenguaje (VLM)</a:t>
            </a:r>
          </a:p>
        </p:txBody>
      </p:sp>
      <p:sp>
        <p:nvSpPr>
          <p:cNvPr id="138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9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El paradigma que estudiamos: transferir representaciones desde otros dominios</a:t>
            </a:r>
          </a:p>
        </p:txBody>
      </p:sp>
      <p:sp>
        <p:nvSpPr>
          <p:cNvPr id="140" name="TextBox 8"/>
          <p:cNvSpPr txBox="1"/>
          <p:nvPr/>
        </p:nvSpPr>
        <p:spPr>
          <a:xfrm>
            <a:off x="527331" y="1650530"/>
            <a:ext cx="11363246" cy="1767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Pre-entrenamiento multimodal</a:t>
            </a:r>
            <a:r>
              <a:rPr b="0"/>
              <a:t>: se entrenan sobre grandes corpus de pares imagen–texto (ej. CLIP: ~400M) alineando ambos en un espacio latente compartido.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Transferencia de conocimiento</a:t>
            </a:r>
            <a:r>
              <a:rPr b="0"/>
              <a:t>: permiten resolver tareas nuevas con poca o ninguna supervisión específica del dominio.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Hipótesis en histopatología</a:t>
            </a:r>
            <a:r>
              <a:rPr b="0"/>
              <a:t>: podrían mitigar la escasez de datos etiquetados y aportar representaciones más transferibles entre instituciones.</a:t>
            </a:r>
          </a:p>
        </p:txBody>
      </p:sp>
      <p:pic>
        <p:nvPicPr>
          <p:cNvPr id="141" name="Picture 137" descr="Picture 13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89227" y="4058501"/>
            <a:ext cx="9200847" cy="214153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6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7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48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Motivación   ·   6/25</a:t>
            </a:r>
          </a:p>
        </p:txBody>
      </p:sp>
      <p:sp>
        <p:nvSpPr>
          <p:cNvPr id="149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Pregunta central</a:t>
            </a:r>
          </a:p>
        </p:txBody>
      </p:sp>
      <p:sp>
        <p:nvSpPr>
          <p:cNvPr id="150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TextBox 7"/>
          <p:cNvSpPr txBox="1"/>
          <p:nvPr/>
        </p:nvSpPr>
        <p:spPr>
          <a:xfrm>
            <a:off x="594358" y="1280160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El eje que ordena todo el TFM</a:t>
            </a:r>
          </a:p>
        </p:txBody>
      </p:sp>
      <p:sp>
        <p:nvSpPr>
          <p:cNvPr id="152" name="TextBox 8"/>
          <p:cNvSpPr txBox="1"/>
          <p:nvPr/>
        </p:nvSpPr>
        <p:spPr>
          <a:xfrm>
            <a:off x="594358" y="1920237"/>
            <a:ext cx="10972804" cy="39906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2400">
                <a:solidFill>
                  <a:srgbClr val="4D0912"/>
                </a:solidFill>
              </a:defRPr>
            </a:pPr>
            <a:r>
              <a:t>¿En qué medida generaliza un modelo fundacional visión-lenguaje entre instituciones histopatológicas, y qué decisiones de diseño explican las diferencias?</a:t>
            </a:r>
          </a:p>
          <a:p>
            <a:pPr>
              <a:defRPr b="1">
                <a:solidFill>
                  <a:srgbClr val="4D0912"/>
                </a:solidFill>
              </a:defRPr>
            </a:pPr>
          </a:p>
          <a:p>
            <a:pPr>
              <a:defRPr b="1">
                <a:solidFill>
                  <a:srgbClr val="4D0912"/>
                </a:solidFill>
              </a:defRPr>
            </a:pPr>
            <a:r>
              <a:t>Por qué esta pregunta: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Contexto</a:t>
            </a:r>
            <a:r>
              <a:rPr b="0"/>
              <a:t>: la histopatología concentra los retos del apartado anterior (datos escasos, alta variabilidad, sesgo por origen), lo que la vuelve un banco de pruebas exigente.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Evaluación externa</a:t>
            </a:r>
            <a:r>
              <a:rPr b="0"/>
              <a:t>: medimos el rendimiento en tres datasets no vistos durante el entrenamiento (NCT-CRC, Chaoyang, LungHist700), buscando un cambio real de institución y de fuente.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Ablación</a:t>
            </a:r>
            <a:r>
              <a:rPr b="0"/>
              <a:t>: identificamos qué componentes del paradigma (codificador visual, texto, prompt, normalización) contribuyen y cuáles no.</a:t>
            </a:r>
          </a:p>
          <a:p>
            <a:pPr>
              <a:defRPr>
                <a:solidFill>
                  <a:srgbClr val="4D0912"/>
                </a:solidFill>
              </a:defRPr>
            </a:pPr>
          </a:p>
          <a:p>
            <a:pPr>
              <a:defRPr>
                <a:solidFill>
                  <a:srgbClr val="4D0912"/>
                </a:solidFill>
              </a:defRPr>
            </a:pPr>
            <a:r>
              <a:t>→  La metodología se organiza alrededor de esta pregunta. Se propone cambiar una variable cada vez y medir qué impacto tienen al desplazar la distribución de los datos.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57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58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4"/>
          <p:cNvSpPr txBox="1"/>
          <p:nvPr/>
        </p:nvSpPr>
        <p:spPr>
          <a:xfrm>
            <a:off x="1142986" y="1920236"/>
            <a:ext cx="4023390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60" name="TextBox 6"/>
          <p:cNvSpPr txBox="1"/>
          <p:nvPr/>
        </p:nvSpPr>
        <p:spPr>
          <a:xfrm>
            <a:off x="1142999" y="5303520"/>
            <a:ext cx="3074671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</a:defRPr>
            </a:lvl1pPr>
          </a:lstStyle>
          <a:p>
            <a:pPr/>
            <a:r>
              <a:t>Metodología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3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4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65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Metodología   ·   8/25</a:t>
            </a:r>
          </a:p>
        </p:txBody>
      </p:sp>
      <p:sp>
        <p:nvSpPr>
          <p:cNvPr id="166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El paradigma CLIP</a:t>
            </a:r>
          </a:p>
        </p:txBody>
      </p:sp>
      <p:sp>
        <p:nvSpPr>
          <p:cNvPr id="167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68" name="Picture 172" descr="Picture 17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528063" y="1769533"/>
            <a:ext cx="9308594" cy="4608577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Foundational Model (FM) de aprendizaje contrastivo imagen-texto en un espacio latente compartido</a:t>
            </a:r>
          </a:p>
        </p:txBody>
      </p:sp>
      <p:sp>
        <p:nvSpPr>
          <p:cNvPr id="170" name="TextBox 8"/>
          <p:cNvSpPr txBox="1"/>
          <p:nvPr/>
        </p:nvSpPr>
        <p:spPr>
          <a:xfrm>
            <a:off x="6830568" y="1764792"/>
            <a:ext cx="3904487" cy="4521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000">
                <a:solidFill>
                  <a:srgbClr val="4D0912"/>
                </a:solidFill>
              </a:defRPr>
            </a:pPr>
            <a:r>
              <a:t>¿Por qué CLIP?</a:t>
            </a:r>
          </a:p>
          <a:p>
            <a:pPr marL="100263" indent="-100263">
              <a:buSzPct val="100000"/>
              <a:buChar char="▸"/>
              <a:defRPr sz="1000">
                <a:solidFill>
                  <a:srgbClr val="4D0912"/>
                </a:solidFill>
              </a:defRPr>
            </a:pPr>
            <a:r>
              <a:t>Aprendizaje contrastivo imagen-texto sobre pares emparejados, con una función de pérdida simétrica.</a:t>
            </a:r>
          </a:p>
          <a:p>
            <a:pPr marL="100263" indent="-100263">
              <a:buSzPct val="100000"/>
              <a:buChar char="▸"/>
              <a:defRPr sz="1000">
                <a:solidFill>
                  <a:srgbClr val="4D0912"/>
                </a:solidFill>
              </a:defRPr>
            </a:pPr>
            <a:r>
              <a:t>Clasificación de vocabulario abierto: cambias los prompts, cambias el clasificador (sin re-entrenar).</a:t>
            </a:r>
          </a:p>
          <a:p>
            <a:pPr marL="100263" indent="-100263">
              <a:buSzPct val="100000"/>
              <a:buChar char="▸"/>
              <a:defRPr sz="1000">
                <a:solidFill>
                  <a:srgbClr val="4D0912"/>
                </a:solidFill>
              </a:defRPr>
            </a:pPr>
            <a:r>
              <a:t>Paradigma adoptado por la familia de FMs de patología (PLIP, CONCH, BiomedCLIP, MUSK).</a:t>
            </a: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  <a:r>
              <a:t>Pregunta transversal</a:t>
            </a:r>
          </a:p>
          <a:p>
            <a:pPr>
              <a:defRPr sz="1000">
                <a:solidFill>
                  <a:srgbClr val="4D0912"/>
                </a:solidFill>
              </a:defRPr>
            </a:pPr>
            <a:r>
              <a:t>¿Qué componente del pipeline CLIP aporta más, y dónde están sus límites bajo desplazamiento de distribución?</a:t>
            </a:r>
          </a:p>
        </p:txBody>
      </p:sp>
      <p:pic>
        <p:nvPicPr>
          <p:cNvPr id="171" name="Picture 173" descr="Picture 17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53311" y="1769533"/>
            <a:ext cx="5353683" cy="459506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68" grpId="1"/>
      <p:bldP build="whole" bldLvl="1" animBg="1" rev="0" advAuto="0" spid="171" grpId="2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78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Metodología   ·   9/25</a:t>
            </a:r>
          </a:p>
        </p:txBody>
      </p:sp>
      <p:sp>
        <p:nvSpPr>
          <p:cNvPr id="179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PLIP: modelo fundacional específico de patología</a:t>
            </a:r>
          </a:p>
        </p:txBody>
      </p:sp>
      <p:sp>
        <p:nvSpPr>
          <p:cNvPr id="180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CLIP-style entrenado en pares imagen–texto de patología (Huang 2023)</a:t>
            </a:r>
          </a:p>
        </p:txBody>
      </p:sp>
      <p:sp>
        <p:nvSpPr>
          <p:cNvPr id="182" name="TextBox 180"/>
          <p:cNvSpPr txBox="1"/>
          <p:nvPr/>
        </p:nvSpPr>
        <p:spPr>
          <a:xfrm>
            <a:off x="431094" y="1694744"/>
            <a:ext cx="8842676" cy="1672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Qué es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Modelo CLIP-style </a:t>
            </a:r>
            <a:r>
              <a:rPr b="1"/>
              <a:t>entrenado en ~208K pares imagen–texto de patología</a:t>
            </a:r>
            <a:r>
              <a:t> (OpenPath: tweets de patólogos con #GIPath, #PathTwitter, etc., + subset filtrado de LAION).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Arquitectura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Arquitectura original de CLIP: </a:t>
            </a:r>
            <a:r>
              <a:rPr b="1"/>
              <a:t>ViT-B/32 (encoder de imagen) + Transformer 12-layer con tokenizer BPE (texto)</a:t>
            </a:r>
            <a:r>
              <a:t>, entrenados contrastivamente desde la inicialización de CLIP en imágenes naturales.</a:t>
            </a:r>
          </a:p>
        </p:txBody>
      </p:sp>
      <p:pic>
        <p:nvPicPr>
          <p:cNvPr id="183" name="Picture 181" descr="Picture 18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759200" y="3594641"/>
            <a:ext cx="7700193" cy="2670233"/>
          </a:xfrm>
          <a:prstGeom prst="rect">
            <a:avLst/>
          </a:prstGeom>
          <a:ln w="12700">
            <a:miter lim="400000"/>
          </a:ln>
        </p:spPr>
      </p:pic>
      <p:sp>
        <p:nvSpPr>
          <p:cNvPr id="184" name="TextBox 180"/>
          <p:cNvSpPr txBox="1"/>
          <p:nvPr/>
        </p:nvSpPr>
        <p:spPr>
          <a:xfrm>
            <a:off x="431091" y="3519744"/>
            <a:ext cx="2916841" cy="1799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Rol en este trabajo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</a:t>
            </a:r>
            <a:r>
              <a:rPr b="1"/>
              <a:t>Referencia zero-shot</a:t>
            </a:r>
            <a:r>
              <a:t> en los 4 datasets: evaluamos PLIP tal cual, sin entrenar nada.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</a:t>
            </a:r>
            <a:r>
              <a:rPr b="1"/>
              <a:t>Codificador de imagen alternativo</a:t>
            </a:r>
            <a:r>
              <a:t> en la comparación RQ5: usamos solo su ViT-B/32 con nuestro BERT y proyecciones entrenadas.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9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0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91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Metodología   ·   10/25</a:t>
            </a:r>
          </a:p>
        </p:txBody>
      </p:sp>
      <p:sp>
        <p:nvSpPr>
          <p:cNvPr id="192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Nuestra línea base experimental</a:t>
            </a:r>
          </a:p>
        </p:txBody>
      </p:sp>
      <p:sp>
        <p:nvSpPr>
          <p:cNvPr id="193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4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CLIP entrenado con ambos encoders congelados y cabezas de proyección 256-d entrenables</a:t>
            </a:r>
          </a:p>
        </p:txBody>
      </p:sp>
      <p:pic>
        <p:nvPicPr>
          <p:cNvPr id="195" name="Picture 999" descr="Picture 99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36319" y="1765522"/>
            <a:ext cx="5943604" cy="3632204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TextBox 181"/>
          <p:cNvSpPr txBox="1"/>
          <p:nvPr/>
        </p:nvSpPr>
        <p:spPr>
          <a:xfrm>
            <a:off x="7299958" y="1765523"/>
            <a:ext cx="3590076" cy="4454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1700">
                <a:solidFill>
                  <a:srgbClr val="4D0912"/>
                </a:solidFill>
              </a:defRPr>
            </a:pPr>
            <a:r>
              <a:t>Datos de entrada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Imagen: </a:t>
            </a:r>
            <a:r>
              <a:t>224 × 224 px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Texto: </a:t>
            </a:r>
            <a:r>
              <a:t>prompt fijo, 24 tokens WordPiece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Prompt: </a:t>
            </a:r>
            <a:r>
              <a:rPr i="1"/>
              <a:t>"A histopathology image of {class}."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Batch: </a:t>
            </a:r>
            <a:r>
              <a:t>32 pares imagen-texto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Datos: </a:t>
            </a:r>
            <a:r>
              <a:t>LC25000, split estratificado 80/10/10</a:t>
            </a:r>
          </a:p>
          <a:p>
            <a:pPr>
              <a:defRPr sz="1400">
                <a:solidFill>
                  <a:srgbClr val="4D0912"/>
                </a:solidFill>
              </a:defRPr>
            </a:pPr>
          </a:p>
          <a:p>
            <a:pPr>
              <a:defRPr b="1" sz="1700">
                <a:solidFill>
                  <a:srgbClr val="4D0912"/>
                </a:solidFill>
              </a:defRPr>
            </a:pPr>
            <a:r>
              <a:t>Objetivo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Pérdida: </a:t>
            </a:r>
            <a:r>
              <a:t>InfoNCE simétrica sobre la matriz 5×5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Temperatura: </a:t>
            </a:r>
            <a:r>
              <a:t>τ = 0.07 (entrenable)</a:t>
            </a:r>
          </a:p>
          <a:p>
            <a:pPr>
              <a:defRPr sz="1400">
                <a:solidFill>
                  <a:srgbClr val="4D0912"/>
                </a:solidFill>
              </a:defRPr>
            </a:pPr>
          </a:p>
          <a:p>
            <a:pPr>
              <a:defRPr b="1" sz="1700">
                <a:solidFill>
                  <a:srgbClr val="4D0912"/>
                </a:solidFill>
              </a:defRPr>
            </a:pPr>
            <a:r>
              <a:t>Optimización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AdamW · LR 1×10⁻³ · weight decay 1×10⁻⁴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Gradient clipnorm 1.0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ReduceLROnPlateau (factor 0.5, patience 2)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EarlyStopping (patience 5, max 30 epochs)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Precisión float32 · seed 42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1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2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03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Metodología   ·   11/25</a:t>
            </a:r>
          </a:p>
        </p:txBody>
      </p:sp>
      <p:sp>
        <p:nvSpPr>
          <p:cNvPr id="204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Diseño experimental: una variable cada vez</a:t>
            </a:r>
          </a:p>
        </p:txBody>
      </p:sp>
      <p:sp>
        <p:nvSpPr>
          <p:cNvPr id="205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Seis experimentos, cada uno cambiando un componente del pipeline base</a:t>
            </a:r>
          </a:p>
        </p:txBody>
      </p:sp>
      <p:sp>
        <p:nvSpPr>
          <p:cNvPr id="207" name="TextBox 181"/>
          <p:cNvSpPr txBox="1"/>
          <p:nvPr/>
        </p:nvSpPr>
        <p:spPr>
          <a:xfrm>
            <a:off x="629055" y="4915449"/>
            <a:ext cx="4323941" cy="1059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1700">
                <a:solidFill>
                  <a:srgbClr val="4D0912"/>
                </a:solidFill>
              </a:defRPr>
            </a:pPr>
            <a:r>
              <a:t>Evaluación externa</a:t>
            </a:r>
          </a:p>
          <a:p>
            <a:pPr marL="180472" indent="-180472">
              <a:defRPr sz="1300">
                <a:solidFill>
                  <a:srgbClr val="3C2814"/>
                </a:solidFill>
              </a:defRPr>
            </a:pPr>
            <a:r>
              <a:t>▸ </a:t>
            </a:r>
            <a:r>
              <a:rPr b="1"/>
              <a:t>NCT-CRC-HE-7K</a:t>
            </a:r>
            <a:r>
              <a:t>: colon, estilo similar a LC25000 (Kather 2019)</a:t>
            </a:r>
          </a:p>
          <a:p>
            <a:pPr marL="180472" indent="-180472">
              <a:defRPr sz="1300">
                <a:solidFill>
                  <a:srgbClr val="3C2814"/>
                </a:solidFill>
              </a:defRPr>
            </a:pPr>
            <a:r>
              <a:t>▸ </a:t>
            </a:r>
            <a:r>
              <a:rPr b="1"/>
              <a:t>Chaoyang</a:t>
            </a:r>
            <a:r>
              <a:t>: colon, tinción y escáner distintos (Zhu 2021)</a:t>
            </a:r>
          </a:p>
          <a:p>
            <a:pPr marL="180472" indent="-180472">
              <a:defRPr sz="1300">
                <a:solidFill>
                  <a:srgbClr val="3C2814"/>
                </a:solidFill>
              </a:defRPr>
            </a:pPr>
            <a:r>
              <a:t>▸ </a:t>
            </a:r>
            <a:r>
              <a:rPr b="1"/>
              <a:t>LungHist700</a:t>
            </a:r>
            <a:r>
              <a:t>: pulmón, 20× (Reyes 2024)</a:t>
            </a:r>
          </a:p>
        </p:txBody>
      </p:sp>
      <p:sp>
        <p:nvSpPr>
          <p:cNvPr id="208" name="TextBox 182"/>
          <p:cNvSpPr txBox="1"/>
          <p:nvPr/>
        </p:nvSpPr>
        <p:spPr>
          <a:xfrm>
            <a:off x="6435496" y="4915449"/>
            <a:ext cx="5114750" cy="1220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700">
                <a:solidFill>
                  <a:srgbClr val="4D0912"/>
                </a:solidFill>
              </a:defRPr>
            </a:pPr>
            <a:r>
              <a:t>Protocolo</a:t>
            </a:r>
          </a:p>
          <a:p>
            <a:pPr marL="180472" indent="-180472">
              <a:defRPr sz="1300">
                <a:solidFill>
                  <a:srgbClr val="3C2814"/>
                </a:solidFill>
              </a:defRPr>
            </a:pPr>
            <a:r>
              <a:t>▸ </a:t>
            </a:r>
            <a:r>
              <a:rPr b="1"/>
              <a:t>Argmax restringido</a:t>
            </a:r>
            <a:r>
              <a:t>: cada dataset compara solo contra sus clases (no las 5 completas): evita penalizar clases ausentes.</a:t>
            </a:r>
          </a:p>
          <a:p>
            <a:pPr marL="180472" indent="-180472">
              <a:defRPr sz="1300">
                <a:solidFill>
                  <a:srgbClr val="3C2814"/>
                </a:solidFill>
              </a:defRPr>
            </a:pPr>
            <a:r>
              <a:t>▸ </a:t>
            </a:r>
            <a:r>
              <a:rPr b="1"/>
              <a:t>Reporte por órgano</a:t>
            </a:r>
            <a:r>
              <a:t>: colon y pulmón separados, no promediados: evita ocultar cambios de régimen entre órganos.</a:t>
            </a:r>
          </a:p>
        </p:txBody>
      </p:sp>
      <p:pic>
        <p:nvPicPr>
          <p:cNvPr id="209" name="Picture 183" descr="Picture 18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08076" y="1737360"/>
            <a:ext cx="10972801" cy="282157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14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6" name="TextBox 4"/>
          <p:cNvSpPr txBox="1"/>
          <p:nvPr/>
        </p:nvSpPr>
        <p:spPr>
          <a:xfrm>
            <a:off x="1142986" y="1920236"/>
            <a:ext cx="4023390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217" name="TextBox 6"/>
          <p:cNvSpPr txBox="1"/>
          <p:nvPr/>
        </p:nvSpPr>
        <p:spPr>
          <a:xfrm>
            <a:off x="1142999" y="5303520"/>
            <a:ext cx="2639200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</a:defRPr>
            </a:lvl1pPr>
          </a:lstStyle>
          <a:p>
            <a:pPr/>
            <a:r>
              <a:t>Resultados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20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Resultados   ·   13/25</a:t>
            </a:r>
          </a:p>
        </p:txBody>
      </p:sp>
      <p:sp>
        <p:nvSpPr>
          <p:cNvPr id="221" name="Rectangle"/>
          <p:cNvSpPr/>
          <p:nvPr/>
        </p:nvSpPr>
        <p:spPr>
          <a:xfrm>
            <a:off x="792473" y="2177025"/>
            <a:ext cx="4451303" cy="3096281"/>
          </a:xfrm>
          <a:prstGeom prst="rect">
            <a:avLst/>
          </a:prstGeom>
          <a:solidFill>
            <a:srgbClr val="F5EED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Rectangle 219"/>
          <p:cNvSpPr/>
          <p:nvPr/>
        </p:nvSpPr>
        <p:spPr>
          <a:xfrm>
            <a:off x="548639" y="1024127"/>
            <a:ext cx="1097282" cy="36586"/>
          </a:xfrm>
          <a:prstGeom prst="rect">
            <a:avLst/>
          </a:prstGeom>
          <a:solidFill>
            <a:srgbClr val="C6A04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223" name="TextBox 220"/>
          <p:cNvSpPr txBox="1"/>
          <p:nvPr/>
        </p:nvSpPr>
        <p:spPr>
          <a:xfrm>
            <a:off x="594357" y="384046"/>
            <a:ext cx="5341399" cy="489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Comportamiento de la línea base</a:t>
            </a:r>
          </a:p>
        </p:txBody>
      </p:sp>
      <p:sp>
        <p:nvSpPr>
          <p:cNvPr id="224" name="TextBox 221"/>
          <p:cNvSpPr txBox="1"/>
          <p:nvPr/>
        </p:nvSpPr>
        <p:spPr>
          <a:xfrm>
            <a:off x="594357" y="1280160"/>
            <a:ext cx="9594535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Satura in-distribution pero colapsa a una sola clase en generalización con dataset de pulmón</a:t>
            </a:r>
          </a:p>
        </p:txBody>
      </p:sp>
      <p:sp>
        <p:nvSpPr>
          <p:cNvPr id="225" name="TextBox 222"/>
          <p:cNvSpPr txBox="1"/>
          <p:nvPr/>
        </p:nvSpPr>
        <p:spPr>
          <a:xfrm>
            <a:off x="963565" y="2279292"/>
            <a:ext cx="1991950" cy="123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LC25000 (in-dist)</a:t>
            </a:r>
          </a:p>
          <a:p>
            <a:pPr algn="ctr">
              <a:defRPr b="1" sz="48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0.996</a:t>
            </a:r>
          </a:p>
          <a:p>
            <a:pPr algn="ctr"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macro-F1</a:t>
            </a:r>
          </a:p>
        </p:txBody>
      </p:sp>
      <p:pic>
        <p:nvPicPr>
          <p:cNvPr id="226" name="Picture 235" descr="Picture 23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99630" y="1898288"/>
            <a:ext cx="3313522" cy="3653752"/>
          </a:xfrm>
          <a:prstGeom prst="rect">
            <a:avLst/>
          </a:prstGeom>
          <a:ln w="12700">
            <a:miter lim="400000"/>
          </a:ln>
        </p:spPr>
      </p:pic>
      <p:sp>
        <p:nvSpPr>
          <p:cNvPr id="227" name="TextBox 225"/>
          <p:cNvSpPr txBox="1"/>
          <p:nvPr/>
        </p:nvSpPr>
        <p:spPr>
          <a:xfrm>
            <a:off x="6474095" y="5559547"/>
            <a:ext cx="4564590" cy="44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i="1" sz="12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Matriz de confusión (normalizada) sobre LungHist700. </a:t>
            </a:r>
          </a:p>
          <a:p>
            <a:pPr algn="ctr">
              <a:defRPr i="1" sz="12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La línea base asigna ~84% a la clase «squamous cell carcinoma»</a:t>
            </a:r>
          </a:p>
        </p:txBody>
      </p:sp>
      <p:sp>
        <p:nvSpPr>
          <p:cNvPr id="228" name="TextBox 226"/>
          <p:cNvSpPr txBox="1"/>
          <p:nvPr/>
        </p:nvSpPr>
        <p:spPr>
          <a:xfrm>
            <a:off x="507171" y="6085840"/>
            <a:ext cx="9793344" cy="332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b="1" sz="16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→  LC25000 saturado escondía el fallo: en pulmón la línea base es un clasificador de una sola clase.</a:t>
            </a:r>
          </a:p>
        </p:txBody>
      </p:sp>
      <p:sp>
        <p:nvSpPr>
          <p:cNvPr id="229" name="TextBox 222"/>
          <p:cNvSpPr txBox="1"/>
          <p:nvPr/>
        </p:nvSpPr>
        <p:spPr>
          <a:xfrm>
            <a:off x="3142475" y="2279292"/>
            <a:ext cx="1823399" cy="123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NCT-CRC</a:t>
            </a:r>
          </a:p>
          <a:p>
            <a:pPr algn="ctr">
              <a:defRPr b="1" sz="48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0.866</a:t>
            </a:r>
          </a:p>
          <a:p>
            <a:pPr algn="ctr">
              <a:defRPr i="1" sz="12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colon, muestras similares</a:t>
            </a:r>
          </a:p>
        </p:txBody>
      </p:sp>
      <p:sp>
        <p:nvSpPr>
          <p:cNvPr id="230" name="TextBox 223"/>
          <p:cNvSpPr txBox="1"/>
          <p:nvPr/>
        </p:nvSpPr>
        <p:spPr>
          <a:xfrm>
            <a:off x="1068895" y="3894730"/>
            <a:ext cx="1781281" cy="123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Chaoyang</a:t>
            </a:r>
          </a:p>
          <a:p>
            <a:pPr algn="ctr">
              <a:defRPr b="1" sz="48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0.786</a:t>
            </a:r>
          </a:p>
          <a:p>
            <a:pPr algn="ctr">
              <a:defRPr i="1" sz="12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colon, muestras distintas</a:t>
            </a:r>
          </a:p>
        </p:txBody>
      </p:sp>
      <p:sp>
        <p:nvSpPr>
          <p:cNvPr id="231" name="TextBox 224"/>
          <p:cNvSpPr txBox="1"/>
          <p:nvPr/>
        </p:nvSpPr>
        <p:spPr>
          <a:xfrm>
            <a:off x="3193706" y="3894730"/>
            <a:ext cx="1720931" cy="123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LungHist700</a:t>
            </a:r>
          </a:p>
          <a:p>
            <a:pPr algn="ctr">
              <a:defRPr b="1" sz="4800">
                <a:solidFill>
                  <a:srgbClr val="A50F15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0.305</a:t>
            </a:r>
          </a:p>
          <a:p>
            <a:pPr algn="ctr">
              <a:defRPr i="1" sz="12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pulmón, ≈ azar 3-clases</a:t>
            </a:r>
          </a:p>
        </p:txBody>
      </p:sp>
      <p:sp>
        <p:nvSpPr>
          <p:cNvPr id="232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39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Resultados   ·   14/25</a:t>
            </a:r>
          </a:p>
        </p:txBody>
      </p:sp>
      <p:sp>
        <p:nvSpPr>
          <p:cNvPr id="240" name="TextBox 5"/>
          <p:cNvSpPr txBox="1"/>
          <p:nvPr/>
        </p:nvSpPr>
        <p:spPr>
          <a:xfrm>
            <a:off x="594358" y="384046"/>
            <a:ext cx="11000237" cy="489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El espacio latente de la línea base a través del shift</a:t>
            </a:r>
          </a:p>
        </p:txBody>
      </p:sp>
      <p:sp>
        <p:nvSpPr>
          <p:cNvPr id="241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" name="TextBox 221"/>
          <p:cNvSpPr txBox="1"/>
          <p:nvPr/>
        </p:nvSpPr>
        <p:spPr>
          <a:xfrm>
            <a:off x="594357" y="1280160"/>
            <a:ext cx="9689909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In-distribution saturada; los clusters se degradan progresivamente conforme aumenta el shift</a:t>
            </a:r>
          </a:p>
        </p:txBody>
      </p:sp>
      <p:sp>
        <p:nvSpPr>
          <p:cNvPr id="243" name="TextBox 223"/>
          <p:cNvSpPr txBox="1"/>
          <p:nvPr/>
        </p:nvSpPr>
        <p:spPr>
          <a:xfrm>
            <a:off x="581658" y="5398348"/>
            <a:ext cx="10835724" cy="650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LC25000 y NCT se co-localizan. Chaoyang diverge en un espacio cercano. LungHist700 aterriza en zona separada de las clases originales.</a:t>
            </a:r>
          </a:p>
        </p:txBody>
      </p:sp>
      <p:pic>
        <p:nvPicPr>
          <p:cNvPr id="244" name="Picture 243" descr="Picture 24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91086" y="2261384"/>
            <a:ext cx="10835724" cy="2646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245" name="Picture 244" descr="Picture 24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1086" y="2261384"/>
            <a:ext cx="10835724" cy="26461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xit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44" grpId="2"/>
      <p:bldP build="whole" bldLvl="1" animBg="1" rev="0" advAuto="0" spid="245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8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9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50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Resultados   ·   15/25</a:t>
            </a:r>
          </a:p>
        </p:txBody>
      </p:sp>
      <p:sp>
        <p:nvSpPr>
          <p:cNvPr id="251" name="TextBox 5"/>
          <p:cNvSpPr txBox="1"/>
          <p:nvPr/>
        </p:nvSpPr>
        <p:spPr>
          <a:xfrm>
            <a:off x="594358" y="384046"/>
            <a:ext cx="11000237" cy="489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CLIP vs clasificador CE: misma ResNet50, distinta cabeza</a:t>
            </a:r>
          </a:p>
        </p:txBody>
      </p:sp>
      <p:sp>
        <p:nvSpPr>
          <p:cNvPr id="252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3" name="TextBox 7"/>
          <p:cNvSpPr txBox="1"/>
          <p:nvPr/>
        </p:nvSpPr>
        <p:spPr>
          <a:xfrm>
            <a:off x="594358" y="1280160"/>
            <a:ext cx="10330118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La ventaja de CLIP no aparece en el cambio fácil (NCT); aparece bajo un shift más fuerte (Chaoyang)</a:t>
            </a:r>
          </a:p>
        </p:txBody>
      </p:sp>
      <p:pic>
        <p:nvPicPr>
          <p:cNvPr id="254" name="Picture 256" descr="Picture 2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8959" y="2098899"/>
            <a:ext cx="5486402" cy="3000378"/>
          </a:xfrm>
          <a:prstGeom prst="rect">
            <a:avLst/>
          </a:prstGeom>
          <a:ln w="12700">
            <a:miter lim="400000"/>
          </a:ln>
        </p:spPr>
      </p:pic>
      <p:pic>
        <p:nvPicPr>
          <p:cNvPr id="255" name="Picture 260" descr="Picture 26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11391" y="2098899"/>
            <a:ext cx="5257804" cy="2842312"/>
          </a:xfrm>
          <a:prstGeom prst="rect">
            <a:avLst/>
          </a:prstGeom>
          <a:ln w="12700">
            <a:miter lim="400000"/>
          </a:ln>
        </p:spPr>
      </p:pic>
      <p:sp>
        <p:nvSpPr>
          <p:cNvPr id="256" name="TextBox 258"/>
          <p:cNvSpPr txBox="1"/>
          <p:nvPr/>
        </p:nvSpPr>
        <p:spPr>
          <a:xfrm>
            <a:off x="6357108" y="5014107"/>
            <a:ext cx="5166366" cy="497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i="1" sz="1300">
                <a:solidFill>
                  <a:srgbClr val="82654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CE convierte Chaoyang casi en "todo adenocarcinoma"; CLIP mantiene más balance.</a:t>
            </a:r>
          </a:p>
        </p:txBody>
      </p:sp>
      <p:sp>
        <p:nvSpPr>
          <p:cNvPr id="257" name="TextBox 259"/>
          <p:cNvSpPr txBox="1"/>
          <p:nvPr/>
        </p:nvSpPr>
        <p:spPr>
          <a:xfrm>
            <a:off x="635253" y="5635738"/>
            <a:ext cx="10908794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La cabeza CLIP estabiliza bajo shift, pero es una palanca secundaria: el colapso pulmonar sigue cerca del azar.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62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Resultados   ·   16/25</a:t>
            </a:r>
          </a:p>
        </p:txBody>
      </p:sp>
      <p:sp>
        <p:nvSpPr>
          <p:cNvPr id="263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4" name="TextBox 253"/>
          <p:cNvSpPr txBox="1"/>
          <p:nvPr/>
        </p:nvSpPr>
        <p:spPr>
          <a:xfrm>
            <a:off x="594358" y="384046"/>
            <a:ext cx="11000237" cy="489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Normalización de tinción (Macenko)</a:t>
            </a:r>
          </a:p>
        </p:txBody>
      </p:sp>
      <p:sp>
        <p:nvSpPr>
          <p:cNvPr id="265" name="TextBox 254"/>
          <p:cNvSpPr txBox="1"/>
          <p:nvPr/>
        </p:nvSpPr>
        <p:spPr>
          <a:xfrm>
            <a:off x="594359" y="1280160"/>
            <a:ext cx="10972801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Alinear el color apenas mueve el resultado</a:t>
            </a:r>
          </a:p>
        </p:txBody>
      </p:sp>
      <p:sp>
        <p:nvSpPr>
          <p:cNvPr id="266" name="TextBox 256"/>
          <p:cNvSpPr txBox="1"/>
          <p:nvPr/>
        </p:nvSpPr>
        <p:spPr>
          <a:xfrm>
            <a:off x="640073" y="5872731"/>
            <a:ext cx="3840493" cy="269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2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Misma muestra bajo 4 métodos de normalización</a:t>
            </a:r>
          </a:p>
        </p:txBody>
      </p:sp>
      <p:pic>
        <p:nvPicPr>
          <p:cNvPr id="267" name="Picture 257" descr="Picture 25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978400" y="1748027"/>
            <a:ext cx="6675120" cy="2066546"/>
          </a:xfrm>
          <a:prstGeom prst="rect">
            <a:avLst/>
          </a:prstGeom>
          <a:ln w="12700">
            <a:miter lim="400000"/>
          </a:ln>
        </p:spPr>
      </p:pic>
      <p:sp>
        <p:nvSpPr>
          <p:cNvPr id="268" name="TextBox 258"/>
          <p:cNvSpPr txBox="1"/>
          <p:nvPr/>
        </p:nvSpPr>
        <p:spPr>
          <a:xfrm>
            <a:off x="4988557" y="3926437"/>
            <a:ext cx="6400810" cy="1449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solidFill>
                  <a:srgbClr val="4D0912"/>
                </a:solidFill>
              </a:defRPr>
            </a:pPr>
            <a:r>
              <a:t>Método</a:t>
            </a:r>
          </a:p>
          <a:p>
            <a:pPr>
              <a:defRPr sz="1400">
                <a:solidFill>
                  <a:srgbClr val="3C2814"/>
                </a:solidFill>
              </a:defRPr>
            </a:pPr>
            <a:r>
              <a:t>Macenko usa NCT-NORM como referencia. NCT ya llega normalizado; Chaoyang y LungHist700 se transforman en inferencia.</a:t>
            </a:r>
          </a:p>
          <a:p>
            <a:pPr>
              <a:defRPr sz="1300">
                <a:solidFill>
                  <a:srgbClr val="3C2814"/>
                </a:solidFill>
              </a:defRPr>
            </a:pPr>
          </a:p>
          <a:p>
            <a:pPr>
              <a:defRPr b="1" sz="1600">
                <a:solidFill>
                  <a:srgbClr val="4D0912"/>
                </a:solidFill>
              </a:defRPr>
            </a:pPr>
            <a:r>
              <a:t>Resultado</a:t>
            </a:r>
          </a:p>
          <a:p>
            <a:pPr>
              <a:defRPr sz="1400">
                <a:solidFill>
                  <a:srgbClr val="3C2814"/>
                </a:solidFill>
              </a:defRPr>
            </a:pPr>
            <a:r>
              <a:t>La tinción explica una parte menor del shift; no rompe el colapso en pulmón.</a:t>
            </a:r>
          </a:p>
        </p:txBody>
      </p:sp>
      <p:pic>
        <p:nvPicPr>
          <p:cNvPr id="269" name="Picture 260" descr="Picture 26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94359" y="1589033"/>
            <a:ext cx="3931924" cy="432079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2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74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Resultados   ·   17/25</a:t>
            </a:r>
          </a:p>
        </p:txBody>
      </p:sp>
      <p:sp>
        <p:nvSpPr>
          <p:cNvPr id="275" name="TextBox 5"/>
          <p:cNvSpPr txBox="1"/>
          <p:nvPr/>
        </p:nvSpPr>
        <p:spPr>
          <a:xfrm>
            <a:off x="594358" y="384046"/>
            <a:ext cx="11000237" cy="489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Los codificadores de texto biomédico no mejoran la transferencia</a:t>
            </a:r>
          </a:p>
        </p:txBody>
      </p:sp>
      <p:sp>
        <p:nvSpPr>
          <p:cNvPr id="276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7" name="TextBox 281"/>
          <p:cNvSpPr txBox="1"/>
          <p:nvPr/>
        </p:nvSpPr>
        <p:spPr>
          <a:xfrm>
            <a:off x="640078" y="1417319"/>
            <a:ext cx="402336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i="1" sz="1400">
                <a:solidFill>
                  <a:srgbClr val="826540"/>
                </a:solidFill>
              </a:defRPr>
            </a:lvl1pPr>
          </a:lstStyle>
          <a:p>
            <a:pPr/>
            <a:r>
              <a:t>Por qué podía ayudar</a:t>
            </a:r>
          </a:p>
        </p:txBody>
      </p:sp>
      <p:sp>
        <p:nvSpPr>
          <p:cNvPr id="278" name="TextBox 282"/>
          <p:cNvSpPr txBox="1"/>
          <p:nvPr/>
        </p:nvSpPr>
        <p:spPr>
          <a:xfrm>
            <a:off x="5239506" y="1417319"/>
            <a:ext cx="6309369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i="1" sz="1400">
                <a:solidFill>
                  <a:srgbClr val="826540"/>
                </a:solidFill>
              </a:defRPr>
            </a:lvl1pPr>
          </a:lstStyle>
          <a:p>
            <a:pPr/>
            <a:r>
              <a:t>Qué pasó</a:t>
            </a:r>
          </a:p>
        </p:txBody>
      </p:sp>
      <p:pic>
        <p:nvPicPr>
          <p:cNvPr id="279" name="Picture 283" descr="Picture 28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4359" y="1737360"/>
            <a:ext cx="4114802" cy="365366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0" name="Picture 284" descr="Picture 28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193791" y="1737360"/>
            <a:ext cx="6400804" cy="3486152"/>
          </a:xfrm>
          <a:prstGeom prst="rect">
            <a:avLst/>
          </a:prstGeom>
          <a:ln w="12700">
            <a:miter lim="400000"/>
          </a:ln>
        </p:spPr>
      </p:pic>
      <p:sp>
        <p:nvSpPr>
          <p:cNvPr id="281" name="TextBox 285"/>
          <p:cNvSpPr txBox="1"/>
          <p:nvPr/>
        </p:nvSpPr>
        <p:spPr>
          <a:xfrm>
            <a:off x="640079" y="5528178"/>
            <a:ext cx="10908794" cy="506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500">
                <a:solidFill>
                  <a:srgbClr val="4D0912"/>
                </a:solidFill>
              </a:defRPr>
            </a:lvl1pPr>
          </a:lstStyle>
          <a:p>
            <a:pPr/>
            <a:r>
              <a:t>Mejor tokenización no implica mejor transferencia: todas las variantes quedan por debajo de la línea base en NCT; en Chaoyang empatan y en LungHist700 regresan.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4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5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86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Resultados   ·   18/25</a:t>
            </a:r>
          </a:p>
        </p:txBody>
      </p:sp>
      <p:sp>
        <p:nvSpPr>
          <p:cNvPr id="287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El cambio de régimen en pulmón</a:t>
            </a:r>
          </a:p>
        </p:txBody>
      </p:sp>
      <p:sp>
        <p:nvSpPr>
          <p:cNvPr id="288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9" name="TextBox 11"/>
          <p:cNvSpPr txBox="1"/>
          <p:nvPr/>
        </p:nvSpPr>
        <p:spPr>
          <a:xfrm>
            <a:off x="4167547" y="5989320"/>
            <a:ext cx="3826427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b="1" sz="1600">
                <a:solidFill>
                  <a:srgbClr val="4D0912"/>
                </a:solidFill>
              </a:defRPr>
            </a:lvl1pPr>
          </a:lstStyle>
          <a:p>
            <a:pPr/>
            <a:r>
              <a:t>La siguiente variable es el codificador visual.</a:t>
            </a:r>
          </a:p>
        </p:txBody>
      </p:sp>
      <p:sp>
        <p:nvSpPr>
          <p:cNvPr id="290" name="TextBox 278"/>
          <p:cNvSpPr txBox="1"/>
          <p:nvPr/>
        </p:nvSpPr>
        <p:spPr>
          <a:xfrm>
            <a:off x="594357" y="1280160"/>
            <a:ext cx="5901985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Preprocesado, texto y cabeza no rompen el azar 3-clases</a:t>
            </a:r>
          </a:p>
        </p:txBody>
      </p:sp>
      <p:pic>
        <p:nvPicPr>
          <p:cNvPr id="291" name="Picture 279" descr="Picture 27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65274" y="1920238"/>
            <a:ext cx="10058404" cy="374199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5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96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Resultados   ·   19/25</a:t>
            </a:r>
          </a:p>
        </p:txBody>
      </p:sp>
      <p:sp>
        <p:nvSpPr>
          <p:cNvPr id="297" name="TextBox 5"/>
          <p:cNvSpPr txBox="1"/>
          <p:nvPr/>
        </p:nvSpPr>
        <p:spPr>
          <a:xfrm>
            <a:off x="594358" y="384046"/>
            <a:ext cx="11000237" cy="489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El codificador visual como palanca dominante</a:t>
            </a:r>
          </a:p>
        </p:txBody>
      </p:sp>
      <p:sp>
        <p:nvSpPr>
          <p:cNvPr id="298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99" name="Picture 287" descr="Picture 28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746248" y="3042304"/>
            <a:ext cx="8686804" cy="2686881"/>
          </a:xfrm>
          <a:prstGeom prst="rect">
            <a:avLst/>
          </a:prstGeom>
          <a:ln w="12700">
            <a:miter lim="400000"/>
          </a:ln>
        </p:spPr>
      </p:pic>
      <p:sp>
        <p:nvSpPr>
          <p:cNvPr id="300" name="TextBox 288"/>
          <p:cNvSpPr txBox="1"/>
          <p:nvPr/>
        </p:nvSpPr>
        <p:spPr>
          <a:xfrm>
            <a:off x="774448" y="5764769"/>
            <a:ext cx="10630405" cy="554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4D0912"/>
                </a:solidFill>
              </a:defRPr>
            </a:lvl1pPr>
          </a:lstStyle>
          <a:p>
            <a:pPr/>
            <a:r>
              <a:t>El colapso en LungHist700 no se corrige con tinción, texto biomédico ni cabeza CE; cambia de régimen al sustituir el codificador visual.</a:t>
            </a:r>
          </a:p>
        </p:txBody>
      </p:sp>
      <p:sp>
        <p:nvSpPr>
          <p:cNvPr id="301" name="TextBox 221"/>
          <p:cNvSpPr txBox="1"/>
          <p:nvPr/>
        </p:nvSpPr>
        <p:spPr>
          <a:xfrm>
            <a:off x="594359" y="1280160"/>
            <a:ext cx="4927656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El cuello de botella era la representación visual</a:t>
            </a:r>
          </a:p>
        </p:txBody>
      </p:sp>
      <p:sp>
        <p:nvSpPr>
          <p:cNvPr id="302" name="TextBox 182"/>
          <p:cNvSpPr txBox="1"/>
          <p:nvPr/>
        </p:nvSpPr>
        <p:spPr>
          <a:xfrm>
            <a:off x="6195466" y="1690129"/>
            <a:ext cx="5413084" cy="1062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solidFill>
                  <a:srgbClr val="4D0912"/>
                </a:solidFill>
              </a:defRPr>
            </a:pPr>
            <a:r>
              <a:t>Resultado</a:t>
            </a:r>
          </a:p>
          <a:p>
            <a:pPr marL="130341" indent="-130341">
              <a:buSzPct val="100000"/>
              <a:buChar char="▸"/>
              <a:defRPr sz="1600">
                <a:solidFill>
                  <a:srgbClr val="3C2814"/>
                </a:solidFill>
              </a:defRPr>
            </a:pPr>
            <a:r>
              <a:t>El codificador visual de PLIP mejora los tres datasets externos.</a:t>
            </a:r>
          </a:p>
          <a:p>
            <a:pPr marL="130341" indent="-130341">
              <a:buSzPct val="100000"/>
              <a:buChar char="▸"/>
              <a:defRPr sz="1600">
                <a:solidFill>
                  <a:srgbClr val="3C2814"/>
                </a:solidFill>
              </a:defRPr>
            </a:pPr>
            <a:r>
              <a:t>El salto crítico aparece en LungHist700, donde la línea base colapsaba.</a:t>
            </a:r>
          </a:p>
        </p:txBody>
      </p:sp>
      <p:sp>
        <p:nvSpPr>
          <p:cNvPr id="303" name="TextBox 182"/>
          <p:cNvSpPr txBox="1"/>
          <p:nvPr/>
        </p:nvSpPr>
        <p:spPr>
          <a:xfrm>
            <a:off x="611442" y="1690129"/>
            <a:ext cx="5114751" cy="1062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solidFill>
                  <a:srgbClr val="4D0912"/>
                </a:solidFill>
              </a:defRPr>
            </a:pPr>
            <a:r>
              <a:t>Cambio controlado</a:t>
            </a:r>
          </a:p>
          <a:p>
            <a:pPr marL="130341" indent="-130341">
              <a:buSzPct val="100000"/>
              <a:buChar char="▸"/>
              <a:defRPr sz="1600">
                <a:solidFill>
                  <a:srgbClr val="4D0912"/>
                </a:solidFill>
              </a:defRPr>
            </a:pPr>
            <a:r>
              <a:t>Manteniendo:</a:t>
            </a:r>
            <a:r>
              <a:rPr b="1"/>
              <a:t> </a:t>
            </a:r>
            <a:r>
              <a:t>mismo BERT, mismos prompts, cabezas de proyección CLIP y entrenamiento en LC25000.</a:t>
            </a:r>
          </a:p>
          <a:p>
            <a:pPr marL="130341" indent="-130341">
              <a:buSzPct val="100000"/>
              <a:buChar char="▸"/>
              <a:defRPr sz="1600">
                <a:solidFill>
                  <a:srgbClr val="4D0912"/>
                </a:solidFill>
              </a:defRPr>
            </a:pPr>
            <a:r>
              <a:t>Cambio: ResNet50 (ImageNet) → PLIP ViT-B/32 (OpenPath)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7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08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Resultados   ·   20/25</a:t>
            </a:r>
          </a:p>
        </p:txBody>
      </p:sp>
      <p:sp>
        <p:nvSpPr>
          <p:cNvPr id="309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</a:defRPr>
            </a:lvl1pPr>
          </a:lstStyle>
          <a:p>
            <a:pPr/>
            <a:r>
              <a:t>Descomposición de la mejora: una escalera de 3 pasos</a:t>
            </a:r>
          </a:p>
        </p:txBody>
      </p:sp>
      <p:sp>
        <p:nvSpPr>
          <p:cNvPr id="310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1" name="TextBox 7"/>
          <p:cNvSpPr txBox="1"/>
          <p:nvPr/>
        </p:nvSpPr>
        <p:spPr>
          <a:xfrm>
            <a:off x="594357" y="1280160"/>
            <a:ext cx="5497669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</a:defRPr>
            </a:lvl1pPr>
          </a:lstStyle>
          <a:p>
            <a:pPr/>
            <a:r>
              <a:t>La amplitud visual desbloquea; el dominio amplifica.</a:t>
            </a:r>
          </a:p>
        </p:txBody>
      </p:sp>
      <p:sp>
        <p:nvSpPr>
          <p:cNvPr id="312" name="TextBox 9"/>
          <p:cNvSpPr txBox="1"/>
          <p:nvPr/>
        </p:nvSpPr>
        <p:spPr>
          <a:xfrm>
            <a:off x="603248" y="5853927"/>
            <a:ext cx="10972804" cy="509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4D0912"/>
                </a:solidFill>
              </a:defRPr>
            </a:lvl1pPr>
          </a:lstStyle>
          <a:p>
            <a:pPr/>
            <a:r>
              <a:t>DINOv2 separa parte del salto sin histopatología; PLIP añade el margen de dominio. La descomposición es parcial, no una descomposición factorial perfecta.</a:t>
            </a:r>
          </a:p>
        </p:txBody>
      </p:sp>
      <p:graphicFrame>
        <p:nvGraphicFramePr>
          <p:cNvPr id="313" name="Table 10"/>
          <p:cNvGraphicFramePr/>
          <p:nvPr/>
        </p:nvGraphicFramePr>
        <p:xfrm>
          <a:off x="535940" y="1820676"/>
          <a:ext cx="5921227" cy="292608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9792"/>
                <a:gridCol w="1028173"/>
                <a:gridCol w="1024165"/>
                <a:gridCol w="1023094"/>
                <a:gridCol w="1016000"/>
              </a:tblGrid>
              <a:tr h="585216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Condición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LC25000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NCT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Chaoyang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LungHist700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6B0F1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ResNet50</a:t>
                      </a:r>
                    </a:p>
                    <a:p>
                      <a:pPr algn="l"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(ImageNet, baseline)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0.996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0.866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0.305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DINOv2 ViT-B/14</a:t>
                      </a:r>
                    </a:p>
                    <a:p>
                      <a:pPr algn="l"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(SSL general)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0.989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0.855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0.776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0.457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PLIP zero-shot </a:t>
                      </a:r>
                    </a:p>
                    <a:p>
                      <a:pPr algn="l"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(sin entrenamiento en LC25000)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0.700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0.661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0.731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0.544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PLIP ViT-B/32 + (entrenamiento en LC25000)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333333"/>
                          </a:solidFill>
                        </a:rPr>
                        <a:t>0.996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333333"/>
                          </a:solidFill>
                        </a:rPr>
                        <a:t>0.933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333333"/>
                          </a:solidFill>
                        </a:rPr>
                        <a:t>0.813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333333"/>
                          </a:solidFill>
                        </a:rPr>
                        <a:t>0.640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14" name="Picture 297" descr="Picture 29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66683" y="1820676"/>
            <a:ext cx="5303524" cy="372488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7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8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19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Resultados   ·   21/25</a:t>
            </a:r>
          </a:p>
        </p:txBody>
      </p:sp>
      <p:sp>
        <p:nvSpPr>
          <p:cNvPr id="320" name="TextBox 5"/>
          <p:cNvSpPr txBox="1"/>
          <p:nvPr/>
        </p:nvSpPr>
        <p:spPr>
          <a:xfrm>
            <a:off x="594358" y="384047"/>
            <a:ext cx="11000237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Por qué importa el codificador visual</a:t>
            </a:r>
          </a:p>
        </p:txBody>
      </p:sp>
      <p:sp>
        <p:nvSpPr>
          <p:cNvPr id="321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2" name="TextBox 8"/>
          <p:cNvSpPr txBox="1"/>
          <p:nvPr/>
        </p:nvSpPr>
        <p:spPr>
          <a:xfrm>
            <a:off x="603504" y="5172788"/>
            <a:ext cx="10972801" cy="1172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400">
                <a:solidFill>
                  <a:srgbClr val="4D0912"/>
                </a:solidFill>
              </a:defRPr>
            </a:pPr>
            <a:r>
              <a:t>ResNet50:  sin estructura por clase.</a:t>
            </a:r>
          </a:p>
          <a:p>
            <a:pPr>
              <a:defRPr sz="1400">
                <a:solidFill>
                  <a:srgbClr val="4D0912"/>
                </a:solidFill>
              </a:defRPr>
            </a:pPr>
            <a:r>
              <a:t>DINOv2:  separación parcial.</a:t>
            </a:r>
          </a:p>
          <a:p>
            <a:pPr>
              <a:defRPr sz="1400">
                <a:solidFill>
                  <a:srgbClr val="4D0912"/>
                </a:solidFill>
              </a:defRPr>
            </a:pPr>
            <a:r>
              <a:t>PLIP zero-shot:  región pulmonar propia.</a:t>
            </a:r>
          </a:p>
          <a:p>
            <a:pPr>
              <a:defRPr sz="1400">
                <a:solidFill>
                  <a:srgbClr val="4D0912"/>
                </a:solidFill>
              </a:defRPr>
            </a:pPr>
            <a:r>
              <a:t>PLIP + LC25000:  subestructura por clase.</a:t>
            </a:r>
          </a:p>
          <a:p>
            <a:pPr>
              <a:defRPr b="1" sz="1300">
                <a:solidFill>
                  <a:srgbClr val="4D0912"/>
                </a:solidFill>
              </a:defRPr>
            </a:pPr>
            <a:r>
              <a:t>El UMAP no prueba el mecanismo, pero sí muestra el patrón que la métrica resume: PLIP no solo sube F1; recupera estructura visual útil.</a:t>
            </a:r>
          </a:p>
        </p:txBody>
      </p:sp>
      <p:pic>
        <p:nvPicPr>
          <p:cNvPr id="323" name="Picture 327" descr="Picture 32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03504" y="1737360"/>
            <a:ext cx="10972801" cy="3014805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TextBox 327"/>
          <p:cNvSpPr txBox="1"/>
          <p:nvPr/>
        </p:nvSpPr>
        <p:spPr>
          <a:xfrm>
            <a:off x="4286113" y="4843603"/>
            <a:ext cx="358929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i="1" sz="1400">
                <a:solidFill>
                  <a:srgbClr val="3C2814"/>
                </a:solidFill>
              </a:defRPr>
            </a:lvl1pPr>
          </a:lstStyle>
          <a:p>
            <a:pPr/>
            <a:r>
              <a:t>círculos = LC25000    ·    triángulos = LungHist700</a:t>
            </a:r>
          </a:p>
        </p:txBody>
      </p:sp>
      <p:sp>
        <p:nvSpPr>
          <p:cNvPr id="325" name="TextBox 327"/>
          <p:cNvSpPr txBox="1"/>
          <p:nvPr/>
        </p:nvSpPr>
        <p:spPr>
          <a:xfrm>
            <a:off x="640079" y="1280161"/>
            <a:ext cx="10881361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El espacio latente refleja el resultado cuantitativo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28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0" name="TextBox 4"/>
          <p:cNvSpPr txBox="1"/>
          <p:nvPr/>
        </p:nvSpPr>
        <p:spPr>
          <a:xfrm>
            <a:off x="1142986" y="1920236"/>
            <a:ext cx="4023390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331" name="TextBox 5"/>
          <p:cNvSpPr txBox="1"/>
          <p:nvPr/>
        </p:nvSpPr>
        <p:spPr>
          <a:xfrm>
            <a:off x="1142999" y="4846320"/>
            <a:ext cx="924080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C9A227"/>
                </a:solidFill>
              </a:defRPr>
            </a:lvl1pPr>
          </a:lstStyle>
          <a:p>
            <a:pPr/>
            <a:r>
              <a:t>§  Sección</a:t>
            </a:r>
          </a:p>
        </p:txBody>
      </p:sp>
      <p:sp>
        <p:nvSpPr>
          <p:cNvPr id="332" name="TextBox 6"/>
          <p:cNvSpPr txBox="1"/>
          <p:nvPr/>
        </p:nvSpPr>
        <p:spPr>
          <a:xfrm>
            <a:off x="1142982" y="5303520"/>
            <a:ext cx="5795002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</a:defRPr>
            </a:lvl1pPr>
          </a:lstStyle>
          <a:p>
            <a:pPr/>
            <a:r>
              <a:t>Discusión y conclusiones</a:t>
            </a:r>
          </a:p>
        </p:txBody>
      </p:sp>
      <p:sp>
        <p:nvSpPr>
          <p:cNvPr id="333" name="TextBox 334"/>
          <p:cNvSpPr txBox="1"/>
          <p:nvPr/>
        </p:nvSpPr>
        <p:spPr>
          <a:xfrm>
            <a:off x="1014712" y="5927341"/>
            <a:ext cx="10543887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No es solo un ranking de modelos: es un estudio sobre qué tipo de representación visual transfiere.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6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7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38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Discusión y conclusiones   ·   23/25</a:t>
            </a:r>
          </a:p>
        </p:txBody>
      </p:sp>
      <p:sp>
        <p:nvSpPr>
          <p:cNvPr id="339" name="TextBox 5"/>
          <p:cNvSpPr txBox="1"/>
          <p:nvPr/>
        </p:nvSpPr>
        <p:spPr>
          <a:xfrm>
            <a:off x="594358" y="384046"/>
            <a:ext cx="11002979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Qué explica realmente la generalización externa</a:t>
            </a:r>
          </a:p>
        </p:txBody>
      </p:sp>
      <p:sp>
        <p:nvSpPr>
          <p:cNvPr id="340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1" name="Rounded Rectangle 341"/>
          <p:cNvSpPr/>
          <p:nvPr/>
        </p:nvSpPr>
        <p:spPr>
          <a:xfrm>
            <a:off x="594359" y="1463038"/>
            <a:ext cx="3453387" cy="3977642"/>
          </a:xfrm>
          <a:prstGeom prst="roundRect">
            <a:avLst>
              <a:gd name="adj" fmla="val 16667"/>
            </a:avLst>
          </a:prstGeom>
          <a:solidFill>
            <a:srgbClr val="F5EED8"/>
          </a:solidFill>
          <a:ln w="19050">
            <a:solidFill>
              <a:srgbClr val="6B0F1A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grpSp>
        <p:nvGrpSpPr>
          <p:cNvPr id="344" name="Oval 342"/>
          <p:cNvGrpSpPr/>
          <p:nvPr/>
        </p:nvGrpSpPr>
        <p:grpSpPr>
          <a:xfrm>
            <a:off x="1978150" y="1691638"/>
            <a:ext cx="685803" cy="685803"/>
            <a:chOff x="0" y="0"/>
            <a:chExt cx="685801" cy="685801"/>
          </a:xfrm>
        </p:grpSpPr>
        <p:sp>
          <p:nvSpPr>
            <p:cNvPr id="342" name="Circle"/>
            <p:cNvSpPr/>
            <p:nvPr/>
          </p:nvSpPr>
          <p:spPr>
            <a:xfrm>
              <a:off x="0" y="0"/>
              <a:ext cx="685802" cy="685802"/>
            </a:xfrm>
            <a:prstGeom prst="ellipse">
              <a:avLst/>
            </a:prstGeom>
            <a:solidFill>
              <a:srgbClr val="6B0F1A"/>
            </a:solidFill>
            <a:ln w="9525" cap="flat">
              <a:solidFill>
                <a:srgbClr val="6B0F1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b="1" sz="28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</a:p>
          </p:txBody>
        </p:sp>
        <p:sp>
          <p:nvSpPr>
            <p:cNvPr id="343" name="1"/>
            <p:cNvSpPr txBox="1"/>
            <p:nvPr/>
          </p:nvSpPr>
          <p:spPr>
            <a:xfrm>
              <a:off x="150915" y="81280"/>
              <a:ext cx="383971" cy="5232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8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45" name="TextBox 343"/>
          <p:cNvSpPr txBox="1"/>
          <p:nvPr/>
        </p:nvSpPr>
        <p:spPr>
          <a:xfrm>
            <a:off x="822958" y="2560321"/>
            <a:ext cx="2996188" cy="320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El cuello de botella era visual</a:t>
            </a:r>
          </a:p>
        </p:txBody>
      </p:sp>
      <p:sp>
        <p:nvSpPr>
          <p:cNvPr id="346" name="Rectangle 344"/>
          <p:cNvSpPr/>
          <p:nvPr/>
        </p:nvSpPr>
        <p:spPr>
          <a:xfrm>
            <a:off x="1680971" y="3383279"/>
            <a:ext cx="1280163" cy="45722"/>
          </a:xfrm>
          <a:prstGeom prst="rect">
            <a:avLst/>
          </a:prstGeom>
          <a:solidFill>
            <a:srgbClr val="C6A0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347" name="TextBox 345"/>
          <p:cNvSpPr txBox="1"/>
          <p:nvPr/>
        </p:nvSpPr>
        <p:spPr>
          <a:xfrm>
            <a:off x="868680" y="3566160"/>
            <a:ext cx="2904746" cy="1423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3C2814"/>
                </a:solidFill>
              </a:defRPr>
            </a:lvl1pPr>
          </a:lstStyle>
          <a:p>
            <a:pPr/>
            <a:r>
              <a:t>Normalización de tinción, codificadores de texto biomédicos y sustituir CLIP por un clasificador CE no rompen el colapso pulmonar. El cambio de régimen aparece al cambiar el codificador visual.</a:t>
            </a:r>
          </a:p>
        </p:txBody>
      </p:sp>
      <p:sp>
        <p:nvSpPr>
          <p:cNvPr id="348" name="Rounded Rectangle 346"/>
          <p:cNvSpPr/>
          <p:nvPr/>
        </p:nvSpPr>
        <p:spPr>
          <a:xfrm>
            <a:off x="4367784" y="1463038"/>
            <a:ext cx="3453386" cy="3977642"/>
          </a:xfrm>
          <a:prstGeom prst="roundRect">
            <a:avLst>
              <a:gd name="adj" fmla="val 16667"/>
            </a:avLst>
          </a:prstGeom>
          <a:solidFill>
            <a:srgbClr val="F5EED8"/>
          </a:solidFill>
          <a:ln w="19050">
            <a:solidFill>
              <a:srgbClr val="6B0F1A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grpSp>
        <p:nvGrpSpPr>
          <p:cNvPr id="351" name="Oval 347"/>
          <p:cNvGrpSpPr/>
          <p:nvPr/>
        </p:nvGrpSpPr>
        <p:grpSpPr>
          <a:xfrm>
            <a:off x="5751576" y="1691638"/>
            <a:ext cx="685803" cy="685803"/>
            <a:chOff x="0" y="0"/>
            <a:chExt cx="685801" cy="685801"/>
          </a:xfrm>
        </p:grpSpPr>
        <p:sp>
          <p:nvSpPr>
            <p:cNvPr id="349" name="Circle"/>
            <p:cNvSpPr/>
            <p:nvPr/>
          </p:nvSpPr>
          <p:spPr>
            <a:xfrm>
              <a:off x="0" y="0"/>
              <a:ext cx="685802" cy="685802"/>
            </a:xfrm>
            <a:prstGeom prst="ellipse">
              <a:avLst/>
            </a:prstGeom>
            <a:solidFill>
              <a:srgbClr val="6B0F1A"/>
            </a:solidFill>
            <a:ln w="9525" cap="flat">
              <a:solidFill>
                <a:srgbClr val="6B0F1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b="1" sz="28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</a:p>
          </p:txBody>
        </p:sp>
        <p:sp>
          <p:nvSpPr>
            <p:cNvPr id="350" name="2"/>
            <p:cNvSpPr txBox="1"/>
            <p:nvPr/>
          </p:nvSpPr>
          <p:spPr>
            <a:xfrm>
              <a:off x="150915" y="81280"/>
              <a:ext cx="383971" cy="5232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8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352" name="TextBox 348"/>
          <p:cNvSpPr txBox="1"/>
          <p:nvPr/>
        </p:nvSpPr>
        <p:spPr>
          <a:xfrm>
            <a:off x="4596384" y="2560321"/>
            <a:ext cx="2996186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La amplitud visual desbloquea; el dominio amplifica</a:t>
            </a:r>
          </a:p>
        </p:txBody>
      </p:sp>
      <p:sp>
        <p:nvSpPr>
          <p:cNvPr id="353" name="Rectangle 349"/>
          <p:cNvSpPr/>
          <p:nvPr/>
        </p:nvSpPr>
        <p:spPr>
          <a:xfrm>
            <a:off x="5454396" y="3383279"/>
            <a:ext cx="1280162" cy="45722"/>
          </a:xfrm>
          <a:prstGeom prst="rect">
            <a:avLst/>
          </a:prstGeom>
          <a:solidFill>
            <a:srgbClr val="C6A0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354" name="TextBox 350"/>
          <p:cNvSpPr txBox="1"/>
          <p:nvPr/>
        </p:nvSpPr>
        <p:spPr>
          <a:xfrm>
            <a:off x="4642103" y="3566160"/>
            <a:ext cx="2904746" cy="9584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DINOv2 sube LungHist700 de 0.305 → 0.457 sin histopatología. PLIP zero-shot sube a 0.544. PLIP + LC25000 alcanza 0.640.</a:t>
            </a:r>
          </a:p>
        </p:txBody>
      </p:sp>
      <p:sp>
        <p:nvSpPr>
          <p:cNvPr id="355" name="Rounded Rectangle 351"/>
          <p:cNvSpPr/>
          <p:nvPr/>
        </p:nvSpPr>
        <p:spPr>
          <a:xfrm>
            <a:off x="8141206" y="1463038"/>
            <a:ext cx="3453386" cy="3977642"/>
          </a:xfrm>
          <a:prstGeom prst="roundRect">
            <a:avLst>
              <a:gd name="adj" fmla="val 16667"/>
            </a:avLst>
          </a:prstGeom>
          <a:solidFill>
            <a:srgbClr val="F5EED8"/>
          </a:solidFill>
          <a:ln w="19050">
            <a:solidFill>
              <a:srgbClr val="6B0F1A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grpSp>
        <p:nvGrpSpPr>
          <p:cNvPr id="358" name="Oval 352"/>
          <p:cNvGrpSpPr/>
          <p:nvPr/>
        </p:nvGrpSpPr>
        <p:grpSpPr>
          <a:xfrm>
            <a:off x="9525000" y="1691638"/>
            <a:ext cx="685800" cy="685803"/>
            <a:chOff x="0" y="0"/>
            <a:chExt cx="685800" cy="685801"/>
          </a:xfrm>
        </p:grpSpPr>
        <p:sp>
          <p:nvSpPr>
            <p:cNvPr id="356" name="Circle"/>
            <p:cNvSpPr/>
            <p:nvPr/>
          </p:nvSpPr>
          <p:spPr>
            <a:xfrm>
              <a:off x="0" y="0"/>
              <a:ext cx="685800" cy="685802"/>
            </a:xfrm>
            <a:prstGeom prst="ellipse">
              <a:avLst/>
            </a:prstGeom>
            <a:solidFill>
              <a:srgbClr val="6B0F1A"/>
            </a:solidFill>
            <a:ln w="9525" cap="flat">
              <a:solidFill>
                <a:srgbClr val="6B0F1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b="1" sz="28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</a:p>
          </p:txBody>
        </p:sp>
        <p:sp>
          <p:nvSpPr>
            <p:cNvPr id="357" name="3"/>
            <p:cNvSpPr txBox="1"/>
            <p:nvPr/>
          </p:nvSpPr>
          <p:spPr>
            <a:xfrm>
              <a:off x="150915" y="81280"/>
              <a:ext cx="383971" cy="5232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8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359" name="TextBox 353"/>
          <p:cNvSpPr txBox="1"/>
          <p:nvPr/>
        </p:nvSpPr>
        <p:spPr>
          <a:xfrm>
            <a:off x="8369806" y="2560321"/>
            <a:ext cx="2996187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Reportar por órgano cambia la conclusión</a:t>
            </a:r>
          </a:p>
        </p:txBody>
      </p:sp>
      <p:sp>
        <p:nvSpPr>
          <p:cNvPr id="360" name="Rectangle 354"/>
          <p:cNvSpPr/>
          <p:nvPr/>
        </p:nvSpPr>
        <p:spPr>
          <a:xfrm>
            <a:off x="9227818" y="3383279"/>
            <a:ext cx="1280162" cy="45722"/>
          </a:xfrm>
          <a:prstGeom prst="rect">
            <a:avLst/>
          </a:prstGeom>
          <a:solidFill>
            <a:srgbClr val="C6A0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361" name="TextBox 355"/>
          <p:cNvSpPr txBox="1"/>
          <p:nvPr/>
        </p:nvSpPr>
        <p:spPr>
          <a:xfrm>
            <a:off x="8415526" y="3566160"/>
            <a:ext cx="2904746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3C281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Colon transfiere parcialmente. Pulmón colapsa. Promediar los datasets externos ocultaría esa asimetría.</a:t>
            </a:r>
          </a:p>
        </p:txBody>
      </p:sp>
      <p:sp>
        <p:nvSpPr>
          <p:cNvPr id="362" name="TextBox 356"/>
          <p:cNvSpPr txBox="1"/>
          <p:nvPr/>
        </p:nvSpPr>
        <p:spPr>
          <a:xfrm>
            <a:off x="640079" y="5577841"/>
            <a:ext cx="10908794" cy="5093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4D0912"/>
                </a:solidFill>
              </a:defRPr>
            </a:lvl1pPr>
          </a:lstStyle>
          <a:p>
            <a:pPr/>
            <a:r>
              <a:t>Conclusión: bajo shift externo, no domina el texto, el color ni la cabeza CE; domina la representación visual. La amplitud general desbloquea la transferencia y el pretraining histopatológico aporta el mejor margen final.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5" name="Rectangle 2"/>
          <p:cNvSpPr/>
          <p:nvPr/>
        </p:nvSpPr>
        <p:spPr>
          <a:xfrm>
            <a:off x="-1" y="6812280"/>
            <a:ext cx="12191697" cy="36596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67" name="TextBox 4"/>
          <p:cNvSpPr txBox="1"/>
          <p:nvPr/>
        </p:nvSpPr>
        <p:spPr>
          <a:xfrm>
            <a:off x="8579814" y="6492240"/>
            <a:ext cx="301754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§ Discusión y conclusiones   ·   24/25</a:t>
            </a:r>
          </a:p>
        </p:txBody>
      </p:sp>
      <p:sp>
        <p:nvSpPr>
          <p:cNvPr id="368" name="TextBox 5"/>
          <p:cNvSpPr txBox="1"/>
          <p:nvPr/>
        </p:nvSpPr>
        <p:spPr>
          <a:xfrm>
            <a:off x="594358" y="384046"/>
            <a:ext cx="11002979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Limitaciones y trabajo futuro</a:t>
            </a:r>
          </a:p>
        </p:txBody>
      </p:sp>
      <p:sp>
        <p:nvSpPr>
          <p:cNvPr id="369" name="Rectangle 6"/>
          <p:cNvSpPr/>
          <p:nvPr/>
        </p:nvSpPr>
        <p:spPr>
          <a:xfrm>
            <a:off x="548639" y="1024127"/>
            <a:ext cx="1097282" cy="36596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0" name="TextBox 7"/>
          <p:cNvSpPr txBox="1"/>
          <p:nvPr/>
        </p:nvSpPr>
        <p:spPr>
          <a:xfrm>
            <a:off x="594348" y="1280160"/>
            <a:ext cx="5394986" cy="4003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Limitaciones</a:t>
            </a: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Encoders congelados: con fine-tuning end-to-end, la palanca dominante podría cambiar.</a:t>
            </a: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LC25000 infla el resultado in-distribution (aumentos y duplicados); la evidencia fuerte viene de los datasets externos.</a:t>
            </a: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PLIP vs DINOv2 no separa completamente dominio, objetivo y patch size: el +0.087 se lee como evidencia de preentrenamiento histopatológico, no como aislamiento causal.</a:t>
            </a: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Una semilla por condición y N=359 en LungHist700: sin intervalos de confianza sobre el +0.335.</a:t>
            </a:r>
          </a:p>
        </p:txBody>
      </p:sp>
      <p:sp>
        <p:nvSpPr>
          <p:cNvPr id="371" name="TextBox 8"/>
          <p:cNvSpPr txBox="1"/>
          <p:nvPr/>
        </p:nvSpPr>
        <p:spPr>
          <a:xfrm>
            <a:off x="6446518" y="1280160"/>
            <a:ext cx="5212096" cy="316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Trabajo futuro</a:t>
            </a: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Control factorial: mismo ViT y patch size, distinto dominio de preentrenamiento.</a:t>
            </a: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Comparación head-to-head con UNI, CONCH, BiomedCLIP y MUSK.</a:t>
            </a: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Preentrenamiento autosupervisado histopatológico controlado (por ejemplo, sobre TCGA).</a:t>
            </a: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▸ Pasar de parches aislados a WSI como secuencia de tiles.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6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74" name="TextBox 1"/>
          <p:cNvSpPr txBox="1"/>
          <p:nvPr/>
        </p:nvSpPr>
        <p:spPr>
          <a:xfrm>
            <a:off x="39518" y="2925386"/>
            <a:ext cx="12100264" cy="1007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7200">
                <a:solidFill>
                  <a:srgbClr val="FFFFFF"/>
                </a:solidFill>
              </a:defRPr>
            </a:lvl1pPr>
          </a:lstStyle>
          <a:p>
            <a:pPr/>
            <a:r>
              <a:t>Preguntas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