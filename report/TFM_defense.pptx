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Shape 90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1" name="Shape 91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11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0" name="Shape 12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Motivacion  ·  3/22  —  Histopatologia digital</a:t>
            </a:r>
          </a:p>
          <a:p>
            <a:pPr/>
          </a:p>
          <a:p>
            <a:pPr/>
            <a:r>
              <a:t>Que contar:</a:t>
            </a:r>
          </a:p>
          <a:p>
            <a:pPr/>
            <a:r>
              <a:t> 1. Patologos analizan tejido tenido bajo microscopio para diagnosticar.</a:t>
            </a:r>
          </a:p>
          <a:p>
            <a:pPr/>
            <a:r>
              <a:t> 2. Version digital: WSI (Whole Slide Image), escaneo gigapixel del portaobjetos.</a:t>
            </a:r>
          </a:p>
          <a:p>
            <a:pPr/>
            <a:r>
              <a:t> 3. Para ML: el WSI no cabe en GPU, se parte en parches (~768 px).</a:t>
            </a:r>
          </a:p>
          <a:p>
            <a:pPr/>
          </a:p>
          <a:p>
            <a:pPr/>
            <a:r>
              <a:t>Si me quedo en blanco:</a:t>
            </a:r>
          </a:p>
          <a:p>
            <a:pPr/>
            <a:r>
              <a:t>"La histopatologia es analisis visual de tejido bajo microscopio. Digitalmente son WSIs gigapixel, y los procesamos por parches porque el WSI completo no cabe en memoria."</a:t>
            </a:r>
          </a:p>
          <a:p>
            <a:pPr/>
          </a:p>
          <a:p>
            <a:pPr/>
            <a:r>
              <a:t>Transicion a slide 4:</a:t>
            </a:r>
          </a:p>
          <a:p>
            <a:pPr/>
            <a:r>
              <a:t>"Pero automatizar histopatologia tiene retos especificos que rompen los pipelines estandar de vision."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13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2" name="Shape 13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Motivacion  ·  4/22  —  Retos del dominio</a:t>
            </a:r>
          </a:p>
          <a:p>
            <a:pPr/>
          </a:p>
          <a:p>
            <a:pPr/>
            <a:r>
              <a:t>Cuatro retos que hacen esto dificil:</a:t>
            </a:r>
          </a:p>
          <a:p>
            <a:pPr/>
            <a:r>
              <a:t> 1. Variabilidad de tincion: mismo tejido, apariencia distinta segun laboratorio, escaner y lote de tincion.</a:t>
            </a:r>
          </a:p>
          <a:p>
            <a:pPr/>
            <a:r>
              <a:t> 2. Escala gigapixel: obliga a trocear y perder contexto global de la lamina.</a:t>
            </a:r>
          </a:p>
          <a:p>
            <a:pPr/>
            <a:r>
              <a:t> 3. Datos etiquetados escasos: la anotacion requiere patologo experto, es cara y lenta.</a:t>
            </a:r>
          </a:p>
          <a:p>
            <a:pPr/>
            <a:r>
              <a:t> 4. Sesgo institucional: cada hospital tiene sus practicas y su poblacion; los modelos entrenados en un sitio no generalizan de forma trivial.</a:t>
            </a:r>
          </a:p>
          <a:p>
            <a:pPr/>
          </a:p>
          <a:p>
            <a:pPr/>
            <a:r>
              <a:t>Sobre la imagen (composite de 4 datasets):</a:t>
            </a:r>
          </a:p>
          <a:p>
            <a:pPr/>
            <a:r>
              <a:t>Mismo tipo de tejido en LC25000, NCT-CRC, Chaoyang y LungHist700 — cuatro apariencias visibles distintas. Ilustra el problema de tincion + sesgo institucional simultaneamente.</a:t>
            </a:r>
          </a:p>
          <a:p>
            <a:pPr/>
          </a:p>
          <a:p>
            <a:pPr/>
            <a:r>
              <a:t>Si me quedo en blanco:</a:t>
            </a:r>
          </a:p>
          <a:p>
            <a:pPr/>
            <a:r>
              <a:t>"Cuatro retos que rompen el pipeline estandar de vision: tincion variable, tamano gigapixel, etiquetas escasas y sesgo institucional."</a:t>
            </a:r>
          </a:p>
          <a:p>
            <a:pPr/>
          </a:p>
          <a:p>
            <a:pPr/>
            <a:r>
              <a:t>Transicion a slide 5:</a:t>
            </a:r>
          </a:p>
          <a:p>
            <a:pPr/>
            <a:r>
              <a:t>"Los modelos fundacionales de vision-lenguaje ofrecen una via para mitigar varios de estos retos."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Shape 14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4" name="Shape 14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Motivacion  ·  5/22  —  Modelos fundacionales vision-lenguaje</a:t>
            </a:r>
          </a:p>
          <a:p>
            <a:pPr/>
          </a:p>
          <a:p>
            <a:pPr/>
            <a:r>
              <a:t>Idea central:</a:t>
            </a:r>
          </a:p>
          <a:p>
            <a:pPr/>
            <a:r>
              <a:t>- Alinean imagen y texto en un espacio latente compartido mediante aprendizaje contrastivo.</a:t>
            </a:r>
          </a:p>
          <a:p>
            <a:pPr/>
            <a:r>
              <a:t>- Pre-entrenamiento masivo con pares imagen-descripcion (CLIP: ~400M pares web; PLIP: pares especificos de patologia).</a:t>
            </a:r>
          </a:p>
          <a:p>
            <a:pPr/>
          </a:p>
          <a:p>
            <a:pPr/>
            <a:r>
              <a:t>Encaje con histopatologia:</a:t>
            </a:r>
          </a:p>
          <a:p>
            <a:pPr/>
            <a:r>
              <a:t>- Mitigan la escasez de etiquetas — aprovechamos conocimiento ya pre-entrenado.</a:t>
            </a:r>
          </a:p>
          <a:p>
            <a:pPr/>
            <a:r>
              <a:t>- Representaciones potencialmente transferibles entre instituciones (hipotesis a validar en Resultados).</a:t>
            </a:r>
          </a:p>
          <a:p>
            <a:pPr/>
          </a:p>
          <a:p>
            <a:pPr/>
            <a:r>
              <a:t>Sobre el diagrama:</a:t>
            </a:r>
          </a:p>
          <a:p>
            <a:pPr/>
            <a:r>
              <a:t>- Arquitectura generica dual-encoder + fusion opcional + salida.</a:t>
            </a:r>
          </a:p>
          <a:p>
            <a:pPr/>
            <a:r>
              <a:t>- Nosotros usamos unicamente objetivo contrastivo (ITC), como CLIP y PLIP.</a:t>
            </a:r>
          </a:p>
          <a:p>
            <a:pPr/>
            <a:r>
              <a:t>- Los demas objetivos (MLM, MIM, ITM) y tareas (VQA, captioning...) son extensiones de otros trabajos.</a:t>
            </a:r>
          </a:p>
          <a:p>
            <a:pPr/>
          </a:p>
          <a:p>
            <a:pPr/>
            <a:r>
              <a:t>Si preguntan por el prompt en ingles:</a:t>
            </a:r>
          </a:p>
          <a:p>
            <a:pPr/>
            <a:r>
              <a:t>"El prompt va en ingles porque asi se entreno CLIP y asi lo alimentamos en nuestros experimentos."</a:t>
            </a:r>
          </a:p>
          <a:p>
            <a:pPr/>
          </a:p>
          <a:p>
            <a:pPr/>
            <a:r>
              <a:t>Si me quedo en blanco:</a:t>
            </a:r>
          </a:p>
          <a:p>
            <a:pPr/>
            <a:r>
              <a:t>"Los VLMs colocan imagen y texto en un espacio compartido. Los pre-entrenamos con millones de pares y luego los usamos zero-shot en histopatologia."</a:t>
            </a:r>
          </a:p>
          <a:p>
            <a:pPr/>
          </a:p>
          <a:p>
            <a:pPr/>
            <a:r>
              <a:t>Transicion a slide 6:</a:t>
            </a:r>
          </a:p>
          <a:p>
            <a:pPr/>
            <a:r>
              <a:t>"Con esto sobre la mesa, ya podemos formular la pregunta central de este TFM."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15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55" name="Shape 15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Motivacion  ·  6/22  —  Pregunta central</a:t>
            </a:r>
          </a:p>
          <a:p>
            <a:pPr/>
          </a:p>
          <a:p>
            <a:pPr/>
            <a:r>
              <a:t>Que contar:</a:t>
            </a:r>
          </a:p>
          <a:p>
            <a:pPr/>
            <a:r>
              <a:t> 1. Pregunta central: ¿en que medida generaliza un modelo CLIP-style entre instituciones histopatologicas, y que decisiones de diseño lo explican?</a:t>
            </a:r>
          </a:p>
          <a:p>
            <a:pPr/>
            <a:r>
              <a:t> 2. Contexto: la histopatologia concentra los retos que acabamos de ver — banco de pruebas exigente.</a:t>
            </a:r>
          </a:p>
          <a:p>
            <a:pPr/>
            <a:r>
              <a:t> 3. Evaluacion externa: medimos en tres datasets no vistos en entrenamiento (NCT-CRC, Chaoyang, LungHist700). Cambio real de institucion y fuente.</a:t>
            </a:r>
          </a:p>
          <a:p>
            <a:pPr/>
            <a:r>
              <a:t> 4. Ablacion: aun no esta claro que componentes (encoder visual, texto, prompt, normalizacion) contribuyen ni donde estan sus limites.</a:t>
            </a:r>
          </a:p>
          <a:p>
            <a:pPr/>
          </a:p>
          <a:p>
            <a:pPr/>
            <a:r>
              <a:t>Cierre (la frase del final del slide):</a:t>
            </a:r>
          </a:p>
          <a:p>
            <a:pPr/>
            <a:r>
              <a:t>"La metodologia se organiza alrededor de esta pregunta — cambiar una variable cada vez y medir que aguanta el desplazamiento de distribucion."</a:t>
            </a:r>
          </a:p>
          <a:p>
            <a:pPr/>
          </a:p>
          <a:p>
            <a:pPr/>
            <a:r>
              <a:t>Si me quedo en blanco:</a:t>
            </a:r>
          </a:p>
          <a:p>
            <a:pPr/>
            <a:r>
              <a:t>"Preguntamos cuanto se preserva el rendimiento entre instituciones y que explica las diferencias. Lo respondemos con evaluacion externa y ablacion por componente."</a:t>
            </a:r>
          </a:p>
          <a:p>
            <a:pPr/>
          </a:p>
          <a:p>
            <a:pPr/>
            <a:r>
              <a:t>Transicion a slide 7:</a:t>
            </a:r>
          </a:p>
          <a:p>
            <a:pPr/>
            <a:r>
              <a:t>"Con la pregunta sobre la mesa, vemos como la abordamos."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95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71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6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4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4" cy="80487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6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Rectangle 1"/>
          <p:cNvSpPr/>
          <p:nvPr/>
        </p:nvSpPr>
        <p:spPr>
          <a:xfrm>
            <a:off x="-1" y="5852159"/>
            <a:ext cx="12191697" cy="1005840"/>
          </a:xfrm>
          <a:prstGeom prst="rect">
            <a:avLst/>
          </a:prstGeom>
          <a:solidFill>
            <a:srgbClr val="4D091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5" name="Rectangle 2"/>
          <p:cNvSpPr/>
          <p:nvPr/>
        </p:nvSpPr>
        <p:spPr>
          <a:xfrm>
            <a:off x="0" y="2011675"/>
            <a:ext cx="457200" cy="3200411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96" name="TextBox 3"/>
          <p:cNvSpPr txBox="1"/>
          <p:nvPr/>
        </p:nvSpPr>
        <p:spPr>
          <a:xfrm>
            <a:off x="1143000" y="914399"/>
            <a:ext cx="996696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C9A227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Trabajo de Fin de Máster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143000" y="1463038"/>
            <a:ext cx="9966961" cy="1294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42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A Study on Foundational Vision-Language Models for Histopathology Image Analysis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1143000" y="4114800"/>
            <a:ext cx="9966961" cy="3853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Sánchez de Ybargüen</a:t>
            </a:r>
          </a:p>
        </p:txBody>
      </p:sp>
      <p:sp>
        <p:nvSpPr>
          <p:cNvPr id="99" name="TextBox 6"/>
          <p:cNvSpPr txBox="1"/>
          <p:nvPr/>
        </p:nvSpPr>
        <p:spPr>
          <a:xfrm>
            <a:off x="1143000" y="4617720"/>
            <a:ext cx="9966961" cy="8537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400">
                <a:solidFill>
                  <a:srgbClr val="FAF7F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Tutores:  Miguel Ángel Gutiérrez Naranjo   ·   Miguel Cárdenas Montes</a:t>
            </a:r>
          </a:p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t>Máster Universitario en Lógica, Computación e Inteligencia Artificial</a:t>
            </a:r>
          </a:p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  <a:r>
              <a:t>ETSI Informática · Universidad de Sevilla · 2026</a:t>
            </a:r>
          </a:p>
        </p:txBody>
      </p:sp>
      <p:pic>
        <p:nvPicPr>
          <p:cNvPr id="100" name="Picture 8" descr="Picture 8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362895" y="274320"/>
            <a:ext cx="1463048" cy="128588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03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4" name="Rectangle 3"/>
          <p:cNvSpPr/>
          <p:nvPr/>
        </p:nvSpPr>
        <p:spPr>
          <a:xfrm>
            <a:off x="-1" y="0"/>
            <a:ext cx="548642" cy="6858000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05" name="TextBox 4"/>
          <p:cNvSpPr txBox="1"/>
          <p:nvPr/>
        </p:nvSpPr>
        <p:spPr>
          <a:xfrm>
            <a:off x="1142995" y="1920236"/>
            <a:ext cx="4023371" cy="28910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0">
                <a:solidFill>
                  <a:srgbClr val="FAF7F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106" name="TextBox 5"/>
          <p:cNvSpPr txBox="1"/>
          <p:nvPr/>
        </p:nvSpPr>
        <p:spPr>
          <a:xfrm>
            <a:off x="1142999" y="4846320"/>
            <a:ext cx="924080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C9A227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 Sección</a:t>
            </a:r>
          </a:p>
        </p:txBody>
      </p:sp>
      <p:sp>
        <p:nvSpPr>
          <p:cNvPr id="107" name="TextBox 6"/>
          <p:cNvSpPr txBox="1"/>
          <p:nvPr/>
        </p:nvSpPr>
        <p:spPr>
          <a:xfrm>
            <a:off x="1142999" y="5303520"/>
            <a:ext cx="2727331" cy="653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FAF7F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Motivación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0" name="Rectangle 2"/>
          <p:cNvSpPr/>
          <p:nvPr/>
        </p:nvSpPr>
        <p:spPr>
          <a:xfrm>
            <a:off x="-1" y="6812280"/>
            <a:ext cx="12191697" cy="36584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1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 ·  TFM — Foundational VLMs para histopatología</a:t>
            </a:r>
          </a:p>
        </p:txBody>
      </p:sp>
      <p:sp>
        <p:nvSpPr>
          <p:cNvPr id="112" name="TextBox 4"/>
          <p:cNvSpPr txBox="1"/>
          <p:nvPr/>
        </p:nvSpPr>
        <p:spPr>
          <a:xfrm>
            <a:off x="8579814" y="6492240"/>
            <a:ext cx="3017529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Motivación   ·   3/23</a:t>
            </a:r>
          </a:p>
        </p:txBody>
      </p:sp>
      <p:sp>
        <p:nvSpPr>
          <p:cNvPr id="113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Histopatología Digital</a:t>
            </a:r>
          </a:p>
        </p:txBody>
      </p:sp>
      <p:sp>
        <p:nvSpPr>
          <p:cNvPr id="114" name="Rectangle 6"/>
          <p:cNvSpPr/>
          <p:nvPr/>
        </p:nvSpPr>
        <p:spPr>
          <a:xfrm>
            <a:off x="548639" y="1024127"/>
            <a:ext cx="1097282" cy="3658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5" name="TextBox 7"/>
          <p:cNvSpPr txBox="1"/>
          <p:nvPr/>
        </p:nvSpPr>
        <p:spPr>
          <a:xfrm>
            <a:off x="594358" y="1280161"/>
            <a:ext cx="10972804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Herramienta de diagnóstico visual usada por patólogos sobre tejidos de distintos órganos</a:t>
            </a:r>
          </a:p>
        </p:txBody>
      </p:sp>
      <p:sp>
        <p:nvSpPr>
          <p:cNvPr id="116" name="TextBox 8"/>
          <p:cNvSpPr txBox="1"/>
          <p:nvPr/>
        </p:nvSpPr>
        <p:spPr>
          <a:xfrm>
            <a:off x="665273" y="1967842"/>
            <a:ext cx="5120641" cy="42248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¿Qué es la histopatología?</a:t>
            </a:r>
          </a:p>
          <a:p>
            <a:pPr marL="140367" indent="-140367">
              <a:buSzPct val="100000"/>
              <a:buChar char="▸"/>
              <a:defRPr b="1" sz="16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Histopatología</a:t>
            </a:r>
            <a:r>
              <a:rPr b="0"/>
              <a:t>: examen microscópico de tejido teñido con hematoxilina-eosina (H&amp;E).</a:t>
            </a:r>
          </a:p>
          <a:p>
            <a:pPr marL="140367" indent="-140367">
              <a:buSzPct val="100000"/>
              <a:buChar char="▸"/>
              <a:defRPr b="1" sz="16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Prueba de referencia clínica</a:t>
            </a:r>
            <a:r>
              <a:rPr b="0"/>
              <a:t> para el diagnóstico definitivo de la mayoría de los tipos de cáncer.</a:t>
            </a:r>
          </a:p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¿Cómo se procesa digitalmente?</a:t>
            </a:r>
          </a:p>
          <a:p>
            <a:pPr marL="160420" indent="-160420">
              <a:buSzPct val="100000"/>
              <a:buChar char="▸"/>
              <a:defRPr sz="16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Las láminas se escanean a alta resolución (típicamente 20× o 40× de aumento óptico) en </a:t>
            </a:r>
            <a:r>
              <a:rPr b="1" i="1"/>
              <a:t>Whole Slide Images</a:t>
            </a:r>
            <a:r>
              <a:t> (WSIs): imágenes gigapíxel de ≈100.000 × 100.000 píxeles.</a:t>
            </a:r>
          </a:p>
          <a:p>
            <a:pPr marL="160420" indent="-160420">
              <a:buSzPct val="100000"/>
              <a:buChar char="▸"/>
              <a:defRPr sz="16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Los modelos de </a:t>
            </a:r>
            <a:r>
              <a:rPr b="1"/>
              <a:t>IA no procesan las láminas completas</a:t>
            </a:r>
            <a:r>
              <a:t>: se dividen en parches más pequeños que alimentan al encoder de imagen.</a:t>
            </a:r>
          </a:p>
          <a:p>
            <a:pPr>
              <a:defRPr b="1" sz="16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sz="16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→  Esto convierte el problema en clasificación visual de parches con etiquetas caras y contexto parcial.</a:t>
            </a:r>
          </a:p>
        </p:txBody>
      </p:sp>
      <p:pic>
        <p:nvPicPr>
          <p:cNvPr id="117" name="Picture 9" descr="Picture 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09359" y="3398537"/>
            <a:ext cx="5394965" cy="216405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Picture 10" descr="Picture 10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150173" y="1988161"/>
            <a:ext cx="5713334" cy="370995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xit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Class="entr" nodeType="after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18" grpId="1"/>
      <p:bldP build="whole" bldLvl="1" animBg="1" rev="0" advAuto="0" spid="117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3" name="Rectangle 2"/>
          <p:cNvSpPr/>
          <p:nvPr/>
        </p:nvSpPr>
        <p:spPr>
          <a:xfrm>
            <a:off x="-1" y="6812280"/>
            <a:ext cx="12191697" cy="36584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4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 ·  TFM — Foundational VLMs para histopatología</a:t>
            </a:r>
          </a:p>
        </p:txBody>
      </p:sp>
      <p:sp>
        <p:nvSpPr>
          <p:cNvPr id="125" name="TextBox 4"/>
          <p:cNvSpPr txBox="1"/>
          <p:nvPr/>
        </p:nvSpPr>
        <p:spPr>
          <a:xfrm>
            <a:off x="8579814" y="6492240"/>
            <a:ext cx="3017529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Motivación   ·   4/23</a:t>
            </a:r>
          </a:p>
        </p:txBody>
      </p:sp>
      <p:sp>
        <p:nvSpPr>
          <p:cNvPr id="126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Dificultades del procesamiento digital de muestras histopatológicas</a:t>
            </a:r>
          </a:p>
        </p:txBody>
      </p:sp>
      <p:sp>
        <p:nvSpPr>
          <p:cNvPr id="127" name="Rectangle 6"/>
          <p:cNvSpPr/>
          <p:nvPr/>
        </p:nvSpPr>
        <p:spPr>
          <a:xfrm>
            <a:off x="548639" y="1024127"/>
            <a:ext cx="1097282" cy="3658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28" name="TextBox 7"/>
          <p:cNvSpPr txBox="1"/>
          <p:nvPr/>
        </p:nvSpPr>
        <p:spPr>
          <a:xfrm>
            <a:off x="13688058" y="8874759"/>
            <a:ext cx="10972804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Particularidades que cualquier pipeline de visión debe contemplar</a:t>
            </a:r>
          </a:p>
        </p:txBody>
      </p:sp>
      <p:sp>
        <p:nvSpPr>
          <p:cNvPr id="129" name="TextBox 8"/>
          <p:cNvSpPr txBox="1"/>
          <p:nvPr/>
        </p:nvSpPr>
        <p:spPr>
          <a:xfrm>
            <a:off x="540035" y="1870361"/>
            <a:ext cx="6068032" cy="4130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Escasez de datos etiquetados</a:t>
            </a:r>
            <a:r>
              <a:rPr b="0"/>
              <a:t>: los conjuntos abiertos son varios órdenes de magnitud menores que los corpus generales de imagen — el etiquetado requiere patólogo experto y es caro.</a:t>
            </a:r>
          </a:p>
          <a:p>
            <a:pPr lvl="1" marL="561471" indent="-180472">
              <a:buSzPct val="100000"/>
              <a:buChar char="▸"/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Confidencialidad</a:t>
            </a:r>
            <a:r>
              <a:rPr b="0"/>
              <a:t>: la privacidad del paciente reduce aún más los datasets accesibles multi-institución.</a:t>
            </a:r>
          </a:p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Variabilidad institucional</a:t>
            </a:r>
            <a:r>
              <a:rPr b="0"/>
              <a:t>: la tinción H&amp;E depende del laboratorio, del técnico y del protocolo — cambia entre hospitales, escáneres y lotes.</a:t>
            </a:r>
          </a:p>
          <a:p>
            <a:pPr lvl="1" marL="561471" indent="-180472">
              <a:buSzPct val="100000"/>
              <a:buChar char="▸"/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Normalización de la tinción</a:t>
            </a:r>
            <a:r>
              <a:rPr b="0"/>
              <a:t> (stain normalization): mitigación habitual de preprocesado para atenuar esa variabilidad.</a:t>
            </a:r>
          </a:p>
          <a:p>
            <a:pPr marL="180472" indent="-180472">
              <a:buSzPct val="100000"/>
              <a:buChar char="▸"/>
              <a:defRPr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El problema no es solo clasificar bien dentro del dataset de entrenamiento; es </a:t>
            </a:r>
            <a:r>
              <a:rPr b="1"/>
              <a:t>generalizar cuando cambia la fuente.</a:t>
            </a:r>
          </a:p>
        </p:txBody>
      </p:sp>
      <p:pic>
        <p:nvPicPr>
          <p:cNvPr id="130" name="Picture 127" descr="Picture 12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191361" y="1751855"/>
            <a:ext cx="3841883" cy="418257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5" name="Rectangle 2"/>
          <p:cNvSpPr/>
          <p:nvPr/>
        </p:nvSpPr>
        <p:spPr>
          <a:xfrm>
            <a:off x="-1" y="6812280"/>
            <a:ext cx="12191697" cy="36584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6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 ·  TFM — Foundational VLMs para histopatología</a:t>
            </a:r>
          </a:p>
        </p:txBody>
      </p:sp>
      <p:sp>
        <p:nvSpPr>
          <p:cNvPr id="137" name="TextBox 4"/>
          <p:cNvSpPr txBox="1"/>
          <p:nvPr/>
        </p:nvSpPr>
        <p:spPr>
          <a:xfrm>
            <a:off x="8579814" y="6492240"/>
            <a:ext cx="3017529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Motivación   ·   5/23</a:t>
            </a:r>
          </a:p>
        </p:txBody>
      </p:sp>
      <p:sp>
        <p:nvSpPr>
          <p:cNvPr id="138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Modelos fundacionales visión-lenguaje (VLM)</a:t>
            </a:r>
          </a:p>
        </p:txBody>
      </p:sp>
      <p:sp>
        <p:nvSpPr>
          <p:cNvPr id="139" name="Rectangle 6"/>
          <p:cNvSpPr/>
          <p:nvPr/>
        </p:nvSpPr>
        <p:spPr>
          <a:xfrm>
            <a:off x="548639" y="1024127"/>
            <a:ext cx="1097282" cy="3658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0" name="TextBox 7"/>
          <p:cNvSpPr txBox="1"/>
          <p:nvPr/>
        </p:nvSpPr>
        <p:spPr>
          <a:xfrm>
            <a:off x="594358" y="1280161"/>
            <a:ext cx="10972804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El paradigma que estudiamos: transferir representaciones desde otros dominios</a:t>
            </a:r>
          </a:p>
        </p:txBody>
      </p:sp>
      <p:sp>
        <p:nvSpPr>
          <p:cNvPr id="141" name="TextBox 8"/>
          <p:cNvSpPr txBox="1"/>
          <p:nvPr/>
        </p:nvSpPr>
        <p:spPr>
          <a:xfrm>
            <a:off x="527331" y="1650530"/>
            <a:ext cx="11363246" cy="1767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</a:defRPr>
            </a:pPr>
            <a:r>
              <a:t>Pre-entrenamiento multimodal</a:t>
            </a:r>
            <a:r>
              <a:rPr b="0"/>
              <a:t>: se entrenan sobre grandes corpus de pares imagen–texto (ej. CLIP: ~400M) alineando ambos en un espacio latente compartido.</a:t>
            </a:r>
          </a:p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</a:defRPr>
            </a:pPr>
            <a:r>
              <a:t>Transferencia de conocimiento</a:t>
            </a:r>
            <a:r>
              <a:rPr b="0"/>
              <a:t>: permiten resolver tareas nuevas con poca o ninguna supervisión específica del dominio.</a:t>
            </a:r>
          </a:p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</a:defRPr>
            </a:pPr>
            <a:r>
              <a:t>Hipótesis en histopatología</a:t>
            </a:r>
            <a:r>
              <a:rPr b="0"/>
              <a:t>: podrían mitigar la escasez de datos etiquetados y aportar representaciones más transferibles entre instituciones.</a:t>
            </a:r>
          </a:p>
        </p:txBody>
      </p:sp>
      <p:pic>
        <p:nvPicPr>
          <p:cNvPr id="142" name="Picture 137" descr="Picture 13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89227" y="4058501"/>
            <a:ext cx="9200847" cy="214152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7" name="Rectangle 2"/>
          <p:cNvSpPr/>
          <p:nvPr/>
        </p:nvSpPr>
        <p:spPr>
          <a:xfrm>
            <a:off x="-1" y="6812280"/>
            <a:ext cx="12191697" cy="36584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8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 ·  TFM — Foundational VLMs para histopatología</a:t>
            </a:r>
          </a:p>
        </p:txBody>
      </p:sp>
      <p:sp>
        <p:nvSpPr>
          <p:cNvPr id="149" name="TextBox 4"/>
          <p:cNvSpPr txBox="1"/>
          <p:nvPr/>
        </p:nvSpPr>
        <p:spPr>
          <a:xfrm>
            <a:off x="8579814" y="6492240"/>
            <a:ext cx="3017529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Motivación   ·   6/23</a:t>
            </a:r>
          </a:p>
        </p:txBody>
      </p:sp>
      <p:sp>
        <p:nvSpPr>
          <p:cNvPr id="150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Pregunta central</a:t>
            </a:r>
          </a:p>
        </p:txBody>
      </p:sp>
      <p:sp>
        <p:nvSpPr>
          <p:cNvPr id="151" name="Rectangle 6"/>
          <p:cNvSpPr/>
          <p:nvPr/>
        </p:nvSpPr>
        <p:spPr>
          <a:xfrm>
            <a:off x="548639" y="1024127"/>
            <a:ext cx="1097282" cy="3658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2" name="TextBox 7"/>
          <p:cNvSpPr txBox="1"/>
          <p:nvPr/>
        </p:nvSpPr>
        <p:spPr>
          <a:xfrm>
            <a:off x="594358" y="1280160"/>
            <a:ext cx="10972804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El eje que ordena todo el TFM</a:t>
            </a:r>
          </a:p>
        </p:txBody>
      </p:sp>
      <p:sp>
        <p:nvSpPr>
          <p:cNvPr id="153" name="TextBox 8"/>
          <p:cNvSpPr txBox="1"/>
          <p:nvPr/>
        </p:nvSpPr>
        <p:spPr>
          <a:xfrm>
            <a:off x="594358" y="1920237"/>
            <a:ext cx="10972804" cy="39906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24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¿En qué medida generaliza un modelo CLIP-style entre instituciones histopatológicas, y qué decisiones de diseño explican las diferencias?</a:t>
            </a:r>
          </a:p>
          <a:p>
            <a:pPr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Por qué esta pregunta:</a:t>
            </a:r>
          </a:p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Contexto</a:t>
            </a:r>
            <a:r>
              <a:rPr b="0"/>
              <a:t>: la histopatología concentra los retos del apartado anterior (datos escasos, alta variabilidad, sesgo por origen), lo que la vuelve un banco de pruebas exigente.</a:t>
            </a:r>
          </a:p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Evaluación externa</a:t>
            </a:r>
            <a:r>
              <a:rPr b="0"/>
              <a:t>: medimos el rendimiento en tres datasets no vistos durante el entrenamiento (NCT-CRC, Chaoyang, LungHist700), buscando un cambio real de institución y de fuente.</a:t>
            </a:r>
          </a:p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Ablación</a:t>
            </a:r>
            <a:r>
              <a:rPr b="0"/>
              <a:t>: aún no está claro qué componentes del paradigma (encoder visual, texto, prompt, normalización) contribuyen ni dónde están sus límites.</a:t>
            </a:r>
          </a:p>
          <a:p>
            <a:pPr>
              <a:defRPr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→  La metodología se organiza alrededor de esta pregunta. Se propone cambiar una variable cada vez y medir que impacto tienen al desplazar la distribución de los datos.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58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59" name="Rectangle 3"/>
          <p:cNvSpPr/>
          <p:nvPr/>
        </p:nvSpPr>
        <p:spPr>
          <a:xfrm>
            <a:off x="-1" y="0"/>
            <a:ext cx="548642" cy="6858000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0" name="TextBox 4"/>
          <p:cNvSpPr txBox="1"/>
          <p:nvPr/>
        </p:nvSpPr>
        <p:spPr>
          <a:xfrm>
            <a:off x="1142995" y="1920236"/>
            <a:ext cx="4023371" cy="28910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0">
                <a:solidFill>
                  <a:srgbClr val="FAF7F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161" name="TextBox 5"/>
          <p:cNvSpPr txBox="1"/>
          <p:nvPr/>
        </p:nvSpPr>
        <p:spPr>
          <a:xfrm>
            <a:off x="1142999" y="4846320"/>
            <a:ext cx="924080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C9A227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 Sección</a:t>
            </a:r>
          </a:p>
        </p:txBody>
      </p:sp>
      <p:sp>
        <p:nvSpPr>
          <p:cNvPr id="162" name="TextBox 6"/>
          <p:cNvSpPr txBox="1"/>
          <p:nvPr/>
        </p:nvSpPr>
        <p:spPr>
          <a:xfrm>
            <a:off x="1142999" y="5303520"/>
            <a:ext cx="3074671" cy="653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FAF7F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Metodología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5" name="Rectangle 2"/>
          <p:cNvSpPr/>
          <p:nvPr/>
        </p:nvSpPr>
        <p:spPr>
          <a:xfrm>
            <a:off x="-1" y="6812280"/>
            <a:ext cx="12191697" cy="36584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66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 ·  TFM — Foundational VLMs para histopatología</a:t>
            </a:r>
          </a:p>
        </p:txBody>
      </p:sp>
      <p:sp>
        <p:nvSpPr>
          <p:cNvPr id="167" name="TextBox 4"/>
          <p:cNvSpPr txBox="1"/>
          <p:nvPr/>
        </p:nvSpPr>
        <p:spPr>
          <a:xfrm>
            <a:off x="8579814" y="6492240"/>
            <a:ext cx="3017529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Metodología   ·   8/23</a:t>
            </a:r>
          </a:p>
        </p:txBody>
      </p:sp>
      <p:sp>
        <p:nvSpPr>
          <p:cNvPr id="168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El paradigma CLIP</a:t>
            </a:r>
          </a:p>
        </p:txBody>
      </p:sp>
      <p:sp>
        <p:nvSpPr>
          <p:cNvPr id="169" name="Rectangle 6"/>
          <p:cNvSpPr/>
          <p:nvPr/>
        </p:nvSpPr>
        <p:spPr>
          <a:xfrm>
            <a:off x="548639" y="1024127"/>
            <a:ext cx="1097282" cy="3658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0" name="TextBox 7"/>
          <p:cNvSpPr txBox="1"/>
          <p:nvPr/>
        </p:nvSpPr>
        <p:spPr>
          <a:xfrm>
            <a:off x="594358" y="1280161"/>
            <a:ext cx="10972804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Foundational Model (FM) de aprendizaje contrastivo imagen-texto en un espacio latente compartido</a:t>
            </a:r>
          </a:p>
        </p:txBody>
      </p:sp>
      <p:pic>
        <p:nvPicPr>
          <p:cNvPr id="171" name="Picture 999" descr="Picture 99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433921" y="1765892"/>
            <a:ext cx="9311457" cy="4612218"/>
          </a:xfrm>
          <a:prstGeom prst="rect">
            <a:avLst/>
          </a:prstGeom>
          <a:ln w="12700">
            <a:miter lim="400000"/>
          </a:ln>
        </p:spPr>
      </p:pic>
      <p:sp>
        <p:nvSpPr>
          <p:cNvPr id="172" name="TextBox 8"/>
          <p:cNvSpPr txBox="1"/>
          <p:nvPr/>
        </p:nvSpPr>
        <p:spPr>
          <a:xfrm>
            <a:off x="6828732" y="1769345"/>
            <a:ext cx="3905768" cy="4521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¿Por qué CLIP?</a:t>
            </a:r>
          </a:p>
          <a:p>
            <a:pPr marL="100263" indent="-100263">
              <a:buSzPct val="100000"/>
              <a:buChar char="▸"/>
              <a:defRPr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Aprendizaje contrastivo imagen-texto sobre pares emparejados, con una función de pérdida simétrica.</a:t>
            </a:r>
          </a:p>
          <a:p>
            <a:pPr marL="100263" indent="-100263">
              <a:buSzPct val="100000"/>
              <a:buChar char="▸"/>
              <a:defRPr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Clasificación de vocabulario abierto: cambias los prompts, cambias el clasificador (sin re-entrenar).</a:t>
            </a:r>
          </a:p>
          <a:p>
            <a:pPr marL="100263" indent="-100263">
              <a:buSzPct val="100000"/>
              <a:buChar char="▸"/>
              <a:defRPr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Paradigma adoptado por la familia de FMs de patología (PLIP, CONCH, BiomedCLIP, MUSK).</a:t>
            </a: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Pregunta transversal</a:t>
            </a:r>
          </a:p>
          <a:p>
            <a:pPr>
              <a:defRPr sz="1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¿Qué componente del pipeline CLIP aporta más, y dónde están sus límites bajo desplazamiento de distribución?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5" name="Rectangle 2"/>
          <p:cNvSpPr/>
          <p:nvPr/>
        </p:nvSpPr>
        <p:spPr>
          <a:xfrm>
            <a:off x="-1" y="6812280"/>
            <a:ext cx="12191697" cy="36584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76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 ·  TFM — Foundational VLMs para histopatología</a:t>
            </a:r>
          </a:p>
        </p:txBody>
      </p:sp>
      <p:sp>
        <p:nvSpPr>
          <p:cNvPr id="177" name="TextBox 4"/>
          <p:cNvSpPr txBox="1"/>
          <p:nvPr/>
        </p:nvSpPr>
        <p:spPr>
          <a:xfrm>
            <a:off x="8579814" y="6492240"/>
            <a:ext cx="3017529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Metodología   ·   9/23</a:t>
            </a:r>
          </a:p>
        </p:txBody>
      </p:sp>
      <p:sp>
        <p:nvSpPr>
          <p:cNvPr id="178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Nuestra línea base experimental</a:t>
            </a:r>
          </a:p>
        </p:txBody>
      </p:sp>
      <p:sp>
        <p:nvSpPr>
          <p:cNvPr id="179" name="Rectangle 6"/>
          <p:cNvSpPr/>
          <p:nvPr/>
        </p:nvSpPr>
        <p:spPr>
          <a:xfrm>
            <a:off x="548639" y="1024127"/>
            <a:ext cx="1097282" cy="3658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0" name="TextBox 7"/>
          <p:cNvSpPr txBox="1"/>
          <p:nvPr/>
        </p:nvSpPr>
        <p:spPr>
          <a:xfrm>
            <a:off x="594358" y="1280161"/>
            <a:ext cx="10972804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CLIP entrenado con ambos encoders congelados y cabezas de proyección 256-d entrenables</a:t>
            </a:r>
          </a:p>
        </p:txBody>
      </p:sp>
      <p:pic>
        <p:nvPicPr>
          <p:cNvPr id="181" name="Picture 999" descr="Picture 99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6320" y="1765522"/>
            <a:ext cx="5943601" cy="3632201"/>
          </a:xfrm>
          <a:prstGeom prst="rect">
            <a:avLst/>
          </a:prstGeom>
          <a:ln w="12700">
            <a:miter lim="400000"/>
          </a:ln>
        </p:spPr>
      </p:pic>
      <p:sp>
        <p:nvSpPr>
          <p:cNvPr id="182" name="TextBox 181"/>
          <p:cNvSpPr txBox="1"/>
          <p:nvPr/>
        </p:nvSpPr>
        <p:spPr>
          <a:xfrm>
            <a:off x="7299960" y="1765522"/>
            <a:ext cx="3590080" cy="4581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b="1" sz="17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Datos de entrada</a:t>
            </a:r>
          </a:p>
          <a:p>
            <a:pPr marL="180472" indent="-180472">
              <a:defRPr sz="14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</a:t>
            </a:r>
            <a:r>
              <a:rPr b="1"/>
              <a:t>Imagen: </a:t>
            </a:r>
            <a:r>
              <a:t>224 × 224 px</a:t>
            </a:r>
          </a:p>
          <a:p>
            <a:pPr marL="180472" indent="-180472">
              <a:defRPr sz="14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</a:t>
            </a:r>
            <a:r>
              <a:rPr b="1"/>
              <a:t>Texto: </a:t>
            </a:r>
            <a:r>
              <a:t>prompt fijo, 24 tokens WordPiece</a:t>
            </a:r>
          </a:p>
          <a:p>
            <a:pPr marL="180472" indent="-180472">
              <a:defRPr sz="14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</a:t>
            </a:r>
            <a:r>
              <a:rPr b="1"/>
              <a:t>Prompt: </a:t>
            </a:r>
            <a:r>
              <a:rPr i="1"/>
              <a:t>"A histopathology image of {class}."</a:t>
            </a:r>
          </a:p>
          <a:p>
            <a:pPr marL="180472" indent="-180472">
              <a:defRPr sz="14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</a:t>
            </a:r>
            <a:r>
              <a:rPr b="1"/>
              <a:t>Batch: </a:t>
            </a:r>
            <a:r>
              <a:t>32 pares imagen-texto</a:t>
            </a:r>
          </a:p>
          <a:p>
            <a:pPr marL="180472" indent="-180472">
              <a:defRPr sz="14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</a:t>
            </a:r>
            <a:r>
              <a:rPr b="1"/>
              <a:t>Datos: </a:t>
            </a:r>
            <a:r>
              <a:t>LC25000, split estratificado 80/10/10</a:t>
            </a:r>
          </a:p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7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Objetivo</a:t>
            </a:r>
          </a:p>
          <a:p>
            <a:pPr marL="180472" indent="-180472">
              <a:defRPr sz="14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</a:t>
            </a:r>
            <a:r>
              <a:rPr b="1"/>
              <a:t>Pérdida: </a:t>
            </a:r>
            <a:r>
              <a:t>InfoNCE simétrica sobre la matriz 5×5</a:t>
            </a:r>
          </a:p>
          <a:p>
            <a:pPr marL="180472" indent="-180472">
              <a:defRPr sz="14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</a:t>
            </a:r>
            <a:r>
              <a:rPr b="1"/>
              <a:t>Temperatura: </a:t>
            </a:r>
            <a:r>
              <a:t>τ = 0.07 (entrenable)</a:t>
            </a:r>
          </a:p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7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Optimización</a:t>
            </a:r>
          </a:p>
          <a:p>
            <a:pPr marL="180472" indent="-180472">
              <a:defRPr sz="14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AdamW · LR 1×10⁻³ · weight decay 1×10⁻⁴</a:t>
            </a:r>
          </a:p>
          <a:p>
            <a:pPr marL="180472" indent="-180472">
              <a:defRPr sz="14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Gradient clipnorm 1.0</a:t>
            </a:r>
          </a:p>
          <a:p>
            <a:pPr marL="180472" indent="-180472">
              <a:defRPr sz="14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ReduceLROnPlateau (factor 0.5, patience 2)</a:t>
            </a:r>
          </a:p>
          <a:p>
            <a:pPr marL="180472" indent="-180472">
              <a:defRPr sz="14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EarlyStopping (patience 5, max 30 epochs)</a:t>
            </a:r>
          </a:p>
          <a:p>
            <a:pPr marL="180472" indent="-180472">
              <a:defRPr sz="14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Precisión float32 · seed 42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5" name="Rectangle 2"/>
          <p:cNvSpPr/>
          <p:nvPr/>
        </p:nvSpPr>
        <p:spPr>
          <a:xfrm>
            <a:off x="-1" y="6812280"/>
            <a:ext cx="12191697" cy="36584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86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 ·  TFM — Foundational VLMs para histopatología</a:t>
            </a:r>
          </a:p>
        </p:txBody>
      </p:sp>
      <p:sp>
        <p:nvSpPr>
          <p:cNvPr id="187" name="TextBox 4"/>
          <p:cNvSpPr txBox="1"/>
          <p:nvPr/>
        </p:nvSpPr>
        <p:spPr>
          <a:xfrm>
            <a:off x="8579814" y="6492240"/>
            <a:ext cx="3017529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Metodología   ·   10/23</a:t>
            </a:r>
          </a:p>
        </p:txBody>
      </p:sp>
      <p:sp>
        <p:nvSpPr>
          <p:cNvPr id="188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Diseño experimental — una variable cada vez</a:t>
            </a:r>
          </a:p>
        </p:txBody>
      </p:sp>
      <p:sp>
        <p:nvSpPr>
          <p:cNvPr id="189" name="Rectangle 6"/>
          <p:cNvSpPr/>
          <p:nvPr/>
        </p:nvSpPr>
        <p:spPr>
          <a:xfrm>
            <a:off x="548639" y="1024127"/>
            <a:ext cx="1097282" cy="3658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0" name="TextBox 7"/>
          <p:cNvSpPr txBox="1"/>
          <p:nvPr/>
        </p:nvSpPr>
        <p:spPr>
          <a:xfrm>
            <a:off x="594358" y="1280161"/>
            <a:ext cx="10972804" cy="3401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0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Seis experimentos, cada uno cambiando un componente del pipeline base</a:t>
            </a:r>
          </a:p>
        </p:txBody>
      </p:sp>
      <p:sp>
        <p:nvSpPr>
          <p:cNvPr id="191" name="TextBox 181"/>
          <p:cNvSpPr txBox="1"/>
          <p:nvPr/>
        </p:nvSpPr>
        <p:spPr>
          <a:xfrm>
            <a:off x="629058" y="4915450"/>
            <a:ext cx="4466554" cy="10599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b="1" sz="17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Evaluación externa</a:t>
            </a:r>
          </a:p>
          <a:p>
            <a:pPr marL="180472" indent="-180472"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</a:t>
            </a:r>
            <a:r>
              <a:rPr b="1"/>
              <a:t>NCT-CRC-HE-7K</a:t>
            </a:r>
            <a:r>
              <a:t> — colon, estilo similar a LC25000 (Kather 2019)</a:t>
            </a:r>
          </a:p>
          <a:p>
            <a:pPr marL="180472" indent="-180472"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</a:t>
            </a:r>
            <a:r>
              <a:rPr b="1"/>
              <a:t>Chaoyang</a:t>
            </a:r>
            <a:r>
              <a:t> — colon, tinción y escáner distintos (Zhu 2021)</a:t>
            </a:r>
          </a:p>
          <a:p>
            <a:pPr marL="180472" indent="-180472"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</a:t>
            </a:r>
            <a:r>
              <a:rPr b="1"/>
              <a:t>LungHist700</a:t>
            </a:r>
            <a:r>
              <a:t> — pulmón, 20× (Reyes 2024)</a:t>
            </a:r>
          </a:p>
        </p:txBody>
      </p:sp>
      <p:sp>
        <p:nvSpPr>
          <p:cNvPr id="192" name="TextBox 182"/>
          <p:cNvSpPr txBox="1"/>
          <p:nvPr/>
        </p:nvSpPr>
        <p:spPr>
          <a:xfrm>
            <a:off x="6435498" y="4915450"/>
            <a:ext cx="5114744" cy="12202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7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Protocolo</a:t>
            </a:r>
          </a:p>
          <a:p>
            <a:pPr marL="180472" indent="-180472"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</a:t>
            </a:r>
            <a:r>
              <a:rPr b="1"/>
              <a:t>Argmax restringido</a:t>
            </a:r>
            <a:r>
              <a:t>: cada dataset compara solo contra sus clases (no las 5 completas) — evita penalizar clases ausentes.</a:t>
            </a:r>
          </a:p>
          <a:p>
            <a:pPr marL="180472" indent="-180472"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</a:t>
            </a:r>
            <a:r>
              <a:rPr b="1"/>
              <a:t>Reporte por órgano</a:t>
            </a:r>
            <a:r>
              <a:t>: colon y pulmón separados, no promediados — evita ocultar cambios de régimen entre órganos.</a:t>
            </a:r>
          </a:p>
        </p:txBody>
      </p:sp>
      <p:pic>
        <p:nvPicPr>
          <p:cNvPr id="193" name="Picture 183" descr="Picture 18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08076" y="1737360"/>
            <a:ext cx="10972801" cy="282157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96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97" name="Rectangle 3"/>
          <p:cNvSpPr/>
          <p:nvPr/>
        </p:nvSpPr>
        <p:spPr>
          <a:xfrm>
            <a:off x="-1" y="0"/>
            <a:ext cx="548642" cy="6858000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98" name="TextBox 4"/>
          <p:cNvSpPr txBox="1"/>
          <p:nvPr/>
        </p:nvSpPr>
        <p:spPr>
          <a:xfrm>
            <a:off x="1142995" y="1920236"/>
            <a:ext cx="4023371" cy="28910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0">
                <a:solidFill>
                  <a:srgbClr val="FAF7F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199" name="TextBox 5"/>
          <p:cNvSpPr txBox="1"/>
          <p:nvPr/>
        </p:nvSpPr>
        <p:spPr>
          <a:xfrm>
            <a:off x="1142999" y="4846320"/>
            <a:ext cx="924080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C9A227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 Sección</a:t>
            </a:r>
          </a:p>
        </p:txBody>
      </p:sp>
      <p:sp>
        <p:nvSpPr>
          <p:cNvPr id="200" name="TextBox 6"/>
          <p:cNvSpPr txBox="1"/>
          <p:nvPr/>
        </p:nvSpPr>
        <p:spPr>
          <a:xfrm>
            <a:off x="1142999" y="5303520"/>
            <a:ext cx="2639200" cy="653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FAF7F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Resultados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3" name="Rectangle 2"/>
          <p:cNvSpPr/>
          <p:nvPr/>
        </p:nvSpPr>
        <p:spPr>
          <a:xfrm>
            <a:off x="-1" y="6812280"/>
            <a:ext cx="12191697" cy="36584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4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 ·  TFM — Foundational VLMs para histopatología</a:t>
            </a:r>
          </a:p>
        </p:txBody>
      </p:sp>
      <p:sp>
        <p:nvSpPr>
          <p:cNvPr id="205" name="TextBox 4"/>
          <p:cNvSpPr txBox="1"/>
          <p:nvPr/>
        </p:nvSpPr>
        <p:spPr>
          <a:xfrm>
            <a:off x="8579814" y="6492240"/>
            <a:ext cx="3017529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Resultados   ·   12/23</a:t>
            </a:r>
          </a:p>
        </p:txBody>
      </p:sp>
      <p:sp>
        <p:nvSpPr>
          <p:cNvPr id="206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Comportamiento de la línea base</a:t>
            </a:r>
          </a:p>
        </p:txBody>
      </p:sp>
      <p:sp>
        <p:nvSpPr>
          <p:cNvPr id="207" name="Rectangle 6"/>
          <p:cNvSpPr/>
          <p:nvPr/>
        </p:nvSpPr>
        <p:spPr>
          <a:xfrm>
            <a:off x="548639" y="1024127"/>
            <a:ext cx="1097282" cy="3658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08" name="TextBox 7"/>
          <p:cNvSpPr txBox="1"/>
          <p:nvPr/>
        </p:nvSpPr>
        <p:spPr>
          <a:xfrm>
            <a:off x="594354" y="1188719"/>
            <a:ext cx="5394973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En distribución (LC25000)</a:t>
            </a:r>
          </a:p>
        </p:txBody>
      </p:sp>
      <p:sp>
        <p:nvSpPr>
          <p:cNvPr id="209" name="TextBox 9"/>
          <p:cNvSpPr txBox="1"/>
          <p:nvPr/>
        </p:nvSpPr>
        <p:spPr>
          <a:xfrm>
            <a:off x="6263640" y="1188719"/>
            <a:ext cx="5394967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Externo (3 datasets)</a:t>
            </a:r>
          </a:p>
        </p:txBody>
      </p:sp>
      <p:sp>
        <p:nvSpPr>
          <p:cNvPr id="210" name="TextBox 11"/>
          <p:cNvSpPr txBox="1"/>
          <p:nvPr/>
        </p:nvSpPr>
        <p:spPr>
          <a:xfrm>
            <a:off x="594358" y="5120640"/>
            <a:ext cx="11002979" cy="659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In-distribution: saturada a ~0.99 macro-F1 (techo del dataset).   Externo: NCT-CRC 0.866 · Chaoyang 0.786 · LungHist700 0.305 (cerca del azar 3-clases).   ▸ El cambio de régimen colon→pulmón es la observación central.</a:t>
            </a:r>
          </a:p>
        </p:txBody>
      </p:sp>
      <p:graphicFrame>
        <p:nvGraphicFramePr>
          <p:cNvPr id="211" name="Table 12"/>
          <p:cNvGraphicFramePr/>
          <p:nvPr/>
        </p:nvGraphicFramePr>
        <p:xfrm>
          <a:off x="548640" y="1554480"/>
          <a:ext cx="4572002" cy="182880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Métrica (LC25000 in-dist)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Valor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Accuracy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0.996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Balanced accuracy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0.996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Macro F1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0.996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Weighted F1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0.996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2" name="Table 13"/>
          <p:cNvGraphicFramePr/>
          <p:nvPr/>
        </p:nvGraphicFramePr>
        <p:xfrm>
          <a:off x="6217920" y="1554480"/>
          <a:ext cx="5394960" cy="228600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697480"/>
                <a:gridCol w="2697480"/>
              </a:tblGrid>
              <a:tr h="571500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Dataset externo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Macro F1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NCT-CRC-HE-7K (colon similar)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0.866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Chaoyang (colon otra fuente)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LungHist700 (pulmón otra fuente)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0.305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5" name="Rectangle 2"/>
          <p:cNvSpPr/>
          <p:nvPr/>
        </p:nvSpPr>
        <p:spPr>
          <a:xfrm>
            <a:off x="-1" y="6812280"/>
            <a:ext cx="12191697" cy="36584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16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 ·  TFM — Foundational VLMs para histopatología</a:t>
            </a:r>
          </a:p>
        </p:txBody>
      </p:sp>
      <p:sp>
        <p:nvSpPr>
          <p:cNvPr id="217" name="TextBox 4"/>
          <p:cNvSpPr txBox="1"/>
          <p:nvPr/>
        </p:nvSpPr>
        <p:spPr>
          <a:xfrm>
            <a:off x="8579814" y="6492240"/>
            <a:ext cx="3017529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Resultados   ·   13/23</a:t>
            </a:r>
          </a:p>
        </p:txBody>
      </p:sp>
      <p:sp>
        <p:nvSpPr>
          <p:cNvPr id="218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Normalización de tinción — Macenko</a:t>
            </a:r>
          </a:p>
        </p:txBody>
      </p:sp>
      <p:sp>
        <p:nvSpPr>
          <p:cNvPr id="219" name="Rectangle 6"/>
          <p:cNvSpPr/>
          <p:nvPr/>
        </p:nvSpPr>
        <p:spPr>
          <a:xfrm>
            <a:off x="548639" y="1024127"/>
            <a:ext cx="1097282" cy="3658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0" name="TextBox 7"/>
          <p:cNvSpPr txBox="1"/>
          <p:nvPr/>
        </p:nvSpPr>
        <p:spPr>
          <a:xfrm>
            <a:off x="594358" y="1280161"/>
            <a:ext cx="10972804" cy="392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4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Una palanca modesta, con dirección dependiente del dataset</a:t>
            </a:r>
          </a:p>
        </p:txBody>
      </p:sp>
      <p:graphicFrame>
        <p:nvGraphicFramePr>
          <p:cNvPr id="221" name="Table 8"/>
          <p:cNvGraphicFramePr/>
          <p:nvPr/>
        </p:nvGraphicFramePr>
        <p:xfrm>
          <a:off x="548640" y="2377438"/>
          <a:ext cx="6858001" cy="2194562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38912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Variante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Accuracy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Macro F1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Δ vs baseline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Baseline (frozen)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0.6356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0.6273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Macenko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333333"/>
                          </a:solidFill>
                        </a:rPr>
                        <a:t>0.7384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333333"/>
                          </a:solidFill>
                        </a:rPr>
                        <a:t>0.7390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333333"/>
                          </a:solidFill>
                        </a:rPr>
                        <a:t>+0.117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Vahadane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0.6684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0.6644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+0.037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Reinhard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0.6564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0.6526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+0.025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2" name="TextBox 9"/>
          <p:cNvSpPr txBox="1"/>
          <p:nvPr/>
        </p:nvSpPr>
        <p:spPr>
          <a:xfrm>
            <a:off x="7726677" y="2377438"/>
            <a:ext cx="3931927" cy="1737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Lectura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+0.030 macro-F1 sobre Chaoyang (tinción nativa).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+0.020 macro-F1 sobre LungHist700.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−0.022 macro-F1 sobre NCT-CRC (ya llega normalizado por Macenko en su release; doble-normalización resta).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Magnitud queda dominada por la palanca del image encoder en los mismos datasets (Sección 03).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5" name="Rectangle 2"/>
          <p:cNvSpPr/>
          <p:nvPr/>
        </p:nvSpPr>
        <p:spPr>
          <a:xfrm>
            <a:off x="-1" y="6812280"/>
            <a:ext cx="12191697" cy="36584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26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 ·  TFM — Foundational VLMs para histopatología</a:t>
            </a:r>
          </a:p>
        </p:txBody>
      </p:sp>
      <p:sp>
        <p:nvSpPr>
          <p:cNvPr id="227" name="TextBox 4"/>
          <p:cNvSpPr txBox="1"/>
          <p:nvPr/>
        </p:nvSpPr>
        <p:spPr>
          <a:xfrm>
            <a:off x="8579814" y="6492240"/>
            <a:ext cx="3017529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Resultados   ·   14/23</a:t>
            </a:r>
          </a:p>
        </p:txBody>
      </p:sp>
      <p:sp>
        <p:nvSpPr>
          <p:cNvPr id="228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Codificadores de texto biomédicos</a:t>
            </a:r>
          </a:p>
        </p:txBody>
      </p:sp>
      <p:sp>
        <p:nvSpPr>
          <p:cNvPr id="229" name="Rectangle 6"/>
          <p:cNvSpPr/>
          <p:nvPr/>
        </p:nvSpPr>
        <p:spPr>
          <a:xfrm>
            <a:off x="548639" y="1024127"/>
            <a:ext cx="1097282" cy="3658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30" name="Rectangle 7"/>
          <p:cNvSpPr/>
          <p:nvPr/>
        </p:nvSpPr>
        <p:spPr>
          <a:xfrm>
            <a:off x="548634" y="1188720"/>
            <a:ext cx="4206254" cy="2377440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31" name="TextBox 8"/>
          <p:cNvSpPr txBox="1"/>
          <p:nvPr/>
        </p:nvSpPr>
        <p:spPr>
          <a:xfrm>
            <a:off x="594359" y="1371600"/>
            <a:ext cx="4114802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C9A227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Resultado</a:t>
            </a:r>
          </a:p>
        </p:txBody>
      </p:sp>
      <p:sp>
        <p:nvSpPr>
          <p:cNvPr id="232" name="TextBox 9"/>
          <p:cNvSpPr txBox="1"/>
          <p:nvPr/>
        </p:nvSpPr>
        <p:spPr>
          <a:xfrm>
            <a:off x="594359" y="1737360"/>
            <a:ext cx="4114802" cy="11640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84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233" name="TextBox 10"/>
          <p:cNvSpPr txBox="1"/>
          <p:nvPr/>
        </p:nvSpPr>
        <p:spPr>
          <a:xfrm>
            <a:off x="594359" y="2834638"/>
            <a:ext cx="4114802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i="1" sz="1400">
                <a:solidFill>
                  <a:srgbClr val="FAF7F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Δ macro-F1 vs línea base</a:t>
            </a:r>
          </a:p>
        </p:txBody>
      </p:sp>
      <p:sp>
        <p:nvSpPr>
          <p:cNvPr id="234" name="TextBox 12"/>
          <p:cNvSpPr txBox="1"/>
          <p:nvPr/>
        </p:nvSpPr>
        <p:spPr>
          <a:xfrm>
            <a:off x="594358" y="4937759"/>
            <a:ext cx="11002979" cy="1311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Grid 3×2: BERT / BioBERT / PubMedBERT × name_only / composed.</a:t>
            </a:r>
          </a:p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Todas las celdas caen en la banda 0.81–0.86 macro-F1 sobre NCT — ninguna supera la baseline (0.866).</a:t>
            </a:r>
          </a:p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Por qué: la cabeza de proyección absorbe diferencias del codificador. Prompts cortos no exponen vocabulario biomédico.</a:t>
            </a:r>
          </a:p>
        </p:txBody>
      </p:sp>
      <p:graphicFrame>
        <p:nvGraphicFramePr>
          <p:cNvPr id="235" name="Table 13"/>
          <p:cNvGraphicFramePr/>
          <p:nvPr/>
        </p:nvGraphicFramePr>
        <p:xfrm>
          <a:off x="5120640" y="1188719"/>
          <a:ext cx="6492248" cy="2194562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164080"/>
                <a:gridCol w="2164080"/>
                <a:gridCol w="2164080"/>
              </a:tblGrid>
              <a:tr h="313508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Encoder + prompt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NCT F1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</a:rPr>
                        <a:t>Δ vs baseline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BERT + composed (baseline)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0.863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−0.003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BERT + name_only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0.821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−0.045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BioBERT + composed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0.818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−0.048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BioBERT + name_only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0.840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−0.026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PubMedBERT + composed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0.808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−0.058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3135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PubMedBERT + name_only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0.855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</a:rPr>
                        <a:t>−0.011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38" name="Rectangle 2"/>
          <p:cNvSpPr/>
          <p:nvPr/>
        </p:nvSpPr>
        <p:spPr>
          <a:xfrm>
            <a:off x="-1" y="6812280"/>
            <a:ext cx="12191697" cy="36584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39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 ·  TFM — Foundational VLMs para histopatología</a:t>
            </a:r>
          </a:p>
        </p:txBody>
      </p:sp>
      <p:sp>
        <p:nvSpPr>
          <p:cNvPr id="240" name="TextBox 4"/>
          <p:cNvSpPr txBox="1"/>
          <p:nvPr/>
        </p:nvSpPr>
        <p:spPr>
          <a:xfrm>
            <a:off x="8579814" y="6492240"/>
            <a:ext cx="3017529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Resultados   ·   15/23</a:t>
            </a:r>
          </a:p>
        </p:txBody>
      </p:sp>
      <p:sp>
        <p:nvSpPr>
          <p:cNvPr id="241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CLIP vs clasificador no-CLIP</a:t>
            </a:r>
          </a:p>
        </p:txBody>
      </p:sp>
      <p:sp>
        <p:nvSpPr>
          <p:cNvPr id="242" name="Rectangle 6"/>
          <p:cNvSpPr/>
          <p:nvPr/>
        </p:nvSpPr>
        <p:spPr>
          <a:xfrm>
            <a:off x="548639" y="1024127"/>
            <a:ext cx="1097282" cy="3658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3" name="TextBox 7"/>
          <p:cNvSpPr txBox="1"/>
          <p:nvPr/>
        </p:nvSpPr>
        <p:spPr>
          <a:xfrm>
            <a:off x="594356" y="1280161"/>
            <a:ext cx="8791867" cy="3853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22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CLIP gana solo bajo desplazamiento fuerte, vía la geometría del clasificador</a:t>
            </a:r>
          </a:p>
        </p:txBody>
      </p:sp>
      <p:sp>
        <p:nvSpPr>
          <p:cNvPr id="244" name="TextBox 9"/>
          <p:cNvSpPr txBox="1"/>
          <p:nvPr/>
        </p:nvSpPr>
        <p:spPr>
          <a:xfrm>
            <a:off x="7726677" y="2377438"/>
            <a:ext cx="3931927" cy="1737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Reading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In-distribution + NCT (close-shift colon): empatan dentro del ruido.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Chaoyang: CLIP +0.064 F1.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LungHist700: CLIP +0.024 F1.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Mecanismo: la geometría coseno + L2 + temperatura es robusta bajo shift; softmax colapsa a 1-clase.</a:t>
            </a:r>
          </a:p>
        </p:txBody>
      </p:sp>
      <p:graphicFrame>
        <p:nvGraphicFramePr>
          <p:cNvPr id="245" name="Table 10"/>
          <p:cNvGraphicFramePr/>
          <p:nvPr/>
        </p:nvGraphicFramePr>
        <p:xfrm>
          <a:off x="548640" y="2377438"/>
          <a:ext cx="6858001" cy="2194562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38912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Dataset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CLIP baseline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Plain classifier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300">
                          <a:solidFill>
                            <a:srgbClr val="FFFFFF"/>
                          </a:solidFill>
                        </a:rPr>
                        <a:t>Δ (CLIP − Plain)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LC25000 (in-dist)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0.996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0.995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+0.001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NCT-CRC-HE-7K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0.866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0.880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−0.014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Chaoyang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0.722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+0.064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LungHist700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0.305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0.281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olidFill>
                            <a:srgbClr val="333333"/>
                          </a:solidFill>
                        </a:rPr>
                        <a:t>+0.024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8" name="Rectangle 2"/>
          <p:cNvSpPr/>
          <p:nvPr/>
        </p:nvSpPr>
        <p:spPr>
          <a:xfrm>
            <a:off x="-1" y="6812280"/>
            <a:ext cx="12191697" cy="36584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49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 ·  TFM — Foundational VLMs para histopatología</a:t>
            </a:r>
          </a:p>
        </p:txBody>
      </p:sp>
      <p:sp>
        <p:nvSpPr>
          <p:cNvPr id="250" name="TextBox 4"/>
          <p:cNvSpPr txBox="1"/>
          <p:nvPr/>
        </p:nvSpPr>
        <p:spPr>
          <a:xfrm>
            <a:off x="8579814" y="6492240"/>
            <a:ext cx="3017529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Resultados   ·   16/23</a:t>
            </a:r>
          </a:p>
        </p:txBody>
      </p:sp>
      <p:sp>
        <p:nvSpPr>
          <p:cNvPr id="251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El cambio de régimen en pulmón</a:t>
            </a:r>
          </a:p>
        </p:txBody>
      </p:sp>
      <p:sp>
        <p:nvSpPr>
          <p:cNvPr id="252" name="Rectangle 6"/>
          <p:cNvSpPr/>
          <p:nvPr/>
        </p:nvSpPr>
        <p:spPr>
          <a:xfrm>
            <a:off x="548639" y="1024127"/>
            <a:ext cx="1097282" cy="3658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253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48640" y="1280160"/>
            <a:ext cx="5486402" cy="4426345"/>
          </a:xfrm>
          <a:prstGeom prst="rect">
            <a:avLst/>
          </a:prstGeom>
          <a:ln w="12700">
            <a:miter lim="400000"/>
          </a:ln>
        </p:spPr>
      </p:pic>
      <p:pic>
        <p:nvPicPr>
          <p:cNvPr id="254" name="Picture 8" descr="Picture 8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217920" y="1280160"/>
            <a:ext cx="5486404" cy="3798812"/>
          </a:xfrm>
          <a:prstGeom prst="rect">
            <a:avLst/>
          </a:prstGeom>
          <a:ln w="12700">
            <a:miter lim="400000"/>
          </a:ln>
        </p:spPr>
      </p:pic>
      <p:sp>
        <p:nvSpPr>
          <p:cNvPr id="255" name="TextBox 9"/>
          <p:cNvSpPr txBox="1"/>
          <p:nvPr/>
        </p:nvSpPr>
        <p:spPr>
          <a:xfrm>
            <a:off x="594354" y="5303520"/>
            <a:ext cx="5394973" cy="4613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Stain, biomed, plain-CE: todas se quedan en 0.28–0.33 macro-F1 sobre LungHist700.</a:t>
            </a:r>
          </a:p>
        </p:txBody>
      </p:sp>
      <p:sp>
        <p:nvSpPr>
          <p:cNvPr id="256" name="TextBox 10"/>
          <p:cNvSpPr txBox="1"/>
          <p:nvPr/>
        </p:nvSpPr>
        <p:spPr>
          <a:xfrm>
            <a:off x="6263640" y="5303520"/>
            <a:ext cx="5394967" cy="2581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La línea base ya colapsa: 0.305, cerca del azar 3-clases.</a:t>
            </a:r>
          </a:p>
        </p:txBody>
      </p:sp>
      <p:sp>
        <p:nvSpPr>
          <p:cNvPr id="257" name="TextBox 11"/>
          <p:cNvSpPr txBox="1"/>
          <p:nvPr/>
        </p:nvSpPr>
        <p:spPr>
          <a:xfrm>
            <a:off x="594353" y="5943601"/>
            <a:ext cx="5313382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14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La pregunta abierta: ¿qué SÍ rompe el colapso en pulmón? (Sección 03)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0" name="Rectangle 2"/>
          <p:cNvSpPr/>
          <p:nvPr/>
        </p:nvSpPr>
        <p:spPr>
          <a:xfrm>
            <a:off x="-1" y="6812280"/>
            <a:ext cx="12191697" cy="36584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1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 ·  TFM — Foundational VLMs para histopatología</a:t>
            </a:r>
          </a:p>
        </p:txBody>
      </p:sp>
      <p:sp>
        <p:nvSpPr>
          <p:cNvPr id="262" name="TextBox 4"/>
          <p:cNvSpPr txBox="1"/>
          <p:nvPr/>
        </p:nvSpPr>
        <p:spPr>
          <a:xfrm>
            <a:off x="8579814" y="6492240"/>
            <a:ext cx="3017529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Resultados   ·   17/23</a:t>
            </a:r>
          </a:p>
        </p:txBody>
      </p:sp>
      <p:sp>
        <p:nvSpPr>
          <p:cNvPr id="263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Sustituir el image encoder lo cambia todo</a:t>
            </a:r>
          </a:p>
        </p:txBody>
      </p:sp>
      <p:sp>
        <p:nvSpPr>
          <p:cNvPr id="264" name="Rectangle 6"/>
          <p:cNvSpPr/>
          <p:nvPr/>
        </p:nvSpPr>
        <p:spPr>
          <a:xfrm>
            <a:off x="548639" y="1024127"/>
            <a:ext cx="1097282" cy="3658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5" name="TextBox 7"/>
          <p:cNvSpPr txBox="1"/>
          <p:nvPr/>
        </p:nvSpPr>
        <p:spPr>
          <a:xfrm>
            <a:off x="594354" y="1280155"/>
            <a:ext cx="5760734" cy="26698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Lo que cambiamos</a:t>
            </a:r>
          </a:p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Sustituimos el ResNet50 (ImageNet) por el ViT-B/32 de PLIP — un CLIP-style preentrenado sobre ~208K pares imagen-texto de histopatología.</a:t>
            </a:r>
          </a:p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Resto idéntico</a:t>
            </a:r>
          </a:p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Mismo BERT congelado, misma cabeza CLIP entrenada sobre LC25000, mismo prompt. Sólo cambia el image encoder.</a:t>
            </a:r>
          </a:p>
        </p:txBody>
      </p:sp>
      <p:sp>
        <p:nvSpPr>
          <p:cNvPr id="266" name="TextBox 8"/>
          <p:cNvSpPr txBox="1"/>
          <p:nvPr/>
        </p:nvSpPr>
        <p:spPr>
          <a:xfrm>
            <a:off x="6812277" y="1280160"/>
            <a:ext cx="4846328" cy="24429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Resultado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NCT-CRC: 0.866 → 0.933  (+0.067)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Chaoyang: 0.786 → 0.813  (+0.027)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LungHist700: 0.305 → 0.640  (+0.335) — más que duplica el rendimiento.</a:t>
            </a:r>
          </a:p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Pasa de un clasificador degenerado próximo al azar a uno funcional. Ningún otro componente del pipeline mueve la aguja a esta magnitud.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69" name="Rectangle 2"/>
          <p:cNvSpPr/>
          <p:nvPr/>
        </p:nvSpPr>
        <p:spPr>
          <a:xfrm>
            <a:off x="-1" y="6812280"/>
            <a:ext cx="12191697" cy="36584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0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 ·  TFM — Foundational VLMs para histopatología</a:t>
            </a:r>
          </a:p>
        </p:txBody>
      </p:sp>
      <p:sp>
        <p:nvSpPr>
          <p:cNvPr id="271" name="TextBox 4"/>
          <p:cNvSpPr txBox="1"/>
          <p:nvPr/>
        </p:nvSpPr>
        <p:spPr>
          <a:xfrm>
            <a:off x="8579814" y="6492240"/>
            <a:ext cx="3017529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Resultados   ·   18/23</a:t>
            </a:r>
          </a:p>
        </p:txBody>
      </p:sp>
      <p:sp>
        <p:nvSpPr>
          <p:cNvPr id="272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Descomposición — la escalera de 3 pasos</a:t>
            </a:r>
          </a:p>
        </p:txBody>
      </p:sp>
      <p:sp>
        <p:nvSpPr>
          <p:cNvPr id="273" name="Rectangle 6"/>
          <p:cNvSpPr/>
          <p:nvPr/>
        </p:nvSpPr>
        <p:spPr>
          <a:xfrm>
            <a:off x="548639" y="1024127"/>
            <a:ext cx="1097282" cy="3658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4" name="TextBox 7"/>
          <p:cNvSpPr txBox="1"/>
          <p:nvPr/>
        </p:nvSpPr>
        <p:spPr>
          <a:xfrm>
            <a:off x="594355" y="1280161"/>
            <a:ext cx="10632523" cy="3853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22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DINOv2 como control aísla "ViT + autosupervisión" de "preentrenamiento histopatológico"</a:t>
            </a:r>
          </a:p>
        </p:txBody>
      </p:sp>
      <p:sp>
        <p:nvSpPr>
          <p:cNvPr id="275" name="TextBox 9"/>
          <p:cNvSpPr txBox="1"/>
          <p:nvPr/>
        </p:nvSpPr>
        <p:spPr>
          <a:xfrm>
            <a:off x="594358" y="5577840"/>
            <a:ext cx="10972804" cy="14254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5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La escalera sobre LungHist700 (4 puntos · 3 saltos)</a:t>
            </a:r>
          </a:p>
          <a:p>
            <a:pPr>
              <a:defRPr b="1" sz="15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0.305 (ResNet50)  →  0.457 (DINOv2 ViT)  →  0.544 (PLIP zero-shot)  →  0.640 (PLIP + LC25000)</a:t>
            </a:r>
          </a:p>
          <a:p>
            <a:pPr>
              <a:defRPr sz="12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+0.152 = ViT + autosupervisión general (de natural images)</a:t>
            </a:r>
          </a:p>
          <a:p>
            <a:pPr>
              <a:defRPr sz="12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+0.087 = preentrenamiento histopatológico (PLIP zero-shot)</a:t>
            </a:r>
          </a:p>
          <a:p>
            <a:pPr>
              <a:defRPr sz="12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+0.096 = supervisión LC25000 sobre PLIP</a:t>
            </a:r>
          </a:p>
          <a:p>
            <a:pPr>
              <a:defRPr b="1" sz="15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Tres contribuciones aditivas de magnitud comparable.</a:t>
            </a:r>
          </a:p>
        </p:txBody>
      </p:sp>
      <p:graphicFrame>
        <p:nvGraphicFramePr>
          <p:cNvPr id="276" name="Table 10"/>
          <p:cNvGraphicFramePr/>
          <p:nvPr/>
        </p:nvGraphicFramePr>
        <p:xfrm>
          <a:off x="548640" y="2377438"/>
          <a:ext cx="7315201" cy="2926085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585216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Image encoder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LC25000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NCT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Chaoyang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LungHist700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6B0F1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ResNet50 (ImageNet, baseline)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0.996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0.866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0.305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DINOv2 ViT-B/14 (SSL general)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0.989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0.855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0.776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0.457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PLIP zero-shot (no LC25000 head)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0.700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0.661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0.731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0.544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PLIP ViT-B/32 + LC25000 head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0.996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0.933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0.813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100">
                          <a:solidFill>
                            <a:srgbClr val="333333"/>
                          </a:solidFill>
                        </a:rPr>
                        <a:t>0.640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79" name="Rectangle 2"/>
          <p:cNvSpPr/>
          <p:nvPr/>
        </p:nvSpPr>
        <p:spPr>
          <a:xfrm>
            <a:off x="-1" y="6812280"/>
            <a:ext cx="12191697" cy="36584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80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 ·  TFM — Foundational VLMs para histopatología</a:t>
            </a:r>
          </a:p>
        </p:txBody>
      </p:sp>
      <p:sp>
        <p:nvSpPr>
          <p:cNvPr id="281" name="TextBox 4"/>
          <p:cNvSpPr txBox="1"/>
          <p:nvPr/>
        </p:nvSpPr>
        <p:spPr>
          <a:xfrm>
            <a:off x="8579814" y="6492240"/>
            <a:ext cx="3017529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Resultados   ·   19/23</a:t>
            </a:r>
          </a:p>
        </p:txBody>
      </p:sp>
      <p:sp>
        <p:nvSpPr>
          <p:cNvPr id="282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Geometría del feature space — confirmación visual</a:t>
            </a:r>
          </a:p>
        </p:txBody>
      </p:sp>
      <p:sp>
        <p:nvSpPr>
          <p:cNvPr id="283" name="Rectangle 6"/>
          <p:cNvSpPr/>
          <p:nvPr/>
        </p:nvSpPr>
        <p:spPr>
          <a:xfrm>
            <a:off x="548639" y="1024127"/>
            <a:ext cx="1097282" cy="3658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284" name="Picture 7" descr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48640" y="1188719"/>
            <a:ext cx="7498079" cy="3892964"/>
          </a:xfrm>
          <a:prstGeom prst="rect">
            <a:avLst/>
          </a:prstGeom>
          <a:ln w="12700">
            <a:miter lim="400000"/>
          </a:ln>
        </p:spPr>
      </p:pic>
      <p:sp>
        <p:nvSpPr>
          <p:cNvPr id="285" name="TextBox 8"/>
          <p:cNvSpPr txBox="1"/>
          <p:nvPr/>
        </p:nvSpPr>
        <p:spPr>
          <a:xfrm>
            <a:off x="8275318" y="1280156"/>
            <a:ext cx="3383282" cy="26009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Lo que muestran los UMAPs sobre LungHist700</a:t>
            </a:r>
          </a:p>
          <a:p>
            <a:pPr>
              <a:defRPr sz="11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ResNet50: las 359 muestras colapsan en una sola región sin estructura por clase.</a:t>
            </a:r>
          </a:p>
          <a:p>
            <a:pPr>
              <a:defRPr sz="11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DINOv2: separación parcial; el cluster se relocaliza en zona de pulmón pero con solapamiento.</a:t>
            </a:r>
          </a:p>
          <a:p>
            <a:pPr>
              <a:defRPr sz="11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PLIP: 3 sub-clusters visibles, alineados con las clases LC25000 correspondientes.</a:t>
            </a:r>
          </a:p>
          <a:p>
            <a:pPr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La geometría del espacio confirma el cambio cuantitativo.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288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89" name="Rectangle 3"/>
          <p:cNvSpPr/>
          <p:nvPr/>
        </p:nvSpPr>
        <p:spPr>
          <a:xfrm>
            <a:off x="-1" y="0"/>
            <a:ext cx="548642" cy="6858000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90" name="TextBox 4"/>
          <p:cNvSpPr txBox="1"/>
          <p:nvPr/>
        </p:nvSpPr>
        <p:spPr>
          <a:xfrm>
            <a:off x="1142995" y="1920236"/>
            <a:ext cx="4023371" cy="28910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0">
                <a:solidFill>
                  <a:srgbClr val="FAF7F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291" name="TextBox 5"/>
          <p:cNvSpPr txBox="1"/>
          <p:nvPr/>
        </p:nvSpPr>
        <p:spPr>
          <a:xfrm>
            <a:off x="1142999" y="4846320"/>
            <a:ext cx="924080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C9A227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 Sección</a:t>
            </a:r>
          </a:p>
        </p:txBody>
      </p:sp>
      <p:sp>
        <p:nvSpPr>
          <p:cNvPr id="292" name="TextBox 6"/>
          <p:cNvSpPr txBox="1"/>
          <p:nvPr/>
        </p:nvSpPr>
        <p:spPr>
          <a:xfrm>
            <a:off x="1142994" y="5303520"/>
            <a:ext cx="5795002" cy="653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FAF7F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Discusión y conclusiones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95" name="Rectangle 2"/>
          <p:cNvSpPr/>
          <p:nvPr/>
        </p:nvSpPr>
        <p:spPr>
          <a:xfrm>
            <a:off x="-1" y="6812280"/>
            <a:ext cx="12191697" cy="36584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296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 ·  TFM — Foundational VLMs para histopatología</a:t>
            </a:r>
          </a:p>
        </p:txBody>
      </p:sp>
      <p:sp>
        <p:nvSpPr>
          <p:cNvPr id="297" name="TextBox 4"/>
          <p:cNvSpPr txBox="1"/>
          <p:nvPr/>
        </p:nvSpPr>
        <p:spPr>
          <a:xfrm>
            <a:off x="8579814" y="6492240"/>
            <a:ext cx="3017529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Discusión y conclusiones   ·   21/23</a:t>
            </a:r>
          </a:p>
        </p:txBody>
      </p:sp>
      <p:sp>
        <p:nvSpPr>
          <p:cNvPr id="298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Síntesis transversal</a:t>
            </a:r>
          </a:p>
        </p:txBody>
      </p:sp>
      <p:sp>
        <p:nvSpPr>
          <p:cNvPr id="299" name="Rectangle 6"/>
          <p:cNvSpPr/>
          <p:nvPr/>
        </p:nvSpPr>
        <p:spPr>
          <a:xfrm>
            <a:off x="548639" y="1024127"/>
            <a:ext cx="1097282" cy="3658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0" name="TextBox 7"/>
          <p:cNvSpPr txBox="1"/>
          <p:nvPr/>
        </p:nvSpPr>
        <p:spPr>
          <a:xfrm>
            <a:off x="594354" y="1280160"/>
            <a:ext cx="3657612" cy="15862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7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Palanca dominante: image encoder</a:t>
            </a:r>
          </a:p>
          <a:p>
            <a:pPr>
              <a:defRPr sz="12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El preentrenamiento del image encoder es la única palanca evaluada que mueve la aguja más allá del ruido.</a:t>
            </a:r>
          </a:p>
          <a:p>
            <a:pPr>
              <a:defRPr sz="12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PLIP gana en los 3 datasets externos; +0.335 F1 en LungHist700, donde más que duplica el rendimiento.</a:t>
            </a:r>
          </a:p>
          <a:p>
            <a:pPr>
              <a:defRPr sz="12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Ninguna otra intervención (stain, texto biomédico, head no-CLIP) se acerca.</a:t>
            </a:r>
          </a:p>
        </p:txBody>
      </p:sp>
      <p:sp>
        <p:nvSpPr>
          <p:cNvPr id="301" name="TextBox 8"/>
          <p:cNvSpPr txBox="1"/>
          <p:nvPr/>
        </p:nvSpPr>
        <p:spPr>
          <a:xfrm>
            <a:off x="4434840" y="1280161"/>
            <a:ext cx="3657606" cy="17767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7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Robustez geométrica de CLIP</a:t>
            </a:r>
          </a:p>
          <a:p>
            <a:pPr>
              <a:defRPr sz="12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La ventaja de CLIP sobre softmax aparece sólo bajo desplazamiento más fuerte.</a:t>
            </a:r>
          </a:p>
          <a:p>
            <a:pPr>
              <a:defRPr sz="12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El mecanismo es geométrico: coseno acotado + L2 + temperatura aprendida — no porque CLIP sepa más del dominio.</a:t>
            </a:r>
          </a:p>
          <a:p>
            <a:pPr>
              <a:defRPr sz="12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BioBERT/PubMedBERT confirman desde el otro lado: añadir conocimiento médico al texto no aporta.</a:t>
            </a:r>
          </a:p>
        </p:txBody>
      </p:sp>
      <p:sp>
        <p:nvSpPr>
          <p:cNvPr id="302" name="TextBox 9"/>
          <p:cNvSpPr txBox="1"/>
          <p:nvPr/>
        </p:nvSpPr>
        <p:spPr>
          <a:xfrm>
            <a:off x="8275318" y="1280160"/>
            <a:ext cx="3657599" cy="21973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7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Reportar por órgano</a:t>
            </a:r>
          </a:p>
          <a:p>
            <a:pPr>
              <a:defRPr sz="12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Aporte metodológico: promediar los 3 datasets externos en un único número oculta el cambio de régimen.</a:t>
            </a:r>
          </a:p>
          <a:p>
            <a:pPr>
              <a:defRPr sz="12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Colon: transferencia parcial con ResNet50 (0.78–0.87 F1).</a:t>
            </a:r>
          </a:p>
          <a:p>
            <a:pPr>
              <a:defRPr sz="12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Pulmón: colapso categórico del mismo backbone (0.305 ≈ azar).</a:t>
            </a:r>
          </a:p>
          <a:p>
            <a:pPr>
              <a:defRPr sz="12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Reportar por órgano expone esa asimetría; promediar la entierra.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5" name="Rectangle 2"/>
          <p:cNvSpPr/>
          <p:nvPr/>
        </p:nvSpPr>
        <p:spPr>
          <a:xfrm>
            <a:off x="-1" y="6812280"/>
            <a:ext cx="12191697" cy="36584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06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Leandro Candau  ·  TFM — Foundational VLMs para histopatología</a:t>
            </a:r>
          </a:p>
        </p:txBody>
      </p:sp>
      <p:sp>
        <p:nvSpPr>
          <p:cNvPr id="307" name="TextBox 4"/>
          <p:cNvSpPr txBox="1"/>
          <p:nvPr/>
        </p:nvSpPr>
        <p:spPr>
          <a:xfrm>
            <a:off x="8579814" y="6492240"/>
            <a:ext cx="3017529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§ Discusión y conclusiones   ·   22/23</a:t>
            </a:r>
          </a:p>
        </p:txBody>
      </p:sp>
      <p:sp>
        <p:nvSpPr>
          <p:cNvPr id="308" name="TextBox 5"/>
          <p:cNvSpPr txBox="1"/>
          <p:nvPr/>
        </p:nvSpPr>
        <p:spPr>
          <a:xfrm>
            <a:off x="594358" y="384046"/>
            <a:ext cx="11002979" cy="489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Limitaciones y trabajo futuro</a:t>
            </a:r>
          </a:p>
        </p:txBody>
      </p:sp>
      <p:sp>
        <p:nvSpPr>
          <p:cNvPr id="309" name="Rectangle 6"/>
          <p:cNvSpPr/>
          <p:nvPr/>
        </p:nvSpPr>
        <p:spPr>
          <a:xfrm>
            <a:off x="548639" y="1024127"/>
            <a:ext cx="1097282" cy="3658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310" name="TextBox 7"/>
          <p:cNvSpPr txBox="1"/>
          <p:nvPr/>
        </p:nvSpPr>
        <p:spPr>
          <a:xfrm>
            <a:off x="594354" y="1280160"/>
            <a:ext cx="5394973" cy="17076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2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Limitaciones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Backbone congelado. Con fine-tuning end-to-end la palanca dominante podría cambiar.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Confusión patch size en PLIP-vs-DINOv2 (B/32 vs B/14: 49 vs 256 tokens). El delta lung-side bundla preentrenamiento de dominio y objetivo de pretraining.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Single-seed por condición + N=359 en LungHist700: sin intervalos de confianza sobre el +0.335.</a:t>
            </a:r>
          </a:p>
        </p:txBody>
      </p:sp>
      <p:sp>
        <p:nvSpPr>
          <p:cNvPr id="311" name="TextBox 8"/>
          <p:cNvSpPr txBox="1"/>
          <p:nvPr/>
        </p:nvSpPr>
        <p:spPr>
          <a:xfrm>
            <a:off x="6446518" y="1280161"/>
            <a:ext cx="5212090" cy="17505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2000">
                <a:solidFill>
                  <a:srgbClr val="6B0F1A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Trabajo futuro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Multi-institución: entrenar y evaluar a través de varias fuentes.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Comparación head-to-head con UNI, CONCH, BiomedCLIP, MUSK.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WSI como secuencia de tiles + texto acompañante (más allá de tile-by-tile).</a:t>
            </a:r>
          </a:p>
          <a:p>
            <a:pPr>
              <a:defRPr sz="1300">
                <a:solidFill>
                  <a:srgbClr val="4D0912"/>
                </a:solidFill>
                <a:latin typeface="+mn-lt"/>
                <a:ea typeface="+mn-ea"/>
                <a:cs typeface="+mn-cs"/>
                <a:sym typeface="Calibri"/>
              </a:defRPr>
            </a:pPr>
            <a:r>
              <a:t>▸ Aplicar CLIP-con-prompts-cortos a otros dominios científicos de bajo etiquetado.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6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3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14" name="TextBox 1"/>
          <p:cNvSpPr txBox="1"/>
          <p:nvPr/>
        </p:nvSpPr>
        <p:spPr>
          <a:xfrm>
            <a:off x="45716" y="2377438"/>
            <a:ext cx="12100263" cy="1007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7200"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Preguntas</a:t>
            </a:r>
          </a:p>
        </p:txBody>
      </p:sp>
      <p:sp>
        <p:nvSpPr>
          <p:cNvPr id="315" name="TextBox 2"/>
          <p:cNvSpPr txBox="1"/>
          <p:nvPr/>
        </p:nvSpPr>
        <p:spPr>
          <a:xfrm>
            <a:off x="45716" y="3840479"/>
            <a:ext cx="1210026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i="1">
                <a:solidFill>
                  <a:srgbClr val="FAF7F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github.com/lcandau/histopathology-clip-lab  ·  report/tfmETSI.pdf</a:t>
            </a:r>
          </a:p>
        </p:txBody>
      </p:sp>
      <p:sp>
        <p:nvSpPr>
          <p:cNvPr id="316" name="TextBox 3"/>
          <p:cNvSpPr txBox="1"/>
          <p:nvPr/>
        </p:nvSpPr>
        <p:spPr>
          <a:xfrm>
            <a:off x="45716" y="4571998"/>
            <a:ext cx="12100263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solidFill>
                  <a:srgbClr val="C9A227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Backup slides disponibles bajo demanda.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